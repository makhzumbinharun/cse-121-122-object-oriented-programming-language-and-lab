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79" r:id="rId7"/>
    <p:sldId id="261" r:id="rId8"/>
    <p:sldId id="262" r:id="rId9"/>
    <p:sldId id="263" r:id="rId10"/>
    <p:sldId id="282" r:id="rId11"/>
    <p:sldId id="284" r:id="rId12"/>
    <p:sldId id="285" r:id="rId13"/>
    <p:sldId id="264" r:id="rId14"/>
    <p:sldId id="265" r:id="rId15"/>
    <p:sldId id="266" r:id="rId16"/>
    <p:sldId id="267" r:id="rId17"/>
    <p:sldId id="268" r:id="rId18"/>
    <p:sldId id="269" r:id="rId19"/>
    <p:sldId id="280" r:id="rId20"/>
    <p:sldId id="281" r:id="rId21"/>
    <p:sldId id="286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2" d="100"/>
          <a:sy n="62" d="100"/>
        </p:scale>
        <p:origin x="1020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001F5F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001F5F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001F5F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703194" y="531177"/>
            <a:ext cx="6785610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001F5F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94080" y="1072489"/>
            <a:ext cx="10217785" cy="44748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61155" y="3155264"/>
            <a:ext cx="457390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5" dirty="0">
                <a:solidFill>
                  <a:srgbClr val="6F2F9F"/>
                </a:solidFill>
              </a:rPr>
              <a:t>Inheritance</a:t>
            </a:r>
            <a:r>
              <a:rPr sz="4400" spc="-30" dirty="0">
                <a:solidFill>
                  <a:srgbClr val="6F2F9F"/>
                </a:solidFill>
              </a:rPr>
              <a:t> </a:t>
            </a:r>
            <a:r>
              <a:rPr sz="4400" spc="-5" dirty="0">
                <a:solidFill>
                  <a:srgbClr val="6F2F9F"/>
                </a:solidFill>
              </a:rPr>
              <a:t>in</a:t>
            </a:r>
            <a:r>
              <a:rPr sz="4400" spc="-30" dirty="0">
                <a:solidFill>
                  <a:srgbClr val="6F2F9F"/>
                </a:solidFill>
              </a:rPr>
              <a:t> </a:t>
            </a:r>
            <a:r>
              <a:rPr sz="4400" spc="-5" dirty="0">
                <a:solidFill>
                  <a:srgbClr val="6F2F9F"/>
                </a:solidFill>
              </a:rPr>
              <a:t>C++</a:t>
            </a:r>
            <a:endParaRPr sz="4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53000" y="531177"/>
            <a:ext cx="22860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Inheritance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840229"/>
            <a:ext cx="10358120" cy="2804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Clr>
                <a:srgbClr val="001F5F"/>
              </a:buClr>
              <a:buFont typeface="Wingdings"/>
              <a:buChar char=""/>
              <a:tabLst>
                <a:tab pos="355600" algn="l"/>
              </a:tabLst>
            </a:pPr>
            <a:r>
              <a:rPr sz="2400" spc="35" dirty="0">
                <a:latin typeface="Times New Roman"/>
                <a:cs typeface="Times New Roman"/>
              </a:rPr>
              <a:t>The</a:t>
            </a:r>
            <a:r>
              <a:rPr sz="2400" spc="110" dirty="0">
                <a:latin typeface="Times New Roman"/>
                <a:cs typeface="Times New Roman"/>
              </a:rPr>
              <a:t> </a:t>
            </a:r>
            <a:r>
              <a:rPr sz="2400" spc="45" dirty="0">
                <a:latin typeface="Times New Roman"/>
                <a:cs typeface="Times New Roman"/>
              </a:rPr>
              <a:t>capability</a:t>
            </a:r>
            <a:r>
              <a:rPr sz="2400" spc="125" dirty="0">
                <a:latin typeface="Times New Roman"/>
                <a:cs typeface="Times New Roman"/>
              </a:rPr>
              <a:t> </a:t>
            </a:r>
            <a:r>
              <a:rPr sz="2400" spc="30" dirty="0">
                <a:latin typeface="Times New Roman"/>
                <a:cs typeface="Times New Roman"/>
              </a:rPr>
              <a:t>of</a:t>
            </a:r>
            <a:r>
              <a:rPr sz="2400" spc="1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120" dirty="0">
                <a:latin typeface="Times New Roman"/>
                <a:cs typeface="Times New Roman"/>
              </a:rPr>
              <a:t> </a:t>
            </a:r>
            <a:r>
              <a:rPr sz="2400" spc="45" dirty="0">
                <a:latin typeface="Times New Roman"/>
                <a:cs typeface="Times New Roman"/>
              </a:rPr>
              <a:t>class</a:t>
            </a:r>
            <a:r>
              <a:rPr sz="2400" spc="125" dirty="0">
                <a:latin typeface="Times New Roman"/>
                <a:cs typeface="Times New Roman"/>
              </a:rPr>
              <a:t> </a:t>
            </a:r>
            <a:r>
              <a:rPr sz="2400" spc="25" dirty="0">
                <a:latin typeface="Times New Roman"/>
                <a:cs typeface="Times New Roman"/>
              </a:rPr>
              <a:t>to</a:t>
            </a:r>
            <a:r>
              <a:rPr sz="2400" spc="125" dirty="0">
                <a:latin typeface="Times New Roman"/>
                <a:cs typeface="Times New Roman"/>
              </a:rPr>
              <a:t> </a:t>
            </a:r>
            <a:r>
              <a:rPr sz="2400" spc="45" dirty="0">
                <a:latin typeface="Times New Roman"/>
                <a:cs typeface="Times New Roman"/>
              </a:rPr>
              <a:t>derive</a:t>
            </a:r>
            <a:r>
              <a:rPr sz="2400" spc="125" dirty="0">
                <a:latin typeface="Times New Roman"/>
                <a:cs typeface="Times New Roman"/>
              </a:rPr>
              <a:t> </a:t>
            </a:r>
            <a:r>
              <a:rPr sz="2400" spc="50" dirty="0">
                <a:latin typeface="Times New Roman"/>
                <a:cs typeface="Times New Roman"/>
              </a:rPr>
              <a:t>properties</a:t>
            </a:r>
            <a:r>
              <a:rPr sz="2400" spc="125" dirty="0">
                <a:latin typeface="Times New Roman"/>
                <a:cs typeface="Times New Roman"/>
              </a:rPr>
              <a:t> </a:t>
            </a:r>
            <a:r>
              <a:rPr sz="2400" spc="35" dirty="0">
                <a:latin typeface="Times New Roman"/>
                <a:cs typeface="Times New Roman"/>
              </a:rPr>
              <a:t>and</a:t>
            </a:r>
            <a:r>
              <a:rPr sz="2400" spc="125" dirty="0">
                <a:latin typeface="Times New Roman"/>
                <a:cs typeface="Times New Roman"/>
              </a:rPr>
              <a:t> </a:t>
            </a:r>
            <a:r>
              <a:rPr sz="2400" spc="50" dirty="0">
                <a:latin typeface="Times New Roman"/>
                <a:cs typeface="Times New Roman"/>
              </a:rPr>
              <a:t>characteristics</a:t>
            </a:r>
            <a:r>
              <a:rPr sz="2400" spc="125" dirty="0">
                <a:latin typeface="Times New Roman"/>
                <a:cs typeface="Times New Roman"/>
              </a:rPr>
              <a:t> </a:t>
            </a:r>
            <a:r>
              <a:rPr sz="2400" spc="45" dirty="0">
                <a:latin typeface="Times New Roman"/>
                <a:cs typeface="Times New Roman"/>
              </a:rPr>
              <a:t>from</a:t>
            </a:r>
            <a:r>
              <a:rPr sz="2400" spc="120" dirty="0">
                <a:latin typeface="Times New Roman"/>
                <a:cs typeface="Times New Roman"/>
              </a:rPr>
              <a:t> </a:t>
            </a:r>
            <a:r>
              <a:rPr sz="2400" spc="45" dirty="0">
                <a:latin typeface="Times New Roman"/>
                <a:cs typeface="Times New Roman"/>
              </a:rPr>
              <a:t>another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class is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called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latin typeface="Times New Roman"/>
                <a:cs typeface="Times New Roman"/>
              </a:rPr>
              <a:t>Inheritance</a:t>
            </a:r>
            <a:r>
              <a:rPr sz="2400" spc="-5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Clr>
                <a:srgbClr val="001F5F"/>
              </a:buClr>
              <a:buFont typeface="Wingdings"/>
              <a:buChar char=""/>
              <a:tabLst>
                <a:tab pos="355600" algn="l"/>
              </a:tabLst>
            </a:pPr>
            <a:r>
              <a:rPr sz="2400" spc="-5" dirty="0">
                <a:latin typeface="Times New Roman"/>
                <a:cs typeface="Times New Roman"/>
              </a:rPr>
              <a:t>Inheritance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is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one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the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most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important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feature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Object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Oriented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Programming.</a:t>
            </a:r>
            <a:endParaRPr sz="2400">
              <a:latin typeface="Times New Roman"/>
              <a:cs typeface="Times New Roman"/>
            </a:endParaRPr>
          </a:p>
          <a:p>
            <a:pPr marL="355600" marR="5080" indent="-342900">
              <a:lnSpc>
                <a:spcPct val="100000"/>
              </a:lnSpc>
              <a:spcBef>
                <a:spcPts val="575"/>
              </a:spcBef>
              <a:buClr>
                <a:srgbClr val="001F5F"/>
              </a:buClr>
              <a:buFont typeface="Wingdings"/>
              <a:buChar char=""/>
              <a:tabLst>
                <a:tab pos="355600" algn="l"/>
              </a:tabLst>
            </a:pPr>
            <a:r>
              <a:rPr sz="2400" b="1" spc="40" dirty="0">
                <a:latin typeface="Times New Roman"/>
                <a:cs typeface="Times New Roman"/>
              </a:rPr>
              <a:t>Sub</a:t>
            </a:r>
            <a:r>
              <a:rPr sz="2400" b="1" spc="120" dirty="0">
                <a:latin typeface="Times New Roman"/>
                <a:cs typeface="Times New Roman"/>
              </a:rPr>
              <a:t> </a:t>
            </a:r>
            <a:r>
              <a:rPr sz="2400" b="1" spc="45" dirty="0">
                <a:latin typeface="Times New Roman"/>
                <a:cs typeface="Times New Roman"/>
              </a:rPr>
              <a:t>Class:</a:t>
            </a:r>
            <a:r>
              <a:rPr sz="2400" b="1" spc="120" dirty="0">
                <a:latin typeface="Times New Roman"/>
                <a:cs typeface="Times New Roman"/>
              </a:rPr>
              <a:t> </a:t>
            </a:r>
            <a:r>
              <a:rPr sz="2400" spc="35" dirty="0">
                <a:latin typeface="Times New Roman"/>
                <a:cs typeface="Times New Roman"/>
              </a:rPr>
              <a:t>The</a:t>
            </a:r>
            <a:r>
              <a:rPr sz="2400" spc="114" dirty="0">
                <a:latin typeface="Times New Roman"/>
                <a:cs typeface="Times New Roman"/>
              </a:rPr>
              <a:t> </a:t>
            </a:r>
            <a:r>
              <a:rPr sz="2400" spc="45" dirty="0">
                <a:latin typeface="Times New Roman"/>
                <a:cs typeface="Times New Roman"/>
              </a:rPr>
              <a:t>class</a:t>
            </a:r>
            <a:r>
              <a:rPr sz="2400" spc="125" dirty="0">
                <a:latin typeface="Times New Roman"/>
                <a:cs typeface="Times New Roman"/>
              </a:rPr>
              <a:t> </a:t>
            </a:r>
            <a:r>
              <a:rPr sz="2400" spc="40" dirty="0">
                <a:latin typeface="Times New Roman"/>
                <a:cs typeface="Times New Roman"/>
              </a:rPr>
              <a:t>that</a:t>
            </a:r>
            <a:r>
              <a:rPr sz="2400" spc="114" dirty="0">
                <a:latin typeface="Times New Roman"/>
                <a:cs typeface="Times New Roman"/>
              </a:rPr>
              <a:t> </a:t>
            </a:r>
            <a:r>
              <a:rPr sz="2400" spc="50" dirty="0">
                <a:latin typeface="Times New Roman"/>
                <a:cs typeface="Times New Roman"/>
              </a:rPr>
              <a:t>inherits</a:t>
            </a:r>
            <a:r>
              <a:rPr sz="2400" spc="120" dirty="0">
                <a:latin typeface="Times New Roman"/>
                <a:cs typeface="Times New Roman"/>
              </a:rPr>
              <a:t> </a:t>
            </a:r>
            <a:r>
              <a:rPr sz="2400" spc="55" dirty="0">
                <a:latin typeface="Times New Roman"/>
                <a:cs typeface="Times New Roman"/>
              </a:rPr>
              <a:t>properties</a:t>
            </a:r>
            <a:r>
              <a:rPr sz="2400" spc="135" dirty="0">
                <a:latin typeface="Times New Roman"/>
                <a:cs typeface="Times New Roman"/>
              </a:rPr>
              <a:t> </a:t>
            </a:r>
            <a:r>
              <a:rPr sz="2400" spc="45" dirty="0">
                <a:latin typeface="Times New Roman"/>
                <a:cs typeface="Times New Roman"/>
              </a:rPr>
              <a:t>from</a:t>
            </a:r>
            <a:r>
              <a:rPr sz="2400" spc="125" dirty="0">
                <a:latin typeface="Times New Roman"/>
                <a:cs typeface="Times New Roman"/>
              </a:rPr>
              <a:t> </a:t>
            </a:r>
            <a:r>
              <a:rPr sz="2400" spc="50" dirty="0">
                <a:latin typeface="Times New Roman"/>
                <a:cs typeface="Times New Roman"/>
              </a:rPr>
              <a:t>another</a:t>
            </a:r>
            <a:r>
              <a:rPr sz="2400" spc="130" dirty="0">
                <a:latin typeface="Times New Roman"/>
                <a:cs typeface="Times New Roman"/>
              </a:rPr>
              <a:t> </a:t>
            </a:r>
            <a:r>
              <a:rPr sz="2400" spc="45" dirty="0">
                <a:latin typeface="Times New Roman"/>
                <a:cs typeface="Times New Roman"/>
              </a:rPr>
              <a:t>class</a:t>
            </a:r>
            <a:r>
              <a:rPr sz="2400" spc="135" dirty="0">
                <a:latin typeface="Times New Roman"/>
                <a:cs typeface="Times New Roman"/>
              </a:rPr>
              <a:t> </a:t>
            </a:r>
            <a:r>
              <a:rPr sz="2400" spc="30" dirty="0">
                <a:latin typeface="Times New Roman"/>
                <a:cs typeface="Times New Roman"/>
              </a:rPr>
              <a:t>is</a:t>
            </a:r>
            <a:r>
              <a:rPr sz="2400" spc="130" dirty="0">
                <a:latin typeface="Times New Roman"/>
                <a:cs typeface="Times New Roman"/>
              </a:rPr>
              <a:t> </a:t>
            </a:r>
            <a:r>
              <a:rPr sz="2400" spc="50" dirty="0">
                <a:latin typeface="Times New Roman"/>
                <a:cs typeface="Times New Roman"/>
              </a:rPr>
              <a:t>called</a:t>
            </a:r>
            <a:r>
              <a:rPr sz="2400" spc="130" dirty="0">
                <a:latin typeface="Times New Roman"/>
                <a:cs typeface="Times New Roman"/>
              </a:rPr>
              <a:t> </a:t>
            </a:r>
            <a:r>
              <a:rPr sz="2400" spc="40" dirty="0">
                <a:latin typeface="Times New Roman"/>
                <a:cs typeface="Times New Roman"/>
              </a:rPr>
              <a:t>Sub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class </a:t>
            </a:r>
            <a:r>
              <a:rPr sz="2400" dirty="0">
                <a:latin typeface="Times New Roman"/>
                <a:cs typeface="Times New Roman"/>
              </a:rPr>
              <a:t>or </a:t>
            </a:r>
            <a:r>
              <a:rPr sz="2400" spc="-5" dirty="0">
                <a:latin typeface="Times New Roman"/>
                <a:cs typeface="Times New Roman"/>
              </a:rPr>
              <a:t>Derived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Class.</a:t>
            </a:r>
            <a:endParaRPr sz="2400">
              <a:latin typeface="Times New Roman"/>
              <a:cs typeface="Times New Roman"/>
            </a:endParaRPr>
          </a:p>
          <a:p>
            <a:pPr marL="355600" marR="71755" indent="-342900">
              <a:lnSpc>
                <a:spcPct val="100000"/>
              </a:lnSpc>
              <a:spcBef>
                <a:spcPts val="575"/>
              </a:spcBef>
              <a:buClr>
                <a:srgbClr val="001F5F"/>
              </a:buClr>
              <a:buFont typeface="Wingdings"/>
              <a:buChar char=""/>
              <a:tabLst>
                <a:tab pos="355600" algn="l"/>
              </a:tabLst>
            </a:pPr>
            <a:r>
              <a:rPr sz="2400" b="1" spc="-5" dirty="0">
                <a:latin typeface="Times New Roman"/>
                <a:cs typeface="Times New Roman"/>
              </a:rPr>
              <a:t>Super</a:t>
            </a:r>
            <a:r>
              <a:rPr sz="2400" b="1" spc="-50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latin typeface="Times New Roman"/>
                <a:cs typeface="Times New Roman"/>
              </a:rPr>
              <a:t>Class:</a:t>
            </a:r>
            <a:r>
              <a:rPr sz="2400" b="1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The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class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whose </a:t>
            </a:r>
            <a:r>
              <a:rPr sz="2400" spc="-5" dirty="0">
                <a:latin typeface="Times New Roman"/>
                <a:cs typeface="Times New Roman"/>
              </a:rPr>
              <a:t>properties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are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inherited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by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sub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class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is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called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Base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Class </a:t>
            </a:r>
            <a:r>
              <a:rPr sz="2400" dirty="0">
                <a:latin typeface="Times New Roman"/>
                <a:cs typeface="Times New Roman"/>
              </a:rPr>
              <a:t>or </a:t>
            </a:r>
            <a:r>
              <a:rPr sz="2400" spc="-5" dirty="0">
                <a:latin typeface="Times New Roman"/>
                <a:cs typeface="Times New Roman"/>
              </a:rPr>
              <a:t>Super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class.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Why and</a:t>
            </a:r>
            <a:r>
              <a:rPr spc="-80" dirty="0"/>
              <a:t> </a:t>
            </a:r>
            <a:r>
              <a:rPr spc="-5" dirty="0"/>
              <a:t>When</a:t>
            </a:r>
            <a:r>
              <a:rPr spc="-10" dirty="0"/>
              <a:t> </a:t>
            </a:r>
            <a:r>
              <a:rPr dirty="0"/>
              <a:t>to</a:t>
            </a:r>
            <a:r>
              <a:rPr spc="-5" dirty="0"/>
              <a:t> Use Inheritance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840229"/>
            <a:ext cx="10358755" cy="19272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 algn="just">
              <a:lnSpc>
                <a:spcPct val="100000"/>
              </a:lnSpc>
              <a:spcBef>
                <a:spcPts val="100"/>
              </a:spcBef>
              <a:buClr>
                <a:srgbClr val="001F5F"/>
              </a:buClr>
              <a:buFont typeface="Wingdings"/>
              <a:buChar char=""/>
              <a:tabLst>
                <a:tab pos="355600" algn="l"/>
              </a:tabLst>
            </a:pPr>
            <a:r>
              <a:rPr sz="2400" spc="15" dirty="0">
                <a:latin typeface="Times New Roman"/>
                <a:cs typeface="Times New Roman"/>
              </a:rPr>
              <a:t>Consider </a:t>
            </a:r>
            <a:r>
              <a:rPr sz="2400" dirty="0">
                <a:latin typeface="Times New Roman"/>
                <a:cs typeface="Times New Roman"/>
              </a:rPr>
              <a:t>a </a:t>
            </a:r>
            <a:r>
              <a:rPr sz="2400" spc="15" dirty="0">
                <a:latin typeface="Times New Roman"/>
                <a:cs typeface="Times New Roman"/>
              </a:rPr>
              <a:t>group </a:t>
            </a:r>
            <a:r>
              <a:rPr sz="2400" spc="10" dirty="0">
                <a:latin typeface="Times New Roman"/>
                <a:cs typeface="Times New Roman"/>
              </a:rPr>
              <a:t>of </a:t>
            </a:r>
            <a:r>
              <a:rPr sz="2400" spc="15" dirty="0">
                <a:latin typeface="Times New Roman"/>
                <a:cs typeface="Times New Roman"/>
              </a:rPr>
              <a:t>vehicles. </a:t>
            </a:r>
            <a:r>
              <a:rPr sz="2400" spc="-70" dirty="0">
                <a:latin typeface="Times New Roman"/>
                <a:cs typeface="Times New Roman"/>
              </a:rPr>
              <a:t>You </a:t>
            </a:r>
            <a:r>
              <a:rPr sz="2400" spc="10" dirty="0">
                <a:latin typeface="Times New Roman"/>
                <a:cs typeface="Times New Roman"/>
              </a:rPr>
              <a:t>need </a:t>
            </a:r>
            <a:r>
              <a:rPr sz="2400" spc="5" dirty="0">
                <a:latin typeface="Times New Roman"/>
                <a:cs typeface="Times New Roman"/>
              </a:rPr>
              <a:t>to </a:t>
            </a:r>
            <a:r>
              <a:rPr sz="2400" spc="10" dirty="0">
                <a:latin typeface="Times New Roman"/>
                <a:cs typeface="Times New Roman"/>
              </a:rPr>
              <a:t>create classes for Bus, Car and </a:t>
            </a:r>
            <a:r>
              <a:rPr sz="2400" spc="5" dirty="0">
                <a:latin typeface="Times New Roman"/>
                <a:cs typeface="Times New Roman"/>
              </a:rPr>
              <a:t>Truck.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10" dirty="0">
                <a:latin typeface="Times New Roman"/>
                <a:cs typeface="Times New Roman"/>
              </a:rPr>
              <a:t>The </a:t>
            </a:r>
            <a:r>
              <a:rPr sz="2400" spc="15" dirty="0">
                <a:latin typeface="Times New Roman"/>
                <a:cs typeface="Times New Roman"/>
              </a:rPr>
              <a:t>methods fuelAmount(), capacity(), applyBrakes() </a:t>
            </a:r>
            <a:r>
              <a:rPr sz="2400" spc="10" dirty="0">
                <a:latin typeface="Times New Roman"/>
                <a:cs typeface="Times New Roman"/>
              </a:rPr>
              <a:t>will be same for all of </a:t>
            </a:r>
            <a:r>
              <a:rPr sz="2400" spc="15" dirty="0">
                <a:latin typeface="Times New Roman"/>
                <a:cs typeface="Times New Roman"/>
              </a:rPr>
              <a:t>the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three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classes.</a:t>
            </a:r>
            <a:endParaRPr sz="2400">
              <a:latin typeface="Times New Roman"/>
              <a:cs typeface="Times New Roman"/>
            </a:endParaRPr>
          </a:p>
          <a:p>
            <a:pPr marL="355600" marR="5080" indent="-342900" algn="just">
              <a:lnSpc>
                <a:spcPct val="100000"/>
              </a:lnSpc>
              <a:spcBef>
                <a:spcPts val="575"/>
              </a:spcBef>
              <a:buClr>
                <a:srgbClr val="001F5F"/>
              </a:buClr>
              <a:buFont typeface="Wingdings"/>
              <a:buChar char=""/>
              <a:tabLst>
                <a:tab pos="355600" algn="l"/>
              </a:tabLst>
            </a:pPr>
            <a:r>
              <a:rPr sz="2400" spc="10" dirty="0">
                <a:latin typeface="Times New Roman"/>
                <a:cs typeface="Times New Roman"/>
              </a:rPr>
              <a:t>If we create these </a:t>
            </a:r>
            <a:r>
              <a:rPr sz="2400" spc="15" dirty="0">
                <a:latin typeface="Times New Roman"/>
                <a:cs typeface="Times New Roman"/>
              </a:rPr>
              <a:t>classes </a:t>
            </a:r>
            <a:r>
              <a:rPr sz="2400" spc="20" dirty="0">
                <a:latin typeface="Times New Roman"/>
                <a:cs typeface="Times New Roman"/>
              </a:rPr>
              <a:t>avoiding inheritance </a:t>
            </a:r>
            <a:r>
              <a:rPr sz="2400" spc="15" dirty="0">
                <a:latin typeface="Times New Roman"/>
                <a:cs typeface="Times New Roman"/>
              </a:rPr>
              <a:t>then </a:t>
            </a:r>
            <a:r>
              <a:rPr sz="2400" spc="10" dirty="0">
                <a:latin typeface="Times New Roman"/>
                <a:cs typeface="Times New Roman"/>
              </a:rPr>
              <a:t>we </a:t>
            </a:r>
            <a:r>
              <a:rPr sz="2400" spc="15" dirty="0">
                <a:latin typeface="Times New Roman"/>
                <a:cs typeface="Times New Roman"/>
              </a:rPr>
              <a:t>have </a:t>
            </a:r>
            <a:r>
              <a:rPr sz="2400" spc="10" dirty="0">
                <a:latin typeface="Times New Roman"/>
                <a:cs typeface="Times New Roman"/>
              </a:rPr>
              <a:t>to </a:t>
            </a:r>
            <a:r>
              <a:rPr sz="2400" spc="15" dirty="0">
                <a:latin typeface="Times New Roman"/>
                <a:cs typeface="Times New Roman"/>
              </a:rPr>
              <a:t>write </a:t>
            </a:r>
            <a:r>
              <a:rPr sz="2400" spc="10" dirty="0">
                <a:latin typeface="Times New Roman"/>
                <a:cs typeface="Times New Roman"/>
              </a:rPr>
              <a:t>all of </a:t>
            </a:r>
            <a:r>
              <a:rPr sz="2400" spc="15" dirty="0">
                <a:latin typeface="Times New Roman"/>
                <a:cs typeface="Times New Roman"/>
              </a:rPr>
              <a:t>these 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functions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in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each</a:t>
            </a:r>
            <a:r>
              <a:rPr sz="2400" dirty="0">
                <a:latin typeface="Times New Roman"/>
                <a:cs typeface="Times New Roman"/>
              </a:rPr>
              <a:t> of </a:t>
            </a:r>
            <a:r>
              <a:rPr sz="2400" spc="-5" dirty="0">
                <a:latin typeface="Times New Roman"/>
                <a:cs typeface="Times New Roman"/>
              </a:rPr>
              <a:t>the three classes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as</a:t>
            </a:r>
            <a:r>
              <a:rPr sz="2400" dirty="0">
                <a:latin typeface="Times New Roman"/>
                <a:cs typeface="Times New Roman"/>
              </a:rPr>
              <a:t> shown </a:t>
            </a:r>
            <a:r>
              <a:rPr sz="2400" spc="-5" dirty="0">
                <a:latin typeface="Times New Roman"/>
                <a:cs typeface="Times New Roman"/>
              </a:rPr>
              <a:t>in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below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figure: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48290" y="3986784"/>
            <a:ext cx="8155255" cy="251497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Why and</a:t>
            </a:r>
            <a:r>
              <a:rPr spc="-80" dirty="0"/>
              <a:t> </a:t>
            </a:r>
            <a:r>
              <a:rPr spc="-5" dirty="0"/>
              <a:t>When</a:t>
            </a:r>
            <a:r>
              <a:rPr spc="-10" dirty="0"/>
              <a:t> </a:t>
            </a:r>
            <a:r>
              <a:rPr dirty="0"/>
              <a:t>to</a:t>
            </a:r>
            <a:r>
              <a:rPr spc="-5" dirty="0"/>
              <a:t> Use Inheritance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840229"/>
            <a:ext cx="10415270" cy="185948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 algn="just">
              <a:lnSpc>
                <a:spcPct val="100000"/>
              </a:lnSpc>
              <a:spcBef>
                <a:spcPts val="100"/>
              </a:spcBef>
              <a:buClr>
                <a:srgbClr val="001F5F"/>
              </a:buClr>
              <a:buFont typeface="Wingdings"/>
              <a:buChar char=""/>
              <a:tabLst>
                <a:tab pos="355600" algn="l"/>
              </a:tabLst>
            </a:pPr>
            <a:r>
              <a:rPr sz="2400" spc="-85" dirty="0">
                <a:latin typeface="Times New Roman"/>
                <a:cs typeface="Times New Roman"/>
              </a:rPr>
              <a:t>You </a:t>
            </a:r>
            <a:r>
              <a:rPr sz="2400" spc="-5" dirty="0">
                <a:latin typeface="Times New Roman"/>
                <a:cs typeface="Times New Roman"/>
              </a:rPr>
              <a:t>can clearly see that above process results in duplication </a:t>
            </a:r>
            <a:r>
              <a:rPr sz="2400" dirty="0">
                <a:latin typeface="Times New Roman"/>
                <a:cs typeface="Times New Roman"/>
              </a:rPr>
              <a:t>of </a:t>
            </a:r>
            <a:r>
              <a:rPr sz="2400" spc="-5" dirty="0">
                <a:latin typeface="Times New Roman"/>
                <a:cs typeface="Times New Roman"/>
              </a:rPr>
              <a:t>same code </a:t>
            </a:r>
            <a:r>
              <a:rPr sz="2400" dirty="0">
                <a:latin typeface="Times New Roman"/>
                <a:cs typeface="Times New Roman"/>
              </a:rPr>
              <a:t>3 </a:t>
            </a:r>
            <a:r>
              <a:rPr sz="2400" spc="-5" dirty="0">
                <a:latin typeface="Times New Roman"/>
                <a:cs typeface="Times New Roman"/>
              </a:rPr>
              <a:t>times.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35" dirty="0">
                <a:latin typeface="Times New Roman"/>
                <a:cs typeface="Times New Roman"/>
              </a:rPr>
              <a:t>This </a:t>
            </a:r>
            <a:r>
              <a:rPr sz="2400" spc="40" dirty="0">
                <a:latin typeface="Times New Roman"/>
                <a:cs typeface="Times New Roman"/>
              </a:rPr>
              <a:t>increases </a:t>
            </a:r>
            <a:r>
              <a:rPr sz="2400" spc="30" dirty="0">
                <a:latin typeface="Times New Roman"/>
                <a:cs typeface="Times New Roman"/>
              </a:rPr>
              <a:t>the </a:t>
            </a:r>
            <a:r>
              <a:rPr sz="2400" spc="40" dirty="0">
                <a:latin typeface="Times New Roman"/>
                <a:cs typeface="Times New Roman"/>
              </a:rPr>
              <a:t>chances </a:t>
            </a:r>
            <a:r>
              <a:rPr sz="2400" spc="25" dirty="0">
                <a:latin typeface="Times New Roman"/>
                <a:cs typeface="Times New Roman"/>
              </a:rPr>
              <a:t>of </a:t>
            </a:r>
            <a:r>
              <a:rPr sz="2400" spc="40" dirty="0">
                <a:latin typeface="Times New Roman"/>
                <a:cs typeface="Times New Roman"/>
              </a:rPr>
              <a:t>error </a:t>
            </a:r>
            <a:r>
              <a:rPr sz="2400" spc="35" dirty="0">
                <a:latin typeface="Times New Roman"/>
                <a:cs typeface="Times New Roman"/>
              </a:rPr>
              <a:t>and data </a:t>
            </a:r>
            <a:r>
              <a:rPr sz="2400" spc="30" dirty="0">
                <a:latin typeface="Times New Roman"/>
                <a:cs typeface="Times New Roman"/>
              </a:rPr>
              <a:t>redundancy. </a:t>
            </a:r>
            <a:r>
              <a:rPr sz="2400" spc="-60" dirty="0">
                <a:latin typeface="Times New Roman"/>
                <a:cs typeface="Times New Roman"/>
              </a:rPr>
              <a:t>To </a:t>
            </a:r>
            <a:r>
              <a:rPr sz="2400" spc="40" dirty="0">
                <a:latin typeface="Times New Roman"/>
                <a:cs typeface="Times New Roman"/>
              </a:rPr>
              <a:t>avoid </a:t>
            </a:r>
            <a:r>
              <a:rPr sz="2400" spc="35" dirty="0">
                <a:latin typeface="Times New Roman"/>
                <a:cs typeface="Times New Roman"/>
              </a:rPr>
              <a:t>this </a:t>
            </a:r>
            <a:r>
              <a:rPr sz="2400" spc="40" dirty="0">
                <a:latin typeface="Times New Roman"/>
                <a:cs typeface="Times New Roman"/>
              </a:rPr>
              <a:t>type </a:t>
            </a:r>
            <a:r>
              <a:rPr sz="2400" spc="25" dirty="0">
                <a:latin typeface="Times New Roman"/>
                <a:cs typeface="Times New Roman"/>
              </a:rPr>
              <a:t>of </a:t>
            </a:r>
            <a:r>
              <a:rPr sz="2400" spc="30" dirty="0">
                <a:latin typeface="Times New Roman"/>
                <a:cs typeface="Times New Roman"/>
              </a:rPr>
              <a:t> </a:t>
            </a:r>
            <a:r>
              <a:rPr sz="2400" spc="35" dirty="0">
                <a:latin typeface="Times New Roman"/>
                <a:cs typeface="Times New Roman"/>
              </a:rPr>
              <a:t>situation, inheritance </a:t>
            </a:r>
            <a:r>
              <a:rPr sz="2400" spc="20" dirty="0">
                <a:latin typeface="Times New Roman"/>
                <a:cs typeface="Times New Roman"/>
              </a:rPr>
              <a:t>is </a:t>
            </a:r>
            <a:r>
              <a:rPr sz="2400" spc="35" dirty="0">
                <a:latin typeface="Times New Roman"/>
                <a:cs typeface="Times New Roman"/>
              </a:rPr>
              <a:t>used. </a:t>
            </a:r>
            <a:r>
              <a:rPr sz="2400" spc="20" dirty="0">
                <a:latin typeface="Times New Roman"/>
                <a:cs typeface="Times New Roman"/>
              </a:rPr>
              <a:t>If we </a:t>
            </a:r>
            <a:r>
              <a:rPr sz="2400" spc="30" dirty="0">
                <a:latin typeface="Times New Roman"/>
                <a:cs typeface="Times New Roman"/>
              </a:rPr>
              <a:t>create </a:t>
            </a:r>
            <a:r>
              <a:rPr sz="2400" dirty="0">
                <a:latin typeface="Times New Roman"/>
                <a:cs typeface="Times New Roman"/>
              </a:rPr>
              <a:t>a </a:t>
            </a:r>
            <a:r>
              <a:rPr sz="2400" spc="30" dirty="0">
                <a:latin typeface="Times New Roman"/>
                <a:cs typeface="Times New Roman"/>
              </a:rPr>
              <a:t>class </a:t>
            </a:r>
            <a:r>
              <a:rPr sz="2400" spc="-5" dirty="0">
                <a:latin typeface="Times New Roman"/>
                <a:cs typeface="Times New Roman"/>
              </a:rPr>
              <a:t>Vehicle </a:t>
            </a:r>
            <a:r>
              <a:rPr sz="2400" spc="25" dirty="0">
                <a:latin typeface="Times New Roman"/>
                <a:cs typeface="Times New Roman"/>
              </a:rPr>
              <a:t>and </a:t>
            </a:r>
            <a:r>
              <a:rPr sz="2400" spc="30" dirty="0">
                <a:latin typeface="Times New Roman"/>
                <a:cs typeface="Times New Roman"/>
              </a:rPr>
              <a:t>write these three </a:t>
            </a:r>
            <a:r>
              <a:rPr sz="2400" spc="35" dirty="0">
                <a:latin typeface="Times New Roman"/>
                <a:cs typeface="Times New Roman"/>
              </a:rPr>
              <a:t> </a:t>
            </a:r>
            <a:r>
              <a:rPr sz="2400" spc="25" dirty="0">
                <a:latin typeface="Times New Roman"/>
                <a:cs typeface="Times New Roman"/>
              </a:rPr>
              <a:t>functions </a:t>
            </a:r>
            <a:r>
              <a:rPr sz="2400" spc="15" dirty="0">
                <a:latin typeface="Times New Roman"/>
                <a:cs typeface="Times New Roman"/>
              </a:rPr>
              <a:t>in it </a:t>
            </a:r>
            <a:r>
              <a:rPr sz="2400" spc="20" dirty="0">
                <a:latin typeface="Times New Roman"/>
                <a:cs typeface="Times New Roman"/>
              </a:rPr>
              <a:t>and </a:t>
            </a:r>
            <a:r>
              <a:rPr sz="2400" spc="25" dirty="0">
                <a:latin typeface="Times New Roman"/>
                <a:cs typeface="Times New Roman"/>
              </a:rPr>
              <a:t>inherit </a:t>
            </a:r>
            <a:r>
              <a:rPr sz="2400" spc="20" dirty="0">
                <a:latin typeface="Times New Roman"/>
                <a:cs typeface="Times New Roman"/>
              </a:rPr>
              <a:t>the </a:t>
            </a:r>
            <a:r>
              <a:rPr sz="2400" spc="25" dirty="0">
                <a:latin typeface="Times New Roman"/>
                <a:cs typeface="Times New Roman"/>
              </a:rPr>
              <a:t>rest </a:t>
            </a:r>
            <a:r>
              <a:rPr sz="2400" spc="20" dirty="0">
                <a:latin typeface="Times New Roman"/>
                <a:cs typeface="Times New Roman"/>
              </a:rPr>
              <a:t>of </a:t>
            </a:r>
            <a:r>
              <a:rPr sz="2400" spc="25" dirty="0">
                <a:latin typeface="Times New Roman"/>
                <a:cs typeface="Times New Roman"/>
              </a:rPr>
              <a:t>the </a:t>
            </a:r>
            <a:r>
              <a:rPr sz="2400" spc="30" dirty="0">
                <a:latin typeface="Times New Roman"/>
                <a:cs typeface="Times New Roman"/>
              </a:rPr>
              <a:t>classes from </a:t>
            </a:r>
            <a:r>
              <a:rPr sz="2400" spc="25" dirty="0">
                <a:latin typeface="Times New Roman"/>
                <a:cs typeface="Times New Roman"/>
              </a:rPr>
              <a:t>the </a:t>
            </a:r>
            <a:r>
              <a:rPr sz="2400" spc="30" dirty="0">
                <a:latin typeface="Times New Roman"/>
                <a:cs typeface="Times New Roman"/>
              </a:rPr>
              <a:t>vehicle class, </a:t>
            </a:r>
            <a:r>
              <a:rPr sz="2400" spc="25" dirty="0">
                <a:latin typeface="Times New Roman"/>
                <a:cs typeface="Times New Roman"/>
              </a:rPr>
              <a:t>then </a:t>
            </a:r>
            <a:r>
              <a:rPr sz="2400" spc="20" dirty="0">
                <a:latin typeface="Times New Roman"/>
                <a:cs typeface="Times New Roman"/>
              </a:rPr>
              <a:t>we </a:t>
            </a:r>
            <a:r>
              <a:rPr sz="2400" spc="25" dirty="0">
                <a:latin typeface="Times New Roman"/>
                <a:cs typeface="Times New Roman"/>
              </a:rPr>
              <a:t> </a:t>
            </a:r>
            <a:r>
              <a:rPr sz="2400" spc="30" dirty="0">
                <a:latin typeface="Times New Roman"/>
                <a:cs typeface="Times New Roman"/>
              </a:rPr>
              <a:t>can </a:t>
            </a:r>
            <a:r>
              <a:rPr sz="2400" spc="35" dirty="0">
                <a:latin typeface="Times New Roman"/>
                <a:cs typeface="Times New Roman"/>
              </a:rPr>
              <a:t>simply avoid </a:t>
            </a:r>
            <a:r>
              <a:rPr sz="2400" spc="30" dirty="0">
                <a:latin typeface="Times New Roman"/>
                <a:cs typeface="Times New Roman"/>
              </a:rPr>
              <a:t>the </a:t>
            </a:r>
            <a:r>
              <a:rPr sz="2400" spc="40" dirty="0">
                <a:latin typeface="Times New Roman"/>
                <a:cs typeface="Times New Roman"/>
              </a:rPr>
              <a:t>duplication </a:t>
            </a:r>
            <a:r>
              <a:rPr sz="2400" spc="25" dirty="0">
                <a:latin typeface="Times New Roman"/>
                <a:cs typeface="Times New Roman"/>
              </a:rPr>
              <a:t>of </a:t>
            </a:r>
            <a:r>
              <a:rPr sz="2400" spc="35" dirty="0">
                <a:latin typeface="Times New Roman"/>
                <a:cs typeface="Times New Roman"/>
              </a:rPr>
              <a:t>data and </a:t>
            </a:r>
            <a:r>
              <a:rPr sz="2400" spc="45" dirty="0">
                <a:latin typeface="Times New Roman"/>
                <a:cs typeface="Times New Roman"/>
              </a:rPr>
              <a:t>increase </a:t>
            </a:r>
            <a:r>
              <a:rPr sz="2400" spc="35" dirty="0">
                <a:latin typeface="Times New Roman"/>
                <a:cs typeface="Times New Roman"/>
              </a:rPr>
              <a:t>re-usability. </a:t>
            </a:r>
            <a:endParaRPr sz="2400" dirty="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96087" y="4212335"/>
            <a:ext cx="7123946" cy="254037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Why and</a:t>
            </a:r>
            <a:r>
              <a:rPr spc="-80" dirty="0"/>
              <a:t> </a:t>
            </a:r>
            <a:r>
              <a:rPr spc="-5" dirty="0"/>
              <a:t>When</a:t>
            </a:r>
            <a:r>
              <a:rPr spc="-10" dirty="0"/>
              <a:t> </a:t>
            </a:r>
            <a:r>
              <a:rPr dirty="0"/>
              <a:t>to</a:t>
            </a:r>
            <a:r>
              <a:rPr spc="-5" dirty="0"/>
              <a:t> Use Inheritance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8" y="1840229"/>
            <a:ext cx="10360661" cy="150297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spcBef>
                <a:spcPts val="100"/>
              </a:spcBef>
              <a:buClr>
                <a:srgbClr val="001F5F"/>
              </a:buClr>
              <a:buFont typeface="Wingdings"/>
              <a:buChar char=""/>
              <a:tabLst>
                <a:tab pos="355600" algn="l"/>
              </a:tabLst>
            </a:pPr>
            <a:r>
              <a:rPr lang="en-US" sz="2400" spc="40" dirty="0">
                <a:latin typeface="Times New Roman"/>
                <a:cs typeface="Times New Roman"/>
              </a:rPr>
              <a:t>Look </a:t>
            </a:r>
            <a:r>
              <a:rPr lang="en-US" sz="2400" spc="25" dirty="0">
                <a:latin typeface="Times New Roman"/>
                <a:cs typeface="Times New Roman"/>
              </a:rPr>
              <a:t>at </a:t>
            </a:r>
            <a:r>
              <a:rPr lang="en-US" sz="2400" spc="35" dirty="0">
                <a:latin typeface="Times New Roman"/>
                <a:cs typeface="Times New Roman"/>
              </a:rPr>
              <a:t>the </a:t>
            </a:r>
            <a:r>
              <a:rPr lang="en-US" sz="2400" spc="40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above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diagram in</a:t>
            </a:r>
            <a:r>
              <a:rPr lang="en-US" sz="2400" spc="5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which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the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three classes</a:t>
            </a:r>
            <a:r>
              <a:rPr lang="en-US" sz="2400" spc="5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are inherited</a:t>
            </a:r>
            <a:r>
              <a:rPr lang="en-US" sz="2400" dirty="0">
                <a:latin typeface="Times New Roman"/>
                <a:cs typeface="Times New Roman"/>
              </a:rPr>
              <a:t> from </a:t>
            </a:r>
            <a:r>
              <a:rPr lang="en-US" sz="2400" spc="-5" dirty="0">
                <a:latin typeface="Times New Roman"/>
                <a:cs typeface="Times New Roman"/>
              </a:rPr>
              <a:t>vehicle class.</a:t>
            </a:r>
          </a:p>
          <a:p>
            <a:pPr marL="355600" marR="5080" indent="-342900">
              <a:lnSpc>
                <a:spcPct val="100000"/>
              </a:lnSpc>
              <a:spcBef>
                <a:spcPts val="100"/>
              </a:spcBef>
              <a:buClr>
                <a:srgbClr val="001F5F"/>
              </a:buClr>
              <a:buFont typeface="Wingdings"/>
              <a:buChar char=""/>
              <a:tabLst>
                <a:tab pos="355600" algn="l"/>
              </a:tabLst>
            </a:pPr>
            <a:r>
              <a:rPr sz="2400" spc="-5" dirty="0">
                <a:latin typeface="Times New Roman"/>
                <a:cs typeface="Times New Roman"/>
              </a:rPr>
              <a:t>Using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inheritance,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we </a:t>
            </a:r>
            <a:r>
              <a:rPr sz="2400" spc="-5" dirty="0">
                <a:latin typeface="Times New Roman"/>
                <a:cs typeface="Times New Roman"/>
              </a:rPr>
              <a:t>have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to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write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the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functions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only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one </a:t>
            </a:r>
            <a:r>
              <a:rPr sz="2400" spc="-5" dirty="0">
                <a:latin typeface="Times New Roman"/>
                <a:cs typeface="Times New Roman"/>
              </a:rPr>
              <a:t>time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instead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three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times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as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we </a:t>
            </a:r>
            <a:r>
              <a:rPr sz="2400" spc="-5" dirty="0">
                <a:latin typeface="Times New Roman"/>
                <a:cs typeface="Times New Roman"/>
              </a:rPr>
              <a:t>have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inherited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rest</a:t>
            </a:r>
            <a:r>
              <a:rPr sz="2400" dirty="0">
                <a:latin typeface="Times New Roman"/>
                <a:cs typeface="Times New Roman"/>
              </a:rPr>
              <a:t> of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the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three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classes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from</a:t>
            </a:r>
            <a:r>
              <a:rPr sz="2400" spc="-5" dirty="0">
                <a:latin typeface="Times New Roman"/>
                <a:cs typeface="Times New Roman"/>
              </a:rPr>
              <a:t> base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class(Vehicle).</a:t>
            </a:r>
            <a:endParaRPr sz="24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57600" y="381000"/>
            <a:ext cx="6785610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dirty="0"/>
              <a:t>Advantages of Inheritance</a:t>
            </a:r>
            <a:br>
              <a:rPr lang="en-US" dirty="0"/>
            </a:br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1371600" y="1501820"/>
            <a:ext cx="10360661" cy="458587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spcBef>
                <a:spcPts val="100"/>
              </a:spcBef>
              <a:buClr>
                <a:srgbClr val="001F5F"/>
              </a:buClr>
              <a:buFont typeface="Wingdings"/>
              <a:buChar char=""/>
              <a:tabLst>
                <a:tab pos="355600" algn="l"/>
              </a:tabLst>
            </a:pPr>
            <a:endParaRPr lang="en-US" sz="2400" dirty="0">
              <a:latin typeface="Times New Roman"/>
              <a:cs typeface="Times New Roman"/>
            </a:endParaRPr>
          </a:p>
          <a:p>
            <a:pPr marL="355600" marR="5080" indent="-342900">
              <a:spcBef>
                <a:spcPts val="100"/>
              </a:spcBef>
              <a:buClr>
                <a:srgbClr val="001F5F"/>
              </a:buClr>
              <a:buFont typeface="Wingdings"/>
              <a:buChar char=""/>
              <a:tabLst>
                <a:tab pos="355600" algn="l"/>
              </a:tabLst>
            </a:pPr>
            <a:r>
              <a:rPr lang="en-US" sz="2400" dirty="0">
                <a:latin typeface="Times New Roman"/>
                <a:cs typeface="Times New Roman"/>
              </a:rPr>
              <a:t>It saves memory space.</a:t>
            </a:r>
          </a:p>
          <a:p>
            <a:pPr marL="355600" marR="5080" indent="-342900">
              <a:spcBef>
                <a:spcPts val="100"/>
              </a:spcBef>
              <a:buClr>
                <a:srgbClr val="001F5F"/>
              </a:buClr>
              <a:buFont typeface="Wingdings"/>
              <a:buChar char=""/>
              <a:tabLst>
                <a:tab pos="355600" algn="l"/>
              </a:tabLst>
            </a:pPr>
            <a:endParaRPr lang="en-US" sz="2400" dirty="0">
              <a:latin typeface="Times New Roman"/>
              <a:cs typeface="Times New Roman"/>
            </a:endParaRPr>
          </a:p>
          <a:p>
            <a:pPr marL="355600" marR="5080" indent="-342900">
              <a:spcBef>
                <a:spcPts val="100"/>
              </a:spcBef>
              <a:buClr>
                <a:srgbClr val="001F5F"/>
              </a:buClr>
              <a:buFont typeface="Wingdings"/>
              <a:buChar char=""/>
              <a:tabLst>
                <a:tab pos="355600" algn="l"/>
              </a:tabLst>
            </a:pPr>
            <a:r>
              <a:rPr lang="en-US" sz="2400" dirty="0">
                <a:latin typeface="Times New Roman"/>
                <a:cs typeface="Times New Roman"/>
              </a:rPr>
              <a:t>It saves time.</a:t>
            </a:r>
          </a:p>
          <a:p>
            <a:pPr marL="355600" marR="5080" indent="-342900">
              <a:spcBef>
                <a:spcPts val="100"/>
              </a:spcBef>
              <a:buClr>
                <a:srgbClr val="001F5F"/>
              </a:buClr>
              <a:buFont typeface="Wingdings"/>
              <a:buChar char=""/>
              <a:tabLst>
                <a:tab pos="355600" algn="l"/>
              </a:tabLst>
            </a:pPr>
            <a:endParaRPr lang="en-US" sz="2400" dirty="0">
              <a:latin typeface="Times New Roman"/>
              <a:cs typeface="Times New Roman"/>
            </a:endParaRPr>
          </a:p>
          <a:p>
            <a:pPr marL="355600" marR="5080" indent="-342900">
              <a:spcBef>
                <a:spcPts val="100"/>
              </a:spcBef>
              <a:buClr>
                <a:srgbClr val="001F5F"/>
              </a:buClr>
              <a:buFont typeface="Wingdings"/>
              <a:buChar char=""/>
              <a:tabLst>
                <a:tab pos="355600" algn="l"/>
              </a:tabLst>
            </a:pPr>
            <a:r>
              <a:rPr lang="en-US" sz="2400" dirty="0">
                <a:latin typeface="Times New Roman"/>
                <a:cs typeface="Times New Roman"/>
              </a:rPr>
              <a:t>It increases reliability of the code</a:t>
            </a:r>
          </a:p>
          <a:p>
            <a:pPr marL="355600" marR="5080" indent="-342900">
              <a:spcBef>
                <a:spcPts val="100"/>
              </a:spcBef>
              <a:buClr>
                <a:srgbClr val="001F5F"/>
              </a:buClr>
              <a:buFont typeface="Wingdings"/>
              <a:buChar char=""/>
              <a:tabLst>
                <a:tab pos="355600" algn="l"/>
              </a:tabLst>
            </a:pPr>
            <a:endParaRPr lang="en-US" sz="2400" dirty="0">
              <a:latin typeface="Times New Roman"/>
              <a:cs typeface="Times New Roman"/>
            </a:endParaRPr>
          </a:p>
          <a:p>
            <a:pPr marL="355600" marR="5080" indent="-342900">
              <a:spcBef>
                <a:spcPts val="100"/>
              </a:spcBef>
              <a:buClr>
                <a:srgbClr val="001F5F"/>
              </a:buClr>
              <a:buFont typeface="Wingdings"/>
              <a:buChar char=""/>
              <a:tabLst>
                <a:tab pos="355600" algn="l"/>
              </a:tabLst>
            </a:pPr>
            <a:r>
              <a:rPr lang="en-US" sz="2400" dirty="0">
                <a:latin typeface="Times New Roman"/>
                <a:cs typeface="Times New Roman"/>
              </a:rPr>
              <a:t>It saves developing and testing efforts.</a:t>
            </a:r>
          </a:p>
          <a:p>
            <a:pPr marL="355600" marR="5080" indent="-342900">
              <a:spcBef>
                <a:spcPts val="100"/>
              </a:spcBef>
              <a:buClr>
                <a:srgbClr val="001F5F"/>
              </a:buClr>
              <a:buFont typeface="Wingdings"/>
              <a:buChar char=""/>
              <a:tabLst>
                <a:tab pos="355600" algn="l"/>
              </a:tabLst>
            </a:pPr>
            <a:endParaRPr lang="en-US" sz="2400" dirty="0">
              <a:latin typeface="Times New Roman"/>
              <a:cs typeface="Times New Roman"/>
            </a:endParaRPr>
          </a:p>
          <a:p>
            <a:pPr marL="355600" marR="5080" indent="-342900">
              <a:spcBef>
                <a:spcPts val="100"/>
              </a:spcBef>
              <a:buClr>
                <a:srgbClr val="001F5F"/>
              </a:buClr>
              <a:buFont typeface="Wingdings"/>
              <a:buChar char=""/>
              <a:tabLst>
                <a:tab pos="355600" algn="l"/>
              </a:tabLst>
            </a:pPr>
            <a:r>
              <a:rPr lang="en-US" sz="2400" dirty="0">
                <a:latin typeface="Times New Roman"/>
                <a:cs typeface="Times New Roman"/>
              </a:rPr>
              <a:t>Data abstraction.</a:t>
            </a:r>
          </a:p>
          <a:p>
            <a:pPr marL="355600" marR="5080" indent="-342900">
              <a:spcBef>
                <a:spcPts val="100"/>
              </a:spcBef>
              <a:buClr>
                <a:srgbClr val="001F5F"/>
              </a:buClr>
              <a:buFont typeface="Wingdings"/>
              <a:buChar char=""/>
              <a:tabLst>
                <a:tab pos="355600" algn="l"/>
              </a:tabLst>
            </a:pPr>
            <a:endParaRPr lang="en-US" sz="2400" dirty="0">
              <a:latin typeface="Times New Roman"/>
              <a:cs typeface="Times New Roman"/>
            </a:endParaRPr>
          </a:p>
          <a:p>
            <a:pPr marL="355600" marR="5080" indent="-342900">
              <a:spcBef>
                <a:spcPts val="100"/>
              </a:spcBef>
              <a:buClr>
                <a:srgbClr val="001F5F"/>
              </a:buClr>
              <a:buFont typeface="Wingdings"/>
              <a:buChar char=""/>
              <a:tabLst>
                <a:tab pos="355600" algn="l"/>
              </a:tabLst>
            </a:pPr>
            <a:r>
              <a:rPr lang="en-US" sz="2400" dirty="0">
                <a:latin typeface="Times New Roman"/>
                <a:cs typeface="Times New Roman"/>
              </a:rPr>
              <a:t>Data reusability</a:t>
            </a:r>
            <a:endParaRPr sz="24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472976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94000" y="531177"/>
            <a:ext cx="660463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Implementing</a:t>
            </a:r>
            <a:r>
              <a:rPr spc="-10" dirty="0"/>
              <a:t> </a:t>
            </a:r>
            <a:r>
              <a:rPr spc="-5" dirty="0"/>
              <a:t>Inheritance</a:t>
            </a:r>
            <a:r>
              <a:rPr spc="-10" dirty="0"/>
              <a:t> </a:t>
            </a:r>
            <a:r>
              <a:rPr spc="-5" dirty="0"/>
              <a:t>in</a:t>
            </a:r>
            <a:r>
              <a:rPr spc="-10" dirty="0"/>
              <a:t> </a:t>
            </a:r>
            <a:r>
              <a:rPr spc="-5" dirty="0"/>
              <a:t>C++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840229"/>
            <a:ext cx="1035812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Clr>
                <a:srgbClr val="001F5F"/>
              </a:buClr>
              <a:buFont typeface="Wingdings"/>
              <a:buChar char=""/>
              <a:tabLst>
                <a:tab pos="355600" algn="l"/>
              </a:tabLst>
            </a:pPr>
            <a:r>
              <a:rPr sz="2400" b="1" spc="25" dirty="0">
                <a:latin typeface="Times New Roman"/>
                <a:cs typeface="Times New Roman"/>
              </a:rPr>
              <a:t>Implementing</a:t>
            </a:r>
            <a:r>
              <a:rPr sz="2400" b="1" spc="80" dirty="0">
                <a:latin typeface="Times New Roman"/>
                <a:cs typeface="Times New Roman"/>
              </a:rPr>
              <a:t> </a:t>
            </a:r>
            <a:r>
              <a:rPr sz="2400" b="1" spc="25" dirty="0">
                <a:latin typeface="Times New Roman"/>
                <a:cs typeface="Times New Roman"/>
              </a:rPr>
              <a:t>inheritance</a:t>
            </a:r>
            <a:r>
              <a:rPr sz="2400" b="1" spc="75" dirty="0">
                <a:latin typeface="Times New Roman"/>
                <a:cs typeface="Times New Roman"/>
              </a:rPr>
              <a:t> </a:t>
            </a:r>
            <a:r>
              <a:rPr sz="2400" b="1" spc="15" dirty="0">
                <a:latin typeface="Times New Roman"/>
                <a:cs typeface="Times New Roman"/>
              </a:rPr>
              <a:t>in</a:t>
            </a:r>
            <a:r>
              <a:rPr sz="2400" b="1" spc="80" dirty="0">
                <a:latin typeface="Times New Roman"/>
                <a:cs typeface="Times New Roman"/>
              </a:rPr>
              <a:t> </a:t>
            </a:r>
            <a:r>
              <a:rPr sz="2400" b="1" spc="25" dirty="0">
                <a:latin typeface="Times New Roman"/>
                <a:cs typeface="Times New Roman"/>
              </a:rPr>
              <a:t>C++</a:t>
            </a:r>
            <a:r>
              <a:rPr sz="2400" spc="25" dirty="0">
                <a:latin typeface="Times New Roman"/>
                <a:cs typeface="Times New Roman"/>
              </a:rPr>
              <a:t>:</a:t>
            </a:r>
            <a:r>
              <a:rPr sz="2400" spc="75" dirty="0">
                <a:latin typeface="Times New Roman"/>
                <a:cs typeface="Times New Roman"/>
              </a:rPr>
              <a:t> </a:t>
            </a:r>
            <a:r>
              <a:rPr sz="2400" spc="20" dirty="0">
                <a:latin typeface="Times New Roman"/>
                <a:cs typeface="Times New Roman"/>
              </a:rPr>
              <a:t>For</a:t>
            </a:r>
            <a:r>
              <a:rPr sz="2400" spc="80" dirty="0">
                <a:latin typeface="Times New Roman"/>
                <a:cs typeface="Times New Roman"/>
              </a:rPr>
              <a:t> </a:t>
            </a:r>
            <a:r>
              <a:rPr sz="2400" spc="25" dirty="0">
                <a:latin typeface="Times New Roman"/>
                <a:cs typeface="Times New Roman"/>
              </a:rPr>
              <a:t>creating</a:t>
            </a:r>
            <a:r>
              <a:rPr sz="2400" spc="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80" dirty="0">
                <a:latin typeface="Times New Roman"/>
                <a:cs typeface="Times New Roman"/>
              </a:rPr>
              <a:t> </a:t>
            </a:r>
            <a:r>
              <a:rPr sz="2400" spc="25" dirty="0">
                <a:latin typeface="Times New Roman"/>
                <a:cs typeface="Times New Roman"/>
              </a:rPr>
              <a:t>sub-class</a:t>
            </a:r>
            <a:r>
              <a:rPr sz="2400" spc="80" dirty="0">
                <a:latin typeface="Times New Roman"/>
                <a:cs typeface="Times New Roman"/>
              </a:rPr>
              <a:t> </a:t>
            </a:r>
            <a:r>
              <a:rPr sz="2400" spc="25" dirty="0">
                <a:latin typeface="Times New Roman"/>
                <a:cs typeface="Times New Roman"/>
              </a:rPr>
              <a:t>which</a:t>
            </a:r>
            <a:r>
              <a:rPr sz="2400" spc="80" dirty="0">
                <a:latin typeface="Times New Roman"/>
                <a:cs typeface="Times New Roman"/>
              </a:rPr>
              <a:t> </a:t>
            </a:r>
            <a:r>
              <a:rPr sz="2400" spc="15" dirty="0">
                <a:latin typeface="Times New Roman"/>
                <a:cs typeface="Times New Roman"/>
              </a:rPr>
              <a:t>is</a:t>
            </a:r>
            <a:r>
              <a:rPr sz="2400" spc="80" dirty="0">
                <a:latin typeface="Times New Roman"/>
                <a:cs typeface="Times New Roman"/>
              </a:rPr>
              <a:t> </a:t>
            </a:r>
            <a:r>
              <a:rPr sz="2400" spc="25" dirty="0">
                <a:latin typeface="Times New Roman"/>
                <a:cs typeface="Times New Roman"/>
              </a:rPr>
              <a:t>inherited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from</a:t>
            </a:r>
            <a:r>
              <a:rPr sz="2400" spc="-5" dirty="0">
                <a:latin typeface="Times New Roman"/>
                <a:cs typeface="Times New Roman"/>
              </a:rPr>
              <a:t> the base class</a:t>
            </a:r>
            <a:r>
              <a:rPr sz="2400" dirty="0">
                <a:latin typeface="Times New Roman"/>
                <a:cs typeface="Times New Roman"/>
              </a:rPr>
              <a:t> we</a:t>
            </a:r>
            <a:r>
              <a:rPr sz="2400" spc="-5" dirty="0">
                <a:latin typeface="Times New Roman"/>
                <a:cs typeface="Times New Roman"/>
              </a:rPr>
              <a:t> have to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follow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the below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syntax.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6939" y="4838700"/>
            <a:ext cx="10358120" cy="1488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 algn="just">
              <a:lnSpc>
                <a:spcPct val="100000"/>
              </a:lnSpc>
              <a:spcBef>
                <a:spcPts val="100"/>
              </a:spcBef>
              <a:buClr>
                <a:srgbClr val="001F5F"/>
              </a:buClr>
              <a:buFont typeface="Wingdings"/>
              <a:buChar char=""/>
              <a:tabLst>
                <a:tab pos="355600" algn="l"/>
              </a:tabLst>
            </a:pPr>
            <a:r>
              <a:rPr sz="2400" spc="20" dirty="0">
                <a:latin typeface="Times New Roman"/>
                <a:cs typeface="Times New Roman"/>
              </a:rPr>
              <a:t>Here, </a:t>
            </a:r>
            <a:r>
              <a:rPr sz="2400" b="1" spc="25" dirty="0">
                <a:latin typeface="Times New Roman"/>
                <a:cs typeface="Times New Roman"/>
              </a:rPr>
              <a:t>subclass_name </a:t>
            </a:r>
            <a:r>
              <a:rPr sz="2400" spc="10" dirty="0">
                <a:latin typeface="Times New Roman"/>
                <a:cs typeface="Times New Roman"/>
              </a:rPr>
              <a:t>is </a:t>
            </a:r>
            <a:r>
              <a:rPr sz="2400" spc="15" dirty="0">
                <a:latin typeface="Times New Roman"/>
                <a:cs typeface="Times New Roman"/>
              </a:rPr>
              <a:t>the </a:t>
            </a:r>
            <a:r>
              <a:rPr sz="2400" spc="20" dirty="0">
                <a:latin typeface="Times New Roman"/>
                <a:cs typeface="Times New Roman"/>
              </a:rPr>
              <a:t>name </a:t>
            </a:r>
            <a:r>
              <a:rPr sz="2400" spc="15" dirty="0">
                <a:latin typeface="Times New Roman"/>
                <a:cs typeface="Times New Roman"/>
              </a:rPr>
              <a:t>of the </a:t>
            </a:r>
            <a:r>
              <a:rPr sz="2400" spc="20" dirty="0">
                <a:latin typeface="Times New Roman"/>
                <a:cs typeface="Times New Roman"/>
              </a:rPr>
              <a:t>sub class, </a:t>
            </a:r>
            <a:r>
              <a:rPr sz="2400" b="1" spc="25" dirty="0">
                <a:latin typeface="Times New Roman"/>
                <a:cs typeface="Times New Roman"/>
              </a:rPr>
              <a:t>access_mode </a:t>
            </a:r>
            <a:r>
              <a:rPr sz="2400" spc="15" dirty="0">
                <a:latin typeface="Times New Roman"/>
                <a:cs typeface="Times New Roman"/>
              </a:rPr>
              <a:t>is </a:t>
            </a:r>
            <a:r>
              <a:rPr sz="2400" spc="20" dirty="0">
                <a:latin typeface="Times New Roman"/>
                <a:cs typeface="Times New Roman"/>
              </a:rPr>
              <a:t>the </a:t>
            </a:r>
            <a:r>
              <a:rPr sz="2400" spc="25" dirty="0">
                <a:latin typeface="Times New Roman"/>
                <a:cs typeface="Times New Roman"/>
              </a:rPr>
              <a:t>mode </a:t>
            </a:r>
            <a:r>
              <a:rPr sz="2400" spc="15" dirty="0">
                <a:latin typeface="Times New Roman"/>
                <a:cs typeface="Times New Roman"/>
              </a:rPr>
              <a:t>in 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spc="100" dirty="0">
                <a:latin typeface="Times New Roman"/>
                <a:cs typeface="Times New Roman"/>
              </a:rPr>
              <a:t>which </a:t>
            </a:r>
            <a:r>
              <a:rPr sz="2400" spc="85" dirty="0">
                <a:latin typeface="Times New Roman"/>
                <a:cs typeface="Times New Roman"/>
              </a:rPr>
              <a:t>you </a:t>
            </a:r>
            <a:r>
              <a:rPr sz="2400" spc="95" dirty="0">
                <a:latin typeface="Times New Roman"/>
                <a:cs typeface="Times New Roman"/>
              </a:rPr>
              <a:t>want </a:t>
            </a:r>
            <a:r>
              <a:rPr sz="2400" spc="60" dirty="0">
                <a:latin typeface="Times New Roman"/>
                <a:cs typeface="Times New Roman"/>
              </a:rPr>
              <a:t>to </a:t>
            </a:r>
            <a:r>
              <a:rPr sz="2400" spc="105" dirty="0">
                <a:latin typeface="Times New Roman"/>
                <a:cs typeface="Times New Roman"/>
              </a:rPr>
              <a:t>inherit </a:t>
            </a:r>
            <a:r>
              <a:rPr sz="2400" spc="95" dirty="0">
                <a:latin typeface="Times New Roman"/>
                <a:cs typeface="Times New Roman"/>
              </a:rPr>
              <a:t>this </a:t>
            </a:r>
            <a:r>
              <a:rPr sz="2400" spc="85" dirty="0">
                <a:latin typeface="Times New Roman"/>
                <a:cs typeface="Times New Roman"/>
              </a:rPr>
              <a:t>sub </a:t>
            </a:r>
            <a:r>
              <a:rPr sz="2400" spc="100" dirty="0">
                <a:latin typeface="Times New Roman"/>
                <a:cs typeface="Times New Roman"/>
              </a:rPr>
              <a:t>class </a:t>
            </a:r>
            <a:r>
              <a:rPr sz="2400" spc="85" dirty="0">
                <a:latin typeface="Times New Roman"/>
                <a:cs typeface="Times New Roman"/>
              </a:rPr>
              <a:t>for </a:t>
            </a:r>
            <a:r>
              <a:rPr sz="2400" spc="110" dirty="0">
                <a:latin typeface="Times New Roman"/>
                <a:cs typeface="Times New Roman"/>
              </a:rPr>
              <a:t>example: </a:t>
            </a:r>
            <a:r>
              <a:rPr sz="2400" spc="105" dirty="0">
                <a:latin typeface="Times New Roman"/>
                <a:cs typeface="Times New Roman"/>
              </a:rPr>
              <a:t>public, private </a:t>
            </a:r>
            <a:r>
              <a:rPr sz="2400" spc="95" dirty="0">
                <a:latin typeface="Times New Roman"/>
                <a:cs typeface="Times New Roman"/>
              </a:rPr>
              <a:t>etc. </a:t>
            </a:r>
            <a:r>
              <a:rPr sz="2400" spc="100" dirty="0">
                <a:latin typeface="Times New Roman"/>
                <a:cs typeface="Times New Roman"/>
              </a:rPr>
              <a:t> </a:t>
            </a:r>
            <a:r>
              <a:rPr sz="2400" spc="50" dirty="0">
                <a:latin typeface="Times New Roman"/>
                <a:cs typeface="Times New Roman"/>
              </a:rPr>
              <a:t>and </a:t>
            </a:r>
            <a:r>
              <a:rPr sz="2400" b="1" spc="70" dirty="0">
                <a:latin typeface="Times New Roman"/>
                <a:cs typeface="Times New Roman"/>
              </a:rPr>
              <a:t>base_class_name </a:t>
            </a:r>
            <a:r>
              <a:rPr sz="2400" spc="35" dirty="0">
                <a:latin typeface="Times New Roman"/>
                <a:cs typeface="Times New Roman"/>
              </a:rPr>
              <a:t>is </a:t>
            </a:r>
            <a:r>
              <a:rPr sz="2400" spc="50" dirty="0">
                <a:latin typeface="Times New Roman"/>
                <a:cs typeface="Times New Roman"/>
              </a:rPr>
              <a:t>the </a:t>
            </a:r>
            <a:r>
              <a:rPr sz="2400" spc="55" dirty="0">
                <a:latin typeface="Times New Roman"/>
                <a:cs typeface="Times New Roman"/>
              </a:rPr>
              <a:t>name </a:t>
            </a:r>
            <a:r>
              <a:rPr sz="2400" spc="40" dirty="0">
                <a:latin typeface="Times New Roman"/>
                <a:cs typeface="Times New Roman"/>
              </a:rPr>
              <a:t>of </a:t>
            </a:r>
            <a:r>
              <a:rPr sz="2400" spc="50" dirty="0">
                <a:latin typeface="Times New Roman"/>
                <a:cs typeface="Times New Roman"/>
              </a:rPr>
              <a:t>the </a:t>
            </a:r>
            <a:r>
              <a:rPr sz="2400" spc="55" dirty="0">
                <a:latin typeface="Times New Roman"/>
                <a:cs typeface="Times New Roman"/>
              </a:rPr>
              <a:t>base </a:t>
            </a:r>
            <a:r>
              <a:rPr sz="2400" spc="65" dirty="0">
                <a:latin typeface="Times New Roman"/>
                <a:cs typeface="Times New Roman"/>
              </a:rPr>
              <a:t>class </a:t>
            </a:r>
            <a:r>
              <a:rPr sz="2400" spc="60" dirty="0">
                <a:latin typeface="Times New Roman"/>
                <a:cs typeface="Times New Roman"/>
              </a:rPr>
              <a:t>from </a:t>
            </a:r>
            <a:r>
              <a:rPr sz="2400" spc="65" dirty="0">
                <a:latin typeface="Times New Roman"/>
                <a:cs typeface="Times New Roman"/>
              </a:rPr>
              <a:t>which </a:t>
            </a:r>
            <a:r>
              <a:rPr sz="2400" spc="55" dirty="0">
                <a:latin typeface="Times New Roman"/>
                <a:cs typeface="Times New Roman"/>
              </a:rPr>
              <a:t>you </a:t>
            </a:r>
            <a:r>
              <a:rPr sz="2400" spc="60" dirty="0">
                <a:latin typeface="Times New Roman"/>
                <a:cs typeface="Times New Roman"/>
              </a:rPr>
              <a:t>want </a:t>
            </a:r>
            <a:r>
              <a:rPr sz="2400" spc="40" dirty="0">
                <a:latin typeface="Times New Roman"/>
                <a:cs typeface="Times New Roman"/>
              </a:rPr>
              <a:t>to </a:t>
            </a:r>
            <a:r>
              <a:rPr sz="2400" spc="4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inherit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the </a:t>
            </a:r>
            <a:r>
              <a:rPr sz="2400" dirty="0">
                <a:latin typeface="Times New Roman"/>
                <a:cs typeface="Times New Roman"/>
              </a:rPr>
              <a:t>sub </a:t>
            </a:r>
            <a:r>
              <a:rPr sz="2400" spc="-5" dirty="0">
                <a:latin typeface="Times New Roman"/>
                <a:cs typeface="Times New Roman"/>
              </a:rPr>
              <a:t>class.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25880" y="2729483"/>
            <a:ext cx="9538716" cy="22021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00500" y="531177"/>
            <a:ext cx="41910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Modes</a:t>
            </a:r>
            <a:r>
              <a:rPr spc="-30" dirty="0"/>
              <a:t> </a:t>
            </a:r>
            <a:r>
              <a:rPr dirty="0"/>
              <a:t>of</a:t>
            </a:r>
            <a:r>
              <a:rPr spc="-25" dirty="0"/>
              <a:t> </a:t>
            </a:r>
            <a:r>
              <a:rPr spc="-5" dirty="0"/>
              <a:t>Inheritance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840229"/>
            <a:ext cx="10358755" cy="34632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 algn="just">
              <a:lnSpc>
                <a:spcPct val="100000"/>
              </a:lnSpc>
              <a:spcBef>
                <a:spcPts val="100"/>
              </a:spcBef>
              <a:buClr>
                <a:srgbClr val="001F5F"/>
              </a:buClr>
              <a:buFont typeface="Wingdings"/>
              <a:buChar char=""/>
              <a:tabLst>
                <a:tab pos="355600" algn="l"/>
              </a:tabLst>
            </a:pPr>
            <a:r>
              <a:rPr sz="2400" b="1" spc="20" dirty="0">
                <a:latin typeface="Times New Roman"/>
                <a:cs typeface="Times New Roman"/>
              </a:rPr>
              <a:t>Public mode</a:t>
            </a:r>
            <a:r>
              <a:rPr sz="2400" spc="20" dirty="0">
                <a:latin typeface="Times New Roman"/>
                <a:cs typeface="Times New Roman"/>
              </a:rPr>
              <a:t>: </a:t>
            </a:r>
            <a:r>
              <a:rPr sz="2400" spc="15" dirty="0">
                <a:latin typeface="Times New Roman"/>
                <a:cs typeface="Times New Roman"/>
              </a:rPr>
              <a:t>If we </a:t>
            </a:r>
            <a:r>
              <a:rPr sz="2400" spc="20" dirty="0">
                <a:latin typeface="Times New Roman"/>
                <a:cs typeface="Times New Roman"/>
              </a:rPr>
              <a:t>derive </a:t>
            </a:r>
            <a:r>
              <a:rPr sz="2400" dirty="0">
                <a:latin typeface="Times New Roman"/>
                <a:cs typeface="Times New Roman"/>
              </a:rPr>
              <a:t>a </a:t>
            </a:r>
            <a:r>
              <a:rPr sz="2400" spc="20" dirty="0">
                <a:latin typeface="Times New Roman"/>
                <a:cs typeface="Times New Roman"/>
              </a:rPr>
              <a:t>sub class from </a:t>
            </a:r>
            <a:r>
              <a:rPr sz="2400" dirty="0">
                <a:latin typeface="Times New Roman"/>
                <a:cs typeface="Times New Roman"/>
              </a:rPr>
              <a:t>a </a:t>
            </a:r>
            <a:r>
              <a:rPr sz="2400" spc="20" dirty="0">
                <a:latin typeface="Times New Roman"/>
                <a:cs typeface="Times New Roman"/>
              </a:rPr>
              <a:t>public base class</a:t>
            </a:r>
            <a:r>
              <a:rPr lang="en-US" sz="2400" spc="20" dirty="0">
                <a:latin typeface="Times New Roman"/>
                <a:cs typeface="Times New Roman"/>
              </a:rPr>
              <a:t>, </a:t>
            </a:r>
            <a:r>
              <a:rPr lang="en-US" sz="2400" spc="20" dirty="0">
                <a:solidFill>
                  <a:srgbClr val="FF0000"/>
                </a:solidFill>
                <a:latin typeface="Times New Roman"/>
                <a:cs typeface="Times New Roman"/>
              </a:rPr>
              <a:t>t</a:t>
            </a:r>
            <a:r>
              <a:rPr sz="2400" spc="20" dirty="0">
                <a:solidFill>
                  <a:srgbClr val="FF0000"/>
                </a:solidFill>
                <a:latin typeface="Times New Roman"/>
                <a:cs typeface="Times New Roman"/>
              </a:rPr>
              <a:t>hen </a:t>
            </a:r>
            <a:r>
              <a:rPr sz="2400" spc="15" dirty="0">
                <a:solidFill>
                  <a:srgbClr val="FF0000"/>
                </a:solidFill>
                <a:latin typeface="Times New Roman"/>
                <a:cs typeface="Times New Roman"/>
              </a:rPr>
              <a:t>the </a:t>
            </a:r>
            <a:r>
              <a:rPr sz="2400" spc="20" dirty="0">
                <a:solidFill>
                  <a:srgbClr val="FF0000"/>
                </a:solidFill>
                <a:latin typeface="Times New Roman"/>
                <a:cs typeface="Times New Roman"/>
              </a:rPr>
              <a:t>public </a:t>
            </a:r>
            <a:r>
              <a:rPr sz="2400" spc="25" dirty="0">
                <a:solidFill>
                  <a:srgbClr val="FF0000"/>
                </a:solidFill>
                <a:latin typeface="Times New Roman"/>
                <a:cs typeface="Times New Roman"/>
              </a:rPr>
              <a:t> member </a:t>
            </a:r>
            <a:r>
              <a:rPr sz="2400" spc="15" dirty="0">
                <a:solidFill>
                  <a:srgbClr val="FF0000"/>
                </a:solidFill>
                <a:latin typeface="Times New Roman"/>
                <a:cs typeface="Times New Roman"/>
              </a:rPr>
              <a:t>of </a:t>
            </a:r>
            <a:r>
              <a:rPr sz="2400" spc="20" dirty="0">
                <a:solidFill>
                  <a:srgbClr val="FF0000"/>
                </a:solidFill>
                <a:latin typeface="Times New Roman"/>
                <a:cs typeface="Times New Roman"/>
              </a:rPr>
              <a:t>the </a:t>
            </a:r>
            <a:r>
              <a:rPr sz="2400" spc="25" dirty="0">
                <a:solidFill>
                  <a:srgbClr val="FF0000"/>
                </a:solidFill>
                <a:latin typeface="Times New Roman"/>
                <a:cs typeface="Times New Roman"/>
              </a:rPr>
              <a:t>base class </a:t>
            </a:r>
            <a:r>
              <a:rPr sz="2400" spc="20" dirty="0">
                <a:solidFill>
                  <a:srgbClr val="FF0000"/>
                </a:solidFill>
                <a:latin typeface="Times New Roman"/>
                <a:cs typeface="Times New Roman"/>
              </a:rPr>
              <a:t>will </a:t>
            </a:r>
            <a:r>
              <a:rPr sz="2400" spc="25" dirty="0">
                <a:solidFill>
                  <a:srgbClr val="FF0000"/>
                </a:solidFill>
                <a:latin typeface="Times New Roman"/>
                <a:cs typeface="Times New Roman"/>
              </a:rPr>
              <a:t>become </a:t>
            </a:r>
            <a:r>
              <a:rPr sz="2400" spc="30" dirty="0">
                <a:solidFill>
                  <a:srgbClr val="0070C0"/>
                </a:solidFill>
                <a:latin typeface="Times New Roman"/>
                <a:cs typeface="Times New Roman"/>
              </a:rPr>
              <a:t>public</a:t>
            </a:r>
            <a:r>
              <a:rPr sz="2400" spc="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spc="15" dirty="0">
                <a:solidFill>
                  <a:srgbClr val="FF0000"/>
                </a:solidFill>
                <a:latin typeface="Times New Roman"/>
                <a:cs typeface="Times New Roman"/>
              </a:rPr>
              <a:t>in </a:t>
            </a:r>
            <a:r>
              <a:rPr sz="2400" spc="25" dirty="0">
                <a:solidFill>
                  <a:srgbClr val="FF0000"/>
                </a:solidFill>
                <a:latin typeface="Times New Roman"/>
                <a:cs typeface="Times New Roman"/>
              </a:rPr>
              <a:t>the </a:t>
            </a:r>
            <a:r>
              <a:rPr sz="2400" spc="30" dirty="0">
                <a:solidFill>
                  <a:srgbClr val="FF0000"/>
                </a:solidFill>
                <a:latin typeface="Times New Roman"/>
                <a:cs typeface="Times New Roman"/>
              </a:rPr>
              <a:t>derived </a:t>
            </a:r>
            <a:r>
              <a:rPr sz="2400" spc="25" dirty="0">
                <a:solidFill>
                  <a:srgbClr val="FF0000"/>
                </a:solidFill>
                <a:latin typeface="Times New Roman"/>
                <a:cs typeface="Times New Roman"/>
              </a:rPr>
              <a:t>class and </a:t>
            </a:r>
            <a:r>
              <a:rPr sz="2400" spc="30" dirty="0">
                <a:solidFill>
                  <a:srgbClr val="FF0000"/>
                </a:solidFill>
                <a:latin typeface="Times New Roman"/>
                <a:cs typeface="Times New Roman"/>
              </a:rPr>
              <a:t>protected </a:t>
            </a:r>
            <a:r>
              <a:rPr sz="2400" spc="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members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 of 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the base class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will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become </a:t>
            </a:r>
            <a:r>
              <a:rPr sz="2400" spc="-5" dirty="0">
                <a:solidFill>
                  <a:srgbClr val="0070C0"/>
                </a:solidFill>
                <a:latin typeface="Times New Roman"/>
                <a:cs typeface="Times New Roman"/>
              </a:rPr>
              <a:t>protected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in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derived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class.</a:t>
            </a:r>
            <a:endParaRPr sz="2400" dirty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 marL="355600" marR="5080" indent="-342900" algn="just">
              <a:lnSpc>
                <a:spcPct val="100000"/>
              </a:lnSpc>
              <a:spcBef>
                <a:spcPts val="575"/>
              </a:spcBef>
              <a:buClr>
                <a:srgbClr val="001F5F"/>
              </a:buClr>
              <a:buFont typeface="Wingdings"/>
              <a:buChar char=""/>
              <a:tabLst>
                <a:tab pos="355600" algn="l"/>
              </a:tabLst>
            </a:pPr>
            <a:r>
              <a:rPr sz="2400" b="1" spc="5" dirty="0">
                <a:latin typeface="Times New Roman"/>
                <a:cs typeface="Times New Roman"/>
              </a:rPr>
              <a:t>Protected </a:t>
            </a:r>
            <a:r>
              <a:rPr sz="2400" b="1" spc="10" dirty="0">
                <a:latin typeface="Times New Roman"/>
                <a:cs typeface="Times New Roman"/>
              </a:rPr>
              <a:t>mode</a:t>
            </a:r>
            <a:r>
              <a:rPr sz="2400" spc="10" dirty="0">
                <a:latin typeface="Times New Roman"/>
                <a:cs typeface="Times New Roman"/>
              </a:rPr>
              <a:t>: </a:t>
            </a:r>
            <a:r>
              <a:rPr sz="2400" spc="5" dirty="0">
                <a:latin typeface="Times New Roman"/>
                <a:cs typeface="Times New Roman"/>
              </a:rPr>
              <a:t>If we </a:t>
            </a:r>
            <a:r>
              <a:rPr sz="2400" spc="10" dirty="0">
                <a:latin typeface="Times New Roman"/>
                <a:cs typeface="Times New Roman"/>
              </a:rPr>
              <a:t>derive </a:t>
            </a:r>
            <a:r>
              <a:rPr sz="2400" dirty="0">
                <a:latin typeface="Times New Roman"/>
                <a:cs typeface="Times New Roman"/>
              </a:rPr>
              <a:t>a </a:t>
            </a:r>
            <a:r>
              <a:rPr sz="2400" spc="10" dirty="0">
                <a:latin typeface="Times New Roman"/>
                <a:cs typeface="Times New Roman"/>
              </a:rPr>
              <a:t>sub </a:t>
            </a:r>
            <a:r>
              <a:rPr sz="2400" spc="5" dirty="0">
                <a:latin typeface="Times New Roman"/>
                <a:cs typeface="Times New Roman"/>
              </a:rPr>
              <a:t>class </a:t>
            </a:r>
            <a:r>
              <a:rPr sz="2400" spc="10" dirty="0">
                <a:latin typeface="Times New Roman"/>
                <a:cs typeface="Times New Roman"/>
              </a:rPr>
              <a:t>from </a:t>
            </a:r>
            <a:r>
              <a:rPr sz="2400" dirty="0">
                <a:latin typeface="Times New Roman"/>
                <a:cs typeface="Times New Roman"/>
              </a:rPr>
              <a:t>a </a:t>
            </a:r>
            <a:r>
              <a:rPr sz="2400" spc="10" dirty="0">
                <a:latin typeface="Times New Roman"/>
                <a:cs typeface="Times New Roman"/>
              </a:rPr>
              <a:t>Protected base class. </a:t>
            </a:r>
            <a:r>
              <a:rPr sz="2400" spc="10" dirty="0">
                <a:solidFill>
                  <a:srgbClr val="FF0000"/>
                </a:solidFill>
                <a:latin typeface="Times New Roman"/>
                <a:cs typeface="Times New Roman"/>
              </a:rPr>
              <a:t>Then both </a:t>
            </a:r>
            <a:r>
              <a:rPr sz="2400" spc="-58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public member and protected members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of 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the base class will become </a:t>
            </a:r>
            <a:r>
              <a:rPr sz="2400" spc="-5" dirty="0">
                <a:solidFill>
                  <a:srgbClr val="0070C0"/>
                </a:solidFill>
                <a:latin typeface="Times New Roman"/>
                <a:cs typeface="Times New Roman"/>
              </a:rPr>
              <a:t>protected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 in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derived class.</a:t>
            </a:r>
            <a:endParaRPr sz="2400" dirty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 marL="355600" marR="5080" indent="-342900" algn="just">
              <a:lnSpc>
                <a:spcPct val="100000"/>
              </a:lnSpc>
              <a:spcBef>
                <a:spcPts val="575"/>
              </a:spcBef>
              <a:buClr>
                <a:srgbClr val="001F5F"/>
              </a:buClr>
              <a:buFont typeface="Wingdings"/>
              <a:buChar char=""/>
              <a:tabLst>
                <a:tab pos="355600" algn="l"/>
              </a:tabLst>
            </a:pPr>
            <a:r>
              <a:rPr sz="2400" b="1" spc="60" dirty="0">
                <a:latin typeface="Times New Roman"/>
                <a:cs typeface="Times New Roman"/>
              </a:rPr>
              <a:t>Private mode</a:t>
            </a:r>
            <a:r>
              <a:rPr sz="2400" spc="60" dirty="0">
                <a:latin typeface="Times New Roman"/>
                <a:cs typeface="Times New Roman"/>
              </a:rPr>
              <a:t>: </a:t>
            </a:r>
            <a:r>
              <a:rPr sz="2400" spc="40" dirty="0">
                <a:latin typeface="Times New Roman"/>
                <a:cs typeface="Times New Roman"/>
              </a:rPr>
              <a:t>If we </a:t>
            </a:r>
            <a:r>
              <a:rPr sz="2400" spc="65" dirty="0">
                <a:latin typeface="Times New Roman"/>
                <a:cs typeface="Times New Roman"/>
              </a:rPr>
              <a:t>derive </a:t>
            </a:r>
            <a:r>
              <a:rPr sz="2400" dirty="0">
                <a:latin typeface="Times New Roman"/>
                <a:cs typeface="Times New Roman"/>
              </a:rPr>
              <a:t>a </a:t>
            </a:r>
            <a:r>
              <a:rPr sz="2400" spc="50" dirty="0">
                <a:latin typeface="Times New Roman"/>
                <a:cs typeface="Times New Roman"/>
              </a:rPr>
              <a:t>sub </a:t>
            </a:r>
            <a:r>
              <a:rPr sz="2400" spc="60" dirty="0">
                <a:latin typeface="Times New Roman"/>
                <a:cs typeface="Times New Roman"/>
              </a:rPr>
              <a:t>class from </a:t>
            </a:r>
            <a:r>
              <a:rPr sz="2400" dirty="0">
                <a:latin typeface="Times New Roman"/>
                <a:cs typeface="Times New Roman"/>
              </a:rPr>
              <a:t>a </a:t>
            </a:r>
            <a:r>
              <a:rPr sz="2400" spc="65" dirty="0">
                <a:latin typeface="Times New Roman"/>
                <a:cs typeface="Times New Roman"/>
              </a:rPr>
              <a:t>Private </a:t>
            </a:r>
            <a:r>
              <a:rPr sz="2400" spc="55" dirty="0">
                <a:latin typeface="Times New Roman"/>
                <a:cs typeface="Times New Roman"/>
              </a:rPr>
              <a:t>base </a:t>
            </a:r>
            <a:r>
              <a:rPr sz="2400" spc="60" dirty="0">
                <a:latin typeface="Times New Roman"/>
                <a:cs typeface="Times New Roman"/>
              </a:rPr>
              <a:t>class. </a:t>
            </a:r>
            <a:r>
              <a:rPr sz="2400" spc="55" dirty="0">
                <a:solidFill>
                  <a:srgbClr val="FF0000"/>
                </a:solidFill>
                <a:latin typeface="Times New Roman"/>
                <a:cs typeface="Times New Roman"/>
              </a:rPr>
              <a:t>Then both </a:t>
            </a:r>
            <a:r>
              <a:rPr sz="2400" spc="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spc="25" dirty="0">
                <a:solidFill>
                  <a:srgbClr val="FF0000"/>
                </a:solidFill>
                <a:latin typeface="Times New Roman"/>
                <a:cs typeface="Times New Roman"/>
              </a:rPr>
              <a:t>public member </a:t>
            </a:r>
            <a:r>
              <a:rPr sz="2400" spc="20" dirty="0">
                <a:solidFill>
                  <a:srgbClr val="FF0000"/>
                </a:solidFill>
                <a:latin typeface="Times New Roman"/>
                <a:cs typeface="Times New Roman"/>
              </a:rPr>
              <a:t>and </a:t>
            </a:r>
            <a:r>
              <a:rPr sz="2400" spc="25" dirty="0">
                <a:solidFill>
                  <a:srgbClr val="FF0000"/>
                </a:solidFill>
                <a:latin typeface="Times New Roman"/>
                <a:cs typeface="Times New Roman"/>
              </a:rPr>
              <a:t>protected members </a:t>
            </a:r>
            <a:r>
              <a:rPr sz="2400" spc="15" dirty="0">
                <a:solidFill>
                  <a:srgbClr val="FF0000"/>
                </a:solidFill>
                <a:latin typeface="Times New Roman"/>
                <a:cs typeface="Times New Roman"/>
              </a:rPr>
              <a:t>of </a:t>
            </a:r>
            <a:r>
              <a:rPr sz="2400" spc="20" dirty="0">
                <a:solidFill>
                  <a:srgbClr val="FF0000"/>
                </a:solidFill>
                <a:latin typeface="Times New Roman"/>
                <a:cs typeface="Times New Roman"/>
              </a:rPr>
              <a:t>the </a:t>
            </a:r>
            <a:r>
              <a:rPr sz="2400" spc="25" dirty="0">
                <a:solidFill>
                  <a:srgbClr val="FF0000"/>
                </a:solidFill>
                <a:latin typeface="Times New Roman"/>
                <a:cs typeface="Times New Roman"/>
              </a:rPr>
              <a:t>base class </a:t>
            </a:r>
            <a:r>
              <a:rPr sz="2400" spc="20" dirty="0">
                <a:solidFill>
                  <a:srgbClr val="FF0000"/>
                </a:solidFill>
                <a:latin typeface="Times New Roman"/>
                <a:cs typeface="Times New Roman"/>
              </a:rPr>
              <a:t>will </a:t>
            </a:r>
            <a:r>
              <a:rPr sz="2400" spc="30" dirty="0">
                <a:solidFill>
                  <a:srgbClr val="FF0000"/>
                </a:solidFill>
                <a:latin typeface="Times New Roman"/>
                <a:cs typeface="Times New Roman"/>
              </a:rPr>
              <a:t>become </a:t>
            </a:r>
            <a:r>
              <a:rPr sz="2400" spc="30" dirty="0">
                <a:solidFill>
                  <a:srgbClr val="0070C0"/>
                </a:solidFill>
                <a:latin typeface="Times New Roman"/>
                <a:cs typeface="Times New Roman"/>
              </a:rPr>
              <a:t>Private</a:t>
            </a:r>
            <a:r>
              <a:rPr sz="2400" spc="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spc="15" dirty="0">
                <a:solidFill>
                  <a:srgbClr val="FF0000"/>
                </a:solidFill>
                <a:latin typeface="Times New Roman"/>
                <a:cs typeface="Times New Roman"/>
              </a:rPr>
              <a:t>in </a:t>
            </a:r>
            <a:r>
              <a:rPr sz="2400" spc="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derived class.</a:t>
            </a:r>
            <a:endParaRPr sz="2400" dirty="0">
              <a:solidFill>
                <a:srgbClr val="FF0000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00500" y="531177"/>
            <a:ext cx="41910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Modes</a:t>
            </a:r>
            <a:r>
              <a:rPr spc="-30" dirty="0"/>
              <a:t> </a:t>
            </a:r>
            <a:r>
              <a:rPr dirty="0"/>
              <a:t>of</a:t>
            </a:r>
            <a:r>
              <a:rPr spc="-25" dirty="0"/>
              <a:t> </a:t>
            </a:r>
            <a:r>
              <a:rPr spc="-5" dirty="0"/>
              <a:t>Inheritance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840229"/>
            <a:ext cx="1035812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 algn="just">
              <a:lnSpc>
                <a:spcPct val="100000"/>
              </a:lnSpc>
              <a:spcBef>
                <a:spcPts val="100"/>
              </a:spcBef>
              <a:buClr>
                <a:srgbClr val="001F5F"/>
              </a:buClr>
              <a:buFont typeface="Wingdings"/>
              <a:buChar char=""/>
              <a:tabLst>
                <a:tab pos="355600" algn="l"/>
              </a:tabLst>
            </a:pPr>
            <a:r>
              <a:rPr sz="2400" spc="75" dirty="0">
                <a:latin typeface="Times New Roman"/>
                <a:cs typeface="Times New Roman"/>
              </a:rPr>
              <a:t>The </a:t>
            </a:r>
            <a:r>
              <a:rPr sz="2400" spc="90" dirty="0">
                <a:latin typeface="Times New Roman"/>
                <a:cs typeface="Times New Roman"/>
              </a:rPr>
              <a:t>below table </a:t>
            </a:r>
            <a:r>
              <a:rPr sz="2400" spc="105" dirty="0">
                <a:latin typeface="Times New Roman"/>
                <a:cs typeface="Times New Roman"/>
              </a:rPr>
              <a:t>summarizes </a:t>
            </a:r>
            <a:r>
              <a:rPr sz="2400" spc="75" dirty="0">
                <a:latin typeface="Times New Roman"/>
                <a:cs typeface="Times New Roman"/>
              </a:rPr>
              <a:t>the </a:t>
            </a:r>
            <a:r>
              <a:rPr sz="2400" spc="95" dirty="0">
                <a:latin typeface="Times New Roman"/>
                <a:cs typeface="Times New Roman"/>
              </a:rPr>
              <a:t>above </a:t>
            </a:r>
            <a:r>
              <a:rPr sz="2400" spc="90" dirty="0">
                <a:latin typeface="Times New Roman"/>
                <a:cs typeface="Times New Roman"/>
              </a:rPr>
              <a:t>three modes </a:t>
            </a:r>
            <a:r>
              <a:rPr sz="2400" spc="75" dirty="0">
                <a:latin typeface="Times New Roman"/>
                <a:cs typeface="Times New Roman"/>
              </a:rPr>
              <a:t>and </a:t>
            </a:r>
            <a:r>
              <a:rPr sz="2400" spc="95" dirty="0">
                <a:latin typeface="Times New Roman"/>
                <a:cs typeface="Times New Roman"/>
              </a:rPr>
              <a:t>shows </a:t>
            </a:r>
            <a:r>
              <a:rPr sz="2400" spc="75" dirty="0">
                <a:latin typeface="Times New Roman"/>
                <a:cs typeface="Times New Roman"/>
              </a:rPr>
              <a:t>the </a:t>
            </a:r>
            <a:r>
              <a:rPr sz="2400" spc="95" dirty="0">
                <a:latin typeface="Times New Roman"/>
                <a:cs typeface="Times New Roman"/>
              </a:rPr>
              <a:t>access </a:t>
            </a:r>
            <a:r>
              <a:rPr sz="2400" spc="100" dirty="0">
                <a:latin typeface="Times New Roman"/>
                <a:cs typeface="Times New Roman"/>
              </a:rPr>
              <a:t> </a:t>
            </a:r>
            <a:r>
              <a:rPr sz="2400" spc="35" dirty="0">
                <a:latin typeface="Times New Roman"/>
                <a:cs typeface="Times New Roman"/>
              </a:rPr>
              <a:t>specifier </a:t>
            </a:r>
            <a:r>
              <a:rPr sz="2400" spc="20" dirty="0">
                <a:latin typeface="Times New Roman"/>
                <a:cs typeface="Times New Roman"/>
              </a:rPr>
              <a:t>of </a:t>
            </a:r>
            <a:r>
              <a:rPr sz="2400" spc="25" dirty="0">
                <a:latin typeface="Times New Roman"/>
                <a:cs typeface="Times New Roman"/>
              </a:rPr>
              <a:t>the </a:t>
            </a:r>
            <a:r>
              <a:rPr sz="2400" spc="35" dirty="0">
                <a:latin typeface="Times New Roman"/>
                <a:cs typeface="Times New Roman"/>
              </a:rPr>
              <a:t>members </a:t>
            </a:r>
            <a:r>
              <a:rPr sz="2400" spc="20" dirty="0">
                <a:latin typeface="Times New Roman"/>
                <a:cs typeface="Times New Roman"/>
              </a:rPr>
              <a:t>of </a:t>
            </a:r>
            <a:r>
              <a:rPr sz="2400" spc="30" dirty="0">
                <a:latin typeface="Times New Roman"/>
                <a:cs typeface="Times New Roman"/>
              </a:rPr>
              <a:t>base class </a:t>
            </a:r>
            <a:r>
              <a:rPr sz="2400" spc="20" dirty="0">
                <a:latin typeface="Times New Roman"/>
                <a:cs typeface="Times New Roman"/>
              </a:rPr>
              <a:t>in </a:t>
            </a:r>
            <a:r>
              <a:rPr sz="2400" spc="30" dirty="0">
                <a:latin typeface="Times New Roman"/>
                <a:cs typeface="Times New Roman"/>
              </a:rPr>
              <a:t>the sub </a:t>
            </a:r>
            <a:r>
              <a:rPr sz="2400" spc="35" dirty="0">
                <a:latin typeface="Times New Roman"/>
                <a:cs typeface="Times New Roman"/>
              </a:rPr>
              <a:t>class when </a:t>
            </a:r>
            <a:r>
              <a:rPr sz="2400" spc="40" dirty="0">
                <a:latin typeface="Times New Roman"/>
                <a:cs typeface="Times New Roman"/>
              </a:rPr>
              <a:t>derived </a:t>
            </a:r>
            <a:r>
              <a:rPr sz="2400" spc="20" dirty="0">
                <a:latin typeface="Times New Roman"/>
                <a:cs typeface="Times New Roman"/>
              </a:rPr>
              <a:t>in </a:t>
            </a:r>
            <a:r>
              <a:rPr sz="2400" spc="40" dirty="0">
                <a:latin typeface="Times New Roman"/>
                <a:cs typeface="Times New Roman"/>
              </a:rPr>
              <a:t>public, </a:t>
            </a:r>
            <a:r>
              <a:rPr sz="2400" spc="4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protected and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private modes: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06979" y="3433571"/>
            <a:ext cx="7076842" cy="280335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2438400"/>
            <a:ext cx="2362200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Modes</a:t>
            </a:r>
            <a:r>
              <a:rPr spc="-30" dirty="0"/>
              <a:t> </a:t>
            </a:r>
            <a:r>
              <a:rPr dirty="0"/>
              <a:t>of</a:t>
            </a:r>
            <a:r>
              <a:rPr spc="-25" dirty="0"/>
              <a:t> </a:t>
            </a:r>
            <a:r>
              <a:rPr spc="-5" dirty="0"/>
              <a:t>Inheritance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200400" y="15101"/>
            <a:ext cx="10358120" cy="59067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84300" marR="5080" lvl="3" algn="just">
              <a:spcBef>
                <a:spcPts val="100"/>
              </a:spcBef>
              <a:buClr>
                <a:srgbClr val="001F5F"/>
              </a:buClr>
              <a:tabLst>
                <a:tab pos="355600" algn="l"/>
              </a:tabLst>
            </a:pPr>
            <a:endParaRPr lang="en-US" sz="1600" dirty="0">
              <a:latin typeface="Times New Roman"/>
              <a:cs typeface="Times New Roman"/>
            </a:endParaRPr>
          </a:p>
          <a:p>
            <a:pPr marL="1384300" marR="5080" lvl="3" algn="just">
              <a:spcBef>
                <a:spcPts val="100"/>
              </a:spcBef>
              <a:buClr>
                <a:srgbClr val="001F5F"/>
              </a:buClr>
              <a:tabLst>
                <a:tab pos="355600" algn="l"/>
              </a:tabLst>
            </a:pPr>
            <a:r>
              <a:rPr lang="en-US" sz="2000" dirty="0">
                <a:latin typeface="Times New Roman"/>
                <a:cs typeface="Times New Roman"/>
              </a:rPr>
              <a:t>class Base {</a:t>
            </a:r>
          </a:p>
          <a:p>
            <a:pPr marL="1384300" marR="5080" lvl="3" algn="just">
              <a:spcBef>
                <a:spcPts val="100"/>
              </a:spcBef>
              <a:buClr>
                <a:srgbClr val="001F5F"/>
              </a:buClr>
              <a:tabLst>
                <a:tab pos="355600" algn="l"/>
              </a:tabLst>
            </a:pPr>
            <a:r>
              <a:rPr lang="en-US" sz="2000" dirty="0">
                <a:latin typeface="Times New Roman"/>
                <a:cs typeface="Times New Roman"/>
              </a:rPr>
              <a:t>public:</a:t>
            </a:r>
          </a:p>
          <a:p>
            <a:pPr marL="1384300" marR="5080" lvl="3" algn="just">
              <a:spcBef>
                <a:spcPts val="100"/>
              </a:spcBef>
              <a:buClr>
                <a:srgbClr val="001F5F"/>
              </a:buClr>
              <a:tabLst>
                <a:tab pos="355600" algn="l"/>
              </a:tabLst>
            </a:pPr>
            <a:r>
              <a:rPr lang="en-US" sz="2000" dirty="0">
                <a:latin typeface="Times New Roman"/>
                <a:cs typeface="Times New Roman"/>
              </a:rPr>
              <a:t>    </a:t>
            </a:r>
            <a:r>
              <a:rPr lang="en-US" sz="2000" dirty="0" err="1">
                <a:latin typeface="Times New Roman"/>
                <a:cs typeface="Times New Roman"/>
              </a:rPr>
              <a:t>int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publicVar</a:t>
            </a:r>
            <a:r>
              <a:rPr lang="en-US" sz="2000" dirty="0">
                <a:latin typeface="Times New Roman"/>
                <a:cs typeface="Times New Roman"/>
              </a:rPr>
              <a:t>;</a:t>
            </a:r>
          </a:p>
          <a:p>
            <a:pPr marL="1384300" marR="5080" lvl="3" algn="just">
              <a:spcBef>
                <a:spcPts val="100"/>
              </a:spcBef>
              <a:buClr>
                <a:srgbClr val="001F5F"/>
              </a:buClr>
              <a:tabLst>
                <a:tab pos="355600" algn="l"/>
              </a:tabLst>
            </a:pPr>
            <a:r>
              <a:rPr lang="en-US" sz="2000" dirty="0">
                <a:latin typeface="Times New Roman"/>
                <a:cs typeface="Times New Roman"/>
              </a:rPr>
              <a:t>protected:</a:t>
            </a:r>
          </a:p>
          <a:p>
            <a:pPr marL="1384300" marR="5080" lvl="3" algn="just">
              <a:spcBef>
                <a:spcPts val="100"/>
              </a:spcBef>
              <a:buClr>
                <a:srgbClr val="001F5F"/>
              </a:buClr>
              <a:tabLst>
                <a:tab pos="355600" algn="l"/>
              </a:tabLst>
            </a:pPr>
            <a:r>
              <a:rPr lang="en-US" sz="2000" dirty="0">
                <a:latin typeface="Times New Roman"/>
                <a:cs typeface="Times New Roman"/>
              </a:rPr>
              <a:t>    </a:t>
            </a:r>
            <a:r>
              <a:rPr lang="en-US" sz="2000" dirty="0" err="1">
                <a:latin typeface="Times New Roman"/>
                <a:cs typeface="Times New Roman"/>
              </a:rPr>
              <a:t>int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protectedVar</a:t>
            </a:r>
            <a:r>
              <a:rPr lang="en-US" sz="2000" dirty="0">
                <a:latin typeface="Times New Roman"/>
                <a:cs typeface="Times New Roman"/>
              </a:rPr>
              <a:t>;</a:t>
            </a:r>
          </a:p>
          <a:p>
            <a:pPr marL="1384300" marR="5080" lvl="3" algn="just">
              <a:spcBef>
                <a:spcPts val="100"/>
              </a:spcBef>
              <a:buClr>
                <a:srgbClr val="001F5F"/>
              </a:buClr>
              <a:tabLst>
                <a:tab pos="355600" algn="l"/>
              </a:tabLst>
            </a:pPr>
            <a:r>
              <a:rPr lang="en-US" sz="2000" dirty="0">
                <a:latin typeface="Times New Roman"/>
                <a:cs typeface="Times New Roman"/>
              </a:rPr>
              <a:t>};</a:t>
            </a:r>
          </a:p>
          <a:p>
            <a:pPr marL="1384300" marR="5080" lvl="3" algn="just">
              <a:spcBef>
                <a:spcPts val="100"/>
              </a:spcBef>
              <a:buClr>
                <a:srgbClr val="001F5F"/>
              </a:buClr>
              <a:tabLst>
                <a:tab pos="355600" algn="l"/>
              </a:tabLst>
            </a:pPr>
            <a:r>
              <a:rPr lang="en-US" sz="2000" dirty="0">
                <a:latin typeface="Times New Roman"/>
                <a:cs typeface="Times New Roman"/>
              </a:rPr>
              <a:t>class </a:t>
            </a:r>
            <a:r>
              <a:rPr lang="en-US" sz="2000" dirty="0" err="1">
                <a:latin typeface="Times New Roman"/>
                <a:cs typeface="Times New Roman"/>
              </a:rPr>
              <a:t>DerivedPublic</a:t>
            </a:r>
            <a:r>
              <a:rPr lang="en-US" sz="2000" dirty="0">
                <a:latin typeface="Times New Roman"/>
                <a:cs typeface="Times New Roman"/>
              </a:rPr>
              <a:t> : public Base {</a:t>
            </a:r>
          </a:p>
          <a:p>
            <a:pPr marL="1384300" marR="5080" lvl="3" algn="just">
              <a:spcBef>
                <a:spcPts val="100"/>
              </a:spcBef>
              <a:buClr>
                <a:srgbClr val="001F5F"/>
              </a:buClr>
              <a:tabLst>
                <a:tab pos="355600" algn="l"/>
              </a:tabLst>
            </a:pPr>
            <a:r>
              <a:rPr lang="en-US" sz="2000" dirty="0">
                <a:latin typeface="Times New Roman"/>
                <a:cs typeface="Times New Roman"/>
              </a:rPr>
              <a:t>public:</a:t>
            </a:r>
          </a:p>
          <a:p>
            <a:pPr marL="1384300" marR="5080" lvl="3" algn="just">
              <a:spcBef>
                <a:spcPts val="100"/>
              </a:spcBef>
              <a:buClr>
                <a:srgbClr val="001F5F"/>
              </a:buClr>
              <a:tabLst>
                <a:tab pos="355600" algn="l"/>
              </a:tabLst>
            </a:pPr>
            <a:r>
              <a:rPr lang="en-US" sz="2000" dirty="0">
                <a:latin typeface="Times New Roman"/>
                <a:cs typeface="Times New Roman"/>
              </a:rPr>
              <a:t>    void display() {</a:t>
            </a:r>
          </a:p>
          <a:p>
            <a:pPr marL="1384300" marR="5080" lvl="3" algn="just">
              <a:spcBef>
                <a:spcPts val="100"/>
              </a:spcBef>
              <a:buClr>
                <a:srgbClr val="001F5F"/>
              </a:buClr>
              <a:tabLst>
                <a:tab pos="355600" algn="l"/>
              </a:tabLst>
            </a:pPr>
            <a:r>
              <a:rPr lang="en-US" sz="2000" dirty="0">
                <a:latin typeface="Times New Roman"/>
                <a:cs typeface="Times New Roman"/>
              </a:rPr>
              <a:t>        </a:t>
            </a:r>
            <a:r>
              <a:rPr lang="en-US" sz="2000" dirty="0" err="1">
                <a:latin typeface="Times New Roman"/>
                <a:cs typeface="Times New Roman"/>
              </a:rPr>
              <a:t>cout</a:t>
            </a:r>
            <a:r>
              <a:rPr lang="en-US" sz="2000" dirty="0">
                <a:latin typeface="Times New Roman"/>
                <a:cs typeface="Times New Roman"/>
              </a:rPr>
              <a:t> &lt;&lt; "Public variable: " &lt;&lt; </a:t>
            </a:r>
            <a:r>
              <a:rPr lang="en-US" sz="2000" dirty="0" err="1">
                <a:latin typeface="Times New Roman"/>
                <a:cs typeface="Times New Roman"/>
              </a:rPr>
              <a:t>publicVar</a:t>
            </a:r>
            <a:r>
              <a:rPr lang="en-US" sz="2000" dirty="0">
                <a:latin typeface="Times New Roman"/>
                <a:cs typeface="Times New Roman"/>
              </a:rPr>
              <a:t> &lt;&lt; </a:t>
            </a:r>
            <a:r>
              <a:rPr lang="en-US" sz="2000" dirty="0" err="1">
                <a:latin typeface="Times New Roman"/>
                <a:cs typeface="Times New Roman"/>
              </a:rPr>
              <a:t>endl</a:t>
            </a:r>
            <a:r>
              <a:rPr lang="en-US" sz="2000" dirty="0">
                <a:latin typeface="Times New Roman"/>
                <a:cs typeface="Times New Roman"/>
              </a:rPr>
              <a:t>;  </a:t>
            </a:r>
          </a:p>
          <a:p>
            <a:pPr marL="1384300" marR="5080" lvl="3" algn="just">
              <a:spcBef>
                <a:spcPts val="100"/>
              </a:spcBef>
              <a:buClr>
                <a:srgbClr val="001F5F"/>
              </a:buClr>
              <a:tabLst>
                <a:tab pos="355600" algn="l"/>
              </a:tabLst>
            </a:pPr>
            <a:r>
              <a:rPr lang="en-US" sz="2000" dirty="0">
                <a:latin typeface="Times New Roman"/>
                <a:cs typeface="Times New Roman"/>
              </a:rPr>
              <a:t>        </a:t>
            </a:r>
            <a:r>
              <a:rPr lang="en-US" sz="2000" dirty="0" err="1">
                <a:latin typeface="Times New Roman"/>
                <a:cs typeface="Times New Roman"/>
              </a:rPr>
              <a:t>cout</a:t>
            </a:r>
            <a:r>
              <a:rPr lang="en-US" sz="2000" dirty="0">
                <a:latin typeface="Times New Roman"/>
                <a:cs typeface="Times New Roman"/>
              </a:rPr>
              <a:t> &lt;&lt; "Protected variable: " &lt;&lt; </a:t>
            </a:r>
            <a:r>
              <a:rPr lang="en-US" sz="2000" dirty="0" err="1">
                <a:latin typeface="Times New Roman"/>
                <a:cs typeface="Times New Roman"/>
              </a:rPr>
              <a:t>protectedVar</a:t>
            </a:r>
            <a:r>
              <a:rPr lang="en-US" sz="2000" dirty="0">
                <a:latin typeface="Times New Roman"/>
                <a:cs typeface="Times New Roman"/>
              </a:rPr>
              <a:t> &lt;&lt; </a:t>
            </a:r>
            <a:r>
              <a:rPr lang="en-US" sz="2000" dirty="0" err="1">
                <a:latin typeface="Times New Roman"/>
                <a:cs typeface="Times New Roman"/>
              </a:rPr>
              <a:t>endl</a:t>
            </a:r>
            <a:r>
              <a:rPr lang="en-US" sz="2000" dirty="0">
                <a:latin typeface="Times New Roman"/>
                <a:cs typeface="Times New Roman"/>
              </a:rPr>
              <a:t>;  </a:t>
            </a:r>
          </a:p>
          <a:p>
            <a:pPr marL="1384300" marR="5080" lvl="3" algn="just">
              <a:spcBef>
                <a:spcPts val="100"/>
              </a:spcBef>
              <a:buClr>
                <a:srgbClr val="001F5F"/>
              </a:buClr>
              <a:tabLst>
                <a:tab pos="355600" algn="l"/>
              </a:tabLst>
            </a:pPr>
            <a:r>
              <a:rPr lang="en-US" sz="2000" dirty="0">
                <a:latin typeface="Times New Roman"/>
                <a:cs typeface="Times New Roman"/>
              </a:rPr>
              <a:t>    }};</a:t>
            </a:r>
          </a:p>
          <a:p>
            <a:pPr marL="1384300" marR="5080" lvl="3" algn="just">
              <a:spcBef>
                <a:spcPts val="100"/>
              </a:spcBef>
              <a:buClr>
                <a:srgbClr val="001F5F"/>
              </a:buClr>
              <a:tabLst>
                <a:tab pos="355600" algn="l"/>
              </a:tabLst>
            </a:pPr>
            <a:r>
              <a:rPr lang="en-US" sz="2000" dirty="0" err="1">
                <a:latin typeface="Times New Roman"/>
                <a:cs typeface="Times New Roman"/>
              </a:rPr>
              <a:t>int</a:t>
            </a:r>
            <a:r>
              <a:rPr lang="en-US" sz="2000" dirty="0">
                <a:latin typeface="Times New Roman"/>
                <a:cs typeface="Times New Roman"/>
              </a:rPr>
              <a:t> main() {</a:t>
            </a:r>
          </a:p>
          <a:p>
            <a:pPr marL="1384300" marR="5080" lvl="3" algn="just">
              <a:spcBef>
                <a:spcPts val="100"/>
              </a:spcBef>
              <a:buClr>
                <a:srgbClr val="001F5F"/>
              </a:buClr>
              <a:tabLst>
                <a:tab pos="355600" algn="l"/>
              </a:tabLst>
            </a:pPr>
            <a:r>
              <a:rPr lang="en-US" sz="2000" dirty="0">
                <a:latin typeface="Times New Roman"/>
                <a:cs typeface="Times New Roman"/>
              </a:rPr>
              <a:t>    </a:t>
            </a:r>
            <a:r>
              <a:rPr lang="en-US" sz="2000" dirty="0" err="1">
                <a:latin typeface="Times New Roman"/>
                <a:cs typeface="Times New Roman"/>
              </a:rPr>
              <a:t>DerivedPublic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obj</a:t>
            </a:r>
            <a:r>
              <a:rPr lang="en-US" sz="2000" dirty="0">
                <a:latin typeface="Times New Roman"/>
                <a:cs typeface="Times New Roman"/>
              </a:rPr>
              <a:t>;</a:t>
            </a:r>
          </a:p>
          <a:p>
            <a:pPr marL="1384300" marR="5080" lvl="3" algn="just">
              <a:spcBef>
                <a:spcPts val="100"/>
              </a:spcBef>
              <a:buClr>
                <a:srgbClr val="001F5F"/>
              </a:buClr>
              <a:tabLst>
                <a:tab pos="355600" algn="l"/>
              </a:tabLst>
            </a:pPr>
            <a:r>
              <a:rPr lang="en-US" sz="2000" dirty="0">
                <a:latin typeface="Times New Roman"/>
                <a:cs typeface="Times New Roman"/>
              </a:rPr>
              <a:t>    </a:t>
            </a:r>
            <a:r>
              <a:rPr lang="en-US" sz="2000" dirty="0" err="1">
                <a:latin typeface="Times New Roman"/>
                <a:cs typeface="Times New Roman"/>
              </a:rPr>
              <a:t>obj.publicVar</a:t>
            </a:r>
            <a:r>
              <a:rPr lang="en-US" sz="2000" dirty="0">
                <a:latin typeface="Times New Roman"/>
                <a:cs typeface="Times New Roman"/>
              </a:rPr>
              <a:t> = 10;  // Accessible (public remains public)</a:t>
            </a:r>
          </a:p>
          <a:p>
            <a:pPr marL="1384300" marR="5080" lvl="3" algn="just">
              <a:spcBef>
                <a:spcPts val="100"/>
              </a:spcBef>
              <a:buClr>
                <a:srgbClr val="001F5F"/>
              </a:buClr>
              <a:tabLst>
                <a:tab pos="355600" algn="l"/>
              </a:tabLst>
            </a:pPr>
            <a:r>
              <a:rPr lang="en-US" sz="2000" dirty="0">
                <a:latin typeface="Times New Roman"/>
                <a:cs typeface="Times New Roman"/>
              </a:rPr>
              <a:t>    </a:t>
            </a:r>
            <a:r>
              <a:rPr lang="en-US" sz="2000" dirty="0" err="1">
                <a:latin typeface="Times New Roman"/>
                <a:cs typeface="Times New Roman"/>
              </a:rPr>
              <a:t>obj.display</a:t>
            </a:r>
            <a:r>
              <a:rPr lang="en-US" sz="2000" dirty="0">
                <a:latin typeface="Times New Roman"/>
                <a:cs typeface="Times New Roman"/>
              </a:rPr>
              <a:t>();</a:t>
            </a:r>
          </a:p>
          <a:p>
            <a:pPr marL="1384300" marR="5080" lvl="3" algn="just">
              <a:spcBef>
                <a:spcPts val="100"/>
              </a:spcBef>
              <a:buClr>
                <a:srgbClr val="001F5F"/>
              </a:buClr>
              <a:tabLst>
                <a:tab pos="355600" algn="l"/>
              </a:tabLst>
            </a:pPr>
            <a:r>
              <a:rPr lang="en-US" sz="2000" dirty="0">
                <a:latin typeface="Times New Roman"/>
                <a:cs typeface="Times New Roman"/>
              </a:rPr>
              <a:t>    return 0;}</a:t>
            </a:r>
          </a:p>
          <a:p>
            <a:pPr marL="355600" marR="5080" indent="-342900" algn="just">
              <a:lnSpc>
                <a:spcPct val="100000"/>
              </a:lnSpc>
              <a:spcBef>
                <a:spcPts val="100"/>
              </a:spcBef>
              <a:buClr>
                <a:srgbClr val="001F5F"/>
              </a:buClr>
              <a:buFont typeface="Wingdings"/>
              <a:buChar char=""/>
              <a:tabLst>
                <a:tab pos="355600" algn="l"/>
              </a:tabLst>
            </a:pPr>
            <a:endParaRPr sz="1400" dirty="0">
              <a:latin typeface="Times New Roman"/>
              <a:cs typeface="Times New Roman"/>
            </a:endParaRP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 rot="10800000" flipV="1">
            <a:off x="1371600" y="6055157"/>
            <a:ext cx="10058400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Here,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publicVar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public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in both Base and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DerivedPublic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so you can access it using an object of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DerivedPublic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protectedVar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protected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so it can only be accessed inside the subclass. </a:t>
            </a:r>
          </a:p>
        </p:txBody>
      </p:sp>
    </p:spTree>
    <p:extLst>
      <p:ext uri="{BB962C8B-B14F-4D97-AF65-F5344CB8AC3E}">
        <p14:creationId xmlns:p14="http://schemas.microsoft.com/office/powerpoint/2010/main" val="14202156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2438400"/>
            <a:ext cx="2362200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Modes</a:t>
            </a:r>
            <a:r>
              <a:rPr spc="-30" dirty="0"/>
              <a:t> </a:t>
            </a:r>
            <a:r>
              <a:rPr dirty="0"/>
              <a:t>of</a:t>
            </a:r>
            <a:r>
              <a:rPr spc="-25" dirty="0"/>
              <a:t> </a:t>
            </a:r>
            <a:r>
              <a:rPr spc="-5" dirty="0"/>
              <a:t>Inheritance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200400" y="15101"/>
            <a:ext cx="10358120" cy="62889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  <a:buClr>
                <a:srgbClr val="001F5F"/>
              </a:buClr>
              <a:tabLst>
                <a:tab pos="355600" algn="l"/>
              </a:tabLst>
            </a:pPr>
            <a:endParaRPr lang="en-US" dirty="0">
              <a:latin typeface="Times New Roman"/>
              <a:cs typeface="Times New Roman"/>
            </a:endParaRPr>
          </a:p>
          <a:p>
            <a:pPr marL="12700" marR="5080" algn="just">
              <a:lnSpc>
                <a:spcPct val="100000"/>
              </a:lnSpc>
              <a:spcBef>
                <a:spcPts val="100"/>
              </a:spcBef>
              <a:buClr>
                <a:srgbClr val="001F5F"/>
              </a:buClr>
              <a:tabLst>
                <a:tab pos="355600" algn="l"/>
              </a:tabLst>
            </a:pPr>
            <a:r>
              <a:rPr lang="en-US" sz="2000" dirty="0">
                <a:latin typeface="Times New Roman"/>
                <a:cs typeface="Times New Roman"/>
              </a:rPr>
              <a:t>class Base {</a:t>
            </a:r>
          </a:p>
          <a:p>
            <a:pPr marL="12700" marR="5080" algn="just">
              <a:lnSpc>
                <a:spcPct val="100000"/>
              </a:lnSpc>
              <a:spcBef>
                <a:spcPts val="100"/>
              </a:spcBef>
              <a:buClr>
                <a:srgbClr val="001F5F"/>
              </a:buClr>
              <a:tabLst>
                <a:tab pos="355600" algn="l"/>
              </a:tabLst>
            </a:pPr>
            <a:r>
              <a:rPr lang="en-US" sz="2000" dirty="0">
                <a:latin typeface="Times New Roman"/>
                <a:cs typeface="Times New Roman"/>
              </a:rPr>
              <a:t>public:</a:t>
            </a:r>
          </a:p>
          <a:p>
            <a:pPr marL="12700" marR="5080" algn="just">
              <a:lnSpc>
                <a:spcPct val="100000"/>
              </a:lnSpc>
              <a:spcBef>
                <a:spcPts val="100"/>
              </a:spcBef>
              <a:buClr>
                <a:srgbClr val="001F5F"/>
              </a:buClr>
              <a:tabLst>
                <a:tab pos="355600" algn="l"/>
              </a:tabLst>
            </a:pPr>
            <a:r>
              <a:rPr lang="en-US" sz="2000" dirty="0">
                <a:latin typeface="Times New Roman"/>
                <a:cs typeface="Times New Roman"/>
              </a:rPr>
              <a:t>    </a:t>
            </a:r>
            <a:r>
              <a:rPr lang="en-US" sz="2000" dirty="0" err="1">
                <a:latin typeface="Times New Roman"/>
                <a:cs typeface="Times New Roman"/>
              </a:rPr>
              <a:t>int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publicVar</a:t>
            </a:r>
            <a:r>
              <a:rPr lang="en-US" sz="2000" dirty="0">
                <a:latin typeface="Times New Roman"/>
                <a:cs typeface="Times New Roman"/>
              </a:rPr>
              <a:t>;</a:t>
            </a:r>
          </a:p>
          <a:p>
            <a:pPr marL="12700" marR="5080" algn="just">
              <a:lnSpc>
                <a:spcPct val="100000"/>
              </a:lnSpc>
              <a:spcBef>
                <a:spcPts val="100"/>
              </a:spcBef>
              <a:buClr>
                <a:srgbClr val="001F5F"/>
              </a:buClr>
              <a:tabLst>
                <a:tab pos="355600" algn="l"/>
              </a:tabLst>
            </a:pPr>
            <a:r>
              <a:rPr lang="en-US" sz="2000" dirty="0">
                <a:latin typeface="Times New Roman"/>
                <a:cs typeface="Times New Roman"/>
              </a:rPr>
              <a:t>protected:</a:t>
            </a:r>
          </a:p>
          <a:p>
            <a:pPr marL="12700" marR="5080" algn="just">
              <a:lnSpc>
                <a:spcPct val="100000"/>
              </a:lnSpc>
              <a:spcBef>
                <a:spcPts val="100"/>
              </a:spcBef>
              <a:buClr>
                <a:srgbClr val="001F5F"/>
              </a:buClr>
              <a:tabLst>
                <a:tab pos="355600" algn="l"/>
              </a:tabLst>
            </a:pPr>
            <a:r>
              <a:rPr lang="en-US" sz="2000" dirty="0">
                <a:latin typeface="Times New Roman"/>
                <a:cs typeface="Times New Roman"/>
              </a:rPr>
              <a:t>    </a:t>
            </a:r>
            <a:r>
              <a:rPr lang="en-US" sz="2000" dirty="0" err="1">
                <a:latin typeface="Times New Roman"/>
                <a:cs typeface="Times New Roman"/>
              </a:rPr>
              <a:t>int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protectedVar</a:t>
            </a:r>
            <a:r>
              <a:rPr lang="en-US" sz="2000" dirty="0">
                <a:latin typeface="Times New Roman"/>
                <a:cs typeface="Times New Roman"/>
              </a:rPr>
              <a:t>;</a:t>
            </a:r>
          </a:p>
          <a:p>
            <a:pPr marL="12700" marR="5080" algn="just">
              <a:lnSpc>
                <a:spcPct val="100000"/>
              </a:lnSpc>
              <a:spcBef>
                <a:spcPts val="100"/>
              </a:spcBef>
              <a:buClr>
                <a:srgbClr val="001F5F"/>
              </a:buClr>
              <a:tabLst>
                <a:tab pos="355600" algn="l"/>
              </a:tabLst>
            </a:pPr>
            <a:r>
              <a:rPr lang="en-US" sz="2000" dirty="0">
                <a:latin typeface="Times New Roman"/>
                <a:cs typeface="Times New Roman"/>
              </a:rPr>
              <a:t>};</a:t>
            </a:r>
          </a:p>
          <a:p>
            <a:pPr marL="12700" marR="5080" algn="just">
              <a:lnSpc>
                <a:spcPct val="100000"/>
              </a:lnSpc>
              <a:spcBef>
                <a:spcPts val="100"/>
              </a:spcBef>
              <a:buClr>
                <a:srgbClr val="001F5F"/>
              </a:buClr>
              <a:tabLst>
                <a:tab pos="355600" algn="l"/>
              </a:tabLst>
            </a:pPr>
            <a:r>
              <a:rPr lang="en-US" sz="2000" dirty="0">
                <a:latin typeface="Times New Roman"/>
                <a:cs typeface="Times New Roman"/>
              </a:rPr>
              <a:t>class </a:t>
            </a:r>
            <a:r>
              <a:rPr lang="en-US" sz="2000" dirty="0" err="1">
                <a:latin typeface="Times New Roman"/>
                <a:cs typeface="Times New Roman"/>
              </a:rPr>
              <a:t>DerivedProtected</a:t>
            </a:r>
            <a:r>
              <a:rPr lang="en-US" sz="2000" dirty="0">
                <a:latin typeface="Times New Roman"/>
                <a:cs typeface="Times New Roman"/>
              </a:rPr>
              <a:t> : protected Base {</a:t>
            </a:r>
          </a:p>
          <a:p>
            <a:pPr marL="12700" marR="5080" algn="just">
              <a:lnSpc>
                <a:spcPct val="100000"/>
              </a:lnSpc>
              <a:spcBef>
                <a:spcPts val="100"/>
              </a:spcBef>
              <a:buClr>
                <a:srgbClr val="001F5F"/>
              </a:buClr>
              <a:tabLst>
                <a:tab pos="355600" algn="l"/>
              </a:tabLst>
            </a:pPr>
            <a:r>
              <a:rPr lang="en-US" sz="2000" dirty="0">
                <a:latin typeface="Times New Roman"/>
                <a:cs typeface="Times New Roman"/>
              </a:rPr>
              <a:t>public:</a:t>
            </a:r>
          </a:p>
          <a:p>
            <a:pPr marL="12700" marR="5080" algn="just">
              <a:lnSpc>
                <a:spcPct val="100000"/>
              </a:lnSpc>
              <a:spcBef>
                <a:spcPts val="100"/>
              </a:spcBef>
              <a:buClr>
                <a:srgbClr val="001F5F"/>
              </a:buClr>
              <a:tabLst>
                <a:tab pos="355600" algn="l"/>
              </a:tabLst>
            </a:pPr>
            <a:r>
              <a:rPr lang="en-US" sz="2000" dirty="0">
                <a:latin typeface="Times New Roman"/>
                <a:cs typeface="Times New Roman"/>
              </a:rPr>
              <a:t>    void display() {</a:t>
            </a:r>
          </a:p>
          <a:p>
            <a:pPr marL="12700" marR="5080" algn="just">
              <a:lnSpc>
                <a:spcPct val="100000"/>
              </a:lnSpc>
              <a:spcBef>
                <a:spcPts val="100"/>
              </a:spcBef>
              <a:buClr>
                <a:srgbClr val="001F5F"/>
              </a:buClr>
              <a:tabLst>
                <a:tab pos="355600" algn="l"/>
              </a:tabLst>
            </a:pPr>
            <a:r>
              <a:rPr lang="en-US" sz="2000" dirty="0">
                <a:latin typeface="Times New Roman"/>
                <a:cs typeface="Times New Roman"/>
              </a:rPr>
              <a:t>        </a:t>
            </a:r>
            <a:r>
              <a:rPr lang="en-US" sz="2000" dirty="0" err="1">
                <a:latin typeface="Times New Roman"/>
                <a:cs typeface="Times New Roman"/>
              </a:rPr>
              <a:t>cout</a:t>
            </a:r>
            <a:r>
              <a:rPr lang="en-US" sz="2000" dirty="0">
                <a:latin typeface="Times New Roman"/>
                <a:cs typeface="Times New Roman"/>
              </a:rPr>
              <a:t> &lt;&lt; "Public variable: " &lt;&lt; </a:t>
            </a:r>
            <a:r>
              <a:rPr lang="en-US" sz="2000" dirty="0" err="1">
                <a:latin typeface="Times New Roman"/>
                <a:cs typeface="Times New Roman"/>
              </a:rPr>
              <a:t>publicVar</a:t>
            </a:r>
            <a:r>
              <a:rPr lang="en-US" sz="2000" dirty="0">
                <a:latin typeface="Times New Roman"/>
                <a:cs typeface="Times New Roman"/>
              </a:rPr>
              <a:t> &lt;&lt; </a:t>
            </a:r>
            <a:r>
              <a:rPr lang="en-US" sz="2000" dirty="0" err="1">
                <a:latin typeface="Times New Roman"/>
                <a:cs typeface="Times New Roman"/>
              </a:rPr>
              <a:t>endl</a:t>
            </a:r>
            <a:r>
              <a:rPr lang="en-US" sz="2000" dirty="0">
                <a:latin typeface="Times New Roman"/>
                <a:cs typeface="Times New Roman"/>
              </a:rPr>
              <a:t>; </a:t>
            </a:r>
          </a:p>
          <a:p>
            <a:pPr marL="12700" marR="5080" algn="just">
              <a:lnSpc>
                <a:spcPct val="100000"/>
              </a:lnSpc>
              <a:spcBef>
                <a:spcPts val="100"/>
              </a:spcBef>
              <a:buClr>
                <a:srgbClr val="001F5F"/>
              </a:buClr>
              <a:tabLst>
                <a:tab pos="355600" algn="l"/>
              </a:tabLst>
            </a:pPr>
            <a:r>
              <a:rPr lang="en-US" sz="2000" dirty="0" err="1">
                <a:latin typeface="Times New Roman"/>
                <a:cs typeface="Times New Roman"/>
              </a:rPr>
              <a:t>cout</a:t>
            </a:r>
            <a:r>
              <a:rPr lang="en-US" sz="2000" dirty="0">
                <a:latin typeface="Times New Roman"/>
                <a:cs typeface="Times New Roman"/>
              </a:rPr>
              <a:t> &lt;&lt; "Protected variable: " &lt;&lt; </a:t>
            </a:r>
            <a:r>
              <a:rPr lang="en-US" sz="2000" dirty="0" err="1">
                <a:latin typeface="Times New Roman"/>
                <a:cs typeface="Times New Roman"/>
              </a:rPr>
              <a:t>protectedVar</a:t>
            </a:r>
            <a:r>
              <a:rPr lang="en-US" sz="2000" dirty="0">
                <a:latin typeface="Times New Roman"/>
                <a:cs typeface="Times New Roman"/>
              </a:rPr>
              <a:t> &lt;&lt; </a:t>
            </a:r>
            <a:r>
              <a:rPr lang="en-US" sz="2000" dirty="0" err="1">
                <a:latin typeface="Times New Roman"/>
                <a:cs typeface="Times New Roman"/>
              </a:rPr>
              <a:t>endl</a:t>
            </a:r>
            <a:r>
              <a:rPr lang="en-US" sz="2000" dirty="0">
                <a:latin typeface="Times New Roman"/>
                <a:cs typeface="Times New Roman"/>
              </a:rPr>
              <a:t>;  </a:t>
            </a:r>
          </a:p>
          <a:p>
            <a:pPr marL="12700" marR="5080" algn="just">
              <a:lnSpc>
                <a:spcPct val="100000"/>
              </a:lnSpc>
              <a:spcBef>
                <a:spcPts val="100"/>
              </a:spcBef>
              <a:buClr>
                <a:srgbClr val="001F5F"/>
              </a:buClr>
              <a:tabLst>
                <a:tab pos="355600" algn="l"/>
              </a:tabLst>
            </a:pPr>
            <a:r>
              <a:rPr lang="en-US" sz="2000" dirty="0">
                <a:latin typeface="Times New Roman"/>
                <a:cs typeface="Times New Roman"/>
              </a:rPr>
              <a:t>    }};</a:t>
            </a:r>
          </a:p>
          <a:p>
            <a:pPr marL="12700" marR="5080" algn="just">
              <a:lnSpc>
                <a:spcPct val="100000"/>
              </a:lnSpc>
              <a:spcBef>
                <a:spcPts val="100"/>
              </a:spcBef>
              <a:buClr>
                <a:srgbClr val="001F5F"/>
              </a:buClr>
              <a:tabLst>
                <a:tab pos="355600" algn="l"/>
              </a:tabLst>
            </a:pPr>
            <a:r>
              <a:rPr lang="en-US" sz="2000" dirty="0" err="1">
                <a:latin typeface="Times New Roman"/>
                <a:cs typeface="Times New Roman"/>
              </a:rPr>
              <a:t>int</a:t>
            </a:r>
            <a:r>
              <a:rPr lang="en-US" sz="2000" dirty="0">
                <a:latin typeface="Times New Roman"/>
                <a:cs typeface="Times New Roman"/>
              </a:rPr>
              <a:t> main() {</a:t>
            </a:r>
          </a:p>
          <a:p>
            <a:pPr marL="12700" marR="5080" algn="just">
              <a:lnSpc>
                <a:spcPct val="100000"/>
              </a:lnSpc>
              <a:spcBef>
                <a:spcPts val="100"/>
              </a:spcBef>
              <a:buClr>
                <a:srgbClr val="001F5F"/>
              </a:buClr>
              <a:tabLst>
                <a:tab pos="355600" algn="l"/>
              </a:tabLst>
            </a:pPr>
            <a:r>
              <a:rPr lang="en-US" sz="2000" dirty="0">
                <a:latin typeface="Times New Roman"/>
                <a:cs typeface="Times New Roman"/>
              </a:rPr>
              <a:t>    </a:t>
            </a:r>
            <a:r>
              <a:rPr lang="en-US" sz="2000" dirty="0" err="1">
                <a:latin typeface="Times New Roman"/>
                <a:cs typeface="Times New Roman"/>
              </a:rPr>
              <a:t>DerivedProtected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obj</a:t>
            </a:r>
            <a:r>
              <a:rPr lang="en-US" sz="2000" dirty="0">
                <a:latin typeface="Times New Roman"/>
                <a:cs typeface="Times New Roman"/>
              </a:rPr>
              <a:t>;</a:t>
            </a:r>
          </a:p>
          <a:p>
            <a:pPr marL="12700" marR="5080" algn="just">
              <a:lnSpc>
                <a:spcPct val="100000"/>
              </a:lnSpc>
              <a:spcBef>
                <a:spcPts val="100"/>
              </a:spcBef>
              <a:buClr>
                <a:srgbClr val="001F5F"/>
              </a:buClr>
              <a:tabLst>
                <a:tab pos="355600" algn="l"/>
              </a:tabLst>
            </a:pPr>
            <a:r>
              <a:rPr lang="en-US" sz="2000" dirty="0">
                <a:latin typeface="Times New Roman"/>
                <a:cs typeface="Times New Roman"/>
              </a:rPr>
              <a:t>    // </a:t>
            </a:r>
            <a:r>
              <a:rPr lang="en-US" sz="2000" dirty="0" err="1">
                <a:latin typeface="Times New Roman"/>
                <a:cs typeface="Times New Roman"/>
              </a:rPr>
              <a:t>obj.publicVar</a:t>
            </a:r>
            <a:r>
              <a:rPr lang="en-US" sz="2000" dirty="0">
                <a:latin typeface="Times New Roman"/>
                <a:cs typeface="Times New Roman"/>
              </a:rPr>
              <a:t> = 10;  // </a:t>
            </a:r>
            <a:r>
              <a:rPr lang="en-US" sz="2000" dirty="0" err="1">
                <a:latin typeface="Times New Roman"/>
                <a:cs typeface="Times New Roman"/>
              </a:rPr>
              <a:t>publicVar</a:t>
            </a:r>
            <a:r>
              <a:rPr lang="en-US" sz="2000" dirty="0">
                <a:latin typeface="Times New Roman"/>
                <a:cs typeface="Times New Roman"/>
              </a:rPr>
              <a:t> becomes protected, can’t be accessed directly</a:t>
            </a:r>
          </a:p>
          <a:p>
            <a:pPr marL="12700" marR="5080" algn="just">
              <a:lnSpc>
                <a:spcPct val="100000"/>
              </a:lnSpc>
              <a:spcBef>
                <a:spcPts val="100"/>
              </a:spcBef>
              <a:buClr>
                <a:srgbClr val="001F5F"/>
              </a:buClr>
              <a:tabLst>
                <a:tab pos="355600" algn="l"/>
              </a:tabLst>
            </a:pPr>
            <a:r>
              <a:rPr lang="en-US" sz="2000" dirty="0">
                <a:latin typeface="Times New Roman"/>
                <a:cs typeface="Times New Roman"/>
              </a:rPr>
              <a:t>    </a:t>
            </a:r>
            <a:r>
              <a:rPr lang="en-US" sz="2000" dirty="0" err="1">
                <a:latin typeface="Times New Roman"/>
                <a:cs typeface="Times New Roman"/>
              </a:rPr>
              <a:t>obj.display</a:t>
            </a:r>
            <a:r>
              <a:rPr lang="en-US" sz="2000" dirty="0">
                <a:latin typeface="Times New Roman"/>
                <a:cs typeface="Times New Roman"/>
              </a:rPr>
              <a:t>();</a:t>
            </a:r>
          </a:p>
          <a:p>
            <a:pPr marL="12700" marR="5080" algn="just">
              <a:lnSpc>
                <a:spcPct val="100000"/>
              </a:lnSpc>
              <a:spcBef>
                <a:spcPts val="100"/>
              </a:spcBef>
              <a:buClr>
                <a:srgbClr val="001F5F"/>
              </a:buClr>
              <a:tabLst>
                <a:tab pos="355600" algn="l"/>
              </a:tabLst>
            </a:pPr>
            <a:r>
              <a:rPr lang="en-US" sz="2000" dirty="0">
                <a:latin typeface="Times New Roman"/>
                <a:cs typeface="Times New Roman"/>
              </a:rPr>
              <a:t>    return 0;</a:t>
            </a:r>
          </a:p>
          <a:p>
            <a:pPr marL="12700" marR="5080" algn="just">
              <a:lnSpc>
                <a:spcPct val="100000"/>
              </a:lnSpc>
              <a:spcBef>
                <a:spcPts val="100"/>
              </a:spcBef>
              <a:buClr>
                <a:srgbClr val="001F5F"/>
              </a:buClr>
              <a:tabLst>
                <a:tab pos="355600" algn="l"/>
              </a:tabLst>
            </a:pPr>
            <a:r>
              <a:rPr lang="en-US" sz="2000" dirty="0">
                <a:latin typeface="Times New Roman"/>
                <a:cs typeface="Times New Roman"/>
              </a:rPr>
              <a:t>}</a:t>
            </a:r>
          </a:p>
          <a:p>
            <a:pPr marL="355600" marR="5080" indent="-342900" algn="just">
              <a:lnSpc>
                <a:spcPct val="100000"/>
              </a:lnSpc>
              <a:spcBef>
                <a:spcPts val="100"/>
              </a:spcBef>
              <a:buClr>
                <a:srgbClr val="001F5F"/>
              </a:buClr>
              <a:buFont typeface="Wingdings"/>
              <a:buChar char=""/>
              <a:tabLst>
                <a:tab pos="355600" algn="l"/>
              </a:tabLst>
            </a:pPr>
            <a:endParaRPr sz="1400" dirty="0">
              <a:latin typeface="Times New Roman"/>
              <a:cs typeface="Times New Roman"/>
            </a:endParaRPr>
          </a:p>
        </p:txBody>
      </p:sp>
      <p:sp>
        <p:nvSpPr>
          <p:cNvPr id="5" name="TextBox 4"/>
          <p:cNvSpPr txBox="1"/>
          <p:nvPr/>
        </p:nvSpPr>
        <p:spPr>
          <a:xfrm rot="10800000">
            <a:off x="1543050" y="11451910"/>
            <a:ext cx="6762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gyy</a:t>
            </a:r>
            <a:endParaRPr lang="en-US" dirty="0"/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 rot="10800000" flipV="1">
            <a:off x="1371600" y="6055157"/>
            <a:ext cx="10058400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/>
              <a:t>In this case, </a:t>
            </a:r>
            <a:r>
              <a:rPr lang="en-US" altLang="en-US" sz="2000" dirty="0" err="1"/>
              <a:t>publicVar</a:t>
            </a:r>
            <a:r>
              <a:rPr lang="en-US" altLang="en-US" sz="2000" dirty="0"/>
              <a:t> becomes protected in </a:t>
            </a:r>
            <a:r>
              <a:rPr lang="en-US" altLang="en-US" sz="2000" dirty="0" err="1"/>
              <a:t>DerivedProtected</a:t>
            </a:r>
            <a:r>
              <a:rPr lang="en-US" altLang="en-US" sz="2000" dirty="0"/>
              <a:t>, so you cannot access it directly using an object of </a:t>
            </a:r>
            <a:r>
              <a:rPr lang="en-US" altLang="en-US" sz="2000" dirty="0" err="1"/>
              <a:t>DerivedProtected</a:t>
            </a:r>
            <a:r>
              <a:rPr lang="en-US" altLang="en-US" sz="2000" dirty="0"/>
              <a:t>, but you can still use it inside the class.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749206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2438400"/>
            <a:ext cx="2362200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Modes</a:t>
            </a:r>
            <a:r>
              <a:rPr spc="-30" dirty="0"/>
              <a:t> </a:t>
            </a:r>
            <a:r>
              <a:rPr dirty="0"/>
              <a:t>of</a:t>
            </a:r>
            <a:r>
              <a:rPr spc="-25" dirty="0"/>
              <a:t> </a:t>
            </a:r>
            <a:r>
              <a:rPr spc="-5" dirty="0"/>
              <a:t>Inheritance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67200" y="-152400"/>
            <a:ext cx="10358120" cy="59067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  <a:buClr>
                <a:srgbClr val="001F5F"/>
              </a:buClr>
              <a:tabLst>
                <a:tab pos="355600" algn="l"/>
              </a:tabLst>
            </a:pPr>
            <a:endParaRPr lang="en-US" sz="1400" dirty="0">
              <a:latin typeface="Times New Roman"/>
              <a:cs typeface="Times New Roman"/>
            </a:endParaRPr>
          </a:p>
          <a:p>
            <a:pPr marL="12700" marR="5080" algn="just">
              <a:lnSpc>
                <a:spcPct val="100000"/>
              </a:lnSpc>
              <a:spcBef>
                <a:spcPts val="100"/>
              </a:spcBef>
              <a:buClr>
                <a:srgbClr val="001F5F"/>
              </a:buClr>
              <a:tabLst>
                <a:tab pos="355600" algn="l"/>
              </a:tabLst>
            </a:pPr>
            <a:r>
              <a:rPr lang="en-US" sz="2000" dirty="0">
                <a:latin typeface="Times New Roman"/>
                <a:cs typeface="Times New Roman"/>
              </a:rPr>
              <a:t>class Base {</a:t>
            </a:r>
          </a:p>
          <a:p>
            <a:pPr marL="12700" marR="5080" algn="just">
              <a:lnSpc>
                <a:spcPct val="100000"/>
              </a:lnSpc>
              <a:spcBef>
                <a:spcPts val="100"/>
              </a:spcBef>
              <a:buClr>
                <a:srgbClr val="001F5F"/>
              </a:buClr>
              <a:tabLst>
                <a:tab pos="355600" algn="l"/>
              </a:tabLst>
            </a:pPr>
            <a:r>
              <a:rPr lang="en-US" sz="2000" dirty="0">
                <a:latin typeface="Times New Roman"/>
                <a:cs typeface="Times New Roman"/>
              </a:rPr>
              <a:t>public:</a:t>
            </a:r>
          </a:p>
          <a:p>
            <a:pPr marL="12700" marR="5080" algn="just">
              <a:lnSpc>
                <a:spcPct val="100000"/>
              </a:lnSpc>
              <a:spcBef>
                <a:spcPts val="100"/>
              </a:spcBef>
              <a:buClr>
                <a:srgbClr val="001F5F"/>
              </a:buClr>
              <a:tabLst>
                <a:tab pos="355600" algn="l"/>
              </a:tabLst>
            </a:pPr>
            <a:r>
              <a:rPr lang="en-US" sz="2000" dirty="0">
                <a:latin typeface="Times New Roman"/>
                <a:cs typeface="Times New Roman"/>
              </a:rPr>
              <a:t>    </a:t>
            </a:r>
            <a:r>
              <a:rPr lang="en-US" sz="2000" dirty="0" err="1">
                <a:latin typeface="Times New Roman"/>
                <a:cs typeface="Times New Roman"/>
              </a:rPr>
              <a:t>int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publicVar</a:t>
            </a:r>
            <a:r>
              <a:rPr lang="en-US" sz="2000" dirty="0">
                <a:latin typeface="Times New Roman"/>
                <a:cs typeface="Times New Roman"/>
              </a:rPr>
              <a:t>;</a:t>
            </a:r>
          </a:p>
          <a:p>
            <a:pPr marL="12700" marR="5080" algn="just">
              <a:lnSpc>
                <a:spcPct val="100000"/>
              </a:lnSpc>
              <a:spcBef>
                <a:spcPts val="100"/>
              </a:spcBef>
              <a:buClr>
                <a:srgbClr val="001F5F"/>
              </a:buClr>
              <a:tabLst>
                <a:tab pos="355600" algn="l"/>
              </a:tabLst>
            </a:pPr>
            <a:r>
              <a:rPr lang="en-US" sz="2000" dirty="0">
                <a:latin typeface="Times New Roman"/>
                <a:cs typeface="Times New Roman"/>
              </a:rPr>
              <a:t>protected:</a:t>
            </a:r>
          </a:p>
          <a:p>
            <a:pPr marL="12700" marR="5080" algn="just">
              <a:lnSpc>
                <a:spcPct val="100000"/>
              </a:lnSpc>
              <a:spcBef>
                <a:spcPts val="100"/>
              </a:spcBef>
              <a:buClr>
                <a:srgbClr val="001F5F"/>
              </a:buClr>
              <a:tabLst>
                <a:tab pos="355600" algn="l"/>
              </a:tabLst>
            </a:pPr>
            <a:r>
              <a:rPr lang="en-US" sz="2000" dirty="0">
                <a:latin typeface="Times New Roman"/>
                <a:cs typeface="Times New Roman"/>
              </a:rPr>
              <a:t>    </a:t>
            </a:r>
            <a:r>
              <a:rPr lang="en-US" sz="2000" dirty="0" err="1">
                <a:latin typeface="Times New Roman"/>
                <a:cs typeface="Times New Roman"/>
              </a:rPr>
              <a:t>int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protectedVar</a:t>
            </a:r>
            <a:r>
              <a:rPr lang="en-US" sz="2000" dirty="0">
                <a:latin typeface="Times New Roman"/>
                <a:cs typeface="Times New Roman"/>
              </a:rPr>
              <a:t>;</a:t>
            </a:r>
          </a:p>
          <a:p>
            <a:pPr marL="12700" marR="5080" algn="just">
              <a:lnSpc>
                <a:spcPct val="100000"/>
              </a:lnSpc>
              <a:spcBef>
                <a:spcPts val="100"/>
              </a:spcBef>
              <a:buClr>
                <a:srgbClr val="001F5F"/>
              </a:buClr>
              <a:tabLst>
                <a:tab pos="355600" algn="l"/>
              </a:tabLst>
            </a:pPr>
            <a:r>
              <a:rPr lang="en-US" sz="2000" dirty="0">
                <a:latin typeface="Times New Roman"/>
                <a:cs typeface="Times New Roman"/>
              </a:rPr>
              <a:t>};</a:t>
            </a:r>
          </a:p>
          <a:p>
            <a:pPr marL="12700" marR="5080" algn="just">
              <a:lnSpc>
                <a:spcPct val="100000"/>
              </a:lnSpc>
              <a:spcBef>
                <a:spcPts val="100"/>
              </a:spcBef>
              <a:buClr>
                <a:srgbClr val="001F5F"/>
              </a:buClr>
              <a:tabLst>
                <a:tab pos="355600" algn="l"/>
              </a:tabLst>
            </a:pPr>
            <a:r>
              <a:rPr lang="en-US" sz="2000" dirty="0">
                <a:latin typeface="Times New Roman"/>
                <a:cs typeface="Times New Roman"/>
              </a:rPr>
              <a:t>class </a:t>
            </a:r>
            <a:r>
              <a:rPr lang="en-US" sz="2000" dirty="0" err="1">
                <a:latin typeface="Times New Roman"/>
                <a:cs typeface="Times New Roman"/>
              </a:rPr>
              <a:t>DerivedPrivate</a:t>
            </a:r>
            <a:r>
              <a:rPr lang="en-US" sz="2000" dirty="0">
                <a:latin typeface="Times New Roman"/>
                <a:cs typeface="Times New Roman"/>
              </a:rPr>
              <a:t> : private Base {</a:t>
            </a:r>
          </a:p>
          <a:p>
            <a:pPr marL="12700" marR="5080" algn="just">
              <a:lnSpc>
                <a:spcPct val="100000"/>
              </a:lnSpc>
              <a:spcBef>
                <a:spcPts val="100"/>
              </a:spcBef>
              <a:buClr>
                <a:srgbClr val="001F5F"/>
              </a:buClr>
              <a:tabLst>
                <a:tab pos="355600" algn="l"/>
              </a:tabLst>
            </a:pPr>
            <a:r>
              <a:rPr lang="en-US" sz="2000" dirty="0">
                <a:latin typeface="Times New Roman"/>
                <a:cs typeface="Times New Roman"/>
              </a:rPr>
              <a:t>public:</a:t>
            </a:r>
          </a:p>
          <a:p>
            <a:pPr marL="12700" marR="5080" algn="just">
              <a:lnSpc>
                <a:spcPct val="100000"/>
              </a:lnSpc>
              <a:spcBef>
                <a:spcPts val="100"/>
              </a:spcBef>
              <a:buClr>
                <a:srgbClr val="001F5F"/>
              </a:buClr>
              <a:tabLst>
                <a:tab pos="355600" algn="l"/>
              </a:tabLst>
            </a:pPr>
            <a:r>
              <a:rPr lang="en-US" sz="2000" dirty="0">
                <a:latin typeface="Times New Roman"/>
                <a:cs typeface="Times New Roman"/>
              </a:rPr>
              <a:t>    void display() {</a:t>
            </a:r>
          </a:p>
          <a:p>
            <a:pPr marL="12700" marR="5080" algn="just">
              <a:lnSpc>
                <a:spcPct val="100000"/>
              </a:lnSpc>
              <a:spcBef>
                <a:spcPts val="100"/>
              </a:spcBef>
              <a:buClr>
                <a:srgbClr val="001F5F"/>
              </a:buClr>
              <a:tabLst>
                <a:tab pos="355600" algn="l"/>
              </a:tabLst>
            </a:pPr>
            <a:r>
              <a:rPr lang="en-US" sz="2000" dirty="0">
                <a:latin typeface="Times New Roman"/>
                <a:cs typeface="Times New Roman"/>
              </a:rPr>
              <a:t>        </a:t>
            </a:r>
            <a:r>
              <a:rPr lang="en-US" sz="2000" dirty="0" err="1">
                <a:latin typeface="Times New Roman"/>
                <a:cs typeface="Times New Roman"/>
              </a:rPr>
              <a:t>cout</a:t>
            </a:r>
            <a:r>
              <a:rPr lang="en-US" sz="2000" dirty="0">
                <a:latin typeface="Times New Roman"/>
                <a:cs typeface="Times New Roman"/>
              </a:rPr>
              <a:t> &lt;&lt; "Public variable: " &lt;&lt; </a:t>
            </a:r>
            <a:r>
              <a:rPr lang="en-US" sz="2000" dirty="0" err="1">
                <a:latin typeface="Times New Roman"/>
                <a:cs typeface="Times New Roman"/>
              </a:rPr>
              <a:t>publicVar</a:t>
            </a:r>
            <a:r>
              <a:rPr lang="en-US" sz="2000" dirty="0">
                <a:latin typeface="Times New Roman"/>
                <a:cs typeface="Times New Roman"/>
              </a:rPr>
              <a:t> &lt;&lt; </a:t>
            </a:r>
            <a:r>
              <a:rPr lang="en-US" sz="2000" dirty="0" err="1">
                <a:latin typeface="Times New Roman"/>
                <a:cs typeface="Times New Roman"/>
              </a:rPr>
              <a:t>endl</a:t>
            </a:r>
            <a:r>
              <a:rPr lang="en-US" sz="2000" dirty="0">
                <a:latin typeface="Times New Roman"/>
                <a:cs typeface="Times New Roman"/>
              </a:rPr>
              <a:t>; </a:t>
            </a:r>
          </a:p>
          <a:p>
            <a:pPr marL="12700" marR="5080" algn="just">
              <a:lnSpc>
                <a:spcPct val="100000"/>
              </a:lnSpc>
              <a:spcBef>
                <a:spcPts val="100"/>
              </a:spcBef>
              <a:buClr>
                <a:srgbClr val="001F5F"/>
              </a:buClr>
              <a:tabLst>
                <a:tab pos="355600" algn="l"/>
              </a:tabLst>
            </a:pPr>
            <a:r>
              <a:rPr lang="en-US" sz="2000" dirty="0" err="1">
                <a:latin typeface="Times New Roman"/>
                <a:cs typeface="Times New Roman"/>
              </a:rPr>
              <a:t>cout</a:t>
            </a:r>
            <a:r>
              <a:rPr lang="en-US" sz="2000" dirty="0">
                <a:latin typeface="Times New Roman"/>
                <a:cs typeface="Times New Roman"/>
              </a:rPr>
              <a:t> &lt;&lt; "Protected variable: " &lt;&lt; </a:t>
            </a:r>
            <a:r>
              <a:rPr lang="en-US" sz="2000" dirty="0" err="1">
                <a:latin typeface="Times New Roman"/>
                <a:cs typeface="Times New Roman"/>
              </a:rPr>
              <a:t>protectedVar</a:t>
            </a:r>
            <a:r>
              <a:rPr lang="en-US" sz="2000" dirty="0">
                <a:latin typeface="Times New Roman"/>
                <a:cs typeface="Times New Roman"/>
              </a:rPr>
              <a:t> &lt;&lt; </a:t>
            </a:r>
            <a:r>
              <a:rPr lang="en-US" sz="2000" dirty="0" err="1">
                <a:latin typeface="Times New Roman"/>
                <a:cs typeface="Times New Roman"/>
              </a:rPr>
              <a:t>endl</a:t>
            </a:r>
            <a:r>
              <a:rPr lang="en-US" sz="2000" dirty="0">
                <a:latin typeface="Times New Roman"/>
                <a:cs typeface="Times New Roman"/>
              </a:rPr>
              <a:t>; </a:t>
            </a:r>
          </a:p>
          <a:p>
            <a:pPr marL="12700" marR="5080" algn="just">
              <a:lnSpc>
                <a:spcPct val="100000"/>
              </a:lnSpc>
              <a:spcBef>
                <a:spcPts val="100"/>
              </a:spcBef>
              <a:buClr>
                <a:srgbClr val="001F5F"/>
              </a:buClr>
              <a:tabLst>
                <a:tab pos="355600" algn="l"/>
              </a:tabLst>
            </a:pPr>
            <a:r>
              <a:rPr lang="en-US" sz="2000" dirty="0">
                <a:latin typeface="Times New Roman"/>
                <a:cs typeface="Times New Roman"/>
              </a:rPr>
              <a:t>}};</a:t>
            </a:r>
          </a:p>
          <a:p>
            <a:pPr marL="12700" marR="5080" algn="just">
              <a:lnSpc>
                <a:spcPct val="100000"/>
              </a:lnSpc>
              <a:spcBef>
                <a:spcPts val="100"/>
              </a:spcBef>
              <a:buClr>
                <a:srgbClr val="001F5F"/>
              </a:buClr>
              <a:tabLst>
                <a:tab pos="355600" algn="l"/>
              </a:tabLst>
            </a:pPr>
            <a:r>
              <a:rPr lang="en-US" sz="2000" dirty="0" err="1">
                <a:latin typeface="Times New Roman"/>
                <a:cs typeface="Times New Roman"/>
              </a:rPr>
              <a:t>int</a:t>
            </a:r>
            <a:r>
              <a:rPr lang="en-US" sz="2000" dirty="0">
                <a:latin typeface="Times New Roman"/>
                <a:cs typeface="Times New Roman"/>
              </a:rPr>
              <a:t> main() {</a:t>
            </a:r>
          </a:p>
          <a:p>
            <a:pPr marL="12700" marR="5080" algn="just">
              <a:lnSpc>
                <a:spcPct val="100000"/>
              </a:lnSpc>
              <a:spcBef>
                <a:spcPts val="100"/>
              </a:spcBef>
              <a:buClr>
                <a:srgbClr val="001F5F"/>
              </a:buClr>
              <a:tabLst>
                <a:tab pos="355600" algn="l"/>
              </a:tabLst>
            </a:pPr>
            <a:r>
              <a:rPr lang="en-US" sz="2000" dirty="0">
                <a:latin typeface="Times New Roman"/>
                <a:cs typeface="Times New Roman"/>
              </a:rPr>
              <a:t>    </a:t>
            </a:r>
            <a:r>
              <a:rPr lang="en-US" sz="2000" dirty="0" err="1">
                <a:latin typeface="Times New Roman"/>
                <a:cs typeface="Times New Roman"/>
              </a:rPr>
              <a:t>DerivedPrivate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 err="1">
                <a:latin typeface="Times New Roman"/>
                <a:cs typeface="Times New Roman"/>
              </a:rPr>
              <a:t>obj</a:t>
            </a:r>
            <a:r>
              <a:rPr lang="en-US" sz="2000" dirty="0">
                <a:latin typeface="Times New Roman"/>
                <a:cs typeface="Times New Roman"/>
              </a:rPr>
              <a:t>;</a:t>
            </a:r>
          </a:p>
          <a:p>
            <a:pPr marL="12700" marR="5080" algn="just">
              <a:lnSpc>
                <a:spcPct val="100000"/>
              </a:lnSpc>
              <a:spcBef>
                <a:spcPts val="100"/>
              </a:spcBef>
              <a:buClr>
                <a:srgbClr val="001F5F"/>
              </a:buClr>
              <a:tabLst>
                <a:tab pos="355600" algn="l"/>
              </a:tabLst>
            </a:pPr>
            <a:r>
              <a:rPr lang="en-US" sz="2000" dirty="0">
                <a:latin typeface="Times New Roman"/>
                <a:cs typeface="Times New Roman"/>
              </a:rPr>
              <a:t>    // </a:t>
            </a:r>
            <a:r>
              <a:rPr lang="en-US" sz="2000" dirty="0" err="1">
                <a:latin typeface="Times New Roman"/>
                <a:cs typeface="Times New Roman"/>
              </a:rPr>
              <a:t>obj.publicVar</a:t>
            </a:r>
            <a:r>
              <a:rPr lang="en-US" sz="2000" dirty="0">
                <a:latin typeface="Times New Roman"/>
                <a:cs typeface="Times New Roman"/>
              </a:rPr>
              <a:t> = 10;  // Error: </a:t>
            </a:r>
            <a:r>
              <a:rPr lang="en-US" sz="2000" dirty="0" err="1">
                <a:latin typeface="Times New Roman"/>
                <a:cs typeface="Times New Roman"/>
              </a:rPr>
              <a:t>publicVar</a:t>
            </a:r>
            <a:r>
              <a:rPr lang="en-US" sz="2000" dirty="0">
                <a:latin typeface="Times New Roman"/>
                <a:cs typeface="Times New Roman"/>
              </a:rPr>
              <a:t> becomes private</a:t>
            </a:r>
          </a:p>
          <a:p>
            <a:pPr marL="12700" marR="5080" algn="just">
              <a:lnSpc>
                <a:spcPct val="100000"/>
              </a:lnSpc>
              <a:spcBef>
                <a:spcPts val="100"/>
              </a:spcBef>
              <a:buClr>
                <a:srgbClr val="001F5F"/>
              </a:buClr>
              <a:tabLst>
                <a:tab pos="355600" algn="l"/>
              </a:tabLst>
            </a:pPr>
            <a:r>
              <a:rPr lang="en-US" sz="2000" dirty="0">
                <a:latin typeface="Times New Roman"/>
                <a:cs typeface="Times New Roman"/>
              </a:rPr>
              <a:t>    </a:t>
            </a:r>
            <a:r>
              <a:rPr lang="en-US" sz="2000" dirty="0" err="1">
                <a:latin typeface="Times New Roman"/>
                <a:cs typeface="Times New Roman"/>
              </a:rPr>
              <a:t>obj.display</a:t>
            </a:r>
            <a:r>
              <a:rPr lang="en-US" sz="2000" dirty="0">
                <a:latin typeface="Times New Roman"/>
                <a:cs typeface="Times New Roman"/>
              </a:rPr>
              <a:t>();</a:t>
            </a:r>
          </a:p>
          <a:p>
            <a:pPr marL="12700" marR="5080" algn="just">
              <a:lnSpc>
                <a:spcPct val="100000"/>
              </a:lnSpc>
              <a:spcBef>
                <a:spcPts val="100"/>
              </a:spcBef>
              <a:buClr>
                <a:srgbClr val="001F5F"/>
              </a:buClr>
              <a:tabLst>
                <a:tab pos="355600" algn="l"/>
              </a:tabLst>
            </a:pPr>
            <a:r>
              <a:rPr lang="en-US" sz="2000" dirty="0">
                <a:latin typeface="Times New Roman"/>
                <a:cs typeface="Times New Roman"/>
              </a:rPr>
              <a:t>    return 0;}</a:t>
            </a:r>
          </a:p>
          <a:p>
            <a:pPr marL="355600" marR="5080" indent="-342900" algn="just">
              <a:lnSpc>
                <a:spcPct val="100000"/>
              </a:lnSpc>
              <a:spcBef>
                <a:spcPts val="100"/>
              </a:spcBef>
              <a:buClr>
                <a:srgbClr val="001F5F"/>
              </a:buClr>
              <a:buFont typeface="Wingdings"/>
              <a:buChar char=""/>
              <a:tabLst>
                <a:tab pos="355600" algn="l"/>
              </a:tabLst>
            </a:pPr>
            <a:endParaRPr sz="1400" dirty="0">
              <a:latin typeface="Times New Roman"/>
              <a:cs typeface="Times New Roman"/>
            </a:endParaRPr>
          </a:p>
        </p:txBody>
      </p:sp>
      <p:sp>
        <p:nvSpPr>
          <p:cNvPr id="5" name="TextBox 4"/>
          <p:cNvSpPr txBox="1"/>
          <p:nvPr/>
        </p:nvSpPr>
        <p:spPr>
          <a:xfrm rot="10800000">
            <a:off x="1543050" y="11451910"/>
            <a:ext cx="6762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gyy</a:t>
            </a:r>
            <a:endParaRPr lang="en-US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1543050" y="5913211"/>
            <a:ext cx="922020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 this case, both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publicVar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and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protectedVar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become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private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in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DerivedPrivate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so they can only be accessed within the class, and not from outside. </a:t>
            </a:r>
          </a:p>
        </p:txBody>
      </p:sp>
    </p:spTree>
    <p:extLst>
      <p:ext uri="{BB962C8B-B14F-4D97-AF65-F5344CB8AC3E}">
        <p14:creationId xmlns:p14="http://schemas.microsoft.com/office/powerpoint/2010/main" val="5874405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87942" y="2768828"/>
            <a:ext cx="669925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092960" algn="l"/>
              </a:tabLst>
            </a:pPr>
            <a:r>
              <a:rPr sz="6000" spc="-95" dirty="0"/>
              <a:t>Types	</a:t>
            </a:r>
            <a:r>
              <a:rPr sz="6000" dirty="0"/>
              <a:t>of</a:t>
            </a:r>
            <a:r>
              <a:rPr sz="6000" spc="-60" dirty="0"/>
              <a:t> </a:t>
            </a:r>
            <a:r>
              <a:rPr sz="6000" spc="-5" dirty="0"/>
              <a:t>Inheritance</a:t>
            </a:r>
            <a:endParaRPr sz="60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50577" y="685800"/>
            <a:ext cx="549084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60" dirty="0"/>
              <a:t>Types</a:t>
            </a:r>
            <a:r>
              <a:rPr spc="-15" dirty="0"/>
              <a:t> </a:t>
            </a:r>
            <a:r>
              <a:rPr dirty="0"/>
              <a:t>of</a:t>
            </a:r>
            <a:r>
              <a:rPr spc="-10" dirty="0"/>
              <a:t> </a:t>
            </a:r>
            <a:r>
              <a:rPr spc="-5" dirty="0"/>
              <a:t>Inheritance</a:t>
            </a:r>
            <a:r>
              <a:rPr spc="-10" dirty="0"/>
              <a:t> </a:t>
            </a:r>
            <a:r>
              <a:rPr spc="-5" dirty="0"/>
              <a:t>in</a:t>
            </a:r>
            <a:r>
              <a:rPr spc="-10" dirty="0"/>
              <a:t> </a:t>
            </a:r>
            <a:r>
              <a:rPr spc="-5" dirty="0"/>
              <a:t>C++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47800" y="2286000"/>
            <a:ext cx="6779261" cy="254877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675"/>
              </a:spcBef>
              <a:buClr>
                <a:srgbClr val="001F5F"/>
              </a:buClr>
              <a:buFont typeface="Wingdings"/>
              <a:buChar char=""/>
              <a:tabLst>
                <a:tab pos="355600" algn="l"/>
              </a:tabLst>
            </a:pPr>
            <a:r>
              <a:rPr sz="2800" b="1" spc="-5" dirty="0">
                <a:latin typeface="Times New Roman"/>
                <a:cs typeface="Times New Roman"/>
              </a:rPr>
              <a:t>Single</a:t>
            </a:r>
            <a:r>
              <a:rPr sz="2800" b="1" spc="-25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Times New Roman"/>
                <a:cs typeface="Times New Roman"/>
              </a:rPr>
              <a:t>Inheritance</a:t>
            </a:r>
            <a:endParaRPr sz="280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Clr>
                <a:srgbClr val="001F5F"/>
              </a:buClr>
              <a:buFont typeface="Wingdings"/>
              <a:buChar char=""/>
              <a:tabLst>
                <a:tab pos="355600" algn="l"/>
              </a:tabLst>
            </a:pPr>
            <a:r>
              <a:rPr sz="2800" b="1" spc="-5" dirty="0">
                <a:latin typeface="Times New Roman"/>
                <a:cs typeface="Times New Roman"/>
              </a:rPr>
              <a:t>Multiple</a:t>
            </a:r>
            <a:r>
              <a:rPr sz="2800" b="1" spc="-25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Times New Roman"/>
                <a:cs typeface="Times New Roman"/>
              </a:rPr>
              <a:t>Inheritance</a:t>
            </a:r>
            <a:endParaRPr sz="280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Clr>
                <a:srgbClr val="001F5F"/>
              </a:buClr>
              <a:buFont typeface="Wingdings"/>
              <a:buChar char=""/>
              <a:tabLst>
                <a:tab pos="355600" algn="l"/>
              </a:tabLst>
            </a:pPr>
            <a:r>
              <a:rPr sz="2800" b="1" spc="-5" dirty="0">
                <a:latin typeface="Times New Roman"/>
                <a:cs typeface="Times New Roman"/>
              </a:rPr>
              <a:t>Multilevel</a:t>
            </a:r>
            <a:r>
              <a:rPr sz="2800" b="1" spc="-25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Times New Roman"/>
                <a:cs typeface="Times New Roman"/>
              </a:rPr>
              <a:t>Inheritance</a:t>
            </a:r>
            <a:endParaRPr sz="280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Clr>
                <a:srgbClr val="001F5F"/>
              </a:buClr>
              <a:buFont typeface="Wingdings"/>
              <a:buChar char=""/>
              <a:tabLst>
                <a:tab pos="355600" algn="l"/>
              </a:tabLst>
            </a:pPr>
            <a:r>
              <a:rPr sz="2800" b="1" spc="-10" dirty="0">
                <a:latin typeface="Times New Roman"/>
                <a:cs typeface="Times New Roman"/>
              </a:rPr>
              <a:t>Hierarchical</a:t>
            </a:r>
            <a:r>
              <a:rPr sz="2800" b="1" spc="-20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Times New Roman"/>
                <a:cs typeface="Times New Roman"/>
              </a:rPr>
              <a:t>Inheritance</a:t>
            </a:r>
            <a:endParaRPr sz="280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Clr>
                <a:srgbClr val="001F5F"/>
              </a:buClr>
              <a:buFont typeface="Wingdings"/>
              <a:buChar char=""/>
              <a:tabLst>
                <a:tab pos="355600" algn="l"/>
              </a:tabLst>
            </a:pPr>
            <a:r>
              <a:rPr sz="2800" b="1" spc="-5" dirty="0">
                <a:latin typeface="Times New Roman"/>
                <a:cs typeface="Times New Roman"/>
              </a:rPr>
              <a:t>Hybrid</a:t>
            </a:r>
            <a:r>
              <a:rPr sz="2800" b="1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Times New Roman"/>
                <a:cs typeface="Times New Roman"/>
              </a:rPr>
              <a:t>Inheritance </a:t>
            </a:r>
            <a:r>
              <a:rPr sz="2800" b="1" spc="-15" dirty="0">
                <a:latin typeface="Times New Roman"/>
                <a:cs typeface="Times New Roman"/>
              </a:rPr>
              <a:t>(Virtual</a:t>
            </a:r>
            <a:r>
              <a:rPr sz="2800" b="1" spc="-5" dirty="0">
                <a:latin typeface="Times New Roman"/>
                <a:cs typeface="Times New Roman"/>
              </a:rPr>
              <a:t> Inheritance)</a:t>
            </a:r>
            <a:endParaRPr sz="2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98950" y="531177"/>
            <a:ext cx="35941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Single</a:t>
            </a:r>
            <a:r>
              <a:rPr spc="-55" dirty="0"/>
              <a:t> </a:t>
            </a:r>
            <a:r>
              <a:rPr spc="-5" dirty="0"/>
              <a:t>Inheritance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840229"/>
            <a:ext cx="1032827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Clr>
                <a:srgbClr val="001F5F"/>
              </a:buClr>
              <a:buFont typeface="Wingdings"/>
              <a:buChar char="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In </a:t>
            </a:r>
            <a:r>
              <a:rPr sz="2400" spc="-5" dirty="0">
                <a:latin typeface="Times New Roman"/>
                <a:cs typeface="Times New Roman"/>
              </a:rPr>
              <a:t>single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inheritance,</a:t>
            </a:r>
            <a:r>
              <a:rPr sz="2400" dirty="0">
                <a:latin typeface="Times New Roman"/>
                <a:cs typeface="Times New Roman"/>
              </a:rPr>
              <a:t> a </a:t>
            </a:r>
            <a:r>
              <a:rPr sz="2400" spc="-5" dirty="0">
                <a:latin typeface="Times New Roman"/>
                <a:cs typeface="Times New Roman"/>
              </a:rPr>
              <a:t>class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is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allowed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to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inherit </a:t>
            </a:r>
            <a:r>
              <a:rPr sz="2400" dirty="0">
                <a:latin typeface="Times New Roman"/>
                <a:cs typeface="Times New Roman"/>
              </a:rPr>
              <a:t>from </a:t>
            </a:r>
            <a:r>
              <a:rPr sz="2400" spc="-5" dirty="0">
                <a:latin typeface="Times New Roman"/>
                <a:cs typeface="Times New Roman"/>
              </a:rPr>
              <a:t>only</a:t>
            </a:r>
            <a:r>
              <a:rPr sz="2400" dirty="0">
                <a:latin typeface="Times New Roman"/>
                <a:cs typeface="Times New Roman"/>
              </a:rPr>
              <a:t> one </a:t>
            </a:r>
            <a:r>
              <a:rPr sz="2400" spc="-5" dirty="0">
                <a:latin typeface="Times New Roman"/>
                <a:cs typeface="Times New Roman"/>
              </a:rPr>
              <a:t>class.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i.e.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sub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class is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inherited</a:t>
            </a:r>
            <a:r>
              <a:rPr sz="2400" dirty="0">
                <a:latin typeface="Times New Roman"/>
                <a:cs typeface="Times New Roman"/>
              </a:rPr>
              <a:t> by one</a:t>
            </a:r>
            <a:r>
              <a:rPr sz="2400" spc="-5" dirty="0">
                <a:latin typeface="Times New Roman"/>
                <a:cs typeface="Times New Roman"/>
              </a:rPr>
              <a:t> base class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35" dirty="0">
                <a:latin typeface="Times New Roman"/>
                <a:cs typeface="Times New Roman"/>
              </a:rPr>
              <a:t>only.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0600" y="3191255"/>
            <a:ext cx="3429000" cy="220065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68240" y="3703320"/>
            <a:ext cx="6095619" cy="14478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75136" y="228600"/>
            <a:ext cx="35941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Single</a:t>
            </a:r>
            <a:r>
              <a:rPr spc="-55" dirty="0"/>
              <a:t> </a:t>
            </a:r>
            <a:r>
              <a:rPr spc="-5" dirty="0"/>
              <a:t>Inheritance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0200" y="1066800"/>
            <a:ext cx="6062913" cy="536511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0400" y="1981200"/>
            <a:ext cx="4724400" cy="21336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57650" y="531177"/>
            <a:ext cx="40767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Multiple</a:t>
            </a:r>
            <a:r>
              <a:rPr spc="-50" dirty="0"/>
              <a:t> </a:t>
            </a:r>
            <a:r>
              <a:rPr spc="-5" dirty="0"/>
              <a:t>Inheritance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840229"/>
            <a:ext cx="10349865" cy="150297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Clr>
                <a:srgbClr val="001F5F"/>
              </a:buClr>
              <a:buFont typeface="Wingdings"/>
              <a:buChar char=""/>
              <a:tabLst>
                <a:tab pos="431165" algn="l"/>
                <a:tab pos="431800" algn="l"/>
              </a:tabLst>
            </a:pPr>
            <a:r>
              <a:rPr dirty="0"/>
              <a:t>	</a:t>
            </a:r>
            <a:r>
              <a:rPr sz="2400" spc="-5" dirty="0">
                <a:latin typeface="Times New Roman"/>
                <a:cs typeface="Times New Roman"/>
              </a:rPr>
              <a:t>Multiple Inheritance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is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 </a:t>
            </a:r>
            <a:r>
              <a:rPr sz="2400" spc="-5" dirty="0">
                <a:latin typeface="Times New Roman"/>
                <a:cs typeface="Times New Roman"/>
              </a:rPr>
              <a:t>feature</a:t>
            </a:r>
            <a:r>
              <a:rPr sz="2400" dirty="0">
                <a:latin typeface="Times New Roman"/>
                <a:cs typeface="Times New Roman"/>
              </a:rPr>
              <a:t> of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C++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where</a:t>
            </a:r>
            <a:r>
              <a:rPr sz="2400" dirty="0">
                <a:latin typeface="Times New Roman"/>
                <a:cs typeface="Times New Roman"/>
              </a:rPr>
              <a:t> a </a:t>
            </a:r>
            <a:r>
              <a:rPr sz="2400" spc="-5" dirty="0">
                <a:latin typeface="Times New Roman"/>
                <a:cs typeface="Times New Roman"/>
              </a:rPr>
              <a:t>class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can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inherit </a:t>
            </a:r>
            <a:r>
              <a:rPr sz="2400" dirty="0">
                <a:latin typeface="Times New Roman"/>
                <a:cs typeface="Times New Roman"/>
              </a:rPr>
              <a:t>from </a:t>
            </a:r>
            <a:r>
              <a:rPr sz="2400" spc="-5" dirty="0">
                <a:latin typeface="Times New Roman"/>
                <a:cs typeface="Times New Roman"/>
              </a:rPr>
              <a:t>more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than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one</a:t>
            </a:r>
            <a:r>
              <a:rPr sz="2400" spc="-5" dirty="0">
                <a:latin typeface="Times New Roman"/>
                <a:cs typeface="Times New Roman"/>
              </a:rPr>
              <a:t> classes.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i.e </a:t>
            </a:r>
            <a:r>
              <a:rPr sz="2400" dirty="0">
                <a:latin typeface="Times New Roman"/>
                <a:cs typeface="Times New Roman"/>
              </a:rPr>
              <a:t>one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sub </a:t>
            </a:r>
            <a:r>
              <a:rPr sz="2400" b="1" spc="-5" dirty="0">
                <a:latin typeface="Times New Roman"/>
                <a:cs typeface="Times New Roman"/>
              </a:rPr>
              <a:t>class</a:t>
            </a:r>
            <a:r>
              <a:rPr sz="2400" b="1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is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inherited</a:t>
            </a:r>
            <a:r>
              <a:rPr sz="2400" dirty="0">
                <a:latin typeface="Times New Roman"/>
                <a:cs typeface="Times New Roman"/>
              </a:rPr>
              <a:t> from</a:t>
            </a:r>
            <a:r>
              <a:rPr sz="2400" spc="-5" dirty="0">
                <a:latin typeface="Times New Roman"/>
                <a:cs typeface="Times New Roman"/>
              </a:rPr>
              <a:t> more than</a:t>
            </a:r>
            <a:r>
              <a:rPr sz="2400" dirty="0">
                <a:latin typeface="Times New Roman"/>
                <a:cs typeface="Times New Roman"/>
              </a:rPr>
              <a:t> one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base </a:t>
            </a:r>
            <a:r>
              <a:rPr sz="2400" b="1" spc="-5" dirty="0">
                <a:latin typeface="Times New Roman"/>
                <a:cs typeface="Times New Roman"/>
              </a:rPr>
              <a:t>classes</a:t>
            </a:r>
            <a:r>
              <a:rPr sz="2400" spc="-5" dirty="0">
                <a:latin typeface="Times New Roman"/>
                <a:cs typeface="Times New Roman"/>
              </a:rPr>
              <a:t>.</a:t>
            </a:r>
            <a:endParaRPr lang="en-US" sz="2400" spc="-5" dirty="0">
              <a:latin typeface="Times New Roman"/>
              <a:cs typeface="Times New Roman"/>
            </a:endParaRPr>
          </a:p>
          <a:p>
            <a:pPr marL="355600" marR="5080" indent="-342900">
              <a:lnSpc>
                <a:spcPct val="100000"/>
              </a:lnSpc>
              <a:spcBef>
                <a:spcPts val="100"/>
              </a:spcBef>
              <a:buClr>
                <a:srgbClr val="001F5F"/>
              </a:buClr>
              <a:buFont typeface="Wingdings"/>
              <a:buChar char=""/>
              <a:tabLst>
                <a:tab pos="431165" algn="l"/>
                <a:tab pos="431800" algn="l"/>
              </a:tabLst>
            </a:pPr>
            <a:r>
              <a:rPr lang="en-US" sz="2400" dirty="0"/>
              <a:t>Here, the number of base classes will be separated by a comma (‘, ‘) and the access mode for every base class must be specified and can be different.</a:t>
            </a:r>
            <a:endParaRPr sz="2400" dirty="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10400" y="4176494"/>
            <a:ext cx="4724400" cy="153850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2000" y="4176494"/>
            <a:ext cx="6060124" cy="165814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38600" y="170181"/>
            <a:ext cx="40767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Multiple</a:t>
            </a:r>
            <a:r>
              <a:rPr spc="-50" dirty="0"/>
              <a:t> </a:t>
            </a:r>
            <a:r>
              <a:rPr spc="-5" dirty="0"/>
              <a:t>Inheritance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27276" y="1066801"/>
            <a:ext cx="8538972" cy="5834062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57650" y="531177"/>
            <a:ext cx="470535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The diamond problem</a:t>
            </a:r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914400" y="1550689"/>
            <a:ext cx="10349865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Clr>
                <a:srgbClr val="001F5F"/>
              </a:buClr>
              <a:buFont typeface="Wingdings"/>
              <a:buChar char=""/>
              <a:tabLst>
                <a:tab pos="431165" algn="l"/>
                <a:tab pos="431800" algn="l"/>
              </a:tabLst>
            </a:pPr>
            <a:r>
              <a:rPr lang="en-US" sz="2400" dirty="0"/>
              <a:t> The diamond problem occurs when two </a:t>
            </a:r>
            <a:r>
              <a:rPr lang="en-US" sz="2400" dirty="0" err="1"/>
              <a:t>superclasses</a:t>
            </a:r>
            <a:r>
              <a:rPr lang="en-US" sz="2400" dirty="0"/>
              <a:t> of a class have a common base class. For example, in the following diagram, the TA class gets two copies of all attributes of Person class, this causes ambiguities.</a:t>
            </a:r>
            <a:endParaRPr sz="2400" dirty="0">
              <a:latin typeface="Times New Roman"/>
              <a:cs typeface="Times New Roman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1800" y="2971800"/>
            <a:ext cx="5105400" cy="3509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07005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53251" y="0"/>
            <a:ext cx="40767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Multiple</a:t>
            </a:r>
            <a:r>
              <a:rPr spc="-50" dirty="0"/>
              <a:t> </a:t>
            </a:r>
            <a:r>
              <a:rPr spc="-5" dirty="0"/>
              <a:t>Inheritance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574040"/>
            <a:ext cx="6277702" cy="6283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30748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53251" y="0"/>
            <a:ext cx="40767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Multiple</a:t>
            </a:r>
            <a:r>
              <a:rPr spc="-50" dirty="0"/>
              <a:t> </a:t>
            </a:r>
            <a:r>
              <a:rPr spc="-5" dirty="0"/>
              <a:t>Inheritance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9400" y="574040"/>
            <a:ext cx="8220435" cy="601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66339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05250" y="531177"/>
            <a:ext cx="43815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Multilevel</a:t>
            </a:r>
            <a:r>
              <a:rPr spc="-40" dirty="0"/>
              <a:t> </a:t>
            </a:r>
            <a:r>
              <a:rPr spc="-5" dirty="0"/>
              <a:t>Inheritance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566316"/>
            <a:ext cx="100736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001F5F"/>
              </a:buClr>
              <a:buFont typeface="Wingdings"/>
              <a:buChar char="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In </a:t>
            </a:r>
            <a:r>
              <a:rPr sz="2400" spc="-5" dirty="0">
                <a:latin typeface="Times New Roman"/>
                <a:cs typeface="Times New Roman"/>
              </a:rPr>
              <a:t>this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type</a:t>
            </a:r>
            <a:r>
              <a:rPr sz="2400" dirty="0">
                <a:latin typeface="Times New Roman"/>
                <a:cs typeface="Times New Roman"/>
              </a:rPr>
              <a:t> of </a:t>
            </a:r>
            <a:r>
              <a:rPr sz="2400" spc="-5" dirty="0">
                <a:latin typeface="Times New Roman"/>
                <a:cs typeface="Times New Roman"/>
              </a:rPr>
              <a:t>inheritance,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 </a:t>
            </a:r>
            <a:r>
              <a:rPr sz="2400" spc="-5" dirty="0">
                <a:latin typeface="Times New Roman"/>
                <a:cs typeface="Times New Roman"/>
              </a:rPr>
              <a:t>derived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class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is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created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from </a:t>
            </a:r>
            <a:r>
              <a:rPr sz="2400" spc="-5" dirty="0">
                <a:latin typeface="Times New Roman"/>
                <a:cs typeface="Times New Roman"/>
              </a:rPr>
              <a:t>another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derived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class.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51404" y="2246376"/>
            <a:ext cx="5672273" cy="4171188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05250" y="497840"/>
            <a:ext cx="43815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Multilevel</a:t>
            </a:r>
            <a:r>
              <a:rPr spc="-40" dirty="0"/>
              <a:t> </a:t>
            </a:r>
            <a:r>
              <a:rPr spc="-5" dirty="0"/>
              <a:t>Inheritance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42388" y="1400555"/>
            <a:ext cx="7403730" cy="5457444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68395" y="553084"/>
            <a:ext cx="485521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Hierarchical</a:t>
            </a:r>
            <a:r>
              <a:rPr spc="-40" dirty="0"/>
              <a:t> </a:t>
            </a:r>
            <a:r>
              <a:rPr spc="-5" dirty="0"/>
              <a:t>Inheritance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566316"/>
            <a:ext cx="1030351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Clr>
                <a:srgbClr val="001F5F"/>
              </a:buClr>
              <a:buFont typeface="Wingdings"/>
              <a:buChar char="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In </a:t>
            </a:r>
            <a:r>
              <a:rPr sz="2400" spc="-5" dirty="0">
                <a:latin typeface="Times New Roman"/>
                <a:cs typeface="Times New Roman"/>
              </a:rPr>
              <a:t>this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type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inheritance,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more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than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sub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class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is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inherited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from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 </a:t>
            </a:r>
            <a:r>
              <a:rPr sz="2400" spc="-5" dirty="0">
                <a:latin typeface="Times New Roman"/>
                <a:cs typeface="Times New Roman"/>
              </a:rPr>
              <a:t>single base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class.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i.e.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more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than</a:t>
            </a:r>
            <a:r>
              <a:rPr sz="2400" dirty="0">
                <a:latin typeface="Times New Roman"/>
                <a:cs typeface="Times New Roman"/>
              </a:rPr>
              <a:t> one</a:t>
            </a:r>
            <a:r>
              <a:rPr sz="2400" spc="-5" dirty="0">
                <a:latin typeface="Times New Roman"/>
                <a:cs typeface="Times New Roman"/>
              </a:rPr>
              <a:t> derived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class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is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created</a:t>
            </a:r>
            <a:r>
              <a:rPr sz="2400" dirty="0">
                <a:latin typeface="Times New Roman"/>
                <a:cs typeface="Times New Roman"/>
              </a:rPr>
              <a:t> from a</a:t>
            </a:r>
            <a:r>
              <a:rPr sz="2400" spc="-5" dirty="0">
                <a:latin typeface="Times New Roman"/>
                <a:cs typeface="Times New Roman"/>
              </a:rPr>
              <a:t> single base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class.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31720" y="2857500"/>
            <a:ext cx="7500490" cy="3099816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68395" y="497840"/>
            <a:ext cx="485521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Hierarchical</a:t>
            </a:r>
            <a:r>
              <a:rPr spc="-40" dirty="0"/>
              <a:t> </a:t>
            </a:r>
            <a:r>
              <a:rPr spc="-5" dirty="0"/>
              <a:t>Inheritance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85772" y="1565147"/>
            <a:ext cx="8668512" cy="509778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29304" y="553084"/>
            <a:ext cx="553275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" dirty="0"/>
              <a:t>Hybrid(Virtual) </a:t>
            </a:r>
            <a:r>
              <a:rPr spc="-5" dirty="0"/>
              <a:t>Inheritance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566316"/>
            <a:ext cx="1035812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Clr>
                <a:srgbClr val="001F5F"/>
              </a:buClr>
              <a:buFont typeface="Wingdings"/>
              <a:buChar char=""/>
              <a:tabLst>
                <a:tab pos="355600" algn="l"/>
              </a:tabLst>
            </a:pPr>
            <a:r>
              <a:rPr sz="2400" spc="114" dirty="0">
                <a:latin typeface="Times New Roman"/>
                <a:cs typeface="Times New Roman"/>
              </a:rPr>
              <a:t>Hybrid</a:t>
            </a:r>
            <a:r>
              <a:rPr sz="2400" spc="280" dirty="0">
                <a:latin typeface="Times New Roman"/>
                <a:cs typeface="Times New Roman"/>
              </a:rPr>
              <a:t> </a:t>
            </a:r>
            <a:r>
              <a:rPr sz="2400" spc="125" dirty="0">
                <a:latin typeface="Times New Roman"/>
                <a:cs typeface="Times New Roman"/>
              </a:rPr>
              <a:t>Inheritance</a:t>
            </a:r>
            <a:r>
              <a:rPr sz="2400" spc="285" dirty="0">
                <a:latin typeface="Times New Roman"/>
                <a:cs typeface="Times New Roman"/>
              </a:rPr>
              <a:t> </a:t>
            </a:r>
            <a:r>
              <a:rPr sz="2400" spc="70" dirty="0">
                <a:latin typeface="Times New Roman"/>
                <a:cs typeface="Times New Roman"/>
              </a:rPr>
              <a:t>is</a:t>
            </a:r>
            <a:r>
              <a:rPr sz="2400" spc="290" dirty="0">
                <a:latin typeface="Times New Roman"/>
                <a:cs typeface="Times New Roman"/>
              </a:rPr>
              <a:t> </a:t>
            </a:r>
            <a:r>
              <a:rPr sz="2400" spc="125" dirty="0">
                <a:latin typeface="Times New Roman"/>
                <a:cs typeface="Times New Roman"/>
              </a:rPr>
              <a:t>implemented</a:t>
            </a:r>
            <a:r>
              <a:rPr sz="2400" spc="290" dirty="0">
                <a:latin typeface="Times New Roman"/>
                <a:cs typeface="Times New Roman"/>
              </a:rPr>
              <a:t> </a:t>
            </a:r>
            <a:r>
              <a:rPr sz="2400" spc="70" dirty="0">
                <a:latin typeface="Times New Roman"/>
                <a:cs typeface="Times New Roman"/>
              </a:rPr>
              <a:t>by</a:t>
            </a:r>
            <a:r>
              <a:rPr sz="2400" spc="290" dirty="0">
                <a:latin typeface="Times New Roman"/>
                <a:cs typeface="Times New Roman"/>
              </a:rPr>
              <a:t> </a:t>
            </a:r>
            <a:r>
              <a:rPr sz="2400" spc="125" dirty="0">
                <a:latin typeface="Times New Roman"/>
                <a:cs typeface="Times New Roman"/>
              </a:rPr>
              <a:t>combining</a:t>
            </a:r>
            <a:r>
              <a:rPr sz="2400" spc="290" dirty="0">
                <a:latin typeface="Times New Roman"/>
                <a:cs typeface="Times New Roman"/>
              </a:rPr>
              <a:t> </a:t>
            </a:r>
            <a:r>
              <a:rPr sz="2400" spc="105" dirty="0">
                <a:latin typeface="Times New Roman"/>
                <a:cs typeface="Times New Roman"/>
              </a:rPr>
              <a:t>more</a:t>
            </a:r>
            <a:r>
              <a:rPr sz="2400" spc="285" dirty="0">
                <a:latin typeface="Times New Roman"/>
                <a:cs typeface="Times New Roman"/>
              </a:rPr>
              <a:t> </a:t>
            </a:r>
            <a:r>
              <a:rPr sz="2400" spc="105" dirty="0">
                <a:latin typeface="Times New Roman"/>
                <a:cs typeface="Times New Roman"/>
              </a:rPr>
              <a:t>than</a:t>
            </a:r>
            <a:r>
              <a:rPr sz="2400" spc="290" dirty="0">
                <a:latin typeface="Times New Roman"/>
                <a:cs typeface="Times New Roman"/>
              </a:rPr>
              <a:t> </a:t>
            </a:r>
            <a:r>
              <a:rPr sz="2400" spc="95" dirty="0">
                <a:latin typeface="Times New Roman"/>
                <a:cs typeface="Times New Roman"/>
              </a:rPr>
              <a:t>one</a:t>
            </a:r>
            <a:r>
              <a:rPr sz="2400" spc="285" dirty="0">
                <a:latin typeface="Times New Roman"/>
                <a:cs typeface="Times New Roman"/>
              </a:rPr>
              <a:t> </a:t>
            </a:r>
            <a:r>
              <a:rPr sz="2400" spc="105" dirty="0">
                <a:latin typeface="Times New Roman"/>
                <a:cs typeface="Times New Roman"/>
              </a:rPr>
              <a:t>type</a:t>
            </a:r>
            <a:r>
              <a:rPr sz="2400" spc="285" dirty="0">
                <a:latin typeface="Times New Roman"/>
                <a:cs typeface="Times New Roman"/>
              </a:rPr>
              <a:t> </a:t>
            </a:r>
            <a:r>
              <a:rPr sz="2400" spc="70" dirty="0">
                <a:latin typeface="Times New Roman"/>
                <a:cs typeface="Times New Roman"/>
              </a:rPr>
              <a:t>of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inheritance.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74748" y="2467355"/>
            <a:ext cx="7840980" cy="381762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29304" y="553084"/>
            <a:ext cx="553275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" dirty="0"/>
              <a:t>Hybrid(Virtual) </a:t>
            </a:r>
            <a:r>
              <a:rPr spc="-5" dirty="0"/>
              <a:t>Inheritance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566316"/>
            <a:ext cx="1035812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Clr>
                <a:srgbClr val="001F5F"/>
              </a:buClr>
              <a:buFont typeface="Wingdings"/>
              <a:buChar char=""/>
              <a:tabLst>
                <a:tab pos="355600" algn="l"/>
              </a:tabLst>
            </a:pPr>
            <a:r>
              <a:rPr sz="2400" spc="114" dirty="0">
                <a:latin typeface="Times New Roman"/>
                <a:cs typeface="Times New Roman"/>
              </a:rPr>
              <a:t>Hybrid</a:t>
            </a:r>
            <a:r>
              <a:rPr sz="2400" spc="280" dirty="0">
                <a:latin typeface="Times New Roman"/>
                <a:cs typeface="Times New Roman"/>
              </a:rPr>
              <a:t> </a:t>
            </a:r>
            <a:r>
              <a:rPr sz="2400" spc="125" dirty="0">
                <a:latin typeface="Times New Roman"/>
                <a:cs typeface="Times New Roman"/>
              </a:rPr>
              <a:t>Inheritance</a:t>
            </a:r>
            <a:r>
              <a:rPr sz="2400" spc="285" dirty="0">
                <a:latin typeface="Times New Roman"/>
                <a:cs typeface="Times New Roman"/>
              </a:rPr>
              <a:t> </a:t>
            </a:r>
            <a:r>
              <a:rPr sz="2400" spc="70" dirty="0">
                <a:latin typeface="Times New Roman"/>
                <a:cs typeface="Times New Roman"/>
              </a:rPr>
              <a:t>is</a:t>
            </a:r>
            <a:r>
              <a:rPr sz="2400" spc="290" dirty="0">
                <a:latin typeface="Times New Roman"/>
                <a:cs typeface="Times New Roman"/>
              </a:rPr>
              <a:t> </a:t>
            </a:r>
            <a:r>
              <a:rPr sz="2400" spc="125" dirty="0">
                <a:latin typeface="Times New Roman"/>
                <a:cs typeface="Times New Roman"/>
              </a:rPr>
              <a:t>implemented</a:t>
            </a:r>
            <a:r>
              <a:rPr sz="2400" spc="290" dirty="0">
                <a:latin typeface="Times New Roman"/>
                <a:cs typeface="Times New Roman"/>
              </a:rPr>
              <a:t> </a:t>
            </a:r>
            <a:r>
              <a:rPr sz="2400" spc="70" dirty="0">
                <a:latin typeface="Times New Roman"/>
                <a:cs typeface="Times New Roman"/>
              </a:rPr>
              <a:t>by</a:t>
            </a:r>
            <a:r>
              <a:rPr sz="2400" spc="290" dirty="0">
                <a:latin typeface="Times New Roman"/>
                <a:cs typeface="Times New Roman"/>
              </a:rPr>
              <a:t> </a:t>
            </a:r>
            <a:r>
              <a:rPr sz="2400" spc="125" dirty="0">
                <a:latin typeface="Times New Roman"/>
                <a:cs typeface="Times New Roman"/>
              </a:rPr>
              <a:t>combining</a:t>
            </a:r>
            <a:r>
              <a:rPr sz="2400" spc="290" dirty="0">
                <a:latin typeface="Times New Roman"/>
                <a:cs typeface="Times New Roman"/>
              </a:rPr>
              <a:t> </a:t>
            </a:r>
            <a:r>
              <a:rPr sz="2400" spc="105" dirty="0">
                <a:latin typeface="Times New Roman"/>
                <a:cs typeface="Times New Roman"/>
              </a:rPr>
              <a:t>more</a:t>
            </a:r>
            <a:r>
              <a:rPr sz="2400" spc="285" dirty="0">
                <a:latin typeface="Times New Roman"/>
                <a:cs typeface="Times New Roman"/>
              </a:rPr>
              <a:t> </a:t>
            </a:r>
            <a:r>
              <a:rPr sz="2400" spc="105" dirty="0">
                <a:latin typeface="Times New Roman"/>
                <a:cs typeface="Times New Roman"/>
              </a:rPr>
              <a:t>than</a:t>
            </a:r>
            <a:r>
              <a:rPr sz="2400" spc="290" dirty="0">
                <a:latin typeface="Times New Roman"/>
                <a:cs typeface="Times New Roman"/>
              </a:rPr>
              <a:t> </a:t>
            </a:r>
            <a:r>
              <a:rPr sz="2400" spc="95" dirty="0">
                <a:latin typeface="Times New Roman"/>
                <a:cs typeface="Times New Roman"/>
              </a:rPr>
              <a:t>one</a:t>
            </a:r>
            <a:r>
              <a:rPr sz="2400" spc="285" dirty="0">
                <a:latin typeface="Times New Roman"/>
                <a:cs typeface="Times New Roman"/>
              </a:rPr>
              <a:t> </a:t>
            </a:r>
            <a:r>
              <a:rPr sz="2400" spc="105" dirty="0">
                <a:latin typeface="Times New Roman"/>
                <a:cs typeface="Times New Roman"/>
              </a:rPr>
              <a:t>type</a:t>
            </a:r>
            <a:r>
              <a:rPr sz="2400" spc="285" dirty="0">
                <a:latin typeface="Times New Roman"/>
                <a:cs typeface="Times New Roman"/>
              </a:rPr>
              <a:t> </a:t>
            </a:r>
            <a:r>
              <a:rPr sz="2400" spc="70" dirty="0">
                <a:latin typeface="Times New Roman"/>
                <a:cs typeface="Times New Roman"/>
              </a:rPr>
              <a:t>of </a:t>
            </a:r>
            <a:r>
              <a:rPr sz="2400" spc="-5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inheritance.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74748" y="2467355"/>
            <a:ext cx="7840980" cy="381762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29304" y="497840"/>
            <a:ext cx="553275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" dirty="0"/>
              <a:t>Hybrid(Virtual) </a:t>
            </a:r>
            <a:r>
              <a:rPr spc="-5" dirty="0"/>
              <a:t>Inheritance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13432" y="1511808"/>
            <a:ext cx="7371468" cy="5346192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62450" y="553084"/>
            <a:ext cx="34671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Practice</a:t>
            </a:r>
            <a:r>
              <a:rPr spc="-40" dirty="0"/>
              <a:t> </a:t>
            </a:r>
            <a:r>
              <a:rPr spc="-5" dirty="0"/>
              <a:t>Example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838200" y="1447800"/>
            <a:ext cx="10217785" cy="4474845"/>
          </a:xfrm>
          <a:prstGeom prst="rect">
            <a:avLst/>
          </a:prstGeom>
        </p:spPr>
        <p:txBody>
          <a:bodyPr vert="horz" wrap="square" lIns="0" tIns="18923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490"/>
              </a:spcBef>
            </a:pPr>
            <a:r>
              <a:rPr spc="-5" dirty="0"/>
              <a:t>Implement</a:t>
            </a:r>
            <a:r>
              <a:rPr dirty="0"/>
              <a:t> </a:t>
            </a:r>
            <a:r>
              <a:rPr spc="-5" dirty="0"/>
              <a:t>the</a:t>
            </a:r>
            <a:r>
              <a:rPr dirty="0"/>
              <a:t> </a:t>
            </a:r>
            <a:r>
              <a:rPr spc="-5" dirty="0"/>
              <a:t>following</a:t>
            </a:r>
            <a:r>
              <a:rPr spc="5" dirty="0"/>
              <a:t> </a:t>
            </a:r>
            <a:r>
              <a:rPr spc="-5" dirty="0"/>
              <a:t>description</a:t>
            </a:r>
            <a:r>
              <a:rPr spc="5" dirty="0"/>
              <a:t> </a:t>
            </a:r>
            <a:r>
              <a:rPr spc="-5" dirty="0"/>
              <a:t>using</a:t>
            </a:r>
            <a:r>
              <a:rPr spc="10" dirty="0"/>
              <a:t> </a:t>
            </a:r>
            <a:r>
              <a:rPr spc="-5" dirty="0"/>
              <a:t>C++</a:t>
            </a:r>
            <a:r>
              <a:rPr spc="5" dirty="0"/>
              <a:t> </a:t>
            </a:r>
            <a:r>
              <a:rPr spc="-5" dirty="0"/>
              <a:t>language:</a:t>
            </a:r>
          </a:p>
          <a:p>
            <a:pPr marL="12700" marR="5080" algn="just">
              <a:lnSpc>
                <a:spcPct val="106900"/>
              </a:lnSpc>
              <a:spcBef>
                <a:spcPts val="1190"/>
              </a:spcBef>
            </a:pPr>
            <a:r>
              <a:rPr spc="55" dirty="0"/>
              <a:t>Create </a:t>
            </a:r>
            <a:r>
              <a:rPr dirty="0"/>
              <a:t>a </a:t>
            </a:r>
            <a:r>
              <a:rPr spc="50" dirty="0"/>
              <a:t>class </a:t>
            </a:r>
            <a:r>
              <a:rPr spc="55" dirty="0"/>
              <a:t>"Bank". Declare private variables </a:t>
            </a:r>
            <a:r>
              <a:rPr spc="50" dirty="0"/>
              <a:t>like </a:t>
            </a:r>
            <a:r>
              <a:rPr spc="55" dirty="0"/>
              <a:t>BankID, </a:t>
            </a:r>
            <a:r>
              <a:rPr spc="60" dirty="0"/>
              <a:t>BankName, </a:t>
            </a:r>
            <a:r>
              <a:rPr spc="45" dirty="0"/>
              <a:t>and </a:t>
            </a:r>
            <a:r>
              <a:rPr spc="50" dirty="0"/>
              <a:t> </a:t>
            </a:r>
            <a:r>
              <a:rPr dirty="0"/>
              <a:t>Location and a class </a:t>
            </a:r>
            <a:r>
              <a:rPr spc="5" dirty="0"/>
              <a:t>constructor that </a:t>
            </a:r>
            <a:r>
              <a:rPr dirty="0"/>
              <a:t>can </a:t>
            </a:r>
            <a:r>
              <a:rPr spc="5" dirty="0"/>
              <a:t>take any two of declared parameters. And </a:t>
            </a:r>
            <a:r>
              <a:rPr spc="-585" dirty="0"/>
              <a:t> </a:t>
            </a:r>
            <a:r>
              <a:rPr spc="-5" dirty="0"/>
              <a:t>write </a:t>
            </a:r>
            <a:r>
              <a:rPr dirty="0"/>
              <a:t>a </a:t>
            </a:r>
            <a:r>
              <a:rPr spc="-5" dirty="0"/>
              <a:t>function</a:t>
            </a:r>
            <a:r>
              <a:rPr dirty="0"/>
              <a:t> </a:t>
            </a:r>
            <a:r>
              <a:rPr spc="-25" dirty="0"/>
              <a:t>Print_Values()</a:t>
            </a:r>
            <a:r>
              <a:rPr spc="5" dirty="0"/>
              <a:t> </a:t>
            </a:r>
            <a:r>
              <a:rPr spc="-5" dirty="0"/>
              <a:t>that</a:t>
            </a:r>
            <a:r>
              <a:rPr dirty="0"/>
              <a:t> </a:t>
            </a:r>
            <a:r>
              <a:rPr spc="-5" dirty="0"/>
              <a:t>can</a:t>
            </a:r>
            <a:r>
              <a:rPr dirty="0"/>
              <a:t> </a:t>
            </a:r>
            <a:r>
              <a:rPr spc="-5" dirty="0"/>
              <a:t>print</a:t>
            </a:r>
            <a:r>
              <a:rPr dirty="0"/>
              <a:t> </a:t>
            </a:r>
            <a:r>
              <a:rPr spc="-5" dirty="0"/>
              <a:t>the constructor's</a:t>
            </a:r>
            <a:r>
              <a:rPr spc="5" dirty="0"/>
              <a:t> </a:t>
            </a:r>
            <a:r>
              <a:rPr spc="-5" dirty="0"/>
              <a:t>values.</a:t>
            </a: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3050" dirty="0"/>
          </a:p>
          <a:p>
            <a:pPr marL="12700" marR="5080" algn="just">
              <a:lnSpc>
                <a:spcPct val="114900"/>
              </a:lnSpc>
            </a:pPr>
            <a:r>
              <a:rPr spc="70" dirty="0"/>
              <a:t>Create </a:t>
            </a:r>
            <a:r>
              <a:rPr spc="75" dirty="0"/>
              <a:t>another </a:t>
            </a:r>
            <a:r>
              <a:rPr spc="65" dirty="0"/>
              <a:t>class </a:t>
            </a:r>
            <a:r>
              <a:rPr spc="80" dirty="0"/>
              <a:t>"Customer". </a:t>
            </a:r>
            <a:r>
              <a:rPr spc="70" dirty="0"/>
              <a:t>Declare </a:t>
            </a:r>
            <a:r>
              <a:rPr spc="65" dirty="0"/>
              <a:t>class </a:t>
            </a:r>
            <a:r>
              <a:rPr spc="80" dirty="0"/>
              <a:t>constructor </a:t>
            </a:r>
            <a:r>
              <a:rPr spc="65" dirty="0"/>
              <a:t>that </a:t>
            </a:r>
            <a:r>
              <a:rPr spc="60" dirty="0"/>
              <a:t>can </a:t>
            </a:r>
            <a:r>
              <a:rPr spc="65" dirty="0"/>
              <a:t>take </a:t>
            </a:r>
            <a:r>
              <a:rPr spc="60" dirty="0"/>
              <a:t>two </a:t>
            </a:r>
            <a:r>
              <a:rPr spc="65" dirty="0"/>
              <a:t> </a:t>
            </a:r>
            <a:r>
              <a:rPr spc="40" dirty="0"/>
              <a:t>parameters </a:t>
            </a:r>
            <a:r>
              <a:rPr spc="35" dirty="0"/>
              <a:t>like </a:t>
            </a:r>
            <a:r>
              <a:rPr spc="45" dirty="0"/>
              <a:t>Customer_ID </a:t>
            </a:r>
            <a:r>
              <a:rPr spc="35" dirty="0"/>
              <a:t>and </a:t>
            </a:r>
            <a:r>
              <a:rPr spc="45" dirty="0"/>
              <a:t>Amount. </a:t>
            </a:r>
            <a:r>
              <a:rPr spc="35" dirty="0"/>
              <a:t>And </a:t>
            </a:r>
            <a:r>
              <a:rPr spc="40" dirty="0"/>
              <a:t>write </a:t>
            </a:r>
            <a:r>
              <a:rPr dirty="0"/>
              <a:t>a </a:t>
            </a:r>
            <a:r>
              <a:rPr spc="45" dirty="0"/>
              <a:t>function </a:t>
            </a:r>
            <a:r>
              <a:rPr spc="30" dirty="0"/>
              <a:t>Print_Values() </a:t>
            </a:r>
            <a:r>
              <a:rPr spc="-585" dirty="0"/>
              <a:t> </a:t>
            </a:r>
            <a:r>
              <a:rPr spc="30" dirty="0"/>
              <a:t>that </a:t>
            </a:r>
            <a:r>
              <a:rPr spc="25" dirty="0"/>
              <a:t>can </a:t>
            </a:r>
            <a:r>
              <a:rPr spc="35" dirty="0"/>
              <a:t>print </a:t>
            </a:r>
            <a:r>
              <a:rPr spc="25" dirty="0"/>
              <a:t>the </a:t>
            </a:r>
            <a:r>
              <a:rPr spc="35" dirty="0"/>
              <a:t>constructor's values. </a:t>
            </a:r>
            <a:r>
              <a:rPr spc="40" dirty="0"/>
              <a:t>Inherit </a:t>
            </a:r>
            <a:r>
              <a:rPr spc="30" dirty="0"/>
              <a:t>the </a:t>
            </a:r>
            <a:r>
              <a:rPr spc="35" dirty="0"/>
              <a:t>Bank class from </a:t>
            </a:r>
            <a:r>
              <a:rPr spc="30" dirty="0"/>
              <a:t>the </a:t>
            </a:r>
            <a:r>
              <a:rPr spc="40" dirty="0"/>
              <a:t>Customer </a:t>
            </a:r>
            <a:r>
              <a:rPr spc="45" dirty="0"/>
              <a:t> </a:t>
            </a:r>
            <a:r>
              <a:rPr spc="-5" dirty="0"/>
              <a:t>class.</a:t>
            </a:r>
          </a:p>
          <a:p>
            <a:pPr marL="12700" algn="just">
              <a:lnSpc>
                <a:spcPct val="100000"/>
              </a:lnSpc>
              <a:spcBef>
                <a:spcPts val="695"/>
              </a:spcBef>
            </a:pPr>
            <a:r>
              <a:rPr spc="-5" dirty="0"/>
              <a:t>By</a:t>
            </a:r>
            <a:r>
              <a:rPr dirty="0"/>
              <a:t> </a:t>
            </a:r>
            <a:r>
              <a:rPr spc="-5" dirty="0"/>
              <a:t>creating</a:t>
            </a:r>
            <a:r>
              <a:rPr spc="5" dirty="0"/>
              <a:t> </a:t>
            </a:r>
            <a:r>
              <a:rPr spc="-5" dirty="0"/>
              <a:t>the main</a:t>
            </a:r>
            <a:r>
              <a:rPr spc="5" dirty="0"/>
              <a:t> </a:t>
            </a:r>
            <a:r>
              <a:rPr spc="-5" dirty="0"/>
              <a:t>function</a:t>
            </a:r>
            <a:r>
              <a:rPr spc="5" dirty="0"/>
              <a:t> </a:t>
            </a:r>
            <a:r>
              <a:rPr spc="-5" dirty="0"/>
              <a:t>call the</a:t>
            </a:r>
            <a:r>
              <a:rPr dirty="0"/>
              <a:t> </a:t>
            </a:r>
            <a:r>
              <a:rPr spc="-25" dirty="0"/>
              <a:t>Print_Values</a:t>
            </a:r>
            <a:r>
              <a:rPr dirty="0"/>
              <a:t> </a:t>
            </a:r>
            <a:r>
              <a:rPr spc="-5" dirty="0"/>
              <a:t>function</a:t>
            </a:r>
            <a:r>
              <a:rPr spc="5" dirty="0"/>
              <a:t> </a:t>
            </a:r>
            <a:r>
              <a:rPr dirty="0"/>
              <a:t>of</a:t>
            </a:r>
            <a:r>
              <a:rPr spc="5" dirty="0"/>
              <a:t> </a:t>
            </a:r>
            <a:r>
              <a:rPr spc="-5" dirty="0"/>
              <a:t>the Bank</a:t>
            </a:r>
            <a:r>
              <a:rPr spc="5" dirty="0"/>
              <a:t> </a:t>
            </a:r>
            <a:r>
              <a:rPr spc="-5" dirty="0"/>
              <a:t>class.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20059" y="2726194"/>
            <a:ext cx="5775325" cy="1488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600" dirty="0"/>
              <a:t>Thank</a:t>
            </a:r>
            <a:r>
              <a:rPr sz="9600" spc="-455" dirty="0"/>
              <a:t> </a:t>
            </a:r>
            <a:r>
              <a:rPr sz="9600" spc="-355" dirty="0"/>
              <a:t>You</a:t>
            </a:r>
            <a:endParaRPr sz="9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126</TotalTime>
  <Words>1315</Words>
  <Application>Microsoft Office PowerPoint</Application>
  <PresentationFormat>Widescreen</PresentationFormat>
  <Paragraphs>135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4" baseType="lpstr">
      <vt:lpstr>Calibri</vt:lpstr>
      <vt:lpstr>Times New Roman</vt:lpstr>
      <vt:lpstr>Wingdings</vt:lpstr>
      <vt:lpstr>Office Theme</vt:lpstr>
      <vt:lpstr>Inheritance in C++</vt:lpstr>
      <vt:lpstr>Inheritance</vt:lpstr>
      <vt:lpstr>Why and When to Use Inheritance</vt:lpstr>
      <vt:lpstr>Why and When to Use Inheritance</vt:lpstr>
      <vt:lpstr>Why and When to Use Inheritance</vt:lpstr>
      <vt:lpstr>Advantages of Inheritance </vt:lpstr>
      <vt:lpstr>Implementing Inheritance in C++</vt:lpstr>
      <vt:lpstr>Modes of Inheritance</vt:lpstr>
      <vt:lpstr>Modes of Inheritance</vt:lpstr>
      <vt:lpstr>Modes of Inheritance</vt:lpstr>
      <vt:lpstr>Modes of Inheritance</vt:lpstr>
      <vt:lpstr>Modes of Inheritance</vt:lpstr>
      <vt:lpstr>Types of Inheritance</vt:lpstr>
      <vt:lpstr>Types of Inheritance in C++</vt:lpstr>
      <vt:lpstr>Single Inheritance</vt:lpstr>
      <vt:lpstr>Single Inheritance</vt:lpstr>
      <vt:lpstr>Multiple Inheritance</vt:lpstr>
      <vt:lpstr>Multiple Inheritance</vt:lpstr>
      <vt:lpstr>The diamond problem</vt:lpstr>
      <vt:lpstr>Multiple Inheritance</vt:lpstr>
      <vt:lpstr>Multiple Inheritance</vt:lpstr>
      <vt:lpstr>Multilevel Inheritance</vt:lpstr>
      <vt:lpstr>Multilevel Inheritance</vt:lpstr>
      <vt:lpstr>Hierarchical Inheritance</vt:lpstr>
      <vt:lpstr>Hierarchical Inheritance</vt:lpstr>
      <vt:lpstr>Hybrid(Virtual) Inheritance</vt:lpstr>
      <vt:lpstr>Hybrid(Virtual) Inheritance</vt:lpstr>
      <vt:lpstr>Hybrid(Virtual) Inheritance</vt:lpstr>
      <vt:lpstr>Practice Example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Inheritance in C++</dc:title>
  <cp:lastModifiedBy>B2-218</cp:lastModifiedBy>
  <cp:revision>12</cp:revision>
  <dcterms:created xsi:type="dcterms:W3CDTF">2024-09-07T17:56:30Z</dcterms:created>
  <dcterms:modified xsi:type="dcterms:W3CDTF">2026-03-08T03:44:15Z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2024-02-29T00:00:00Z</vt:filetime>
  </property>
  <property fmtid="{D5CDD505-2E9C-101B-9397-08002B2CF9AE}" pid="3" name="Creator">
    <vt:lpwstr>WPS Presentation</vt:lpwstr>
  </property>
  <property fmtid="{D5CDD505-2E9C-101B-9397-08002B2CF9AE}" pid="4" name="LastSaved">
    <vt:filetime>2024-09-07T00:00:00Z</vt:filetime>
  </property>
</Properties>
</file>