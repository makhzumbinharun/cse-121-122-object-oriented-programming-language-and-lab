
<file path=[Content_Types].xml><?xml version="1.0" encoding="utf-8"?>
<Types xmlns="http://schemas.openxmlformats.org/package/2006/content-types">
  <Default Extension="png" ContentType="image/png"/>
  <Default Extension="jfif" ContentType="image/jpe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92" r:id="rId1"/>
  </p:sldMasterIdLst>
  <p:sldIdLst>
    <p:sldId id="256" r:id="rId2"/>
    <p:sldId id="257" r:id="rId3"/>
    <p:sldId id="267" r:id="rId4"/>
    <p:sldId id="268" r:id="rId5"/>
    <p:sldId id="258" r:id="rId6"/>
    <p:sldId id="269" r:id="rId7"/>
    <p:sldId id="259" r:id="rId8"/>
    <p:sldId id="274" r:id="rId9"/>
    <p:sldId id="275" r:id="rId10"/>
    <p:sldId id="270" r:id="rId11"/>
    <p:sldId id="276" r:id="rId12"/>
    <p:sldId id="260" r:id="rId13"/>
    <p:sldId id="271" r:id="rId14"/>
    <p:sldId id="272" r:id="rId15"/>
    <p:sldId id="262" r:id="rId16"/>
    <p:sldId id="265" r:id="rId17"/>
    <p:sldId id="266" r:id="rId18"/>
    <p:sldId id="277" r:id="rId19"/>
    <p:sldId id="263" r:id="rId20"/>
    <p:sldId id="264" r:id="rId21"/>
    <p:sldId id="273"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000" autoAdjust="0"/>
    <p:restoredTop sz="94660"/>
  </p:normalViewPr>
  <p:slideViewPr>
    <p:cSldViewPr snapToGrid="0">
      <p:cViewPr varScale="1">
        <p:scale>
          <a:sx n="71" d="100"/>
          <a:sy n="71" d="100"/>
        </p:scale>
        <p:origin x="618"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1" y="6400800"/>
            <a:ext cx="12192000"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 y="6334316"/>
            <a:ext cx="12192000" cy="66484"/>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097280" y="758952"/>
            <a:ext cx="10058400" cy="3566160"/>
          </a:xfrm>
        </p:spPr>
        <p:txBody>
          <a:bodyPr anchor="b">
            <a:normAutofit/>
          </a:bodyPr>
          <a:lstStyle>
            <a:lvl1pPr algn="l">
              <a:lnSpc>
                <a:spcPct val="85000"/>
              </a:lnSpc>
              <a:defRPr sz="8000" spc="-50" baseline="0">
                <a:solidFill>
                  <a:schemeClr val="tx1">
                    <a:lumMod val="85000"/>
                    <a:lumOff val="15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100051" y="4455621"/>
            <a:ext cx="10058400" cy="1143000"/>
          </a:xfrm>
        </p:spPr>
        <p:txBody>
          <a:bodyPr lIns="91440" rIns="91440">
            <a:normAutofit/>
          </a:bodyPr>
          <a:lstStyle>
            <a:lvl1pPr marL="0" indent="0" algn="l">
              <a:buNone/>
              <a:defRPr sz="2400" cap="all" spc="200" baseline="0">
                <a:solidFill>
                  <a:schemeClr val="tx2"/>
                </a:solidFill>
                <a:latin typeface="+mj-lt"/>
              </a:defRPr>
            </a:lvl1pPr>
            <a:lvl2pPr marL="457200" indent="0" algn="ctr">
              <a:buNone/>
              <a:defRPr sz="24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F2C1809E-0D59-4445-92D5-6EFD76DCCC61}" type="datetimeFigureOut">
              <a:rPr lang="en-US" smtClean="0"/>
              <a:t>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4E5908-ECF0-41EF-ACB5-FAA70B999040}"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3530530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2C1809E-0D59-4445-92D5-6EFD76DCCC61}" type="datetimeFigureOut">
              <a:rPr lang="en-US" smtClean="0"/>
              <a:t>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4E5908-ECF0-41EF-ACB5-FAA70B999040}" type="slidenum">
              <a:rPr lang="en-US" smtClean="0"/>
              <a:t>‹#›</a:t>
            </a:fld>
            <a:endParaRPr lang="en-US"/>
          </a:p>
        </p:txBody>
      </p:sp>
    </p:spTree>
    <p:extLst>
      <p:ext uri="{BB962C8B-B14F-4D97-AF65-F5344CB8AC3E}">
        <p14:creationId xmlns:p14="http://schemas.microsoft.com/office/powerpoint/2010/main" val="163800733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bg>
      <p:bgPr>
        <a:solidFill>
          <a:schemeClr val="bg1"/>
        </a:solidFill>
        <a:effectLst/>
      </p:bgPr>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758952"/>
            <a:ext cx="10058400" cy="3566160"/>
          </a:xfrm>
        </p:spPr>
        <p:txBody>
          <a:bodyPr anchor="b" anchorCtr="0">
            <a:normAutofit/>
          </a:bodyPr>
          <a:lstStyle>
            <a:lvl1pPr>
              <a:lnSpc>
                <a:spcPct val="85000"/>
              </a:lnSpc>
              <a:defRPr sz="8000" b="0">
                <a:solidFill>
                  <a:schemeClr val="tx1">
                    <a:lumMod val="85000"/>
                    <a:lumOff val="15000"/>
                  </a:schemeClr>
                </a:solidFill>
              </a:defRPr>
            </a:lvl1pPr>
          </a:lstStyle>
          <a:p>
            <a:r>
              <a:rPr lang="en-US" smtClean="0"/>
              <a:t>Click to edit Master title style</a:t>
            </a:r>
            <a:endParaRPr lang="en-US" dirty="0"/>
          </a:p>
        </p:txBody>
      </p:sp>
      <p:sp>
        <p:nvSpPr>
          <p:cNvPr id="3" name="Text Placeholder 2"/>
          <p:cNvSpPr>
            <a:spLocks noGrp="1"/>
          </p:cNvSpPr>
          <p:nvPr>
            <p:ph type="body" idx="1"/>
          </p:nvPr>
        </p:nvSpPr>
        <p:spPr>
          <a:xfrm>
            <a:off x="1097280" y="4453128"/>
            <a:ext cx="10058400" cy="1143000"/>
          </a:xfrm>
        </p:spPr>
        <p:txBody>
          <a:bodyPr lIns="91440" rIns="91440" anchor="t" anchorCtr="0">
            <a:normAutofit/>
          </a:bodyPr>
          <a:lstStyle>
            <a:lvl1pPr marL="0" indent="0">
              <a:buNone/>
              <a:defRPr sz="2400" cap="all" spc="200" baseline="0">
                <a:solidFill>
                  <a:schemeClr val="tx2"/>
                </a:solidFill>
                <a:latin typeface="+mj-lt"/>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F2C1809E-0D59-4445-92D5-6EFD76DCCC61}" type="datetimeFigureOut">
              <a:rPr lang="en-US" smtClean="0"/>
              <a:t>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4E5908-ECF0-41EF-ACB5-FAA70B999040}" type="slidenum">
              <a:rPr lang="en-US" smtClean="0"/>
              <a:t>‹#›</a:t>
            </a:fld>
            <a:endParaRPr lang="en-US"/>
          </a:p>
        </p:txBody>
      </p:sp>
      <p:cxnSp>
        <p:nvCxnSpPr>
          <p:cNvPr id="9" name="Straight Connector 8"/>
          <p:cNvCxnSpPr/>
          <p:nvPr/>
        </p:nvCxnSpPr>
        <p:spPr>
          <a:xfrm>
            <a:off x="1207658" y="4343400"/>
            <a:ext cx="987552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840112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8" name="Title 7"/>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1097280" y="1845734"/>
            <a:ext cx="4937760" cy="4023359"/>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217920" y="1845735"/>
            <a:ext cx="4937760" cy="40233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F2C1809E-0D59-4445-92D5-6EFD76DCCC61}" type="datetimeFigureOut">
              <a:rPr lang="en-US" smtClean="0"/>
              <a:t>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4E5908-ECF0-41EF-ACB5-FAA70B999040}" type="slidenum">
              <a:rPr lang="en-US" smtClean="0"/>
              <a:t>‹#›</a:t>
            </a:fld>
            <a:endParaRPr lang="en-US"/>
          </a:p>
        </p:txBody>
      </p:sp>
    </p:spTree>
    <p:extLst>
      <p:ext uri="{BB962C8B-B14F-4D97-AF65-F5344CB8AC3E}">
        <p14:creationId xmlns:p14="http://schemas.microsoft.com/office/powerpoint/2010/main" val="20445704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1097280" y="286603"/>
            <a:ext cx="10058400" cy="1450757"/>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1097280" y="2582335"/>
            <a:ext cx="4937760" cy="32867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217920" y="1846052"/>
            <a:ext cx="4937760" cy="736282"/>
          </a:xfrm>
        </p:spPr>
        <p:txBody>
          <a:bodyPr lIns="91440" rIns="91440" anchor="ctr">
            <a:normAutofit/>
          </a:bodyPr>
          <a:lstStyle>
            <a:lvl1pPr marL="0" indent="0">
              <a:buNone/>
              <a:defRPr sz="2000" b="0" cap="all" baseline="0">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217920" y="2582334"/>
            <a:ext cx="4937760" cy="328676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F2C1809E-0D59-4445-92D5-6EFD76DCCC61}" type="datetimeFigureOut">
              <a:rPr lang="en-US" smtClean="0"/>
              <a:t>1/18/2025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B4E5908-ECF0-41EF-ACB5-FAA70B999040}" type="slidenum">
              <a:rPr lang="en-US" smtClean="0"/>
              <a:t>‹#›</a:t>
            </a:fld>
            <a:endParaRPr lang="en-US"/>
          </a:p>
        </p:txBody>
      </p:sp>
    </p:spTree>
    <p:extLst>
      <p:ext uri="{BB962C8B-B14F-4D97-AF65-F5344CB8AC3E}">
        <p14:creationId xmlns:p14="http://schemas.microsoft.com/office/powerpoint/2010/main" val="369996349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F2C1809E-0D59-4445-92D5-6EFD76DCCC61}" type="datetimeFigureOut">
              <a:rPr lang="en-US" smtClean="0"/>
              <a:t>1/18/2025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B4E5908-ECF0-41EF-ACB5-FAA70B999040}" type="slidenum">
              <a:rPr lang="en-US" smtClean="0"/>
              <a:t>‹#›</a:t>
            </a:fld>
            <a:endParaRPr lang="en-US"/>
          </a:p>
        </p:txBody>
      </p:sp>
    </p:spTree>
    <p:extLst>
      <p:ext uri="{BB962C8B-B14F-4D97-AF65-F5344CB8AC3E}">
        <p14:creationId xmlns:p14="http://schemas.microsoft.com/office/powerpoint/2010/main" val="355056786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Rectangle 4"/>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6" name="Rectangle 5"/>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7" name="Date Placeholder 6"/>
          <p:cNvSpPr>
            <a:spLocks noGrp="1"/>
          </p:cNvSpPr>
          <p:nvPr>
            <p:ph type="dt" sz="half" idx="10"/>
          </p:nvPr>
        </p:nvSpPr>
        <p:spPr/>
        <p:txBody>
          <a:bodyPr/>
          <a:lstStyle/>
          <a:p>
            <a:fld id="{F2C1809E-0D59-4445-92D5-6EFD76DCCC61}" type="datetimeFigureOut">
              <a:rPr lang="en-US" smtClean="0"/>
              <a:t>1/18/2025</a:t>
            </a:fld>
            <a:endParaRPr lang="en-US"/>
          </a:p>
        </p:txBody>
      </p:sp>
      <p:sp>
        <p:nvSpPr>
          <p:cNvPr id="8" name="Footer Placeholder 7"/>
          <p:cNvSpPr>
            <a:spLocks noGrp="1"/>
          </p:cNvSpPr>
          <p:nvPr>
            <p:ph type="ftr" sz="quarter" idx="11"/>
          </p:nvPr>
        </p:nvSpPr>
        <p:spPr/>
        <p:txBody>
          <a:bodyPr/>
          <a:lstStyle>
            <a:lvl1pPr>
              <a:defRPr>
                <a:solidFill>
                  <a:srgbClr val="FFFFFF"/>
                </a:solidFill>
              </a:defRPr>
            </a:lvl1pPr>
          </a:lstStyle>
          <a:p>
            <a:endParaRPr lang="en-US"/>
          </a:p>
        </p:txBody>
      </p:sp>
      <p:sp>
        <p:nvSpPr>
          <p:cNvPr id="9" name="Slide Number Placeholder 8"/>
          <p:cNvSpPr>
            <a:spLocks noGrp="1"/>
          </p:cNvSpPr>
          <p:nvPr>
            <p:ph type="sldNum" sz="quarter" idx="12"/>
          </p:nvPr>
        </p:nvSpPr>
        <p:spPr/>
        <p:txBody>
          <a:bodyPr/>
          <a:lstStyle/>
          <a:p>
            <a:fld id="{9B4E5908-ECF0-41EF-ACB5-FAA70B999040}" type="slidenum">
              <a:rPr lang="en-US" smtClean="0"/>
              <a:t>‹#›</a:t>
            </a:fld>
            <a:endParaRPr lang="en-US"/>
          </a:p>
        </p:txBody>
      </p:sp>
    </p:spTree>
    <p:extLst>
      <p:ext uri="{BB962C8B-B14F-4D97-AF65-F5344CB8AC3E}">
        <p14:creationId xmlns:p14="http://schemas.microsoft.com/office/powerpoint/2010/main" val="38488646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8" name="Rectangle 7"/>
          <p:cNvSpPr/>
          <p:nvPr/>
        </p:nvSpPr>
        <p:spPr>
          <a:xfrm>
            <a:off x="16" y="0"/>
            <a:ext cx="4050791"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4040071" y="0"/>
            <a:ext cx="64008" cy="6858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457200" y="594359"/>
            <a:ext cx="3200400" cy="2286000"/>
          </a:xfrm>
        </p:spPr>
        <p:txBody>
          <a:bodyPr anchor="b">
            <a:normAutofit/>
          </a:bodyPr>
          <a:lstStyle>
            <a:lvl1pPr>
              <a:defRPr sz="3600" b="0">
                <a:solidFill>
                  <a:srgbClr val="FFFFFF"/>
                </a:solidFill>
              </a:defRPr>
            </a:lvl1pPr>
          </a:lstStyle>
          <a:p>
            <a:r>
              <a:rPr lang="en-US" smtClean="0"/>
              <a:t>Click to edit Master title style</a:t>
            </a:r>
            <a:endParaRPr lang="en-US" dirty="0"/>
          </a:p>
        </p:txBody>
      </p:sp>
      <p:sp>
        <p:nvSpPr>
          <p:cNvPr id="3" name="Content Placeholder 2"/>
          <p:cNvSpPr>
            <a:spLocks noGrp="1"/>
          </p:cNvSpPr>
          <p:nvPr>
            <p:ph idx="1"/>
          </p:nvPr>
        </p:nvSpPr>
        <p:spPr>
          <a:xfrm>
            <a:off x="4800600" y="731520"/>
            <a:ext cx="6492240" cy="525780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457200" y="2926080"/>
            <a:ext cx="3200400" cy="3379124"/>
          </a:xfrm>
        </p:spPr>
        <p:txBody>
          <a:bodyPr lIns="91440" rIns="91440">
            <a:normAutofit/>
          </a:bodyPr>
          <a:lstStyle>
            <a:lvl1pPr marL="0" indent="0">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465512" y="6459785"/>
            <a:ext cx="2618510" cy="365125"/>
          </a:xfrm>
        </p:spPr>
        <p:txBody>
          <a:bodyPr/>
          <a:lstStyle>
            <a:lvl1pPr algn="l">
              <a:defRPr/>
            </a:lvl1pPr>
          </a:lstStyle>
          <a:p>
            <a:fld id="{F2C1809E-0D59-4445-92D5-6EFD76DCCC61}" type="datetimeFigureOut">
              <a:rPr lang="en-US" smtClean="0"/>
              <a:t>1/18/2025</a:t>
            </a:fld>
            <a:endParaRPr lang="en-US"/>
          </a:p>
        </p:txBody>
      </p:sp>
      <p:sp>
        <p:nvSpPr>
          <p:cNvPr id="6" name="Footer Placeholder 5"/>
          <p:cNvSpPr>
            <a:spLocks noGrp="1"/>
          </p:cNvSpPr>
          <p:nvPr>
            <p:ph type="ftr" sz="quarter" idx="11"/>
          </p:nvPr>
        </p:nvSpPr>
        <p:spPr>
          <a:xfrm>
            <a:off x="4800600" y="6459785"/>
            <a:ext cx="4648200" cy="365125"/>
          </a:xfrm>
        </p:spPr>
        <p:txBody>
          <a:bodyPr/>
          <a:lstStyle>
            <a:lvl1pPr algn="l">
              <a:defRPr>
                <a:solidFill>
                  <a:schemeClr val="tx2"/>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tx2"/>
                </a:solidFill>
              </a:defRPr>
            </a:lvl1pPr>
          </a:lstStyle>
          <a:p>
            <a:fld id="{9B4E5908-ECF0-41EF-ACB5-FAA70B999040}" type="slidenum">
              <a:rPr lang="en-US" smtClean="0"/>
              <a:t>‹#›</a:t>
            </a:fld>
            <a:endParaRPr lang="en-US"/>
          </a:p>
        </p:txBody>
      </p:sp>
    </p:spTree>
    <p:extLst>
      <p:ext uri="{BB962C8B-B14F-4D97-AF65-F5344CB8AC3E}">
        <p14:creationId xmlns:p14="http://schemas.microsoft.com/office/powerpoint/2010/main" val="5811147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8" name="Rectangle 7"/>
          <p:cNvSpPr/>
          <p:nvPr/>
        </p:nvSpPr>
        <p:spPr>
          <a:xfrm>
            <a:off x="0" y="4953000"/>
            <a:ext cx="12188825" cy="1905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491507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1097280" y="5074920"/>
            <a:ext cx="10113645" cy="822960"/>
          </a:xfrm>
        </p:spPr>
        <p:txBody>
          <a:bodyPr tIns="0" bIns="0" anchor="b">
            <a:noAutofit/>
          </a:bodyPr>
          <a:lstStyle>
            <a:lvl1pPr>
              <a:defRPr sz="3600" b="0">
                <a:solidFill>
                  <a:srgbClr val="FFFFFF"/>
                </a:solidFill>
              </a:defRPr>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15" y="0"/>
            <a:ext cx="12191985" cy="4915076"/>
          </a:xfrm>
          <a:solidFill>
            <a:schemeClr val="bg2">
              <a:lumMod val="90000"/>
            </a:schemeClr>
          </a:solidFill>
        </p:spPr>
        <p:txBody>
          <a:bodyPr lIns="457200" tIns="457200"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097280" y="5907024"/>
            <a:ext cx="10113264" cy="594360"/>
          </a:xfrm>
        </p:spPr>
        <p:txBody>
          <a:bodyPr lIns="91440" tIns="0" rIns="91440" bIns="0">
            <a:normAutofit/>
          </a:bodyPr>
          <a:lstStyle>
            <a:lvl1pPr marL="0" indent="0">
              <a:spcBef>
                <a:spcPts val="0"/>
              </a:spcBef>
              <a:spcAft>
                <a:spcPts val="600"/>
              </a:spcAft>
              <a:buNone/>
              <a:defRPr sz="15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2C1809E-0D59-4445-92D5-6EFD76DCCC61}" type="datetimeFigureOut">
              <a:rPr lang="en-US" smtClean="0"/>
              <a:t>1/18/2025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B4E5908-ECF0-41EF-ACB5-FAA70B999040}" type="slidenum">
              <a:rPr lang="en-US" smtClean="0"/>
              <a:t>‹#›</a:t>
            </a:fld>
            <a:endParaRPr lang="en-US"/>
          </a:p>
        </p:txBody>
      </p:sp>
    </p:spTree>
    <p:extLst>
      <p:ext uri="{BB962C8B-B14F-4D97-AF65-F5344CB8AC3E}">
        <p14:creationId xmlns:p14="http://schemas.microsoft.com/office/powerpoint/2010/main" val="351153215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2C1809E-0D59-4445-92D5-6EFD76DCCC61}" type="datetimeFigureOut">
              <a:rPr lang="en-US" smtClean="0"/>
              <a:t>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4E5908-ECF0-41EF-ACB5-FAA70B999040}" type="slidenum">
              <a:rPr lang="en-US" smtClean="0"/>
              <a:t>‹#›</a:t>
            </a:fld>
            <a:endParaRPr lang="en-US"/>
          </a:p>
        </p:txBody>
      </p:sp>
    </p:spTree>
    <p:extLst>
      <p:ext uri="{BB962C8B-B14F-4D97-AF65-F5344CB8AC3E}">
        <p14:creationId xmlns:p14="http://schemas.microsoft.com/office/powerpoint/2010/main" val="16404696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8" name="Rectangle 7"/>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Vertical Title 1"/>
          <p:cNvSpPr>
            <a:spLocks noGrp="1"/>
          </p:cNvSpPr>
          <p:nvPr>
            <p:ph type="title" orient="vert"/>
          </p:nvPr>
        </p:nvSpPr>
        <p:spPr>
          <a:xfrm>
            <a:off x="8724900" y="412302"/>
            <a:ext cx="2628900" cy="575989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412302"/>
            <a:ext cx="7734300" cy="5759898"/>
          </a:xfrm>
        </p:spPr>
        <p:txBody>
          <a:bodyPr vert="eaVert" lIns="45720" tIns="0" rIns="45720" bIns="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F2C1809E-0D59-4445-92D5-6EFD76DCCC61}" type="datetimeFigureOut">
              <a:rPr lang="en-US" smtClean="0"/>
              <a:t>1/18/2025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B4E5908-ECF0-41EF-ACB5-FAA70B999040}" type="slidenum">
              <a:rPr lang="en-US" smtClean="0"/>
              <a:t>‹#›</a:t>
            </a:fld>
            <a:endParaRPr lang="en-US"/>
          </a:p>
        </p:txBody>
      </p:sp>
    </p:spTree>
    <p:extLst>
      <p:ext uri="{BB962C8B-B14F-4D97-AF65-F5344CB8AC3E}">
        <p14:creationId xmlns:p14="http://schemas.microsoft.com/office/powerpoint/2010/main" val="2320628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6"/>
          <p:cNvSpPr/>
          <p:nvPr/>
        </p:nvSpPr>
        <p:spPr>
          <a:xfrm>
            <a:off x="3175" y="6400800"/>
            <a:ext cx="12188825" cy="4572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9" name="Rectangle 8"/>
          <p:cNvSpPr/>
          <p:nvPr/>
        </p:nvSpPr>
        <p:spPr>
          <a:xfrm>
            <a:off x="15" y="6334316"/>
            <a:ext cx="12188825" cy="6400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097280" y="286603"/>
            <a:ext cx="10058400" cy="1450757"/>
          </a:xfrm>
          <a:prstGeom prst="rect">
            <a:avLst/>
          </a:prstGeom>
        </p:spPr>
        <p:txBody>
          <a:bodyPr vert="horz" lIns="91440" tIns="45720" rIns="91440" bIns="45720" rtlCol="0" anchor="b">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1097280" y="1845734"/>
            <a:ext cx="10058400" cy="4023360"/>
          </a:xfrm>
          <a:prstGeom prst="rect">
            <a:avLst/>
          </a:prstGeom>
        </p:spPr>
        <p:txBody>
          <a:bodyPr vert="horz" lIns="0" tIns="45720" rIns="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1097280" y="6459785"/>
            <a:ext cx="2472271" cy="365125"/>
          </a:xfrm>
          <a:prstGeom prst="rect">
            <a:avLst/>
          </a:prstGeom>
        </p:spPr>
        <p:txBody>
          <a:bodyPr vert="horz" lIns="91440" tIns="45720" rIns="91440" bIns="45720" rtlCol="0" anchor="ctr"/>
          <a:lstStyle>
            <a:lvl1pPr algn="l">
              <a:defRPr sz="900">
                <a:solidFill>
                  <a:srgbClr val="FFFFFF"/>
                </a:solidFill>
              </a:defRPr>
            </a:lvl1pPr>
          </a:lstStyle>
          <a:p>
            <a:fld id="{F2C1809E-0D59-4445-92D5-6EFD76DCCC61}" type="datetimeFigureOut">
              <a:rPr lang="en-US" smtClean="0"/>
              <a:t>1/18/2025</a:t>
            </a:fld>
            <a:endParaRPr lang="en-US"/>
          </a:p>
        </p:txBody>
      </p:sp>
      <p:sp>
        <p:nvSpPr>
          <p:cNvPr id="5" name="Footer Placeholder 4"/>
          <p:cNvSpPr>
            <a:spLocks noGrp="1"/>
          </p:cNvSpPr>
          <p:nvPr>
            <p:ph type="ftr" sz="quarter" idx="3"/>
          </p:nvPr>
        </p:nvSpPr>
        <p:spPr>
          <a:xfrm>
            <a:off x="3686185" y="6459785"/>
            <a:ext cx="4822804" cy="365125"/>
          </a:xfrm>
          <a:prstGeom prst="rect">
            <a:avLst/>
          </a:prstGeom>
        </p:spPr>
        <p:txBody>
          <a:bodyPr vert="horz" lIns="91440" tIns="45720" rIns="91440" bIns="45720" rtlCol="0" anchor="ctr"/>
          <a:lstStyle>
            <a:lvl1pPr algn="ctr">
              <a:defRPr sz="900" cap="all" baseline="0">
                <a:solidFill>
                  <a:srgbClr val="FFFFFF"/>
                </a:solidFill>
              </a:defRPr>
            </a:lvl1pPr>
          </a:lstStyle>
          <a:p>
            <a:endParaRPr lang="en-US"/>
          </a:p>
        </p:txBody>
      </p:sp>
      <p:sp>
        <p:nvSpPr>
          <p:cNvPr id="6" name="Slide Number Placeholder 5"/>
          <p:cNvSpPr>
            <a:spLocks noGrp="1"/>
          </p:cNvSpPr>
          <p:nvPr>
            <p:ph type="sldNum" sz="quarter" idx="4"/>
          </p:nvPr>
        </p:nvSpPr>
        <p:spPr>
          <a:xfrm>
            <a:off x="9900458" y="6459785"/>
            <a:ext cx="1312025" cy="365125"/>
          </a:xfrm>
          <a:prstGeom prst="rect">
            <a:avLst/>
          </a:prstGeom>
        </p:spPr>
        <p:txBody>
          <a:bodyPr vert="horz" lIns="91440" tIns="45720" rIns="91440" bIns="45720" rtlCol="0" anchor="ctr"/>
          <a:lstStyle>
            <a:lvl1pPr algn="r">
              <a:defRPr sz="1050">
                <a:solidFill>
                  <a:srgbClr val="FFFFFF"/>
                </a:solidFill>
              </a:defRPr>
            </a:lvl1pPr>
          </a:lstStyle>
          <a:p>
            <a:fld id="{9B4E5908-ECF0-41EF-ACB5-FAA70B999040}" type="slidenum">
              <a:rPr lang="en-US" smtClean="0"/>
              <a:t>‹#›</a:t>
            </a:fld>
            <a:endParaRPr lang="en-US"/>
          </a:p>
        </p:txBody>
      </p:sp>
      <p:cxnSp>
        <p:nvCxnSpPr>
          <p:cNvPr id="10" name="Straight Connector 9"/>
          <p:cNvCxnSpPr/>
          <p:nvPr/>
        </p:nvCxnSpPr>
        <p:spPr>
          <a:xfrm>
            <a:off x="1193532" y="1737845"/>
            <a:ext cx="9966960" cy="0"/>
          </a:xfrm>
          <a:prstGeom prst="line">
            <a:avLst/>
          </a:prstGeom>
          <a:ln w="6350">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56836079"/>
      </p:ext>
    </p:extLst>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Lst>
  <p:txStyles>
    <p:titleStyle>
      <a:lvl1pPr algn="l" defTabSz="914400" rtl="0" eaLnBrk="1" latinLnBrk="0" hangingPunct="1">
        <a:lnSpc>
          <a:spcPct val="85000"/>
        </a:lnSpc>
        <a:spcBef>
          <a:spcPct val="0"/>
        </a:spcBef>
        <a:buNone/>
        <a:defRPr sz="4800" kern="1200" spc="-50" baseline="0">
          <a:solidFill>
            <a:schemeClr val="tx1">
              <a:lumMod val="75000"/>
              <a:lumOff val="25000"/>
            </a:schemeClr>
          </a:solidFill>
          <a:latin typeface="+mj-lt"/>
          <a:ea typeface="+mj-ea"/>
          <a:cs typeface="+mj-cs"/>
        </a:defRPr>
      </a:lvl1pPr>
    </p:titleStyle>
    <p:bodyStyle>
      <a:lvl1pPr marL="91440" indent="-91440" algn="l" defTabSz="914400" rtl="0" eaLnBrk="1" latinLnBrk="0" hangingPunct="1">
        <a:lnSpc>
          <a:spcPct val="90000"/>
        </a:lnSpc>
        <a:spcBef>
          <a:spcPts val="1200"/>
        </a:spcBef>
        <a:spcAft>
          <a:spcPts val="200"/>
        </a:spcAft>
        <a:buClr>
          <a:schemeClr val="accent1"/>
        </a:buClr>
        <a:buSzPct val="100000"/>
        <a:buFont typeface="Calibri" panose="020F0502020204030204" pitchFamily="34" charset="0"/>
        <a:buChar char=" "/>
        <a:defRPr sz="2000" kern="1200">
          <a:solidFill>
            <a:schemeClr val="tx1">
              <a:lumMod val="75000"/>
              <a:lumOff val="25000"/>
            </a:schemeClr>
          </a:solidFill>
          <a:latin typeface="+mn-lt"/>
          <a:ea typeface="+mn-ea"/>
          <a:cs typeface="+mn-cs"/>
        </a:defRPr>
      </a:lvl1pPr>
      <a:lvl2pPr marL="384048" indent="-182880" algn="l" defTabSz="914400" rtl="0" eaLnBrk="1" latinLnBrk="0" hangingPunct="1">
        <a:lnSpc>
          <a:spcPct val="90000"/>
        </a:lnSpc>
        <a:spcBef>
          <a:spcPts val="200"/>
        </a:spcBef>
        <a:spcAft>
          <a:spcPts val="400"/>
        </a:spcAft>
        <a:buClr>
          <a:schemeClr val="accent1"/>
        </a:buClr>
        <a:buFont typeface="Calibri" pitchFamily="34" charset="0"/>
        <a:buChar char="◦"/>
        <a:defRPr sz="1800" kern="1200">
          <a:solidFill>
            <a:schemeClr val="tx1">
              <a:lumMod val="75000"/>
              <a:lumOff val="25000"/>
            </a:schemeClr>
          </a:solidFill>
          <a:latin typeface="+mn-lt"/>
          <a:ea typeface="+mn-ea"/>
          <a:cs typeface="+mn-cs"/>
        </a:defRPr>
      </a:lvl2pPr>
      <a:lvl3pPr marL="56692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3pPr>
      <a:lvl4pPr marL="74980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4pPr>
      <a:lvl5pPr marL="932688" indent="-18288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5pPr>
      <a:lvl6pPr marL="11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6pPr>
      <a:lvl7pPr marL="13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7pPr>
      <a:lvl8pPr marL="15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8pPr>
      <a:lvl9pPr marL="1700000" indent="-228600" algn="l" defTabSz="914400" rtl="0" eaLnBrk="1" latinLnBrk="0" hangingPunct="1">
        <a:lnSpc>
          <a:spcPct val="90000"/>
        </a:lnSpc>
        <a:spcBef>
          <a:spcPts val="200"/>
        </a:spcBef>
        <a:spcAft>
          <a:spcPts val="400"/>
        </a:spcAft>
        <a:buClr>
          <a:schemeClr val="accent1"/>
        </a:buClr>
        <a:buFont typeface="Calibri" pitchFamily="34" charset="0"/>
        <a:buChar char="◦"/>
        <a:defRPr sz="1400" kern="1200">
          <a:solidFill>
            <a:schemeClr val="tx1">
              <a:lumMod val="75000"/>
              <a:lumOff val="2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9.jfif"/><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056939" y="363071"/>
            <a:ext cx="10058400" cy="3566160"/>
          </a:xfrm>
        </p:spPr>
        <p:txBody>
          <a:bodyPr>
            <a:normAutofit/>
          </a:bodyPr>
          <a:lstStyle/>
          <a:p>
            <a:pPr algn="ctr"/>
            <a:r>
              <a:rPr lang="en-US" sz="6600" b="1" dirty="0" smtClean="0">
                <a:solidFill>
                  <a:schemeClr val="accent1"/>
                </a:solidFill>
                <a:latin typeface="Palatino Linotype" panose="02040502050505030304" pitchFamily="18" charset="0"/>
              </a:rPr>
              <a:t>Lecture:1</a:t>
            </a:r>
            <a:r>
              <a:rPr lang="en-US" sz="5400" dirty="0" smtClean="0">
                <a:latin typeface="Palatino Linotype" panose="02040502050505030304" pitchFamily="18" charset="0"/>
              </a:rPr>
              <a:t/>
            </a:r>
            <a:br>
              <a:rPr lang="en-US" sz="5400" dirty="0" smtClean="0">
                <a:latin typeface="Palatino Linotype" panose="02040502050505030304" pitchFamily="18" charset="0"/>
              </a:rPr>
            </a:br>
            <a:r>
              <a:rPr lang="en-US" sz="5400" dirty="0" smtClean="0">
                <a:latin typeface="Palatino Linotype" panose="02040502050505030304" pitchFamily="18" charset="0"/>
              </a:rPr>
              <a:t/>
            </a:r>
            <a:br>
              <a:rPr lang="en-US" sz="5400" dirty="0" smtClean="0">
                <a:latin typeface="Palatino Linotype" panose="02040502050505030304" pitchFamily="18" charset="0"/>
              </a:rPr>
            </a:br>
            <a:r>
              <a:rPr lang="en-US" sz="5400" dirty="0" smtClean="0">
                <a:latin typeface="Palatino Linotype" panose="02040502050505030304" pitchFamily="18" charset="0"/>
              </a:rPr>
              <a:t>An Overview of OOP and C++</a:t>
            </a:r>
            <a:endParaRPr lang="en-US" sz="5400" dirty="0">
              <a:latin typeface="Palatino Linotype" panose="02040502050505030304" pitchFamily="18" charset="0"/>
            </a:endParaRPr>
          </a:p>
        </p:txBody>
      </p:sp>
      <p:sp>
        <p:nvSpPr>
          <p:cNvPr id="4" name="TextBox 3"/>
          <p:cNvSpPr txBox="1"/>
          <p:nvPr/>
        </p:nvSpPr>
        <p:spPr>
          <a:xfrm>
            <a:off x="2542839" y="4679577"/>
            <a:ext cx="7086600" cy="1261884"/>
          </a:xfrm>
          <a:prstGeom prst="rect">
            <a:avLst/>
          </a:prstGeom>
          <a:noFill/>
        </p:spPr>
        <p:txBody>
          <a:bodyPr wrap="square" rtlCol="0">
            <a:spAutoFit/>
          </a:bodyPr>
          <a:lstStyle/>
          <a:p>
            <a:pPr algn="ctr"/>
            <a:r>
              <a:rPr lang="en-US" sz="2800" dirty="0" smtClean="0">
                <a:solidFill>
                  <a:schemeClr val="accent1"/>
                </a:solidFill>
                <a:latin typeface="Palatino Linotype" panose="02040502050505030304" pitchFamily="18" charset="0"/>
              </a:rPr>
              <a:t>Prepared By: </a:t>
            </a:r>
            <a:r>
              <a:rPr lang="en-US" sz="2800" dirty="0" err="1" smtClean="0">
                <a:solidFill>
                  <a:schemeClr val="accent1"/>
                </a:solidFill>
                <a:latin typeface="Palatino Linotype" panose="02040502050505030304" pitchFamily="18" charset="0"/>
              </a:rPr>
              <a:t>Sumaiya</a:t>
            </a:r>
            <a:r>
              <a:rPr lang="en-US" sz="2800" dirty="0" smtClean="0">
                <a:solidFill>
                  <a:schemeClr val="accent1"/>
                </a:solidFill>
                <a:latin typeface="Palatino Linotype" panose="02040502050505030304" pitchFamily="18" charset="0"/>
              </a:rPr>
              <a:t> </a:t>
            </a:r>
            <a:r>
              <a:rPr lang="en-US" sz="2800" dirty="0" err="1" smtClean="0">
                <a:solidFill>
                  <a:schemeClr val="accent1"/>
                </a:solidFill>
                <a:latin typeface="Palatino Linotype" panose="02040502050505030304" pitchFamily="18" charset="0"/>
              </a:rPr>
              <a:t>Binte</a:t>
            </a:r>
            <a:r>
              <a:rPr lang="en-US" sz="2800" dirty="0" smtClean="0">
                <a:solidFill>
                  <a:schemeClr val="accent1"/>
                </a:solidFill>
                <a:latin typeface="Palatino Linotype" panose="02040502050505030304" pitchFamily="18" charset="0"/>
              </a:rPr>
              <a:t> </a:t>
            </a:r>
            <a:r>
              <a:rPr lang="en-US" sz="2800" dirty="0" err="1" smtClean="0">
                <a:solidFill>
                  <a:schemeClr val="accent1"/>
                </a:solidFill>
                <a:latin typeface="Palatino Linotype" panose="02040502050505030304" pitchFamily="18" charset="0"/>
              </a:rPr>
              <a:t>Shahid</a:t>
            </a:r>
            <a:endParaRPr lang="en-US" sz="2800" dirty="0" smtClean="0">
              <a:solidFill>
                <a:schemeClr val="accent1"/>
              </a:solidFill>
              <a:latin typeface="Palatino Linotype" panose="02040502050505030304" pitchFamily="18" charset="0"/>
            </a:endParaRPr>
          </a:p>
          <a:p>
            <a:pPr algn="ctr"/>
            <a:r>
              <a:rPr lang="en-US" sz="2400" dirty="0" smtClean="0">
                <a:latin typeface="Palatino Linotype" panose="02040502050505030304" pitchFamily="18" charset="0"/>
              </a:rPr>
              <a:t>Lecturer</a:t>
            </a:r>
          </a:p>
          <a:p>
            <a:pPr algn="ctr"/>
            <a:r>
              <a:rPr lang="en-US" sz="2400" dirty="0" smtClean="0">
                <a:latin typeface="Palatino Linotype" panose="02040502050505030304" pitchFamily="18" charset="0"/>
              </a:rPr>
              <a:t>Department of CSE, BUBT</a:t>
            </a:r>
            <a:endParaRPr lang="en-US" sz="2400" dirty="0">
              <a:latin typeface="Palatino Linotype" panose="02040502050505030304" pitchFamily="18" charset="0"/>
            </a:endParaRPr>
          </a:p>
        </p:txBody>
      </p:sp>
    </p:spTree>
    <p:extLst>
      <p:ext uri="{BB962C8B-B14F-4D97-AF65-F5344CB8AC3E}">
        <p14:creationId xmlns:p14="http://schemas.microsoft.com/office/powerpoint/2010/main" val="16096237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72092" y="0"/>
            <a:ext cx="10058400" cy="1450757"/>
          </a:xfrm>
        </p:spPr>
        <p:txBody>
          <a:bodyPr>
            <a:normAutofit/>
          </a:bodyPr>
          <a:lstStyle/>
          <a:p>
            <a:r>
              <a:rPr lang="en-US" sz="4000" b="1" dirty="0">
                <a:solidFill>
                  <a:schemeClr val="accent1"/>
                </a:solidFill>
                <a:latin typeface="Palatino Linotype" panose="02040502050505030304" pitchFamily="18" charset="0"/>
              </a:rPr>
              <a:t>What is Object-Oriented Programming?</a:t>
            </a:r>
          </a:p>
        </p:txBody>
      </p:sp>
      <p:sp>
        <p:nvSpPr>
          <p:cNvPr id="7" name="TextBox 6"/>
          <p:cNvSpPr txBox="1"/>
          <p:nvPr/>
        </p:nvSpPr>
        <p:spPr>
          <a:xfrm>
            <a:off x="1173928" y="2366683"/>
            <a:ext cx="10254727" cy="3108543"/>
          </a:xfrm>
          <a:prstGeom prst="rect">
            <a:avLst/>
          </a:prstGeom>
          <a:noFill/>
        </p:spPr>
        <p:txBody>
          <a:bodyPr wrap="square" rtlCol="0">
            <a:spAutoFit/>
          </a:bodyPr>
          <a:lstStyle/>
          <a:p>
            <a:pPr marL="457200" indent="-457200">
              <a:buFont typeface="Wingdings" panose="05000000000000000000" pitchFamily="2" charset="2"/>
              <a:buChar char="v"/>
            </a:pPr>
            <a:r>
              <a:rPr lang="en-US" sz="2800" dirty="0" smtClean="0">
                <a:latin typeface="Palatino Linotype" panose="02040502050505030304" pitchFamily="18" charset="0"/>
              </a:rPr>
              <a:t>Object-Oriented Programming (OOP) is a paradigm based on the concept of "objects," which are instances of classes.</a:t>
            </a:r>
          </a:p>
          <a:p>
            <a:pPr marL="457200" indent="-457200">
              <a:buFont typeface="Wingdings" panose="05000000000000000000" pitchFamily="2" charset="2"/>
              <a:buChar char="v"/>
            </a:pPr>
            <a:endParaRPr lang="en-US" sz="2800" dirty="0" smtClean="0">
              <a:latin typeface="Palatino Linotype" panose="02040502050505030304" pitchFamily="18" charset="0"/>
            </a:endParaRPr>
          </a:p>
          <a:p>
            <a:pPr marL="457200" indent="-457200">
              <a:buFont typeface="Wingdings" panose="05000000000000000000" pitchFamily="2" charset="2"/>
              <a:buChar char="v"/>
            </a:pPr>
            <a:r>
              <a:rPr lang="en-US" sz="2800" dirty="0" smtClean="0">
                <a:latin typeface="Palatino Linotype" panose="02040502050505030304" pitchFamily="18" charset="0"/>
              </a:rPr>
              <a:t>OOP aims to model real-world entities with attributes (data) and behaviors (methods).</a:t>
            </a:r>
          </a:p>
          <a:p>
            <a:pPr marL="457200" indent="-457200">
              <a:buFont typeface="Wingdings" panose="05000000000000000000" pitchFamily="2" charset="2"/>
              <a:buChar char="v"/>
            </a:pPr>
            <a:endParaRPr lang="en-US" sz="2800" dirty="0" smtClean="0">
              <a:latin typeface="Palatino Linotype" panose="02040502050505030304" pitchFamily="18" charset="0"/>
            </a:endParaRPr>
          </a:p>
          <a:p>
            <a:pPr marL="457200" indent="-457200">
              <a:buFont typeface="Wingdings" panose="05000000000000000000" pitchFamily="2" charset="2"/>
              <a:buChar char="v"/>
            </a:pPr>
            <a:r>
              <a:rPr lang="en-US" sz="2800" dirty="0" smtClean="0">
                <a:latin typeface="Palatino Linotype" panose="02040502050505030304" pitchFamily="18" charset="0"/>
              </a:rPr>
              <a:t>Enhances modularity and reusability.</a:t>
            </a:r>
            <a:endParaRPr lang="en-US" sz="2800" dirty="0">
              <a:latin typeface="Palatino Linotype" panose="02040502050505030304" pitchFamily="18" charset="0"/>
            </a:endParaRPr>
          </a:p>
        </p:txBody>
      </p:sp>
    </p:spTree>
    <p:extLst>
      <p:ext uri="{BB962C8B-B14F-4D97-AF65-F5344CB8AC3E}">
        <p14:creationId xmlns:p14="http://schemas.microsoft.com/office/powerpoint/2010/main" val="283306242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111791"/>
            <a:ext cx="10058400" cy="1450757"/>
          </a:xfrm>
        </p:spPr>
        <p:txBody>
          <a:bodyPr>
            <a:normAutofit/>
          </a:bodyPr>
          <a:lstStyle/>
          <a:p>
            <a:pPr algn="ctr"/>
            <a:r>
              <a:rPr lang="en-US" sz="4000" b="1" dirty="0" smtClean="0">
                <a:solidFill>
                  <a:schemeClr val="accent1"/>
                </a:solidFill>
                <a:latin typeface="Palatino Linotype" panose="02040502050505030304" pitchFamily="18" charset="0"/>
              </a:rPr>
              <a:t>Visualization</a:t>
            </a:r>
            <a:endParaRPr lang="en-US" sz="4000" b="1" dirty="0">
              <a:solidFill>
                <a:schemeClr val="accent1"/>
              </a:solidFill>
              <a:latin typeface="Palatino Linotype" panose="02040502050505030304" pitchFamily="18" charset="0"/>
            </a:endParaRP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371508" y="2433916"/>
            <a:ext cx="5876457" cy="3303987"/>
          </a:xfrm>
        </p:spPr>
      </p:pic>
      <p:sp>
        <p:nvSpPr>
          <p:cNvPr id="7" name="TextBox 6"/>
          <p:cNvSpPr txBox="1"/>
          <p:nvPr/>
        </p:nvSpPr>
        <p:spPr>
          <a:xfrm>
            <a:off x="7395883" y="2152160"/>
            <a:ext cx="4074458" cy="3416320"/>
          </a:xfrm>
          <a:prstGeom prst="rect">
            <a:avLst/>
          </a:prstGeom>
          <a:noFill/>
          <a:ln>
            <a:solidFill>
              <a:schemeClr val="accent1">
                <a:lumMod val="75000"/>
              </a:schemeClr>
            </a:solidFill>
          </a:ln>
        </p:spPr>
        <p:txBody>
          <a:bodyPr wrap="square" rtlCol="0">
            <a:spAutoFit/>
          </a:bodyPr>
          <a:lstStyle/>
          <a:p>
            <a:endParaRPr lang="en-US" dirty="0" smtClean="0">
              <a:latin typeface="Palatino Linotype" panose="02040502050505030304" pitchFamily="18" charset="0"/>
            </a:endParaRPr>
          </a:p>
          <a:p>
            <a:r>
              <a:rPr lang="en-US" b="1" dirty="0" smtClean="0">
                <a:solidFill>
                  <a:srgbClr val="C00000"/>
                </a:solidFill>
                <a:latin typeface="Palatino Linotype" panose="02040502050505030304" pitchFamily="18" charset="0"/>
              </a:rPr>
              <a:t>Example:</a:t>
            </a:r>
          </a:p>
          <a:p>
            <a:pPr marL="285750" indent="-285750">
              <a:buFont typeface="Arial" panose="020B0604020202020204" pitchFamily="34" charset="0"/>
              <a:buChar char="•"/>
            </a:pPr>
            <a:endParaRPr lang="en-US" dirty="0" smtClean="0">
              <a:latin typeface="Palatino Linotype" panose="02040502050505030304" pitchFamily="18" charset="0"/>
            </a:endParaRPr>
          </a:p>
          <a:p>
            <a:pPr marL="285750" indent="-285750" algn="just">
              <a:buFont typeface="Arial" panose="020B0604020202020204" pitchFamily="34" charset="0"/>
              <a:buChar char="•"/>
            </a:pPr>
            <a:r>
              <a:rPr lang="en-US" sz="1600" dirty="0" smtClean="0">
                <a:latin typeface="Palatino Linotype" panose="02040502050505030304" pitchFamily="18" charset="0"/>
              </a:rPr>
              <a:t>A class called "Person" may include fields like "name," "age," and "gender," as well as producers like "speak," "eat," and "sleep." Multiple person objects can be created from this class, each with its own unique values for the fields.</a:t>
            </a:r>
          </a:p>
          <a:p>
            <a:pPr marL="285750" indent="-285750">
              <a:buFont typeface="Arial" panose="020B0604020202020204" pitchFamily="34" charset="0"/>
              <a:buChar char="•"/>
            </a:pPr>
            <a:endParaRPr lang="en-US" sz="1600" dirty="0">
              <a:latin typeface="Palatino Linotype" panose="02040502050505030304" pitchFamily="18" charset="0"/>
            </a:endParaRPr>
          </a:p>
          <a:p>
            <a:pPr marL="285750" indent="-285750" algn="just">
              <a:buFont typeface="Arial" panose="020B0604020202020204" pitchFamily="34" charset="0"/>
              <a:buChar char="•"/>
            </a:pPr>
            <a:r>
              <a:rPr lang="en-US" sz="1600" dirty="0">
                <a:latin typeface="Palatino Linotype" panose="02040502050505030304" pitchFamily="18" charset="0"/>
              </a:rPr>
              <a:t>A</a:t>
            </a:r>
            <a:r>
              <a:rPr lang="en-US" sz="1600" dirty="0" smtClean="0">
                <a:latin typeface="Palatino Linotype" panose="02040502050505030304" pitchFamily="18" charset="0"/>
              </a:rPr>
              <a:t> “Car” class with attributes like color, model, and behaviors like drive, brake.</a:t>
            </a:r>
          </a:p>
          <a:p>
            <a:endParaRPr lang="en-US" dirty="0"/>
          </a:p>
        </p:txBody>
      </p:sp>
    </p:spTree>
    <p:extLst>
      <p:ext uri="{BB962C8B-B14F-4D97-AF65-F5344CB8AC3E}">
        <p14:creationId xmlns:p14="http://schemas.microsoft.com/office/powerpoint/2010/main" val="169433956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111791"/>
            <a:ext cx="10058400" cy="1450757"/>
          </a:xfrm>
        </p:spPr>
        <p:txBody>
          <a:bodyPr>
            <a:normAutofit/>
          </a:bodyPr>
          <a:lstStyle/>
          <a:p>
            <a:pPr algn="ctr"/>
            <a:r>
              <a:rPr lang="en-US" sz="4000" b="1" dirty="0" smtClean="0">
                <a:solidFill>
                  <a:schemeClr val="accent1"/>
                </a:solidFill>
                <a:latin typeface="Palatino Linotype" panose="02040502050505030304" pitchFamily="18" charset="0"/>
              </a:rPr>
              <a:t>Features of OOP</a:t>
            </a:r>
            <a:endParaRPr lang="en-US" sz="4000" b="1" dirty="0">
              <a:solidFill>
                <a:schemeClr val="accent1"/>
              </a:solidFill>
              <a:latin typeface="Palatino Linotype" panose="02040502050505030304" pitchFamily="18" charset="0"/>
            </a:endParaRPr>
          </a:p>
        </p:txBody>
      </p:sp>
      <p:pic>
        <p:nvPicPr>
          <p:cNvPr id="9" name="Picture 8"/>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183857" y="1775012"/>
            <a:ext cx="5885246" cy="4464423"/>
          </a:xfrm>
          <a:prstGeom prst="rect">
            <a:avLst/>
          </a:prstGeom>
        </p:spPr>
      </p:pic>
    </p:spTree>
    <p:extLst>
      <p:ext uri="{BB962C8B-B14F-4D97-AF65-F5344CB8AC3E}">
        <p14:creationId xmlns:p14="http://schemas.microsoft.com/office/powerpoint/2010/main" val="376452223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4174" y="94130"/>
            <a:ext cx="10058400" cy="1450757"/>
          </a:xfrm>
        </p:spPr>
        <p:txBody>
          <a:bodyPr>
            <a:normAutofit/>
          </a:bodyPr>
          <a:lstStyle/>
          <a:p>
            <a:pPr algn="ctr"/>
            <a:r>
              <a:rPr lang="en-US" sz="4000" b="1" dirty="0" smtClean="0">
                <a:solidFill>
                  <a:schemeClr val="accent1"/>
                </a:solidFill>
                <a:latin typeface="Palatino Linotype" panose="02040502050505030304" pitchFamily="18" charset="0"/>
              </a:rPr>
              <a:t>Key Features of OOP</a:t>
            </a:r>
            <a:endParaRPr lang="en-US" sz="4000" b="1" dirty="0">
              <a:solidFill>
                <a:schemeClr val="accent1"/>
              </a:solidFill>
              <a:latin typeface="Palatino Linotype" panose="02040502050505030304" pitchFamily="18" charset="0"/>
            </a:endParaRPr>
          </a:p>
        </p:txBody>
      </p:sp>
      <p:sp>
        <p:nvSpPr>
          <p:cNvPr id="7" name="TextBox 6"/>
          <p:cNvSpPr txBox="1"/>
          <p:nvPr/>
        </p:nvSpPr>
        <p:spPr>
          <a:xfrm>
            <a:off x="917762" y="2017059"/>
            <a:ext cx="10767060" cy="5509200"/>
          </a:xfrm>
          <a:prstGeom prst="rect">
            <a:avLst/>
          </a:prstGeom>
          <a:noFill/>
        </p:spPr>
        <p:txBody>
          <a:bodyPr wrap="square" rtlCol="0">
            <a:spAutoFit/>
          </a:bodyPr>
          <a:lstStyle/>
          <a:p>
            <a:pPr marL="457200" indent="-457200" algn="just">
              <a:buFont typeface="Wingdings" panose="05000000000000000000" pitchFamily="2" charset="2"/>
              <a:buChar char="v"/>
            </a:pPr>
            <a:r>
              <a:rPr lang="en-US" sz="2400" b="1" dirty="0" smtClean="0">
                <a:latin typeface="Palatino Linotype" panose="02040502050505030304" pitchFamily="18" charset="0"/>
              </a:rPr>
              <a:t>Encapsulation</a:t>
            </a:r>
            <a:r>
              <a:rPr lang="en-US" sz="2400" dirty="0" smtClean="0">
                <a:latin typeface="Palatino Linotype" panose="02040502050505030304" pitchFamily="18" charset="0"/>
              </a:rPr>
              <a:t>: Bundling of data and methods that operate on the data.</a:t>
            </a:r>
          </a:p>
          <a:p>
            <a:pPr marL="457200" indent="-457200" algn="just">
              <a:buFont typeface="Wingdings" panose="05000000000000000000" pitchFamily="2" charset="2"/>
              <a:buChar char="v"/>
            </a:pPr>
            <a:endParaRPr lang="en-US" sz="2400" dirty="0" smtClean="0">
              <a:latin typeface="Palatino Linotype" panose="02040502050505030304" pitchFamily="18" charset="0"/>
            </a:endParaRPr>
          </a:p>
          <a:p>
            <a:pPr marL="457200" indent="-457200" algn="just">
              <a:buFont typeface="Wingdings" panose="05000000000000000000" pitchFamily="2" charset="2"/>
              <a:buChar char="v"/>
            </a:pPr>
            <a:r>
              <a:rPr lang="en-US" sz="2400" b="1" dirty="0" smtClean="0">
                <a:latin typeface="Palatino Linotype" panose="02040502050505030304" pitchFamily="18" charset="0"/>
              </a:rPr>
              <a:t>Abstraction</a:t>
            </a:r>
            <a:r>
              <a:rPr lang="en-US" sz="2400" dirty="0" smtClean="0">
                <a:latin typeface="Palatino Linotype" panose="02040502050505030304" pitchFamily="18" charset="0"/>
              </a:rPr>
              <a:t>: Hiding complex implementation details and showing only the necessary features.</a:t>
            </a:r>
          </a:p>
          <a:p>
            <a:pPr marL="457200" indent="-457200" algn="just">
              <a:buFont typeface="Wingdings" panose="05000000000000000000" pitchFamily="2" charset="2"/>
              <a:buChar char="v"/>
            </a:pPr>
            <a:endParaRPr lang="en-US" sz="2400" dirty="0" smtClean="0">
              <a:latin typeface="Palatino Linotype" panose="02040502050505030304" pitchFamily="18" charset="0"/>
            </a:endParaRPr>
          </a:p>
          <a:p>
            <a:pPr marL="457200" indent="-457200" algn="just">
              <a:buFont typeface="Wingdings" panose="05000000000000000000" pitchFamily="2" charset="2"/>
              <a:buChar char="v"/>
            </a:pPr>
            <a:r>
              <a:rPr lang="en-US" sz="2400" b="1" dirty="0" smtClean="0">
                <a:latin typeface="Palatino Linotype" panose="02040502050505030304" pitchFamily="18" charset="0"/>
              </a:rPr>
              <a:t>Inheritance</a:t>
            </a:r>
            <a:r>
              <a:rPr lang="en-US" sz="2400" dirty="0" smtClean="0">
                <a:latin typeface="Palatino Linotype" panose="02040502050505030304" pitchFamily="18" charset="0"/>
              </a:rPr>
              <a:t>: Mechanism by which one class can inherit attributes and methods from another.</a:t>
            </a:r>
          </a:p>
          <a:p>
            <a:pPr marL="457200" indent="-457200" algn="just">
              <a:buFont typeface="Wingdings" panose="05000000000000000000" pitchFamily="2" charset="2"/>
              <a:buChar char="v"/>
            </a:pPr>
            <a:endParaRPr lang="en-US" sz="2400" dirty="0" smtClean="0">
              <a:latin typeface="Palatino Linotype" panose="02040502050505030304" pitchFamily="18" charset="0"/>
            </a:endParaRPr>
          </a:p>
          <a:p>
            <a:pPr marL="457200" indent="-457200" algn="just">
              <a:buFont typeface="Wingdings" panose="05000000000000000000" pitchFamily="2" charset="2"/>
              <a:buChar char="v"/>
            </a:pPr>
            <a:r>
              <a:rPr lang="en-US" sz="2400" b="1" dirty="0" smtClean="0">
                <a:latin typeface="Palatino Linotype" panose="02040502050505030304" pitchFamily="18" charset="0"/>
              </a:rPr>
              <a:t>Polymorphism</a:t>
            </a:r>
            <a:r>
              <a:rPr lang="en-US" sz="2400" dirty="0" smtClean="0">
                <a:latin typeface="Palatino Linotype" panose="02040502050505030304" pitchFamily="18" charset="0"/>
              </a:rPr>
              <a:t>: Ability to present the same interface for different underlying data types.</a:t>
            </a:r>
          </a:p>
          <a:p>
            <a:pPr marL="457200" indent="-457200">
              <a:buFont typeface="Wingdings" panose="05000000000000000000" pitchFamily="2" charset="2"/>
              <a:buChar char="v"/>
            </a:pPr>
            <a:endParaRPr lang="en-US" sz="2800" dirty="0"/>
          </a:p>
          <a:p>
            <a:pPr marL="457200" indent="-457200">
              <a:buFont typeface="Wingdings" panose="05000000000000000000" pitchFamily="2" charset="2"/>
              <a:buChar char="v"/>
            </a:pPr>
            <a:endParaRPr lang="en-US" sz="2800" dirty="0" smtClean="0"/>
          </a:p>
          <a:p>
            <a:pPr marL="457200" indent="-457200">
              <a:buFont typeface="Wingdings" panose="05000000000000000000" pitchFamily="2" charset="2"/>
              <a:buChar char="v"/>
            </a:pPr>
            <a:endParaRPr lang="en-US" sz="2800" dirty="0" smtClean="0"/>
          </a:p>
          <a:p>
            <a:pPr marL="457200" indent="-457200">
              <a:buFont typeface="Wingdings" panose="05000000000000000000" pitchFamily="2" charset="2"/>
              <a:buChar char="v"/>
            </a:pPr>
            <a:endParaRPr lang="en-US" sz="2800" dirty="0">
              <a:latin typeface="Palatino Linotype" panose="02040502050505030304" pitchFamily="18" charset="0"/>
            </a:endParaRPr>
          </a:p>
        </p:txBody>
      </p:sp>
      <p:sp>
        <p:nvSpPr>
          <p:cNvPr id="6" name="Rectangle 4"/>
          <p:cNvSpPr>
            <a:spLocks noChangeArrowheads="1"/>
          </p:cNvSpPr>
          <p:nvPr/>
        </p:nvSpPr>
        <p:spPr bwMode="auto">
          <a:xfrm>
            <a:off x="0" y="-323165"/>
            <a:ext cx="24878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1922761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4174" y="94130"/>
            <a:ext cx="10058400" cy="1450757"/>
          </a:xfrm>
        </p:spPr>
        <p:txBody>
          <a:bodyPr>
            <a:normAutofit/>
          </a:bodyPr>
          <a:lstStyle/>
          <a:p>
            <a:pPr algn="ctr"/>
            <a:r>
              <a:rPr lang="en-US" sz="4000" b="1" dirty="0" smtClean="0">
                <a:solidFill>
                  <a:schemeClr val="accent1"/>
                </a:solidFill>
                <a:latin typeface="Palatino Linotype" panose="02040502050505030304" pitchFamily="18" charset="0"/>
              </a:rPr>
              <a:t>Features of</a:t>
            </a:r>
            <a:r>
              <a:rPr lang="en-US" sz="4000" b="1" dirty="0" smtClean="0">
                <a:solidFill>
                  <a:schemeClr val="accent1"/>
                </a:solidFill>
                <a:latin typeface="Palatino Linotype" panose="02040502050505030304" pitchFamily="18" charset="0"/>
              </a:rPr>
              <a:t> </a:t>
            </a:r>
            <a:r>
              <a:rPr lang="en-US" sz="4000" b="1">
                <a:solidFill>
                  <a:schemeClr val="accent1"/>
                </a:solidFill>
                <a:latin typeface="Palatino Linotype" panose="02040502050505030304" pitchFamily="18" charset="0"/>
              </a:rPr>
              <a:t>C</a:t>
            </a:r>
            <a:r>
              <a:rPr lang="en-US" sz="4000" b="1" smtClean="0">
                <a:solidFill>
                  <a:schemeClr val="accent1"/>
                </a:solidFill>
                <a:latin typeface="Palatino Linotype" panose="02040502050505030304" pitchFamily="18" charset="0"/>
              </a:rPr>
              <a:t>++</a:t>
            </a:r>
            <a:endParaRPr lang="en-US" sz="4000" b="1" dirty="0">
              <a:solidFill>
                <a:schemeClr val="accent1"/>
              </a:solidFill>
              <a:latin typeface="Palatino Linotype" panose="02040502050505030304" pitchFamily="18" charset="0"/>
            </a:endParaRPr>
          </a:p>
        </p:txBody>
      </p:sp>
      <p:sp>
        <p:nvSpPr>
          <p:cNvPr id="7" name="TextBox 6"/>
          <p:cNvSpPr txBox="1"/>
          <p:nvPr/>
        </p:nvSpPr>
        <p:spPr>
          <a:xfrm>
            <a:off x="1124174" y="2191871"/>
            <a:ext cx="10767060" cy="4832092"/>
          </a:xfrm>
          <a:prstGeom prst="rect">
            <a:avLst/>
          </a:prstGeom>
          <a:noFill/>
        </p:spPr>
        <p:txBody>
          <a:bodyPr wrap="square" rtlCol="0">
            <a:spAutoFit/>
          </a:bodyPr>
          <a:lstStyle/>
          <a:p>
            <a:pPr marL="457200" indent="-457200">
              <a:buFont typeface="Wingdings" panose="05000000000000000000" pitchFamily="2" charset="2"/>
              <a:buChar char="v"/>
            </a:pPr>
            <a:r>
              <a:rPr lang="en-US" sz="2800" dirty="0" smtClean="0">
                <a:latin typeface="Palatino Linotype" panose="02040502050505030304" pitchFamily="18" charset="0"/>
              </a:rPr>
              <a:t>Enhanced version of C.</a:t>
            </a:r>
          </a:p>
          <a:p>
            <a:pPr marL="457200" indent="-457200">
              <a:buFont typeface="Wingdings" panose="05000000000000000000" pitchFamily="2" charset="2"/>
              <a:buChar char="v"/>
            </a:pPr>
            <a:r>
              <a:rPr lang="en-US" sz="2800" dirty="0" smtClean="0">
                <a:latin typeface="Palatino Linotype" panose="02040502050505030304" pitchFamily="18" charset="0"/>
              </a:rPr>
              <a:t>Higher level language than C</a:t>
            </a:r>
          </a:p>
          <a:p>
            <a:pPr marL="457200" indent="-457200">
              <a:buFont typeface="Wingdings" panose="05000000000000000000" pitchFamily="2" charset="2"/>
              <a:buChar char="v"/>
            </a:pPr>
            <a:r>
              <a:rPr lang="en-US" sz="2800" dirty="0" smtClean="0">
                <a:latin typeface="Palatino Linotype" panose="02040502050505030304" pitchFamily="18" charset="0"/>
              </a:rPr>
              <a:t>Add supports of object-oriented programming.</a:t>
            </a:r>
          </a:p>
          <a:p>
            <a:pPr marL="457200" indent="-457200">
              <a:buFont typeface="Wingdings" panose="05000000000000000000" pitchFamily="2" charset="2"/>
              <a:buChar char="v"/>
            </a:pPr>
            <a:r>
              <a:rPr lang="en-US" sz="2800" dirty="0" smtClean="0">
                <a:latin typeface="Palatino Linotype" panose="02040502050505030304" pitchFamily="18" charset="0"/>
              </a:rPr>
              <a:t>Every C language features are available in C++.</a:t>
            </a:r>
          </a:p>
          <a:p>
            <a:pPr marL="457200" indent="-457200">
              <a:buFont typeface="Wingdings" panose="05000000000000000000" pitchFamily="2" charset="2"/>
              <a:buChar char="v"/>
            </a:pPr>
            <a:r>
              <a:rPr lang="en-US" sz="2800" dirty="0" smtClean="0">
                <a:latin typeface="Palatino Linotype" panose="02040502050505030304" pitchFamily="18" charset="0"/>
              </a:rPr>
              <a:t>Rich library support.</a:t>
            </a:r>
          </a:p>
          <a:p>
            <a:pPr marL="457200" indent="-457200">
              <a:buFont typeface="Wingdings" panose="05000000000000000000" pitchFamily="2" charset="2"/>
              <a:buChar char="v"/>
            </a:pPr>
            <a:r>
              <a:rPr lang="en-US" sz="2800" dirty="0" smtClean="0">
                <a:latin typeface="Palatino Linotype" panose="02040502050505030304" pitchFamily="18" charset="0"/>
              </a:rPr>
              <a:t>Fast speed to compile. </a:t>
            </a:r>
            <a:endParaRPr lang="en-US" sz="2800" dirty="0" smtClean="0">
              <a:latin typeface="Palatino Linotype" panose="02040502050505030304" pitchFamily="18" charset="0"/>
            </a:endParaRPr>
          </a:p>
          <a:p>
            <a:pPr marL="457200" indent="-457200">
              <a:buFont typeface="Wingdings" panose="05000000000000000000" pitchFamily="2" charset="2"/>
              <a:buChar char="v"/>
            </a:pPr>
            <a:r>
              <a:rPr lang="en-US" sz="2800" dirty="0" smtClean="0">
                <a:latin typeface="Palatino Linotype" panose="02040502050505030304" pitchFamily="18" charset="0"/>
              </a:rPr>
              <a:t>Compiler Based</a:t>
            </a:r>
            <a:endParaRPr lang="en-US" sz="2800" dirty="0" smtClean="0">
              <a:latin typeface="Palatino Linotype" panose="02040502050505030304" pitchFamily="18" charset="0"/>
            </a:endParaRPr>
          </a:p>
          <a:p>
            <a:pPr marL="457200" indent="-457200">
              <a:buFont typeface="Wingdings" panose="05000000000000000000" pitchFamily="2" charset="2"/>
              <a:buChar char="v"/>
            </a:pPr>
            <a:endParaRPr lang="en-US" sz="2800" dirty="0" smtClean="0"/>
          </a:p>
          <a:p>
            <a:pPr marL="457200" indent="-457200">
              <a:buFont typeface="Wingdings" panose="05000000000000000000" pitchFamily="2" charset="2"/>
              <a:buChar char="v"/>
            </a:pPr>
            <a:endParaRPr lang="en-US" sz="2800" dirty="0" smtClean="0"/>
          </a:p>
          <a:p>
            <a:pPr marL="457200" indent="-457200">
              <a:buFont typeface="Wingdings" panose="05000000000000000000" pitchFamily="2" charset="2"/>
              <a:buChar char="v"/>
            </a:pPr>
            <a:endParaRPr lang="en-US" sz="2800" dirty="0" smtClean="0"/>
          </a:p>
          <a:p>
            <a:pPr marL="457200" indent="-457200">
              <a:buFont typeface="Wingdings" panose="05000000000000000000" pitchFamily="2" charset="2"/>
              <a:buChar char="v"/>
            </a:pPr>
            <a:endParaRPr lang="en-US" sz="2800" dirty="0">
              <a:latin typeface="Palatino Linotype" panose="02040502050505030304" pitchFamily="18" charset="0"/>
            </a:endParaRPr>
          </a:p>
        </p:txBody>
      </p:sp>
      <p:sp>
        <p:nvSpPr>
          <p:cNvPr id="6" name="Rectangle 4"/>
          <p:cNvSpPr>
            <a:spLocks noChangeArrowheads="1"/>
          </p:cNvSpPr>
          <p:nvPr/>
        </p:nvSpPr>
        <p:spPr bwMode="auto">
          <a:xfrm>
            <a:off x="0" y="-323165"/>
            <a:ext cx="24878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81168628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4174" y="94130"/>
            <a:ext cx="10058400" cy="1450757"/>
          </a:xfrm>
        </p:spPr>
        <p:txBody>
          <a:bodyPr>
            <a:normAutofit/>
          </a:bodyPr>
          <a:lstStyle/>
          <a:p>
            <a:pPr algn="ctr"/>
            <a:r>
              <a:rPr lang="en-US" sz="4000" b="1" dirty="0">
                <a:solidFill>
                  <a:schemeClr val="accent1"/>
                </a:solidFill>
                <a:latin typeface="Palatino Linotype" panose="02040502050505030304" pitchFamily="18" charset="0"/>
              </a:rPr>
              <a:t>Evolution of C++: Major Versions</a:t>
            </a:r>
          </a:p>
        </p:txBody>
      </p:sp>
      <p:sp>
        <p:nvSpPr>
          <p:cNvPr id="7" name="TextBox 6"/>
          <p:cNvSpPr txBox="1"/>
          <p:nvPr/>
        </p:nvSpPr>
        <p:spPr>
          <a:xfrm>
            <a:off x="1020968" y="2057400"/>
            <a:ext cx="10264812" cy="5262979"/>
          </a:xfrm>
          <a:prstGeom prst="rect">
            <a:avLst/>
          </a:prstGeom>
          <a:noFill/>
        </p:spPr>
        <p:txBody>
          <a:bodyPr wrap="square" rtlCol="0">
            <a:spAutoFit/>
          </a:bodyPr>
          <a:lstStyle/>
          <a:p>
            <a:pPr marL="457200" indent="-457200" algn="just">
              <a:buFont typeface="Wingdings" panose="05000000000000000000" pitchFamily="2" charset="2"/>
              <a:buChar char="v"/>
            </a:pPr>
            <a:r>
              <a:rPr lang="en-US" sz="2800" b="1" dirty="0" smtClean="0">
                <a:latin typeface="Palatino Linotype" panose="02040502050505030304" pitchFamily="18" charset="0"/>
              </a:rPr>
              <a:t>C++98/C++03</a:t>
            </a:r>
            <a:r>
              <a:rPr lang="en-US" sz="2800" dirty="0" smtClean="0">
                <a:latin typeface="Palatino Linotype" panose="02040502050505030304" pitchFamily="18" charset="0"/>
              </a:rPr>
              <a:t>: Standardized versions, introducing features like templates and STL.</a:t>
            </a:r>
          </a:p>
          <a:p>
            <a:pPr marL="457200" indent="-457200" algn="just">
              <a:buFont typeface="Wingdings" panose="05000000000000000000" pitchFamily="2" charset="2"/>
              <a:buChar char="v"/>
            </a:pPr>
            <a:r>
              <a:rPr lang="en-US" sz="2800" b="1" dirty="0" smtClean="0">
                <a:latin typeface="Palatino Linotype" panose="02040502050505030304" pitchFamily="18" charset="0"/>
              </a:rPr>
              <a:t>C++11</a:t>
            </a:r>
            <a:r>
              <a:rPr lang="en-US" sz="2800" dirty="0" smtClean="0">
                <a:latin typeface="Palatino Linotype" panose="02040502050505030304" pitchFamily="18" charset="0"/>
              </a:rPr>
              <a:t>: Major updates including auto keyword, lambda expressions, and more.</a:t>
            </a:r>
          </a:p>
          <a:p>
            <a:pPr marL="457200" indent="-457200" algn="just">
              <a:buFont typeface="Wingdings" panose="05000000000000000000" pitchFamily="2" charset="2"/>
              <a:buChar char="v"/>
            </a:pPr>
            <a:r>
              <a:rPr lang="en-US" sz="2800" b="1" dirty="0" smtClean="0">
                <a:latin typeface="Palatino Linotype" panose="02040502050505030304" pitchFamily="18" charset="0"/>
              </a:rPr>
              <a:t>C++14</a:t>
            </a:r>
            <a:r>
              <a:rPr lang="en-US" sz="2800" dirty="0" smtClean="0">
                <a:latin typeface="Palatino Linotype" panose="02040502050505030304" pitchFamily="18" charset="0"/>
              </a:rPr>
              <a:t>: Minor improvements and bug fixes over C++11.</a:t>
            </a:r>
          </a:p>
          <a:p>
            <a:pPr marL="457200" indent="-457200" algn="just">
              <a:buFont typeface="Wingdings" panose="05000000000000000000" pitchFamily="2" charset="2"/>
              <a:buChar char="v"/>
            </a:pPr>
            <a:r>
              <a:rPr lang="en-US" sz="2800" b="1" dirty="0" smtClean="0">
                <a:latin typeface="Palatino Linotype" panose="02040502050505030304" pitchFamily="18" charset="0"/>
              </a:rPr>
              <a:t>C++17</a:t>
            </a:r>
            <a:r>
              <a:rPr lang="en-US" sz="2800" dirty="0" smtClean="0">
                <a:latin typeface="Palatino Linotype" panose="02040502050505030304" pitchFamily="18" charset="0"/>
              </a:rPr>
              <a:t>:Enhanced performance, added features like structured bindings, and optional.</a:t>
            </a:r>
          </a:p>
          <a:p>
            <a:pPr marL="457200" indent="-457200" algn="just">
              <a:buFont typeface="Wingdings" panose="05000000000000000000" pitchFamily="2" charset="2"/>
              <a:buChar char="v"/>
            </a:pPr>
            <a:r>
              <a:rPr lang="en-US" sz="2800" b="1" dirty="0" smtClean="0">
                <a:latin typeface="Palatino Linotype" panose="02040502050505030304" pitchFamily="18" charset="0"/>
              </a:rPr>
              <a:t>C++20</a:t>
            </a:r>
            <a:r>
              <a:rPr lang="en-US" sz="2800" dirty="0" smtClean="0">
                <a:latin typeface="Palatino Linotype" panose="02040502050505030304" pitchFamily="18" charset="0"/>
              </a:rPr>
              <a:t>: Major release with concepts, ranges, co-routines, and more.</a:t>
            </a:r>
            <a:endParaRPr lang="en-US" sz="2800" dirty="0">
              <a:latin typeface="Palatino Linotype" panose="02040502050505030304" pitchFamily="18" charset="0"/>
            </a:endParaRPr>
          </a:p>
          <a:p>
            <a:pPr marL="457200" indent="-457200" algn="just">
              <a:buFont typeface="Wingdings" panose="05000000000000000000" pitchFamily="2" charset="2"/>
              <a:buChar char="v"/>
            </a:pPr>
            <a:endParaRPr lang="en-US" sz="2800" dirty="0" smtClean="0">
              <a:latin typeface="Palatino Linotype" panose="02040502050505030304" pitchFamily="18" charset="0"/>
            </a:endParaRPr>
          </a:p>
          <a:p>
            <a:pPr marL="457200" indent="-457200" algn="just">
              <a:buFont typeface="Wingdings" panose="05000000000000000000" pitchFamily="2" charset="2"/>
              <a:buChar char="v"/>
            </a:pPr>
            <a:endParaRPr lang="en-US" sz="2800" dirty="0" smtClean="0">
              <a:latin typeface="Palatino Linotype" panose="02040502050505030304" pitchFamily="18" charset="0"/>
            </a:endParaRPr>
          </a:p>
          <a:p>
            <a:pPr marL="457200" indent="-457200" algn="just">
              <a:buFont typeface="Wingdings" panose="05000000000000000000" pitchFamily="2" charset="2"/>
              <a:buChar char="v"/>
            </a:pPr>
            <a:endParaRPr lang="en-US" sz="2800" dirty="0">
              <a:latin typeface="Palatino Linotype" panose="02040502050505030304" pitchFamily="18" charset="0"/>
            </a:endParaRPr>
          </a:p>
        </p:txBody>
      </p:sp>
      <p:sp>
        <p:nvSpPr>
          <p:cNvPr id="6" name="Rectangle 4"/>
          <p:cNvSpPr>
            <a:spLocks noChangeArrowheads="1"/>
          </p:cNvSpPr>
          <p:nvPr/>
        </p:nvSpPr>
        <p:spPr bwMode="auto">
          <a:xfrm>
            <a:off x="0" y="-323165"/>
            <a:ext cx="24878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7838459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4174" y="94130"/>
            <a:ext cx="10058400" cy="1450757"/>
          </a:xfrm>
        </p:spPr>
        <p:txBody>
          <a:bodyPr>
            <a:normAutofit/>
          </a:bodyPr>
          <a:lstStyle/>
          <a:p>
            <a:pPr algn="ctr"/>
            <a:r>
              <a:rPr lang="en-US" sz="4000" b="1" dirty="0" smtClean="0">
                <a:solidFill>
                  <a:schemeClr val="accent1"/>
                </a:solidFill>
                <a:latin typeface="Palatino Linotype" panose="02040502050505030304" pitchFamily="18" charset="0"/>
              </a:rPr>
              <a:t>Keywords in </a:t>
            </a:r>
            <a:r>
              <a:rPr lang="en-US" sz="4000" b="1" dirty="0">
                <a:solidFill>
                  <a:schemeClr val="accent1"/>
                </a:solidFill>
                <a:latin typeface="Palatino Linotype" panose="02040502050505030304" pitchFamily="18" charset="0"/>
              </a:rPr>
              <a:t>C++</a:t>
            </a:r>
          </a:p>
        </p:txBody>
      </p:sp>
      <p:sp>
        <p:nvSpPr>
          <p:cNvPr id="6" name="Rectangle 4"/>
          <p:cNvSpPr>
            <a:spLocks noChangeArrowheads="1"/>
          </p:cNvSpPr>
          <p:nvPr/>
        </p:nvSpPr>
        <p:spPr bwMode="auto">
          <a:xfrm>
            <a:off x="0" y="-323165"/>
            <a:ext cx="24878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229860" y="1813932"/>
            <a:ext cx="9847028" cy="4505682"/>
          </a:xfrm>
          <a:prstGeom prst="rect">
            <a:avLst/>
          </a:prstGeom>
        </p:spPr>
      </p:pic>
    </p:spTree>
    <p:extLst>
      <p:ext uri="{BB962C8B-B14F-4D97-AF65-F5344CB8AC3E}">
        <p14:creationId xmlns:p14="http://schemas.microsoft.com/office/powerpoint/2010/main" val="423067012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4174" y="94130"/>
            <a:ext cx="10058400" cy="1450757"/>
          </a:xfrm>
        </p:spPr>
        <p:txBody>
          <a:bodyPr>
            <a:normAutofit/>
          </a:bodyPr>
          <a:lstStyle/>
          <a:p>
            <a:pPr algn="ctr"/>
            <a:r>
              <a:rPr lang="en-US" sz="4000" b="1" dirty="0" smtClean="0">
                <a:solidFill>
                  <a:schemeClr val="accent1"/>
                </a:solidFill>
                <a:latin typeface="Palatino Linotype" panose="02040502050505030304" pitchFamily="18" charset="0"/>
              </a:rPr>
              <a:t>Keywords in </a:t>
            </a:r>
            <a:r>
              <a:rPr lang="en-US" sz="4000" b="1" dirty="0">
                <a:solidFill>
                  <a:schemeClr val="accent1"/>
                </a:solidFill>
                <a:latin typeface="Palatino Linotype" panose="02040502050505030304" pitchFamily="18" charset="0"/>
              </a:rPr>
              <a:t>C</a:t>
            </a:r>
            <a:r>
              <a:rPr lang="en-US" sz="4000" b="1" dirty="0" smtClean="0">
                <a:solidFill>
                  <a:schemeClr val="accent1"/>
                </a:solidFill>
                <a:latin typeface="Palatino Linotype" panose="02040502050505030304" pitchFamily="18" charset="0"/>
              </a:rPr>
              <a:t>++ ( Continue..)</a:t>
            </a:r>
            <a:endParaRPr lang="en-US" sz="4000" b="1" dirty="0">
              <a:solidFill>
                <a:schemeClr val="accent1"/>
              </a:solidFill>
              <a:latin typeface="Palatino Linotype" panose="02040502050505030304" pitchFamily="18" charset="0"/>
            </a:endParaRPr>
          </a:p>
        </p:txBody>
      </p:sp>
      <p:sp>
        <p:nvSpPr>
          <p:cNvPr id="6" name="Rectangle 4"/>
          <p:cNvSpPr>
            <a:spLocks noChangeArrowheads="1"/>
          </p:cNvSpPr>
          <p:nvPr/>
        </p:nvSpPr>
        <p:spPr bwMode="auto">
          <a:xfrm>
            <a:off x="0" y="-323165"/>
            <a:ext cx="24878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413264" y="1832062"/>
            <a:ext cx="9769310" cy="4461162"/>
          </a:xfrm>
          <a:prstGeom prst="rect">
            <a:avLst/>
          </a:prstGeom>
        </p:spPr>
      </p:pic>
    </p:spTree>
    <p:extLst>
      <p:ext uri="{BB962C8B-B14F-4D97-AF65-F5344CB8AC3E}">
        <p14:creationId xmlns:p14="http://schemas.microsoft.com/office/powerpoint/2010/main" val="36378953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4174" y="94130"/>
            <a:ext cx="10058400" cy="1450757"/>
          </a:xfrm>
        </p:spPr>
        <p:txBody>
          <a:bodyPr>
            <a:normAutofit/>
          </a:bodyPr>
          <a:lstStyle/>
          <a:p>
            <a:pPr algn="ctr"/>
            <a:r>
              <a:rPr lang="en-US" sz="4000" b="1" dirty="0">
                <a:solidFill>
                  <a:schemeClr val="accent1"/>
                </a:solidFill>
                <a:latin typeface="Palatino Linotype" panose="02040502050505030304" pitchFamily="18" charset="0"/>
              </a:rPr>
              <a:t>Application of C++</a:t>
            </a:r>
          </a:p>
        </p:txBody>
      </p:sp>
      <p:sp>
        <p:nvSpPr>
          <p:cNvPr id="7" name="TextBox 6"/>
          <p:cNvSpPr txBox="1"/>
          <p:nvPr/>
        </p:nvSpPr>
        <p:spPr>
          <a:xfrm>
            <a:off x="1124174" y="2447365"/>
            <a:ext cx="10767060" cy="4832092"/>
          </a:xfrm>
          <a:prstGeom prst="rect">
            <a:avLst/>
          </a:prstGeom>
          <a:noFill/>
        </p:spPr>
        <p:txBody>
          <a:bodyPr wrap="square" rtlCol="0">
            <a:spAutoFit/>
          </a:bodyPr>
          <a:lstStyle/>
          <a:p>
            <a:pPr marL="457200" indent="-457200">
              <a:buFont typeface="Wingdings" panose="05000000000000000000" pitchFamily="2" charset="2"/>
              <a:buChar char="v"/>
            </a:pPr>
            <a:r>
              <a:rPr lang="en-US" sz="2800" dirty="0" smtClean="0">
                <a:latin typeface="Palatino Linotype" panose="02040502050505030304" pitchFamily="18" charset="0"/>
              </a:rPr>
              <a:t>Problem solving(ACM contest).</a:t>
            </a:r>
          </a:p>
          <a:p>
            <a:pPr marL="457200" indent="-457200">
              <a:buFont typeface="Wingdings" panose="05000000000000000000" pitchFamily="2" charset="2"/>
              <a:buChar char="v"/>
            </a:pPr>
            <a:r>
              <a:rPr lang="en-US" sz="2800" dirty="0" smtClean="0">
                <a:latin typeface="Palatino Linotype" panose="02040502050505030304" pitchFamily="18" charset="0"/>
              </a:rPr>
              <a:t>Operating System(OS) : Microsoft Windows, Mac, Linux.</a:t>
            </a:r>
          </a:p>
          <a:p>
            <a:pPr marL="457200" indent="-457200">
              <a:buFont typeface="Wingdings" panose="05000000000000000000" pitchFamily="2" charset="2"/>
              <a:buChar char="v"/>
            </a:pPr>
            <a:r>
              <a:rPr lang="en-US" sz="2800" dirty="0" smtClean="0">
                <a:latin typeface="Palatino Linotype" panose="02040502050505030304" pitchFamily="18" charset="0"/>
              </a:rPr>
              <a:t>Browser: Faster execution.</a:t>
            </a:r>
          </a:p>
          <a:p>
            <a:pPr marL="457200" indent="-457200">
              <a:buFont typeface="Wingdings" panose="05000000000000000000" pitchFamily="2" charset="2"/>
              <a:buChar char="v"/>
            </a:pPr>
            <a:r>
              <a:rPr lang="en-US" sz="2800" dirty="0" smtClean="0">
                <a:latin typeface="Palatino Linotype" panose="02040502050505030304" pitchFamily="18" charset="0"/>
              </a:rPr>
              <a:t>Graphics: Reducing the latency.</a:t>
            </a:r>
          </a:p>
          <a:p>
            <a:pPr marL="457200" indent="-457200">
              <a:buFont typeface="Wingdings" panose="05000000000000000000" pitchFamily="2" charset="2"/>
              <a:buChar char="v"/>
            </a:pPr>
            <a:r>
              <a:rPr lang="en-US" sz="2800" dirty="0" smtClean="0">
                <a:latin typeface="Palatino Linotype" panose="02040502050505030304" pitchFamily="18" charset="0"/>
              </a:rPr>
              <a:t>Banking Application: Example: Infosys </a:t>
            </a:r>
            <a:r>
              <a:rPr lang="en-US" sz="2800" dirty="0" err="1" smtClean="0">
                <a:latin typeface="Palatino Linotype" panose="02040502050505030304" pitchFamily="18" charset="0"/>
              </a:rPr>
              <a:t>Finacle</a:t>
            </a:r>
            <a:endParaRPr lang="en-US" sz="2800" dirty="0" smtClean="0">
              <a:latin typeface="Palatino Linotype" panose="02040502050505030304" pitchFamily="18" charset="0"/>
            </a:endParaRPr>
          </a:p>
          <a:p>
            <a:pPr marL="457200" indent="-457200">
              <a:buFont typeface="Wingdings" panose="05000000000000000000" pitchFamily="2" charset="2"/>
              <a:buChar char="v"/>
            </a:pPr>
            <a:r>
              <a:rPr lang="en-US" sz="2800" dirty="0" smtClean="0">
                <a:latin typeface="Palatino Linotype" panose="02040502050505030304" pitchFamily="18" charset="0"/>
              </a:rPr>
              <a:t>Cloud and distributed system.</a:t>
            </a:r>
          </a:p>
          <a:p>
            <a:pPr marL="457200" indent="-457200">
              <a:buFont typeface="Wingdings" panose="05000000000000000000" pitchFamily="2" charset="2"/>
              <a:buChar char="v"/>
            </a:pPr>
            <a:r>
              <a:rPr lang="en-US" sz="2800" dirty="0" smtClean="0">
                <a:latin typeface="Palatino Linotype" panose="02040502050505030304" pitchFamily="18" charset="0"/>
              </a:rPr>
              <a:t>Databases: Example: Postgres and MySQL. </a:t>
            </a:r>
          </a:p>
          <a:p>
            <a:pPr marL="457200" indent="-457200">
              <a:buFont typeface="Wingdings" panose="05000000000000000000" pitchFamily="2" charset="2"/>
              <a:buChar char="v"/>
            </a:pPr>
            <a:endParaRPr lang="en-US" sz="2800" dirty="0" smtClean="0"/>
          </a:p>
          <a:p>
            <a:pPr marL="457200" indent="-457200">
              <a:buFont typeface="Wingdings" panose="05000000000000000000" pitchFamily="2" charset="2"/>
              <a:buChar char="v"/>
            </a:pPr>
            <a:endParaRPr lang="en-US" sz="2800" dirty="0" smtClean="0"/>
          </a:p>
          <a:p>
            <a:pPr marL="457200" indent="-457200">
              <a:buFont typeface="Wingdings" panose="05000000000000000000" pitchFamily="2" charset="2"/>
              <a:buChar char="v"/>
            </a:pPr>
            <a:endParaRPr lang="en-US" sz="2800" dirty="0" smtClean="0"/>
          </a:p>
          <a:p>
            <a:pPr marL="457200" indent="-457200">
              <a:buFont typeface="Wingdings" panose="05000000000000000000" pitchFamily="2" charset="2"/>
              <a:buChar char="v"/>
            </a:pPr>
            <a:endParaRPr lang="en-US" sz="2800" dirty="0">
              <a:latin typeface="Palatino Linotype" panose="02040502050505030304" pitchFamily="18" charset="0"/>
            </a:endParaRPr>
          </a:p>
        </p:txBody>
      </p:sp>
      <p:sp>
        <p:nvSpPr>
          <p:cNvPr id="6" name="Rectangle 4"/>
          <p:cNvSpPr>
            <a:spLocks noChangeArrowheads="1"/>
          </p:cNvSpPr>
          <p:nvPr/>
        </p:nvSpPr>
        <p:spPr bwMode="auto">
          <a:xfrm>
            <a:off x="0" y="-323165"/>
            <a:ext cx="24878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9230836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2572718" y="461470"/>
            <a:ext cx="7549257" cy="707886"/>
          </a:xfrm>
          <a:prstGeom prst="rect">
            <a:avLst/>
          </a:prstGeom>
          <a:noFill/>
        </p:spPr>
        <p:txBody>
          <a:bodyPr wrap="square" rtlCol="0">
            <a:spAutoFit/>
          </a:bodyPr>
          <a:lstStyle/>
          <a:p>
            <a:pPr algn="ctr"/>
            <a:r>
              <a:rPr lang="en-US" sz="4000" b="1" dirty="0" smtClean="0">
                <a:solidFill>
                  <a:schemeClr val="accent1"/>
                </a:solidFill>
                <a:latin typeface="Palatino Linotype" panose="02040502050505030304" pitchFamily="18" charset="0"/>
              </a:rPr>
              <a:t>Difference Between C &amp; C++</a:t>
            </a:r>
            <a:endParaRPr lang="en-US" sz="4000" dirty="0"/>
          </a:p>
        </p:txBody>
      </p:sp>
      <p:sp>
        <p:nvSpPr>
          <p:cNvPr id="4" name="TextBox 3"/>
          <p:cNvSpPr txBox="1"/>
          <p:nvPr/>
        </p:nvSpPr>
        <p:spPr>
          <a:xfrm>
            <a:off x="1122829" y="1620728"/>
            <a:ext cx="9789458" cy="646331"/>
          </a:xfrm>
          <a:prstGeom prst="rect">
            <a:avLst/>
          </a:prstGeom>
          <a:noFill/>
        </p:spPr>
        <p:txBody>
          <a:bodyPr wrap="square" rtlCol="0">
            <a:spAutoFit/>
          </a:bodyPr>
          <a:lstStyle/>
          <a:p>
            <a:endParaRPr lang="en-US" dirty="0" smtClean="0"/>
          </a:p>
          <a:p>
            <a:endParaRPr lang="en-US" dirty="0"/>
          </a:p>
        </p:txBody>
      </p:sp>
      <p:graphicFrame>
        <p:nvGraphicFramePr>
          <p:cNvPr id="2" name="Table 1"/>
          <p:cNvGraphicFramePr>
            <a:graphicFrameLocks noGrp="1"/>
          </p:cNvGraphicFramePr>
          <p:nvPr>
            <p:extLst/>
          </p:nvPr>
        </p:nvGraphicFramePr>
        <p:xfrm>
          <a:off x="1001609" y="1169356"/>
          <a:ext cx="10270437" cy="4999668"/>
        </p:xfrm>
        <a:graphic>
          <a:graphicData uri="http://schemas.openxmlformats.org/drawingml/2006/table">
            <a:tbl>
              <a:tblPr firstRow="1" bandRow="1">
                <a:tableStyleId>{5C22544A-7EE6-4342-B048-85BDC9FD1C3A}</a:tableStyleId>
              </a:tblPr>
              <a:tblGrid>
                <a:gridCol w="2213114">
                  <a:extLst>
                    <a:ext uri="{9D8B030D-6E8A-4147-A177-3AD203B41FA5}">
                      <a16:colId xmlns:a16="http://schemas.microsoft.com/office/drawing/2014/main" xmlns="" val="1366383025"/>
                    </a:ext>
                  </a:extLst>
                </a:gridCol>
                <a:gridCol w="4015409">
                  <a:extLst>
                    <a:ext uri="{9D8B030D-6E8A-4147-A177-3AD203B41FA5}">
                      <a16:colId xmlns:a16="http://schemas.microsoft.com/office/drawing/2014/main" xmlns="" val="3829570553"/>
                    </a:ext>
                  </a:extLst>
                </a:gridCol>
                <a:gridCol w="4041914">
                  <a:extLst>
                    <a:ext uri="{9D8B030D-6E8A-4147-A177-3AD203B41FA5}">
                      <a16:colId xmlns:a16="http://schemas.microsoft.com/office/drawing/2014/main" xmlns="" val="2058787719"/>
                    </a:ext>
                  </a:extLst>
                </a:gridCol>
              </a:tblGrid>
              <a:tr h="660716">
                <a:tc>
                  <a:txBody>
                    <a:bodyPr/>
                    <a:lstStyle/>
                    <a:p>
                      <a:pPr algn="ctr"/>
                      <a:r>
                        <a:rPr lang="en-US" sz="2400" dirty="0" smtClean="0">
                          <a:latin typeface="Palatino Linotype" panose="02040502050505030304" pitchFamily="18" charset="0"/>
                        </a:rPr>
                        <a:t>Features</a:t>
                      </a:r>
                      <a:endParaRPr lang="en-US" sz="2400" dirty="0">
                        <a:latin typeface="Palatino Linotype" panose="02040502050505030304" pitchFamily="18" charset="0"/>
                      </a:endParaRPr>
                    </a:p>
                  </a:txBody>
                  <a:tcPr/>
                </a:tc>
                <a:tc>
                  <a:txBody>
                    <a:bodyPr/>
                    <a:lstStyle/>
                    <a:p>
                      <a:pPr algn="ctr"/>
                      <a:r>
                        <a:rPr lang="en-US" sz="2400" dirty="0" smtClean="0">
                          <a:latin typeface="Palatino Linotype" panose="02040502050505030304" pitchFamily="18" charset="0"/>
                        </a:rPr>
                        <a:t>C</a:t>
                      </a:r>
                      <a:endParaRPr lang="en-US" sz="2400" dirty="0">
                        <a:latin typeface="Palatino Linotype" panose="02040502050505030304" pitchFamily="18" charset="0"/>
                      </a:endParaRPr>
                    </a:p>
                  </a:txBody>
                  <a:tcPr/>
                </a:tc>
                <a:tc>
                  <a:txBody>
                    <a:bodyPr/>
                    <a:lstStyle/>
                    <a:p>
                      <a:pPr algn="ctr"/>
                      <a:r>
                        <a:rPr lang="en-US" sz="2400" dirty="0" smtClean="0">
                          <a:latin typeface="Palatino Linotype" panose="02040502050505030304" pitchFamily="18" charset="0"/>
                        </a:rPr>
                        <a:t>C++</a:t>
                      </a:r>
                      <a:endParaRPr lang="en-US" sz="2400" dirty="0">
                        <a:latin typeface="Palatino Linotype" panose="02040502050505030304" pitchFamily="18" charset="0"/>
                      </a:endParaRPr>
                    </a:p>
                  </a:txBody>
                  <a:tcPr/>
                </a:tc>
                <a:extLst>
                  <a:ext uri="{0D108BD9-81ED-4DB2-BD59-A6C34878D82A}">
                    <a16:rowId xmlns:a16="http://schemas.microsoft.com/office/drawing/2014/main" xmlns="" val="4103710328"/>
                  </a:ext>
                </a:extLst>
              </a:tr>
              <a:tr h="660716">
                <a:tc>
                  <a:txBody>
                    <a:bodyPr/>
                    <a:lstStyle/>
                    <a:p>
                      <a:r>
                        <a:rPr lang="en-US" dirty="0" smtClean="0">
                          <a:latin typeface="Palatino Linotype" panose="02040502050505030304" pitchFamily="18" charset="0"/>
                        </a:rPr>
                        <a:t>Paradigm</a:t>
                      </a:r>
                      <a:endParaRPr lang="en-US" dirty="0">
                        <a:latin typeface="Palatino Linotype" panose="02040502050505030304" pitchFamily="18" charset="0"/>
                      </a:endParaRPr>
                    </a:p>
                  </a:txBody>
                  <a:tcPr/>
                </a:tc>
                <a:tc>
                  <a:txBody>
                    <a:bodyPr/>
                    <a:lstStyle/>
                    <a:p>
                      <a:r>
                        <a:rPr lang="en-US" dirty="0" smtClean="0">
                          <a:latin typeface="Palatino Linotype" panose="02040502050505030304" pitchFamily="18" charset="0"/>
                        </a:rPr>
                        <a:t>Primarily procedural programming language</a:t>
                      </a:r>
                      <a:endParaRPr lang="en-US" dirty="0">
                        <a:latin typeface="Palatino Linotype" panose="02040502050505030304" pitchFamily="18" charset="0"/>
                      </a:endParaRPr>
                    </a:p>
                  </a:txBody>
                  <a:tcPr/>
                </a:tc>
                <a:tc>
                  <a:txBody>
                    <a:bodyPr/>
                    <a:lstStyle/>
                    <a:p>
                      <a:r>
                        <a:rPr lang="en-US" dirty="0" smtClean="0">
                          <a:latin typeface="Palatino Linotype" panose="02040502050505030304" pitchFamily="18" charset="0"/>
                        </a:rPr>
                        <a:t>Multi-paradigm language supporting procedural, object-oriented, and generic programming</a:t>
                      </a:r>
                      <a:endParaRPr lang="en-US" dirty="0">
                        <a:latin typeface="Palatino Linotype" panose="02040502050505030304" pitchFamily="18" charset="0"/>
                      </a:endParaRPr>
                    </a:p>
                  </a:txBody>
                  <a:tcPr/>
                </a:tc>
                <a:extLst>
                  <a:ext uri="{0D108BD9-81ED-4DB2-BD59-A6C34878D82A}">
                    <a16:rowId xmlns:a16="http://schemas.microsoft.com/office/drawing/2014/main" xmlns="" val="2591172132"/>
                  </a:ext>
                </a:extLst>
              </a:tr>
              <a:tr h="660716">
                <a:tc>
                  <a:txBody>
                    <a:bodyPr/>
                    <a:lstStyle/>
                    <a:p>
                      <a:r>
                        <a:rPr lang="en-US" dirty="0" smtClean="0">
                          <a:latin typeface="Palatino Linotype" panose="02040502050505030304" pitchFamily="18" charset="0"/>
                        </a:rPr>
                        <a:t>Classes and Objects</a:t>
                      </a:r>
                      <a:endParaRPr lang="en-US" dirty="0">
                        <a:latin typeface="Palatino Linotype" panose="02040502050505030304" pitchFamily="18" charset="0"/>
                      </a:endParaRPr>
                    </a:p>
                  </a:txBody>
                  <a:tcPr/>
                </a:tc>
                <a:tc>
                  <a:txBody>
                    <a:bodyPr/>
                    <a:lstStyle/>
                    <a:p>
                      <a:r>
                        <a:rPr lang="en-US" dirty="0" smtClean="0">
                          <a:latin typeface="Palatino Linotype" panose="02040502050505030304" pitchFamily="18" charset="0"/>
                        </a:rPr>
                        <a:t>Does not support </a:t>
                      </a:r>
                      <a:endParaRPr lang="en-US" dirty="0">
                        <a:latin typeface="Palatino Linotype" panose="02040502050505030304" pitchFamily="18" charset="0"/>
                      </a:endParaRPr>
                    </a:p>
                  </a:txBody>
                  <a:tcPr/>
                </a:tc>
                <a:tc>
                  <a:txBody>
                    <a:bodyPr/>
                    <a:lstStyle/>
                    <a:p>
                      <a:r>
                        <a:rPr lang="en-US" dirty="0" smtClean="0">
                          <a:latin typeface="Palatino Linotype" panose="02040502050505030304" pitchFamily="18" charset="0"/>
                        </a:rPr>
                        <a:t>Supports</a:t>
                      </a:r>
                      <a:endParaRPr lang="en-US" dirty="0">
                        <a:latin typeface="Palatino Linotype" panose="02040502050505030304" pitchFamily="18" charset="0"/>
                      </a:endParaRPr>
                    </a:p>
                  </a:txBody>
                  <a:tcPr/>
                </a:tc>
                <a:extLst>
                  <a:ext uri="{0D108BD9-81ED-4DB2-BD59-A6C34878D82A}">
                    <a16:rowId xmlns:a16="http://schemas.microsoft.com/office/drawing/2014/main" xmlns="" val="2915401797"/>
                  </a:ext>
                </a:extLst>
              </a:tr>
              <a:tr h="660716">
                <a:tc>
                  <a:txBody>
                    <a:bodyPr/>
                    <a:lstStyle/>
                    <a:p>
                      <a:r>
                        <a:rPr lang="en-US" dirty="0" smtClean="0">
                          <a:latin typeface="Palatino Linotype" panose="02040502050505030304" pitchFamily="18" charset="0"/>
                        </a:rPr>
                        <a:t>Function Overloading</a:t>
                      </a:r>
                      <a:endParaRPr lang="en-US" dirty="0">
                        <a:latin typeface="Palatino Linotype" panose="02040502050505030304" pitchFamily="18" charset="0"/>
                      </a:endParaRPr>
                    </a:p>
                  </a:txBody>
                  <a:tcPr/>
                </a:tc>
                <a:tc>
                  <a:txBody>
                    <a:bodyPr/>
                    <a:lstStyle/>
                    <a:p>
                      <a:r>
                        <a:rPr lang="en-US" dirty="0" smtClean="0">
                          <a:latin typeface="Palatino Linotype" panose="02040502050505030304" pitchFamily="18" charset="0"/>
                        </a:rPr>
                        <a:t>Does not support </a:t>
                      </a:r>
                      <a:endParaRPr lang="en-US" dirty="0">
                        <a:latin typeface="Palatino Linotype" panose="02040502050505030304" pitchFamily="18" charset="0"/>
                      </a:endParaRPr>
                    </a:p>
                  </a:txBody>
                  <a:tcPr/>
                </a:tc>
                <a:tc>
                  <a:txBody>
                    <a:bodyPr/>
                    <a:lstStyle/>
                    <a:p>
                      <a:r>
                        <a:rPr lang="en-US" dirty="0" smtClean="0">
                          <a:latin typeface="Palatino Linotype" panose="02040502050505030304" pitchFamily="18" charset="0"/>
                        </a:rPr>
                        <a:t>Supports function overloading, allowing multiple functions with the same name but different parameters.</a:t>
                      </a:r>
                      <a:endParaRPr lang="en-US" dirty="0">
                        <a:latin typeface="Palatino Linotype" panose="02040502050505030304" pitchFamily="18" charset="0"/>
                      </a:endParaRPr>
                    </a:p>
                  </a:txBody>
                  <a:tcPr/>
                </a:tc>
                <a:extLst>
                  <a:ext uri="{0D108BD9-81ED-4DB2-BD59-A6C34878D82A}">
                    <a16:rowId xmlns:a16="http://schemas.microsoft.com/office/drawing/2014/main" xmlns="" val="640651575"/>
                  </a:ext>
                </a:extLst>
              </a:tr>
              <a:tr h="660716">
                <a:tc>
                  <a:txBody>
                    <a:bodyPr/>
                    <a:lstStyle/>
                    <a:p>
                      <a:r>
                        <a:rPr lang="en-US" dirty="0" smtClean="0">
                          <a:latin typeface="Palatino Linotype" panose="02040502050505030304" pitchFamily="18" charset="0"/>
                        </a:rPr>
                        <a:t>Standard Library </a:t>
                      </a:r>
                      <a:endParaRPr lang="en-US" dirty="0">
                        <a:latin typeface="Palatino Linotype" panose="02040502050505030304" pitchFamily="18" charset="0"/>
                      </a:endParaRPr>
                    </a:p>
                  </a:txBody>
                  <a:tcPr/>
                </a:tc>
                <a:tc>
                  <a: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dirty="0" smtClean="0">
                          <a:latin typeface="Palatino Linotype" panose="02040502050505030304" pitchFamily="18" charset="0"/>
                        </a:rPr>
                        <a:t>Relies on the C Standard Library (&lt;</a:t>
                      </a:r>
                      <a:r>
                        <a:rPr lang="en-US" dirty="0" err="1" smtClean="0">
                          <a:latin typeface="Palatino Linotype" panose="02040502050505030304" pitchFamily="18" charset="0"/>
                        </a:rPr>
                        <a:t>stdio.h</a:t>
                      </a:r>
                      <a:r>
                        <a:rPr lang="en-US" dirty="0" smtClean="0">
                          <a:latin typeface="Palatino Linotype" panose="02040502050505030304" pitchFamily="18" charset="0"/>
                        </a:rPr>
                        <a:t>&gt;, &lt;</a:t>
                      </a:r>
                      <a:r>
                        <a:rPr lang="en-US" dirty="0" err="1" smtClean="0">
                          <a:latin typeface="Palatino Linotype" panose="02040502050505030304" pitchFamily="18" charset="0"/>
                        </a:rPr>
                        <a:t>stdlib.h</a:t>
                      </a:r>
                      <a:r>
                        <a:rPr lang="en-US" dirty="0" smtClean="0">
                          <a:latin typeface="Palatino Linotype" panose="02040502050505030304" pitchFamily="18" charset="0"/>
                        </a:rPr>
                        <a:t>&gt;, etc.)</a:t>
                      </a:r>
                    </a:p>
                    <a:p>
                      <a:endParaRPr lang="en-US" dirty="0">
                        <a:latin typeface="Palatino Linotype" panose="02040502050505030304" pitchFamily="18" charset="0"/>
                      </a:endParaRPr>
                    </a:p>
                  </a:txBody>
                  <a:tcPr/>
                </a:tc>
                <a:tc>
                  <a:txBody>
                    <a:bodyPr/>
                    <a:lstStyle/>
                    <a:p>
                      <a:r>
                        <a:rPr lang="en-US" dirty="0" smtClean="0">
                          <a:latin typeface="Palatino Linotype" panose="02040502050505030304" pitchFamily="18" charset="0"/>
                        </a:rPr>
                        <a:t>Extends the C Standard Library with the Standard Template Library (STL), providing containers, algorithms, iterators, and other utilities</a:t>
                      </a:r>
                      <a:endParaRPr lang="en-US" dirty="0">
                        <a:latin typeface="Palatino Linotype" panose="02040502050505030304" pitchFamily="18" charset="0"/>
                      </a:endParaRPr>
                    </a:p>
                  </a:txBody>
                  <a:tcPr/>
                </a:tc>
                <a:extLst>
                  <a:ext uri="{0D108BD9-81ED-4DB2-BD59-A6C34878D82A}">
                    <a16:rowId xmlns:a16="http://schemas.microsoft.com/office/drawing/2014/main" xmlns="" val="3744704598"/>
                  </a:ext>
                </a:extLst>
              </a:tr>
              <a:tr h="660716">
                <a:tc>
                  <a:txBody>
                    <a:bodyPr/>
                    <a:lstStyle/>
                    <a:p>
                      <a:r>
                        <a:rPr lang="en-US" dirty="0" smtClean="0">
                          <a:latin typeface="Palatino Linotype" panose="02040502050505030304" pitchFamily="18" charset="0"/>
                        </a:rPr>
                        <a:t>Keywords</a:t>
                      </a:r>
                      <a:endParaRPr lang="en-US" dirty="0">
                        <a:latin typeface="Palatino Linotype" panose="02040502050505030304" pitchFamily="18" charset="0"/>
                      </a:endParaRPr>
                    </a:p>
                  </a:txBody>
                  <a:tcPr/>
                </a:tc>
                <a:tc>
                  <a:txBody>
                    <a:bodyPr/>
                    <a:lstStyle/>
                    <a:p>
                      <a:r>
                        <a:rPr lang="en-US" dirty="0" smtClean="0">
                          <a:latin typeface="Palatino Linotype" panose="02040502050505030304" pitchFamily="18" charset="0"/>
                        </a:rPr>
                        <a:t>Small set of keywords</a:t>
                      </a:r>
                      <a:endParaRPr lang="en-US" dirty="0">
                        <a:latin typeface="Palatino Linotype" panose="02040502050505030304" pitchFamily="18" charset="0"/>
                      </a:endParaRPr>
                    </a:p>
                  </a:txBody>
                  <a:tcPr/>
                </a:tc>
                <a:tc>
                  <a:txBody>
                    <a:bodyPr/>
                    <a:lstStyle/>
                    <a:p>
                      <a:r>
                        <a:rPr lang="en-US" dirty="0" smtClean="0">
                          <a:latin typeface="Palatino Linotype" panose="02040502050505030304" pitchFamily="18" charset="0"/>
                        </a:rPr>
                        <a:t>Broader set of keywords</a:t>
                      </a:r>
                      <a:endParaRPr lang="en-US" dirty="0">
                        <a:latin typeface="Palatino Linotype" panose="02040502050505030304" pitchFamily="18" charset="0"/>
                      </a:endParaRPr>
                    </a:p>
                  </a:txBody>
                  <a:tcPr/>
                </a:tc>
                <a:extLst>
                  <a:ext uri="{0D108BD9-81ED-4DB2-BD59-A6C34878D82A}">
                    <a16:rowId xmlns:a16="http://schemas.microsoft.com/office/drawing/2014/main" xmlns="" val="1564538744"/>
                  </a:ext>
                </a:extLst>
              </a:tr>
            </a:tbl>
          </a:graphicData>
        </a:graphic>
      </p:graphicFrame>
    </p:spTree>
    <p:extLst>
      <p:ext uri="{BB962C8B-B14F-4D97-AF65-F5344CB8AC3E}">
        <p14:creationId xmlns:p14="http://schemas.microsoft.com/office/powerpoint/2010/main" val="19005867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111791"/>
            <a:ext cx="10058400" cy="1450757"/>
          </a:xfrm>
        </p:spPr>
        <p:txBody>
          <a:bodyPr>
            <a:normAutofit/>
          </a:bodyPr>
          <a:lstStyle/>
          <a:p>
            <a:pPr algn="ctr"/>
            <a:r>
              <a:rPr lang="en-US" sz="4000" b="1" dirty="0">
                <a:solidFill>
                  <a:schemeClr val="accent1"/>
                </a:solidFill>
                <a:latin typeface="Palatino Linotype" panose="02040502050505030304" pitchFamily="18" charset="0"/>
              </a:rPr>
              <a:t>Basic Console </a:t>
            </a:r>
            <a:r>
              <a:rPr lang="en-US" sz="4000" b="1" dirty="0" smtClean="0">
                <a:solidFill>
                  <a:schemeClr val="accent1"/>
                </a:solidFill>
                <a:latin typeface="Palatino Linotype" panose="02040502050505030304" pitchFamily="18" charset="0"/>
              </a:rPr>
              <a:t>Input / Output </a:t>
            </a:r>
            <a:r>
              <a:rPr lang="en-US" sz="4000" b="1" dirty="0">
                <a:solidFill>
                  <a:schemeClr val="accent1"/>
                </a:solidFill>
                <a:latin typeface="Palatino Linotype" panose="02040502050505030304" pitchFamily="18" charset="0"/>
              </a:rPr>
              <a:t>in C++</a:t>
            </a:r>
          </a:p>
        </p:txBody>
      </p:sp>
      <p:pic>
        <p:nvPicPr>
          <p:cNvPr id="6" name="Content Placeholder 5"/>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2925316" y="2471544"/>
            <a:ext cx="6401693" cy="2772162"/>
          </a:xfrm>
        </p:spPr>
      </p:pic>
    </p:spTree>
    <p:extLst>
      <p:ext uri="{BB962C8B-B14F-4D97-AF65-F5344CB8AC3E}">
        <p14:creationId xmlns:p14="http://schemas.microsoft.com/office/powerpoint/2010/main" val="354506326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111791"/>
            <a:ext cx="10058400" cy="1450757"/>
          </a:xfrm>
        </p:spPr>
        <p:txBody>
          <a:bodyPr>
            <a:normAutofit/>
          </a:bodyPr>
          <a:lstStyle/>
          <a:p>
            <a:pPr algn="ctr"/>
            <a:r>
              <a:rPr lang="en-US" sz="4000" b="1" dirty="0" smtClean="0">
                <a:solidFill>
                  <a:schemeClr val="accent1"/>
                </a:solidFill>
                <a:latin typeface="Palatino Linotype" panose="02040502050505030304" pitchFamily="18" charset="0"/>
              </a:rPr>
              <a:t>Headers in </a:t>
            </a:r>
            <a:r>
              <a:rPr lang="en-US" sz="4000" b="1" dirty="0">
                <a:solidFill>
                  <a:schemeClr val="accent1"/>
                </a:solidFill>
                <a:latin typeface="Palatino Linotype" panose="02040502050505030304" pitchFamily="18" charset="0"/>
              </a:rPr>
              <a:t>C++</a:t>
            </a:r>
          </a:p>
        </p:txBody>
      </p:sp>
      <p:sp>
        <p:nvSpPr>
          <p:cNvPr id="3" name="Content Placeholder 2"/>
          <p:cNvSpPr>
            <a:spLocks noGrp="1"/>
          </p:cNvSpPr>
          <p:nvPr>
            <p:ph idx="1"/>
          </p:nvPr>
        </p:nvSpPr>
        <p:spPr/>
        <p:txBody>
          <a:bodyPr>
            <a:normAutofit fontScale="92500" lnSpcReduction="10000"/>
          </a:bodyPr>
          <a:lstStyle/>
          <a:p>
            <a:r>
              <a:rPr lang="en-US" dirty="0">
                <a:solidFill>
                  <a:srgbClr val="C00000"/>
                </a:solidFill>
                <a:latin typeface="Palatino Linotype" panose="02040502050505030304" pitchFamily="18" charset="0"/>
              </a:rPr>
              <a:t>#include &lt;</a:t>
            </a:r>
            <a:r>
              <a:rPr lang="en-US" dirty="0" err="1">
                <a:solidFill>
                  <a:srgbClr val="C00000"/>
                </a:solidFill>
                <a:latin typeface="Palatino Linotype" panose="02040502050505030304" pitchFamily="18" charset="0"/>
              </a:rPr>
              <a:t>iostream</a:t>
            </a:r>
            <a:r>
              <a:rPr lang="en-US" dirty="0">
                <a:solidFill>
                  <a:srgbClr val="C00000"/>
                </a:solidFill>
                <a:latin typeface="Palatino Linotype" panose="02040502050505030304" pitchFamily="18" charset="0"/>
              </a:rPr>
              <a:t>&gt; : </a:t>
            </a:r>
          </a:p>
          <a:p>
            <a:r>
              <a:rPr lang="en-US" dirty="0">
                <a:latin typeface="Palatino Linotype" panose="02040502050505030304" pitchFamily="18" charset="0"/>
              </a:rPr>
              <a:t>A preprocessor directive.</a:t>
            </a:r>
          </a:p>
          <a:p>
            <a:r>
              <a:rPr lang="en-US" dirty="0">
                <a:latin typeface="Palatino Linotype" panose="02040502050505030304" pitchFamily="18" charset="0"/>
              </a:rPr>
              <a:t>Lines that begin with # are processed by the preprocessor before the program is compiled.</a:t>
            </a:r>
          </a:p>
          <a:p>
            <a:r>
              <a:rPr lang="en-US" dirty="0">
                <a:latin typeface="Palatino Linotype" panose="02040502050505030304" pitchFamily="18" charset="0"/>
              </a:rPr>
              <a:t>include in the program the contents of the input/output stream header &lt;</a:t>
            </a:r>
            <a:r>
              <a:rPr lang="en-US" dirty="0" err="1">
                <a:latin typeface="Palatino Linotype" panose="02040502050505030304" pitchFamily="18" charset="0"/>
              </a:rPr>
              <a:t>iostream</a:t>
            </a:r>
            <a:r>
              <a:rPr lang="en-US" dirty="0">
                <a:latin typeface="Palatino Linotype" panose="02040502050505030304" pitchFamily="18" charset="0"/>
              </a:rPr>
              <a:t>&gt;.</a:t>
            </a:r>
          </a:p>
          <a:p>
            <a:r>
              <a:rPr lang="en-US" dirty="0">
                <a:latin typeface="Palatino Linotype" panose="02040502050505030304" pitchFamily="18" charset="0"/>
              </a:rPr>
              <a:t>Examples:</a:t>
            </a:r>
          </a:p>
          <a:p>
            <a:r>
              <a:rPr lang="en-US" dirty="0">
                <a:solidFill>
                  <a:srgbClr val="7030A0"/>
                </a:solidFill>
                <a:latin typeface="Palatino Linotype" panose="02040502050505030304" pitchFamily="18" charset="0"/>
              </a:rPr>
              <a:t>&lt;</a:t>
            </a:r>
            <a:r>
              <a:rPr lang="en-US" dirty="0" err="1">
                <a:solidFill>
                  <a:srgbClr val="7030A0"/>
                </a:solidFill>
                <a:latin typeface="Palatino Linotype" panose="02040502050505030304" pitchFamily="18" charset="0"/>
              </a:rPr>
              <a:t>math.h</a:t>
            </a:r>
            <a:r>
              <a:rPr lang="en-US" dirty="0">
                <a:solidFill>
                  <a:srgbClr val="7030A0"/>
                </a:solidFill>
                <a:latin typeface="Palatino Linotype" panose="02040502050505030304" pitchFamily="18" charset="0"/>
              </a:rPr>
              <a:t>&gt;</a:t>
            </a:r>
          </a:p>
          <a:p>
            <a:r>
              <a:rPr lang="en-US" dirty="0">
                <a:solidFill>
                  <a:srgbClr val="7030A0"/>
                </a:solidFill>
                <a:latin typeface="Palatino Linotype" panose="02040502050505030304" pitchFamily="18" charset="0"/>
              </a:rPr>
              <a:t>&lt;</a:t>
            </a:r>
            <a:r>
              <a:rPr lang="en-US" dirty="0" err="1">
                <a:solidFill>
                  <a:srgbClr val="7030A0"/>
                </a:solidFill>
                <a:latin typeface="Palatino Linotype" panose="02040502050505030304" pitchFamily="18" charset="0"/>
              </a:rPr>
              <a:t>string.h</a:t>
            </a:r>
            <a:r>
              <a:rPr lang="en-US" dirty="0">
                <a:solidFill>
                  <a:srgbClr val="7030A0"/>
                </a:solidFill>
                <a:latin typeface="Palatino Linotype" panose="02040502050505030304" pitchFamily="18" charset="0"/>
              </a:rPr>
              <a:t>&gt;</a:t>
            </a:r>
          </a:p>
          <a:p>
            <a:r>
              <a:rPr lang="en-US" dirty="0">
                <a:solidFill>
                  <a:srgbClr val="7030A0"/>
                </a:solidFill>
                <a:latin typeface="Palatino Linotype" panose="02040502050505030304" pitchFamily="18" charset="0"/>
              </a:rPr>
              <a:t>&lt;</a:t>
            </a:r>
            <a:r>
              <a:rPr lang="en-US" dirty="0" err="1">
                <a:solidFill>
                  <a:srgbClr val="7030A0"/>
                </a:solidFill>
                <a:latin typeface="Palatino Linotype" panose="02040502050505030304" pitchFamily="18" charset="0"/>
              </a:rPr>
              <a:t>cmath</a:t>
            </a:r>
            <a:r>
              <a:rPr lang="en-US" dirty="0">
                <a:solidFill>
                  <a:srgbClr val="7030A0"/>
                </a:solidFill>
                <a:latin typeface="Palatino Linotype" panose="02040502050505030304" pitchFamily="18" charset="0"/>
              </a:rPr>
              <a:t>&gt;</a:t>
            </a:r>
          </a:p>
          <a:p>
            <a:r>
              <a:rPr lang="en-US" dirty="0">
                <a:solidFill>
                  <a:srgbClr val="7030A0"/>
                </a:solidFill>
                <a:latin typeface="Palatino Linotype" panose="02040502050505030304" pitchFamily="18" charset="0"/>
              </a:rPr>
              <a:t>&lt;</a:t>
            </a:r>
            <a:r>
              <a:rPr lang="en-US" dirty="0" err="1">
                <a:solidFill>
                  <a:srgbClr val="7030A0"/>
                </a:solidFill>
                <a:latin typeface="Palatino Linotype" panose="02040502050505030304" pitchFamily="18" charset="0"/>
              </a:rPr>
              <a:t>cstring</a:t>
            </a:r>
            <a:r>
              <a:rPr lang="en-US" dirty="0">
                <a:solidFill>
                  <a:srgbClr val="7030A0"/>
                </a:solidFill>
                <a:latin typeface="Palatino Linotype" panose="02040502050505030304" pitchFamily="18" charset="0"/>
              </a:rPr>
              <a:t>&gt;</a:t>
            </a:r>
          </a:p>
          <a:p>
            <a:r>
              <a:rPr lang="en-US" dirty="0">
                <a:latin typeface="Palatino Linotype" panose="02040502050505030304" pitchFamily="18" charset="0"/>
              </a:rPr>
              <a:t>We also can use C header files!!</a:t>
            </a:r>
          </a:p>
        </p:txBody>
      </p:sp>
    </p:spTree>
    <p:extLst>
      <p:ext uri="{BB962C8B-B14F-4D97-AF65-F5344CB8AC3E}">
        <p14:creationId xmlns:p14="http://schemas.microsoft.com/office/powerpoint/2010/main" val="68877246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111791"/>
            <a:ext cx="10058400" cy="1450757"/>
          </a:xfrm>
        </p:spPr>
        <p:txBody>
          <a:bodyPr>
            <a:normAutofit/>
          </a:bodyPr>
          <a:lstStyle/>
          <a:p>
            <a:pPr algn="ctr"/>
            <a:r>
              <a:rPr lang="en-US" sz="4000" b="1" dirty="0" smtClean="0">
                <a:solidFill>
                  <a:schemeClr val="accent1"/>
                </a:solidFill>
                <a:latin typeface="Palatino Linotype" panose="02040502050505030304" pitchFamily="18" charset="0"/>
              </a:rPr>
              <a:t>Other Structural Contents in </a:t>
            </a:r>
            <a:r>
              <a:rPr lang="en-US" sz="4000" b="1" dirty="0">
                <a:solidFill>
                  <a:schemeClr val="accent1"/>
                </a:solidFill>
                <a:latin typeface="Palatino Linotype" panose="02040502050505030304" pitchFamily="18" charset="0"/>
              </a:rPr>
              <a:t>C++</a:t>
            </a:r>
          </a:p>
        </p:txBody>
      </p:sp>
      <p:sp>
        <p:nvSpPr>
          <p:cNvPr id="3" name="Content Placeholder 2"/>
          <p:cNvSpPr>
            <a:spLocks noGrp="1"/>
          </p:cNvSpPr>
          <p:nvPr>
            <p:ph idx="1"/>
          </p:nvPr>
        </p:nvSpPr>
        <p:spPr>
          <a:xfrm>
            <a:off x="1097280" y="2571875"/>
            <a:ext cx="10058400" cy="4023360"/>
          </a:xfrm>
        </p:spPr>
        <p:txBody>
          <a:bodyPr>
            <a:normAutofit/>
          </a:bodyPr>
          <a:lstStyle/>
          <a:p>
            <a:pPr>
              <a:buFont typeface="Wingdings" panose="05000000000000000000" pitchFamily="2" charset="2"/>
              <a:buChar char="v"/>
            </a:pPr>
            <a:r>
              <a:rPr lang="en-US" sz="2400" b="1" dirty="0" smtClean="0">
                <a:solidFill>
                  <a:schemeClr val="tx1"/>
                </a:solidFill>
                <a:latin typeface="Palatino Linotype" panose="02040502050505030304" pitchFamily="18" charset="0"/>
              </a:rPr>
              <a:t> using </a:t>
            </a:r>
            <a:r>
              <a:rPr lang="en-US" sz="2400" b="1" dirty="0">
                <a:solidFill>
                  <a:schemeClr val="tx1"/>
                </a:solidFill>
                <a:latin typeface="Palatino Linotype" panose="02040502050505030304" pitchFamily="18" charset="0"/>
              </a:rPr>
              <a:t>namespace </a:t>
            </a:r>
            <a:r>
              <a:rPr lang="en-US" sz="2400" b="1" dirty="0" err="1">
                <a:solidFill>
                  <a:schemeClr val="tx1"/>
                </a:solidFill>
                <a:latin typeface="Palatino Linotype" panose="02040502050505030304" pitchFamily="18" charset="0"/>
              </a:rPr>
              <a:t>std</a:t>
            </a:r>
            <a:r>
              <a:rPr lang="en-US" sz="2400" b="1" dirty="0" smtClean="0">
                <a:solidFill>
                  <a:schemeClr val="tx1"/>
                </a:solidFill>
                <a:latin typeface="Palatino Linotype" panose="02040502050505030304" pitchFamily="18" charset="0"/>
              </a:rPr>
              <a:t>; - </a:t>
            </a:r>
            <a:r>
              <a:rPr lang="en-US" sz="2400" dirty="0" err="1" smtClean="0">
                <a:solidFill>
                  <a:schemeClr val="tx1"/>
                </a:solidFill>
                <a:latin typeface="Palatino Linotype" panose="02040502050505030304" pitchFamily="18" charset="0"/>
              </a:rPr>
              <a:t>std</a:t>
            </a:r>
            <a:r>
              <a:rPr lang="en-US" sz="2400" dirty="0" smtClean="0">
                <a:solidFill>
                  <a:schemeClr val="tx1"/>
                </a:solidFill>
                <a:latin typeface="Palatino Linotype" panose="02040502050505030304" pitchFamily="18" charset="0"/>
              </a:rPr>
              <a:t> </a:t>
            </a:r>
            <a:r>
              <a:rPr lang="en-US" sz="2400" dirty="0">
                <a:solidFill>
                  <a:schemeClr val="tx1"/>
                </a:solidFill>
                <a:latin typeface="Palatino Linotype" panose="02040502050505030304" pitchFamily="18" charset="0"/>
              </a:rPr>
              <a:t>is the namespace where C++ standard class </a:t>
            </a:r>
            <a:r>
              <a:rPr lang="en-US" sz="2400" dirty="0" smtClean="0">
                <a:solidFill>
                  <a:schemeClr val="tx1"/>
                </a:solidFill>
                <a:latin typeface="Palatino Linotype" panose="02040502050505030304" pitchFamily="18" charset="0"/>
              </a:rPr>
              <a:t>  libraries </a:t>
            </a:r>
            <a:r>
              <a:rPr lang="en-US" sz="2400" dirty="0">
                <a:solidFill>
                  <a:schemeClr val="tx1"/>
                </a:solidFill>
                <a:latin typeface="Palatino Linotype" panose="02040502050505030304" pitchFamily="18" charset="0"/>
              </a:rPr>
              <a:t>are defined</a:t>
            </a:r>
          </a:p>
          <a:p>
            <a:pPr>
              <a:buFont typeface="Wingdings" panose="05000000000000000000" pitchFamily="2" charset="2"/>
              <a:buChar char="v"/>
            </a:pPr>
            <a:r>
              <a:rPr lang="en-US" sz="2400" dirty="0" smtClean="0">
                <a:latin typeface="Palatino Linotype" panose="02040502050505030304" pitchFamily="18" charset="0"/>
              </a:rPr>
              <a:t> </a:t>
            </a:r>
            <a:r>
              <a:rPr lang="en-US" sz="2400" dirty="0" err="1" smtClean="0">
                <a:latin typeface="Palatino Linotype" panose="02040502050505030304" pitchFamily="18" charset="0"/>
              </a:rPr>
              <a:t>cin</a:t>
            </a:r>
            <a:r>
              <a:rPr lang="en-US" sz="2400" dirty="0">
                <a:latin typeface="Palatino Linotype" panose="02040502050505030304" pitchFamily="18" charset="0"/>
              </a:rPr>
              <a:t>&gt;&gt; used for take input</a:t>
            </a:r>
          </a:p>
          <a:p>
            <a:pPr>
              <a:buFont typeface="Wingdings" panose="05000000000000000000" pitchFamily="2" charset="2"/>
              <a:buChar char="v"/>
            </a:pPr>
            <a:r>
              <a:rPr lang="en-US" sz="2400" dirty="0" smtClean="0">
                <a:latin typeface="Palatino Linotype" panose="02040502050505030304" pitchFamily="18" charset="0"/>
              </a:rPr>
              <a:t> </a:t>
            </a:r>
            <a:r>
              <a:rPr lang="en-US" sz="2400" dirty="0" err="1" smtClean="0">
                <a:latin typeface="Palatino Linotype" panose="02040502050505030304" pitchFamily="18" charset="0"/>
              </a:rPr>
              <a:t>cout</a:t>
            </a:r>
            <a:r>
              <a:rPr lang="en-US" sz="2400" dirty="0">
                <a:latin typeface="Palatino Linotype" panose="02040502050505030304" pitchFamily="18" charset="0"/>
              </a:rPr>
              <a:t>&lt;&lt; used for display output.</a:t>
            </a:r>
          </a:p>
          <a:p>
            <a:pPr>
              <a:buFont typeface="Wingdings" panose="05000000000000000000" pitchFamily="2" charset="2"/>
              <a:buChar char="v"/>
            </a:pPr>
            <a:r>
              <a:rPr lang="en-US" sz="2400" kern="0" dirty="0" smtClean="0">
                <a:solidFill>
                  <a:srgbClr val="000000"/>
                </a:solidFill>
                <a:latin typeface="Palatino Linotype" panose="02040502050505030304" pitchFamily="18" charset="0"/>
              </a:rPr>
              <a:t> The </a:t>
            </a:r>
            <a:r>
              <a:rPr lang="en-US" sz="2400" kern="0" dirty="0">
                <a:solidFill>
                  <a:srgbClr val="000000"/>
                </a:solidFill>
                <a:latin typeface="Palatino Linotype" panose="02040502050505030304" pitchFamily="18" charset="0"/>
              </a:rPr>
              <a:t>&lt;&lt; operator is referred to as the </a:t>
            </a:r>
            <a:r>
              <a:rPr lang="en-US" sz="2400" b="1" kern="0" dirty="0">
                <a:solidFill>
                  <a:srgbClr val="000000"/>
                </a:solidFill>
                <a:latin typeface="Palatino Linotype" panose="02040502050505030304" pitchFamily="18" charset="0"/>
              </a:rPr>
              <a:t>stream insertion operator</a:t>
            </a:r>
            <a:r>
              <a:rPr lang="en-US" sz="2400" kern="0" dirty="0">
                <a:solidFill>
                  <a:srgbClr val="000000"/>
                </a:solidFill>
                <a:latin typeface="Palatino Linotype" panose="02040502050505030304" pitchFamily="18" charset="0"/>
              </a:rPr>
              <a:t>. </a:t>
            </a:r>
          </a:p>
          <a:p>
            <a:pPr>
              <a:buFont typeface="Wingdings" panose="05000000000000000000" pitchFamily="2" charset="2"/>
              <a:buChar char="v"/>
            </a:pPr>
            <a:r>
              <a:rPr lang="en-US" sz="2400" dirty="0" smtClean="0">
                <a:latin typeface="Palatino Linotype" panose="02040502050505030304" pitchFamily="18" charset="0"/>
              </a:rPr>
              <a:t> Return 0: </a:t>
            </a:r>
            <a:r>
              <a:rPr lang="en-US" sz="2400" kern="0" dirty="0">
                <a:solidFill>
                  <a:srgbClr val="000000"/>
                </a:solidFill>
                <a:latin typeface="Palatino Linotype" panose="02040502050505030304" pitchFamily="18" charset="0"/>
              </a:rPr>
              <a:t>Use to </a:t>
            </a:r>
            <a:r>
              <a:rPr lang="en-US" sz="2400" b="1" kern="0" dirty="0">
                <a:solidFill>
                  <a:srgbClr val="000000"/>
                </a:solidFill>
                <a:latin typeface="Palatino Linotype" panose="02040502050505030304" pitchFamily="18" charset="0"/>
              </a:rPr>
              <a:t>EXIT </a:t>
            </a:r>
            <a:r>
              <a:rPr lang="en-US" sz="2400" kern="0" dirty="0">
                <a:solidFill>
                  <a:srgbClr val="000000"/>
                </a:solidFill>
                <a:latin typeface="Palatino Linotype" panose="02040502050505030304" pitchFamily="18" charset="0"/>
              </a:rPr>
              <a:t>function</a:t>
            </a:r>
          </a:p>
          <a:p>
            <a:endParaRPr lang="en-US" dirty="0">
              <a:latin typeface="Palatino Linotype" panose="02040502050505030304" pitchFamily="18" charset="0"/>
            </a:endParaRPr>
          </a:p>
        </p:txBody>
      </p:sp>
    </p:spTree>
    <p:extLst>
      <p:ext uri="{BB962C8B-B14F-4D97-AF65-F5344CB8AC3E}">
        <p14:creationId xmlns:p14="http://schemas.microsoft.com/office/powerpoint/2010/main" val="344691831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3052482" y="470647"/>
            <a:ext cx="5930153" cy="707886"/>
          </a:xfrm>
          <a:prstGeom prst="rect">
            <a:avLst/>
          </a:prstGeom>
          <a:noFill/>
        </p:spPr>
        <p:txBody>
          <a:bodyPr wrap="square" rtlCol="0">
            <a:spAutoFit/>
          </a:bodyPr>
          <a:lstStyle/>
          <a:p>
            <a:pPr algn="ctr"/>
            <a:r>
              <a:rPr lang="en-US" sz="4000" b="1" dirty="0" smtClean="0">
                <a:solidFill>
                  <a:schemeClr val="accent1"/>
                </a:solidFill>
                <a:latin typeface="Palatino Linotype" panose="02040502050505030304" pitchFamily="18" charset="0"/>
              </a:rPr>
              <a:t>Comments in C++</a:t>
            </a:r>
            <a:endParaRPr lang="en-US" sz="4000" dirty="0"/>
          </a:p>
        </p:txBody>
      </p:sp>
      <p:sp>
        <p:nvSpPr>
          <p:cNvPr id="4" name="TextBox 3"/>
          <p:cNvSpPr txBox="1"/>
          <p:nvPr/>
        </p:nvSpPr>
        <p:spPr>
          <a:xfrm>
            <a:off x="1122829" y="1514710"/>
            <a:ext cx="9789458" cy="1754326"/>
          </a:xfrm>
          <a:prstGeom prst="rect">
            <a:avLst/>
          </a:prstGeom>
          <a:noFill/>
        </p:spPr>
        <p:txBody>
          <a:bodyPr wrap="square" rtlCol="0">
            <a:spAutoFit/>
          </a:bodyPr>
          <a:lstStyle/>
          <a:p>
            <a:pPr marL="342900" indent="-342900" algn="just">
              <a:buFont typeface="Wingdings" panose="05000000000000000000" pitchFamily="2" charset="2"/>
              <a:buChar char="v"/>
            </a:pPr>
            <a:r>
              <a:rPr lang="en-US" sz="2400" b="1" dirty="0" smtClean="0">
                <a:latin typeface="Palatino Linotype" panose="02040502050505030304" pitchFamily="18" charset="0"/>
              </a:rPr>
              <a:t>Single-line Comments: </a:t>
            </a:r>
            <a:r>
              <a:rPr lang="en-US" sz="2400" dirty="0" smtClean="0">
                <a:latin typeface="Palatino Linotype" panose="02040502050505030304" pitchFamily="18" charset="0"/>
              </a:rPr>
              <a:t>Using // to comment out a single line.</a:t>
            </a:r>
          </a:p>
          <a:p>
            <a:pPr marL="342900" indent="-342900" algn="just">
              <a:buFont typeface="Wingdings" panose="05000000000000000000" pitchFamily="2" charset="2"/>
              <a:buChar char="v"/>
            </a:pPr>
            <a:r>
              <a:rPr lang="en-US" sz="2400" b="1" dirty="0" smtClean="0">
                <a:latin typeface="Palatino Linotype" panose="02040502050505030304" pitchFamily="18" charset="0"/>
              </a:rPr>
              <a:t>Multi-line Comments: </a:t>
            </a:r>
            <a:r>
              <a:rPr lang="en-US" sz="2400" dirty="0" smtClean="0">
                <a:latin typeface="Palatino Linotype" panose="02040502050505030304" pitchFamily="18" charset="0"/>
              </a:rPr>
              <a:t>Using /* ... */ to comment out multiple lines.</a:t>
            </a:r>
          </a:p>
          <a:p>
            <a:pPr marL="342900" indent="-342900" algn="just">
              <a:buFont typeface="Wingdings" panose="05000000000000000000" pitchFamily="2" charset="2"/>
              <a:buChar char="v"/>
            </a:pPr>
            <a:r>
              <a:rPr lang="en-US" sz="2400" dirty="0" smtClean="0">
                <a:latin typeface="Palatino Linotype" panose="02040502050505030304" pitchFamily="18" charset="0"/>
              </a:rPr>
              <a:t>Importance of comments for code readability and maintenance.</a:t>
            </a:r>
          </a:p>
          <a:p>
            <a:endParaRPr lang="en-US" dirty="0" smtClean="0"/>
          </a:p>
          <a:p>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11106" y="2913304"/>
            <a:ext cx="7072483" cy="3366473"/>
          </a:xfrm>
          <a:prstGeom prst="rect">
            <a:avLst/>
          </a:prstGeom>
        </p:spPr>
      </p:pic>
    </p:spTree>
    <p:extLst>
      <p:ext uri="{BB962C8B-B14F-4D97-AF65-F5344CB8AC3E}">
        <p14:creationId xmlns:p14="http://schemas.microsoft.com/office/powerpoint/2010/main" val="42713104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4174" y="94130"/>
            <a:ext cx="10058400" cy="1450757"/>
          </a:xfrm>
        </p:spPr>
        <p:txBody>
          <a:bodyPr>
            <a:normAutofit/>
          </a:bodyPr>
          <a:lstStyle/>
          <a:p>
            <a:pPr algn="ctr"/>
            <a:r>
              <a:rPr lang="en-US" sz="4000" b="1" dirty="0">
                <a:solidFill>
                  <a:schemeClr val="accent1"/>
                </a:solidFill>
                <a:latin typeface="Palatino Linotype" panose="02040502050505030304" pitchFamily="18" charset="0"/>
              </a:rPr>
              <a:t>Introduction to </a:t>
            </a:r>
            <a:r>
              <a:rPr lang="en-US" sz="4000" b="1" dirty="0" smtClean="0">
                <a:solidFill>
                  <a:schemeClr val="accent1"/>
                </a:solidFill>
                <a:latin typeface="Palatino Linotype" panose="02040502050505030304" pitchFamily="18" charset="0"/>
              </a:rPr>
              <a:t>Class </a:t>
            </a:r>
            <a:r>
              <a:rPr lang="en-US" sz="4000" b="1" dirty="0">
                <a:solidFill>
                  <a:schemeClr val="accent1"/>
                </a:solidFill>
                <a:latin typeface="Palatino Linotype" panose="02040502050505030304" pitchFamily="18" charset="0"/>
              </a:rPr>
              <a:t>in C++</a:t>
            </a:r>
          </a:p>
        </p:txBody>
      </p:sp>
      <p:sp>
        <p:nvSpPr>
          <p:cNvPr id="7" name="TextBox 6"/>
          <p:cNvSpPr txBox="1"/>
          <p:nvPr/>
        </p:nvSpPr>
        <p:spPr>
          <a:xfrm>
            <a:off x="1020968" y="2043953"/>
            <a:ext cx="10264812" cy="5693866"/>
          </a:xfrm>
          <a:prstGeom prst="rect">
            <a:avLst/>
          </a:prstGeom>
          <a:noFill/>
        </p:spPr>
        <p:txBody>
          <a:bodyPr wrap="square" rtlCol="0">
            <a:spAutoFit/>
          </a:bodyPr>
          <a:lstStyle/>
          <a:p>
            <a:pPr marL="457200" indent="-457200" algn="just">
              <a:buFont typeface="Wingdings" panose="05000000000000000000" pitchFamily="2" charset="2"/>
              <a:buChar char="v"/>
            </a:pPr>
            <a:r>
              <a:rPr lang="en-US" sz="2800" dirty="0">
                <a:latin typeface="Palatino Linotype" panose="02040502050505030304" pitchFamily="18" charset="0"/>
              </a:rPr>
              <a:t>B</a:t>
            </a:r>
            <a:r>
              <a:rPr lang="en-US" sz="2800" dirty="0" smtClean="0">
                <a:latin typeface="Palatino Linotype" panose="02040502050505030304" pitchFamily="18" charset="0"/>
              </a:rPr>
              <a:t>lueprint for objects.</a:t>
            </a:r>
          </a:p>
          <a:p>
            <a:pPr marL="457200" indent="-457200" algn="just">
              <a:buFont typeface="Wingdings" panose="05000000000000000000" pitchFamily="2" charset="2"/>
              <a:buChar char="v"/>
            </a:pPr>
            <a:endParaRPr lang="en-US" sz="2800" dirty="0" smtClean="0">
              <a:latin typeface="Palatino Linotype" panose="02040502050505030304" pitchFamily="18" charset="0"/>
            </a:endParaRPr>
          </a:p>
          <a:p>
            <a:pPr marL="457200" indent="-457200" algn="just">
              <a:buFont typeface="Wingdings" panose="05000000000000000000" pitchFamily="2" charset="2"/>
              <a:buChar char="v"/>
            </a:pPr>
            <a:r>
              <a:rPr lang="en-US" sz="2800" dirty="0">
                <a:latin typeface="Palatino Linotype" panose="02040502050505030304" pitchFamily="18" charset="0"/>
              </a:rPr>
              <a:t>C</a:t>
            </a:r>
            <a:r>
              <a:rPr lang="en-US" sz="2800" dirty="0" smtClean="0">
                <a:latin typeface="Palatino Linotype" panose="02040502050505030304" pitchFamily="18" charset="0"/>
              </a:rPr>
              <a:t>ollection of related data and function under a single name.</a:t>
            </a:r>
          </a:p>
          <a:p>
            <a:pPr marL="457200" indent="-457200" algn="just">
              <a:buFont typeface="Wingdings" panose="05000000000000000000" pitchFamily="2" charset="2"/>
              <a:buChar char="v"/>
            </a:pPr>
            <a:endParaRPr lang="en-US" sz="2800" dirty="0" smtClean="0">
              <a:latin typeface="Palatino Linotype" panose="02040502050505030304" pitchFamily="18" charset="0"/>
            </a:endParaRPr>
          </a:p>
          <a:p>
            <a:pPr marL="457200" indent="-457200" algn="just">
              <a:buFont typeface="Wingdings" panose="05000000000000000000" pitchFamily="2" charset="2"/>
              <a:buChar char="v"/>
            </a:pPr>
            <a:r>
              <a:rPr lang="en-US" sz="2800" dirty="0" smtClean="0">
                <a:latin typeface="Palatino Linotype" panose="02040502050505030304" pitchFamily="18" charset="0"/>
              </a:rPr>
              <a:t>Way of organizing information about a type of data so a programmer can reuse elements when making multiple instances of that data type.</a:t>
            </a:r>
          </a:p>
          <a:p>
            <a:pPr marL="457200" indent="-457200" algn="just">
              <a:buFont typeface="Wingdings" panose="05000000000000000000" pitchFamily="2" charset="2"/>
              <a:buChar char="v"/>
            </a:pPr>
            <a:endParaRPr lang="en-US" sz="2800" dirty="0" smtClean="0">
              <a:latin typeface="Palatino Linotype" panose="02040502050505030304" pitchFamily="18" charset="0"/>
            </a:endParaRPr>
          </a:p>
          <a:p>
            <a:pPr marL="457200" indent="-457200" algn="just">
              <a:buFont typeface="Wingdings" panose="05000000000000000000" pitchFamily="2" charset="2"/>
              <a:buChar char="v"/>
            </a:pPr>
            <a:r>
              <a:rPr lang="en-US" sz="2800" dirty="0" smtClean="0">
                <a:latin typeface="Palatino Linotype" panose="02040502050505030304" pitchFamily="18" charset="0"/>
              </a:rPr>
              <a:t>Has mutual methods.</a:t>
            </a:r>
          </a:p>
          <a:p>
            <a:pPr marL="457200" indent="-457200" algn="just">
              <a:buFont typeface="Wingdings" panose="05000000000000000000" pitchFamily="2" charset="2"/>
              <a:buChar char="v"/>
            </a:pPr>
            <a:endParaRPr lang="en-US" sz="2800" b="1" dirty="0" smtClean="0">
              <a:latin typeface="Palatino Linotype" panose="02040502050505030304" pitchFamily="18" charset="0"/>
            </a:endParaRPr>
          </a:p>
          <a:p>
            <a:pPr marL="457200" indent="-457200" algn="just">
              <a:buFont typeface="Wingdings" panose="05000000000000000000" pitchFamily="2" charset="2"/>
              <a:buChar char="v"/>
            </a:pPr>
            <a:endParaRPr lang="en-US" sz="2800" dirty="0" smtClean="0">
              <a:latin typeface="Palatino Linotype" panose="02040502050505030304" pitchFamily="18" charset="0"/>
            </a:endParaRPr>
          </a:p>
          <a:p>
            <a:pPr marL="457200" indent="-457200" algn="just">
              <a:buFont typeface="Wingdings" panose="05000000000000000000" pitchFamily="2" charset="2"/>
              <a:buChar char="v"/>
            </a:pPr>
            <a:endParaRPr lang="en-US" sz="2800" dirty="0" smtClean="0">
              <a:latin typeface="Palatino Linotype" panose="02040502050505030304" pitchFamily="18" charset="0"/>
            </a:endParaRPr>
          </a:p>
          <a:p>
            <a:pPr marL="457200" indent="-457200" algn="just">
              <a:buFont typeface="Wingdings" panose="05000000000000000000" pitchFamily="2" charset="2"/>
              <a:buChar char="v"/>
            </a:pPr>
            <a:endParaRPr lang="en-US" sz="2800" dirty="0">
              <a:latin typeface="Palatino Linotype" panose="02040502050505030304" pitchFamily="18" charset="0"/>
            </a:endParaRPr>
          </a:p>
        </p:txBody>
      </p:sp>
      <p:sp>
        <p:nvSpPr>
          <p:cNvPr id="6" name="Rectangle 4"/>
          <p:cNvSpPr>
            <a:spLocks noChangeArrowheads="1"/>
          </p:cNvSpPr>
          <p:nvPr/>
        </p:nvSpPr>
        <p:spPr bwMode="auto">
          <a:xfrm>
            <a:off x="0" y="-323165"/>
            <a:ext cx="24878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76844209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4174" y="94130"/>
            <a:ext cx="10058400" cy="1450757"/>
          </a:xfrm>
        </p:spPr>
        <p:txBody>
          <a:bodyPr>
            <a:normAutofit/>
          </a:bodyPr>
          <a:lstStyle/>
          <a:p>
            <a:pPr algn="ctr"/>
            <a:r>
              <a:rPr lang="en-US" sz="4000" b="1" dirty="0">
                <a:solidFill>
                  <a:schemeClr val="accent1"/>
                </a:solidFill>
                <a:latin typeface="Palatino Linotype" panose="02040502050505030304" pitchFamily="18" charset="0"/>
              </a:rPr>
              <a:t>Introduction to </a:t>
            </a:r>
            <a:r>
              <a:rPr lang="en-US" sz="4000" b="1" dirty="0" smtClean="0">
                <a:solidFill>
                  <a:schemeClr val="accent1"/>
                </a:solidFill>
                <a:latin typeface="Palatino Linotype" panose="02040502050505030304" pitchFamily="18" charset="0"/>
              </a:rPr>
              <a:t>Class </a:t>
            </a:r>
            <a:r>
              <a:rPr lang="en-US" sz="4000" b="1" dirty="0">
                <a:solidFill>
                  <a:schemeClr val="accent1"/>
                </a:solidFill>
                <a:latin typeface="Palatino Linotype" panose="02040502050505030304" pitchFamily="18" charset="0"/>
              </a:rPr>
              <a:t>in C</a:t>
            </a:r>
            <a:r>
              <a:rPr lang="en-US" sz="4000" b="1" dirty="0" smtClean="0">
                <a:solidFill>
                  <a:schemeClr val="accent1"/>
                </a:solidFill>
                <a:latin typeface="Palatino Linotype" panose="02040502050505030304" pitchFamily="18" charset="0"/>
              </a:rPr>
              <a:t>++ (Continue..)</a:t>
            </a:r>
            <a:endParaRPr lang="en-US" sz="4000" b="1" dirty="0">
              <a:solidFill>
                <a:schemeClr val="accent1"/>
              </a:solidFill>
              <a:latin typeface="Palatino Linotype" panose="02040502050505030304" pitchFamily="18" charset="0"/>
            </a:endParaRPr>
          </a:p>
        </p:txBody>
      </p:sp>
      <p:sp>
        <p:nvSpPr>
          <p:cNvPr id="7" name="TextBox 6"/>
          <p:cNvSpPr txBox="1"/>
          <p:nvPr/>
        </p:nvSpPr>
        <p:spPr>
          <a:xfrm>
            <a:off x="819261" y="1544887"/>
            <a:ext cx="10879679" cy="6124754"/>
          </a:xfrm>
          <a:prstGeom prst="rect">
            <a:avLst/>
          </a:prstGeom>
          <a:noFill/>
        </p:spPr>
        <p:txBody>
          <a:bodyPr wrap="square" rtlCol="0">
            <a:spAutoFit/>
          </a:bodyPr>
          <a:lstStyle/>
          <a:p>
            <a:pPr marL="457200" indent="-457200" algn="just">
              <a:buFont typeface="Wingdings" panose="05000000000000000000" pitchFamily="2" charset="2"/>
              <a:buChar char="v"/>
            </a:pPr>
            <a:endParaRPr lang="en-US" sz="2800" dirty="0" smtClean="0">
              <a:latin typeface="Palatino Linotype" panose="02040502050505030304" pitchFamily="18" charset="0"/>
            </a:endParaRPr>
          </a:p>
          <a:p>
            <a:pPr marL="457200" indent="-457200" algn="just">
              <a:buFont typeface="Wingdings" panose="05000000000000000000" pitchFamily="2" charset="2"/>
              <a:buChar char="v"/>
            </a:pPr>
            <a:r>
              <a:rPr lang="en-US" sz="2800" dirty="0" smtClean="0">
                <a:latin typeface="Palatino Linotype" panose="02040502050505030304" pitchFamily="18" charset="0"/>
              </a:rPr>
              <a:t>A class in OOP can contain methods, fields, constructors, nested class, interface etc.</a:t>
            </a:r>
          </a:p>
          <a:p>
            <a:pPr marL="457200" indent="-457200" algn="just">
              <a:buFont typeface="Wingdings" panose="05000000000000000000" pitchFamily="2" charset="2"/>
              <a:buChar char="v"/>
            </a:pPr>
            <a:endParaRPr lang="en-US" sz="2800" dirty="0">
              <a:latin typeface="Palatino Linotype" panose="02040502050505030304" pitchFamily="18" charset="0"/>
            </a:endParaRPr>
          </a:p>
          <a:p>
            <a:pPr marL="457200" indent="-457200" algn="just">
              <a:buFont typeface="Wingdings" panose="05000000000000000000" pitchFamily="2" charset="2"/>
              <a:buChar char="v"/>
            </a:pPr>
            <a:r>
              <a:rPr lang="en-US" sz="2800" dirty="0" smtClean="0">
                <a:latin typeface="Palatino Linotype" panose="02040502050505030304" pitchFamily="18" charset="0"/>
              </a:rPr>
              <a:t>A C++ program can have any number of classes. </a:t>
            </a:r>
          </a:p>
          <a:p>
            <a:pPr marL="457200" indent="-457200" algn="just">
              <a:buFont typeface="Wingdings" panose="05000000000000000000" pitchFamily="2" charset="2"/>
              <a:buChar char="v"/>
            </a:pPr>
            <a:endParaRPr lang="en-US" sz="2800" dirty="0" smtClean="0">
              <a:latin typeface="Palatino Linotype" panose="02040502050505030304" pitchFamily="18" charset="0"/>
            </a:endParaRPr>
          </a:p>
          <a:p>
            <a:pPr marL="457200" indent="-457200" algn="just">
              <a:buFont typeface="Wingdings" panose="05000000000000000000" pitchFamily="2" charset="2"/>
              <a:buChar char="v"/>
            </a:pPr>
            <a:r>
              <a:rPr lang="en-US" sz="2800" dirty="0" smtClean="0">
                <a:latin typeface="Palatino Linotype" panose="02040502050505030304" pitchFamily="18" charset="0"/>
              </a:rPr>
              <a:t>Do not consume any memory until the objects are created.</a:t>
            </a:r>
          </a:p>
          <a:p>
            <a:pPr marL="457200" indent="-457200" algn="just">
              <a:buFont typeface="Wingdings" panose="05000000000000000000" pitchFamily="2" charset="2"/>
              <a:buChar char="v"/>
            </a:pPr>
            <a:endParaRPr lang="en-US" sz="2800" dirty="0" smtClean="0">
              <a:latin typeface="Palatino Linotype" panose="02040502050505030304" pitchFamily="18" charset="0"/>
            </a:endParaRPr>
          </a:p>
          <a:p>
            <a:pPr marL="457200" indent="-457200" algn="just">
              <a:buFont typeface="Wingdings" panose="05000000000000000000" pitchFamily="2" charset="2"/>
              <a:buChar char="v"/>
            </a:pPr>
            <a:r>
              <a:rPr lang="en-US" sz="2800" dirty="0" smtClean="0">
                <a:latin typeface="Palatino Linotype" panose="02040502050505030304" pitchFamily="18" charset="0"/>
              </a:rPr>
              <a:t>When related data and functions are kept under a class, it helps to visualize the complex problem efficiently and effectively.</a:t>
            </a:r>
          </a:p>
          <a:p>
            <a:pPr marL="457200" indent="-457200" algn="just">
              <a:buFont typeface="Wingdings" panose="05000000000000000000" pitchFamily="2" charset="2"/>
              <a:buChar char="v"/>
            </a:pPr>
            <a:endParaRPr lang="en-US" sz="2800" dirty="0" smtClean="0">
              <a:latin typeface="Palatino Linotype" panose="02040502050505030304" pitchFamily="18" charset="0"/>
            </a:endParaRPr>
          </a:p>
          <a:p>
            <a:pPr marL="457200" indent="-457200" algn="just">
              <a:buFont typeface="Wingdings" panose="05000000000000000000" pitchFamily="2" charset="2"/>
              <a:buChar char="v"/>
            </a:pPr>
            <a:endParaRPr lang="en-US" sz="2800" dirty="0" smtClean="0">
              <a:latin typeface="Palatino Linotype" panose="02040502050505030304" pitchFamily="18" charset="0"/>
            </a:endParaRPr>
          </a:p>
          <a:p>
            <a:pPr marL="457200" indent="-457200" algn="just">
              <a:buFont typeface="Wingdings" panose="05000000000000000000" pitchFamily="2" charset="2"/>
              <a:buChar char="v"/>
            </a:pPr>
            <a:endParaRPr lang="en-US" sz="2800" dirty="0" smtClean="0">
              <a:latin typeface="Palatino Linotype" panose="02040502050505030304" pitchFamily="18" charset="0"/>
            </a:endParaRPr>
          </a:p>
          <a:p>
            <a:pPr marL="457200" indent="-457200" algn="just">
              <a:buFont typeface="Wingdings" panose="05000000000000000000" pitchFamily="2" charset="2"/>
              <a:buChar char="v"/>
            </a:pPr>
            <a:endParaRPr lang="en-US" sz="2800" dirty="0">
              <a:latin typeface="Palatino Linotype" panose="02040502050505030304" pitchFamily="18" charset="0"/>
            </a:endParaRPr>
          </a:p>
        </p:txBody>
      </p:sp>
      <p:sp>
        <p:nvSpPr>
          <p:cNvPr id="6" name="Rectangle 4"/>
          <p:cNvSpPr>
            <a:spLocks noChangeArrowheads="1"/>
          </p:cNvSpPr>
          <p:nvPr/>
        </p:nvSpPr>
        <p:spPr bwMode="auto">
          <a:xfrm>
            <a:off x="0" y="-323165"/>
            <a:ext cx="24878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4303422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24174" y="94130"/>
            <a:ext cx="10058400" cy="1450757"/>
          </a:xfrm>
        </p:spPr>
        <p:txBody>
          <a:bodyPr>
            <a:normAutofit/>
          </a:bodyPr>
          <a:lstStyle/>
          <a:p>
            <a:pPr algn="ctr"/>
            <a:r>
              <a:rPr lang="en-US" sz="4000" b="1" dirty="0">
                <a:solidFill>
                  <a:schemeClr val="accent1"/>
                </a:solidFill>
                <a:latin typeface="Palatino Linotype" panose="02040502050505030304" pitchFamily="18" charset="0"/>
              </a:rPr>
              <a:t>Introduction to </a:t>
            </a:r>
            <a:r>
              <a:rPr lang="en-US" sz="4000" b="1" dirty="0" smtClean="0">
                <a:solidFill>
                  <a:schemeClr val="accent1"/>
                </a:solidFill>
                <a:latin typeface="Palatino Linotype" panose="02040502050505030304" pitchFamily="18" charset="0"/>
              </a:rPr>
              <a:t>Object </a:t>
            </a:r>
            <a:r>
              <a:rPr lang="en-US" sz="4000" b="1" dirty="0">
                <a:solidFill>
                  <a:schemeClr val="accent1"/>
                </a:solidFill>
                <a:latin typeface="Palatino Linotype" panose="02040502050505030304" pitchFamily="18" charset="0"/>
              </a:rPr>
              <a:t>in C</a:t>
            </a:r>
            <a:r>
              <a:rPr lang="en-US" sz="4000" b="1" dirty="0" smtClean="0">
                <a:solidFill>
                  <a:schemeClr val="accent1"/>
                </a:solidFill>
                <a:latin typeface="Palatino Linotype" panose="02040502050505030304" pitchFamily="18" charset="0"/>
              </a:rPr>
              <a:t>++ </a:t>
            </a:r>
            <a:endParaRPr lang="en-US" sz="4000" b="1" dirty="0">
              <a:solidFill>
                <a:schemeClr val="accent1"/>
              </a:solidFill>
              <a:latin typeface="Palatino Linotype" panose="02040502050505030304" pitchFamily="18" charset="0"/>
            </a:endParaRPr>
          </a:p>
        </p:txBody>
      </p:sp>
      <p:sp>
        <p:nvSpPr>
          <p:cNvPr id="7" name="TextBox 6"/>
          <p:cNvSpPr txBox="1"/>
          <p:nvPr/>
        </p:nvSpPr>
        <p:spPr>
          <a:xfrm>
            <a:off x="967179" y="1868053"/>
            <a:ext cx="10879679" cy="5693866"/>
          </a:xfrm>
          <a:prstGeom prst="rect">
            <a:avLst/>
          </a:prstGeom>
          <a:noFill/>
        </p:spPr>
        <p:txBody>
          <a:bodyPr wrap="square" rtlCol="0">
            <a:spAutoFit/>
          </a:bodyPr>
          <a:lstStyle/>
          <a:p>
            <a:pPr marL="457200" indent="-457200" algn="just">
              <a:buFont typeface="Wingdings" panose="05000000000000000000" pitchFamily="2" charset="2"/>
              <a:buChar char="v"/>
            </a:pPr>
            <a:endParaRPr lang="en-US" sz="2800" dirty="0" smtClean="0">
              <a:latin typeface="Palatino Linotype" panose="02040502050505030304" pitchFamily="18" charset="0"/>
            </a:endParaRPr>
          </a:p>
          <a:p>
            <a:pPr marL="457200" indent="-457200" algn="just">
              <a:buFont typeface="Wingdings" panose="05000000000000000000" pitchFamily="2" charset="2"/>
              <a:buChar char="v"/>
            </a:pPr>
            <a:r>
              <a:rPr lang="en-US" sz="2800" dirty="0">
                <a:latin typeface="Palatino Linotype" panose="02040502050505030304" pitchFamily="18" charset="0"/>
              </a:rPr>
              <a:t>An Object is an instance of a Class. </a:t>
            </a:r>
            <a:endParaRPr lang="en-US" sz="2800" dirty="0" smtClean="0">
              <a:latin typeface="Palatino Linotype" panose="02040502050505030304" pitchFamily="18" charset="0"/>
            </a:endParaRPr>
          </a:p>
          <a:p>
            <a:pPr marL="457200" indent="-457200" algn="just">
              <a:buFont typeface="Wingdings" panose="05000000000000000000" pitchFamily="2" charset="2"/>
              <a:buChar char="v"/>
            </a:pPr>
            <a:endParaRPr lang="en-US" sz="2800" dirty="0">
              <a:latin typeface="Palatino Linotype" panose="02040502050505030304" pitchFamily="18" charset="0"/>
            </a:endParaRPr>
          </a:p>
          <a:p>
            <a:pPr marL="457200" indent="-457200" algn="just">
              <a:buFont typeface="Wingdings" panose="05000000000000000000" pitchFamily="2" charset="2"/>
              <a:buChar char="v"/>
            </a:pPr>
            <a:r>
              <a:rPr lang="en-US" sz="2800" dirty="0">
                <a:latin typeface="Palatino Linotype" panose="02040502050505030304" pitchFamily="18" charset="0"/>
              </a:rPr>
              <a:t>To use the data and access functions defined in the class, you need to create objects.</a:t>
            </a:r>
            <a:endParaRPr lang="en-US" sz="2800" dirty="0" smtClean="0">
              <a:latin typeface="Palatino Linotype" panose="02040502050505030304" pitchFamily="18" charset="0"/>
            </a:endParaRPr>
          </a:p>
          <a:p>
            <a:pPr marL="457200" indent="-457200" algn="just">
              <a:buFont typeface="Wingdings" panose="05000000000000000000" pitchFamily="2" charset="2"/>
              <a:buChar char="v"/>
            </a:pPr>
            <a:endParaRPr lang="en-US" sz="2800" dirty="0" smtClean="0">
              <a:latin typeface="Palatino Linotype" panose="02040502050505030304" pitchFamily="18" charset="0"/>
            </a:endParaRPr>
          </a:p>
          <a:p>
            <a:pPr marL="457200" indent="-457200" algn="just">
              <a:buFont typeface="Wingdings" panose="05000000000000000000" pitchFamily="2" charset="2"/>
              <a:buChar char="v"/>
            </a:pPr>
            <a:r>
              <a:rPr lang="en-US" altLang="en-US" sz="2800" dirty="0" smtClean="0">
                <a:latin typeface="Palatino Linotype" panose="02040502050505030304" pitchFamily="18" charset="0"/>
              </a:rPr>
              <a:t>Syntax for declaring object:</a:t>
            </a:r>
          </a:p>
          <a:p>
            <a:pPr marL="457200" indent="-457200" algn="just">
              <a:buFont typeface="Wingdings" panose="05000000000000000000" pitchFamily="2" charset="2"/>
              <a:buChar char="v"/>
            </a:pPr>
            <a:endParaRPr lang="en-US" altLang="en-US" sz="2800" dirty="0" smtClean="0">
              <a:latin typeface="Consolas" panose="020B0609020204030204" pitchFamily="49" charset="0"/>
            </a:endParaRPr>
          </a:p>
          <a:p>
            <a:pPr algn="ctr"/>
            <a:r>
              <a:rPr lang="en-US" altLang="en-US" sz="2800" dirty="0">
                <a:latin typeface="Consolas" panose="020B0609020204030204" pitchFamily="49" charset="0"/>
              </a:rPr>
              <a:t> </a:t>
            </a:r>
            <a:r>
              <a:rPr lang="en-US" altLang="en-US" sz="2800" dirty="0" smtClean="0">
                <a:latin typeface="Consolas" panose="020B0609020204030204" pitchFamily="49" charset="0"/>
              </a:rPr>
              <a:t>  </a:t>
            </a:r>
            <a:r>
              <a:rPr lang="en-US" altLang="en-US" sz="2800" dirty="0" err="1" smtClean="0">
                <a:solidFill>
                  <a:srgbClr val="FF0000"/>
                </a:solidFill>
                <a:latin typeface="Consolas" panose="020B0609020204030204" pitchFamily="49" charset="0"/>
              </a:rPr>
              <a:t>ClassName</a:t>
            </a:r>
            <a:r>
              <a:rPr lang="en-US" altLang="en-US" sz="2800" dirty="0" smtClean="0">
                <a:solidFill>
                  <a:srgbClr val="FF0000"/>
                </a:solidFill>
                <a:latin typeface="Consolas" panose="020B0609020204030204" pitchFamily="49" charset="0"/>
              </a:rPr>
              <a:t> </a:t>
            </a:r>
            <a:r>
              <a:rPr lang="en-US" altLang="en-US" sz="2800" dirty="0" err="1">
                <a:solidFill>
                  <a:srgbClr val="FF0000"/>
                </a:solidFill>
                <a:latin typeface="Consolas" panose="020B0609020204030204" pitchFamily="49" charset="0"/>
              </a:rPr>
              <a:t>ObjectName</a:t>
            </a:r>
            <a:r>
              <a:rPr lang="en-US" altLang="en-US" sz="2800" dirty="0">
                <a:solidFill>
                  <a:srgbClr val="FF0000"/>
                </a:solidFill>
                <a:latin typeface="Consolas" panose="020B0609020204030204" pitchFamily="49" charset="0"/>
              </a:rPr>
              <a:t>;</a:t>
            </a:r>
            <a:r>
              <a:rPr lang="en-US" altLang="en-US" sz="2400" dirty="0">
                <a:solidFill>
                  <a:srgbClr val="FF0000"/>
                </a:solidFill>
              </a:rPr>
              <a:t> </a:t>
            </a:r>
            <a:endParaRPr lang="en-US" altLang="en-US" sz="4000" dirty="0">
              <a:solidFill>
                <a:srgbClr val="FF0000"/>
              </a:solidFill>
              <a:latin typeface="Arial" panose="020B0604020202020204" pitchFamily="34" charset="0"/>
            </a:endParaRPr>
          </a:p>
          <a:p>
            <a:pPr marL="457200" indent="-457200" algn="just">
              <a:buFont typeface="Wingdings" panose="05000000000000000000" pitchFamily="2" charset="2"/>
              <a:buChar char="v"/>
            </a:pPr>
            <a:endParaRPr lang="en-US" sz="2800" dirty="0" smtClean="0">
              <a:latin typeface="Palatino Linotype" panose="02040502050505030304" pitchFamily="18" charset="0"/>
            </a:endParaRPr>
          </a:p>
          <a:p>
            <a:pPr marL="457200" indent="-457200" algn="just">
              <a:buFont typeface="Wingdings" panose="05000000000000000000" pitchFamily="2" charset="2"/>
              <a:buChar char="v"/>
            </a:pPr>
            <a:endParaRPr lang="en-US" sz="2800" dirty="0" smtClean="0">
              <a:latin typeface="Palatino Linotype" panose="02040502050505030304" pitchFamily="18" charset="0"/>
            </a:endParaRPr>
          </a:p>
          <a:p>
            <a:pPr marL="457200" indent="-457200" algn="just">
              <a:buFont typeface="Wingdings" panose="05000000000000000000" pitchFamily="2" charset="2"/>
              <a:buChar char="v"/>
            </a:pPr>
            <a:endParaRPr lang="en-US" sz="2800" dirty="0" smtClean="0">
              <a:latin typeface="Palatino Linotype" panose="02040502050505030304" pitchFamily="18" charset="0"/>
            </a:endParaRPr>
          </a:p>
          <a:p>
            <a:pPr marL="457200" indent="-457200" algn="just">
              <a:buFont typeface="Wingdings" panose="05000000000000000000" pitchFamily="2" charset="2"/>
              <a:buChar char="v"/>
            </a:pPr>
            <a:endParaRPr lang="en-US" sz="2800" dirty="0">
              <a:latin typeface="Palatino Linotype" panose="02040502050505030304" pitchFamily="18" charset="0"/>
            </a:endParaRPr>
          </a:p>
        </p:txBody>
      </p:sp>
      <p:sp>
        <p:nvSpPr>
          <p:cNvPr id="6" name="Rectangle 4"/>
          <p:cNvSpPr>
            <a:spLocks noChangeArrowheads="1"/>
          </p:cNvSpPr>
          <p:nvPr/>
        </p:nvSpPr>
        <p:spPr bwMode="auto">
          <a:xfrm>
            <a:off x="0" y="-323165"/>
            <a:ext cx="248786" cy="64633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smtClean="0">
                <a:ln>
                  <a:noFill/>
                </a:ln>
                <a:solidFill>
                  <a:schemeClr val="tx1"/>
                </a:solidFill>
                <a:effectLst/>
                <a:latin typeface="Arial" panose="020B0604020202020204" pitchFamily="34" charset="0"/>
              </a:rPr>
              <a:t>.</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
        <p:nvSpPr>
          <p:cNvPr id="3" name="Rectangle 1"/>
          <p:cNvSpPr>
            <a:spLocks noChangeArrowheads="1"/>
          </p:cNvSpPr>
          <p:nvPr/>
        </p:nvSpPr>
        <p:spPr bwMode="auto">
          <a:xfrm>
            <a:off x="147918" y="368396"/>
            <a:ext cx="65" cy="366739"/>
          </a:xfrm>
          <a:prstGeom prst="rect">
            <a:avLst/>
          </a:prstGeom>
          <a:solidFill>
            <a:srgbClr val="E0E0E0"/>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88872"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smtClean="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91106644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111791"/>
            <a:ext cx="10058400" cy="1450757"/>
          </a:xfrm>
        </p:spPr>
        <p:txBody>
          <a:bodyPr>
            <a:normAutofit/>
          </a:bodyPr>
          <a:lstStyle/>
          <a:p>
            <a:pPr algn="ctr"/>
            <a:r>
              <a:rPr lang="en-US" sz="4000" b="1" dirty="0" smtClean="0">
                <a:solidFill>
                  <a:schemeClr val="accent1"/>
                </a:solidFill>
                <a:latin typeface="Palatino Linotype" panose="02040502050505030304" pitchFamily="18" charset="0"/>
              </a:rPr>
              <a:t>How to Declare Class </a:t>
            </a:r>
            <a:r>
              <a:rPr lang="en-US" sz="4000" b="1" dirty="0">
                <a:solidFill>
                  <a:schemeClr val="accent1"/>
                </a:solidFill>
                <a:latin typeface="Palatino Linotype" panose="02040502050505030304" pitchFamily="18" charset="0"/>
              </a:rPr>
              <a:t>in C</a:t>
            </a:r>
            <a:r>
              <a:rPr lang="en-US" sz="4000" b="1" dirty="0" smtClean="0">
                <a:solidFill>
                  <a:schemeClr val="accent1"/>
                </a:solidFill>
                <a:latin typeface="Palatino Linotype" panose="02040502050505030304" pitchFamily="18" charset="0"/>
              </a:rPr>
              <a:t>++?</a:t>
            </a:r>
            <a:endParaRPr lang="en-US" sz="4000" b="1" dirty="0">
              <a:solidFill>
                <a:schemeClr val="accent1"/>
              </a:solidFill>
              <a:latin typeface="Palatino Linotype" panose="02040502050505030304" pitchFamily="18" charset="0"/>
            </a:endParaRPr>
          </a:p>
        </p:txBody>
      </p:sp>
      <p:pic>
        <p:nvPicPr>
          <p:cNvPr id="5" name="Content Placeholder 4"/>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696451" y="2113877"/>
            <a:ext cx="8523314" cy="3800237"/>
          </a:xfrm>
        </p:spPr>
      </p:pic>
      <p:sp>
        <p:nvSpPr>
          <p:cNvPr id="7" name="TextBox 6"/>
          <p:cNvSpPr txBox="1"/>
          <p:nvPr/>
        </p:nvSpPr>
        <p:spPr>
          <a:xfrm>
            <a:off x="6844553" y="2113877"/>
            <a:ext cx="2756647" cy="1754326"/>
          </a:xfrm>
          <a:prstGeom prst="rect">
            <a:avLst/>
          </a:prstGeom>
          <a:noFill/>
          <a:ln>
            <a:solidFill>
              <a:schemeClr val="accent1">
                <a:lumMod val="75000"/>
              </a:schemeClr>
            </a:solidFill>
          </a:ln>
        </p:spPr>
        <p:txBody>
          <a:bodyPr wrap="square" rtlCol="0">
            <a:spAutoFit/>
          </a:bodyPr>
          <a:lstStyle/>
          <a:p>
            <a:endParaRPr lang="en-US" dirty="0" smtClean="0">
              <a:latin typeface="Palatino Linotype" panose="02040502050505030304" pitchFamily="18" charset="0"/>
            </a:endParaRPr>
          </a:p>
          <a:p>
            <a:pPr algn="just"/>
            <a:r>
              <a:rPr lang="en-US" dirty="0" smtClean="0">
                <a:latin typeface="Palatino Linotype" panose="02040502050505030304" pitchFamily="18" charset="0"/>
              </a:rPr>
              <a:t>Functions and variables    declared </a:t>
            </a:r>
            <a:r>
              <a:rPr lang="en-US" b="1" dirty="0" smtClean="0">
                <a:solidFill>
                  <a:srgbClr val="C00000"/>
                </a:solidFill>
                <a:latin typeface="Palatino Linotype" panose="02040502050505030304" pitchFamily="18" charset="0"/>
              </a:rPr>
              <a:t>inside a class  </a:t>
            </a:r>
            <a:r>
              <a:rPr lang="en-US" dirty="0" smtClean="0">
                <a:latin typeface="Palatino Linotype" panose="02040502050505030304" pitchFamily="18" charset="0"/>
              </a:rPr>
              <a:t>declaration are said to be </a:t>
            </a:r>
            <a:r>
              <a:rPr lang="en-US" b="1" dirty="0" smtClean="0">
                <a:solidFill>
                  <a:srgbClr val="C00000"/>
                </a:solidFill>
                <a:latin typeface="Palatino Linotype" panose="02040502050505030304" pitchFamily="18" charset="0"/>
              </a:rPr>
              <a:t>members</a:t>
            </a:r>
            <a:r>
              <a:rPr lang="en-US" dirty="0" smtClean="0">
                <a:latin typeface="Palatino Linotype" panose="02040502050505030304" pitchFamily="18" charset="0"/>
              </a:rPr>
              <a:t> of this class.</a:t>
            </a:r>
          </a:p>
          <a:p>
            <a:endParaRPr lang="en-US" dirty="0"/>
          </a:p>
        </p:txBody>
      </p:sp>
    </p:spTree>
    <p:extLst>
      <p:ext uri="{BB962C8B-B14F-4D97-AF65-F5344CB8AC3E}">
        <p14:creationId xmlns:p14="http://schemas.microsoft.com/office/powerpoint/2010/main" val="227795785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097280" y="111791"/>
            <a:ext cx="10058400" cy="1450757"/>
          </a:xfrm>
        </p:spPr>
        <p:txBody>
          <a:bodyPr>
            <a:normAutofit/>
          </a:bodyPr>
          <a:lstStyle/>
          <a:p>
            <a:pPr algn="ctr"/>
            <a:r>
              <a:rPr lang="en-US" sz="4000" b="1" dirty="0">
                <a:solidFill>
                  <a:schemeClr val="accent1"/>
                </a:solidFill>
                <a:latin typeface="Palatino Linotype" panose="02040502050505030304" pitchFamily="18" charset="0"/>
              </a:rPr>
              <a:t>Creating and </a:t>
            </a:r>
            <a:r>
              <a:rPr lang="en-US" sz="4000" b="1" dirty="0" smtClean="0">
                <a:solidFill>
                  <a:schemeClr val="accent1"/>
                </a:solidFill>
                <a:latin typeface="Palatino Linotype" panose="02040502050505030304" pitchFamily="18" charset="0"/>
              </a:rPr>
              <a:t>Using Objects </a:t>
            </a:r>
            <a:r>
              <a:rPr lang="en-US" sz="4000" b="1" dirty="0">
                <a:solidFill>
                  <a:schemeClr val="accent1"/>
                </a:solidFill>
                <a:latin typeface="Palatino Linotype" panose="02040502050505030304" pitchFamily="18" charset="0"/>
              </a:rPr>
              <a:t>of a C</a:t>
            </a:r>
            <a:r>
              <a:rPr lang="en-US" sz="4000" b="1" dirty="0" smtClean="0">
                <a:solidFill>
                  <a:schemeClr val="accent1"/>
                </a:solidFill>
                <a:latin typeface="Palatino Linotype" panose="02040502050505030304" pitchFamily="18" charset="0"/>
              </a:rPr>
              <a:t>lass</a:t>
            </a:r>
            <a:endParaRPr lang="en-US" sz="4000" b="1" dirty="0">
              <a:solidFill>
                <a:schemeClr val="accent1"/>
              </a:solidFill>
              <a:latin typeface="Palatino Linotype" panose="02040502050505030304" pitchFamily="18" charset="0"/>
            </a:endParaRPr>
          </a:p>
        </p:txBody>
      </p:sp>
      <p:pic>
        <p:nvPicPr>
          <p:cNvPr id="4" name="Content Placeholder 3"/>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3859306" y="2501154"/>
            <a:ext cx="5409512" cy="2470729"/>
          </a:xfrm>
        </p:spPr>
      </p:pic>
    </p:spTree>
    <p:extLst>
      <p:ext uri="{BB962C8B-B14F-4D97-AF65-F5344CB8AC3E}">
        <p14:creationId xmlns:p14="http://schemas.microsoft.com/office/powerpoint/2010/main" val="6226215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926080" y="1725438"/>
            <a:ext cx="10058400" cy="1450757"/>
          </a:xfrm>
        </p:spPr>
        <p:txBody>
          <a:bodyPr>
            <a:normAutofit/>
          </a:bodyPr>
          <a:lstStyle/>
          <a:p>
            <a:r>
              <a:rPr lang="en-US" sz="9600" dirty="0" smtClean="0">
                <a:latin typeface="Palatino Linotype" panose="02040502050505030304" pitchFamily="18" charset="0"/>
              </a:rPr>
              <a:t>Thank You.</a:t>
            </a:r>
            <a:endParaRPr lang="en-US" sz="9600" dirty="0">
              <a:latin typeface="Palatino Linotype" panose="02040502050505030304" pitchFamily="18" charset="0"/>
            </a:endParaRPr>
          </a:p>
        </p:txBody>
      </p:sp>
      <p:pic>
        <p:nvPicPr>
          <p:cNvPr id="3" name="Picture 2"/>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70648" y="3433202"/>
            <a:ext cx="2143125" cy="2143125"/>
          </a:xfrm>
          <a:prstGeom prst="rect">
            <a:avLst/>
          </a:prstGeom>
        </p:spPr>
      </p:pic>
    </p:spTree>
    <p:extLst>
      <p:ext uri="{BB962C8B-B14F-4D97-AF65-F5344CB8AC3E}">
        <p14:creationId xmlns:p14="http://schemas.microsoft.com/office/powerpoint/2010/main" val="297711517"/>
      </p:ext>
    </p:extLst>
  </p:cSld>
  <p:clrMapOvr>
    <a:masterClrMapping/>
  </p:clrMapOvr>
</p:sld>
</file>

<file path=ppt/theme/theme1.xml><?xml version="1.0" encoding="utf-8"?>
<a:theme xmlns:a="http://schemas.openxmlformats.org/drawingml/2006/main" name="Retrospect">
  <a:themeElements>
    <a:clrScheme name="Retrospect">
      <a:dk1>
        <a:sysClr val="windowText" lastClr="000000"/>
      </a:dk1>
      <a:lt1>
        <a:sysClr val="window" lastClr="FFFFFF"/>
      </a:lt1>
      <a:dk2>
        <a:srgbClr val="344068"/>
      </a:dk2>
      <a:lt2>
        <a:srgbClr val="D9E0E6"/>
      </a:lt2>
      <a:accent1>
        <a:srgbClr val="1CADE4"/>
      </a:accent1>
      <a:accent2>
        <a:srgbClr val="2683C6"/>
      </a:accent2>
      <a:accent3>
        <a:srgbClr val="28C4CC"/>
      </a:accent3>
      <a:accent4>
        <a:srgbClr val="42BA97"/>
      </a:accent4>
      <a:accent5>
        <a:srgbClr val="3E8853"/>
      </a:accent5>
      <a:accent6>
        <a:srgbClr val="62A39F"/>
      </a:accent6>
      <a:hlink>
        <a:srgbClr val="6EAC1C"/>
      </a:hlink>
      <a:folHlink>
        <a:srgbClr val="B26B02"/>
      </a:folHlink>
    </a:clrScheme>
    <a:fontScheme name="Retrospect">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Retrospect">
      <a:fillStyleLst>
        <a:solidFill>
          <a:schemeClr val="phClr"/>
        </a:solidFill>
        <a:gradFill rotWithShape="1">
          <a:gsLst>
            <a:gs pos="0">
              <a:schemeClr val="phClr">
                <a:tint val="65000"/>
                <a:shade val="92000"/>
                <a:satMod val="130000"/>
              </a:schemeClr>
            </a:gs>
            <a:gs pos="45000">
              <a:schemeClr val="phClr">
                <a:tint val="60000"/>
                <a:shade val="99000"/>
                <a:satMod val="120000"/>
              </a:schemeClr>
            </a:gs>
            <a:gs pos="100000">
              <a:schemeClr val="phClr">
                <a:tint val="55000"/>
                <a:satMod val="140000"/>
              </a:schemeClr>
            </a:gs>
          </a:gsLst>
          <a:path path="circle">
            <a:fillToRect l="100000" t="100000" r="100000" b="100000"/>
          </a:path>
        </a:gradFill>
        <a:gradFill rotWithShape="1">
          <a:gsLst>
            <a:gs pos="0">
              <a:schemeClr val="phClr">
                <a:shade val="85000"/>
                <a:satMod val="130000"/>
              </a:schemeClr>
            </a:gs>
            <a:gs pos="34000">
              <a:schemeClr val="phClr">
                <a:shade val="87000"/>
                <a:satMod val="125000"/>
              </a:schemeClr>
            </a:gs>
            <a:gs pos="70000">
              <a:schemeClr val="phClr">
                <a:tint val="100000"/>
                <a:shade val="90000"/>
                <a:satMod val="130000"/>
              </a:schemeClr>
            </a:gs>
            <a:gs pos="100000">
              <a:schemeClr val="phClr">
                <a:tint val="100000"/>
                <a:shade val="100000"/>
                <a:satMod val="110000"/>
              </a:schemeClr>
            </a:gs>
          </a:gsLst>
          <a:path path="circle">
            <a:fillToRect l="100000" t="100000" r="100000" b="100000"/>
          </a:path>
        </a:gradFill>
      </a:fillStyleLst>
      <a:lnStyleLst>
        <a:ln w="12700"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38100" dist="25400" dir="2700000" algn="br" rotWithShape="0">
              <a:srgbClr val="000000">
                <a:alpha val="60000"/>
              </a:srgbClr>
            </a:outerShdw>
          </a:effectLst>
        </a:effectStyle>
        <a:effectStyle>
          <a:effectLst>
            <a:outerShdw blurRad="44450" dist="25400" dir="2700000" algn="br" rotWithShape="0">
              <a:srgbClr val="000000">
                <a:alpha val="60000"/>
              </a:srgbClr>
            </a:outerShdw>
          </a:effectLst>
          <a:scene3d>
            <a:camera prst="orthographicFront">
              <a:rot lat="0" lon="0" rev="0"/>
            </a:camera>
            <a:lightRig rig="threePt" dir="t">
              <a:rot lat="0" lon="0" rev="19800000"/>
            </a:lightRig>
          </a:scene3d>
          <a:sp3d prstMaterial="flat">
            <a:bevelT w="25400" h="31750"/>
          </a:sp3d>
        </a:effectStyle>
      </a:effectStyleLst>
      <a:bgFillStyleLst>
        <a:solidFill>
          <a:schemeClr val="phClr"/>
        </a:solidFill>
        <a:solidFill>
          <a:schemeClr val="phClr">
            <a:tint val="90000"/>
            <a:shade val="97000"/>
            <a:satMod val="130000"/>
          </a:schemeClr>
        </a:solidFill>
        <a:gradFill rotWithShape="1">
          <a:gsLst>
            <a:gs pos="0">
              <a:schemeClr val="phClr">
                <a:tint val="96000"/>
                <a:shade val="99000"/>
                <a:satMod val="140000"/>
              </a:schemeClr>
            </a:gs>
            <a:gs pos="65000">
              <a:schemeClr val="phClr">
                <a:tint val="100000"/>
                <a:shade val="80000"/>
                <a:satMod val="130000"/>
              </a:schemeClr>
            </a:gs>
            <a:gs pos="100000">
              <a:schemeClr val="phClr">
                <a:tint val="100000"/>
                <a:shade val="48000"/>
                <a:satMod val="120000"/>
              </a:schemeClr>
            </a:gs>
          </a:gsLst>
          <a:lin ang="16200000" scaled="0"/>
        </a:gradFill>
      </a:bgFillStyleLst>
    </a:fmtScheme>
  </a:themeElements>
  <a:objectDefaults/>
  <a:extraClrSchemeLst/>
  <a:extLst>
    <a:ext uri="{05A4C25C-085E-4340-85A3-A5531E510DB2}">
      <thm15:themeFamily xmlns:thm15="http://schemas.microsoft.com/office/thememl/2012/main" name="Retrospect" id="{5F128B03-DCCA-4EEB-AB3B-CF2899314A46}" vid="{9CC26709-368C-4D72-9060-94E5B3FF3CD6}"/>
    </a:ext>
  </a:extLst>
</a:theme>
</file>

<file path=docProps/app.xml><?xml version="1.0" encoding="utf-8"?>
<Properties xmlns="http://schemas.openxmlformats.org/officeDocument/2006/extended-properties" xmlns:vt="http://schemas.openxmlformats.org/officeDocument/2006/docPropsVTypes">
  <Template>Retrospect</Template>
  <TotalTime>398</TotalTime>
  <Words>860</Words>
  <Application>Microsoft Office PowerPoint</Application>
  <PresentationFormat>Widescreen</PresentationFormat>
  <Paragraphs>144</Paragraphs>
  <Slides>21</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21</vt:i4>
      </vt:variant>
    </vt:vector>
  </HeadingPairs>
  <TitlesOfParts>
    <vt:vector size="28" baseType="lpstr">
      <vt:lpstr>Arial</vt:lpstr>
      <vt:lpstr>Calibri</vt:lpstr>
      <vt:lpstr>Calibri Light</vt:lpstr>
      <vt:lpstr>Consolas</vt:lpstr>
      <vt:lpstr>Palatino Linotype</vt:lpstr>
      <vt:lpstr>Wingdings</vt:lpstr>
      <vt:lpstr>Retrospect</vt:lpstr>
      <vt:lpstr>Lecture:1  An Overview of OOP and C++</vt:lpstr>
      <vt:lpstr>What is Object-Oriented Programming?</vt:lpstr>
      <vt:lpstr>Visualization</vt:lpstr>
      <vt:lpstr>Features of OOP</vt:lpstr>
      <vt:lpstr>Key Features of OOP</vt:lpstr>
      <vt:lpstr>Features of C++</vt:lpstr>
      <vt:lpstr>Evolution of C++: Major Versions</vt:lpstr>
      <vt:lpstr>Keywords in C++</vt:lpstr>
      <vt:lpstr>Keywords in C++ ( Continue..)</vt:lpstr>
      <vt:lpstr>Application of C++</vt:lpstr>
      <vt:lpstr>PowerPoint Presentation</vt:lpstr>
      <vt:lpstr>Basic Console Input / Output in C++</vt:lpstr>
      <vt:lpstr>Headers in C++</vt:lpstr>
      <vt:lpstr>Other Structural Contents in C++</vt:lpstr>
      <vt:lpstr>PowerPoint Presentation</vt:lpstr>
      <vt:lpstr>Introduction to Class in C++</vt:lpstr>
      <vt:lpstr>Introduction to Class in C++ (Continue..)</vt:lpstr>
      <vt:lpstr>Introduction to Object in C++ </vt:lpstr>
      <vt:lpstr>How to Declare Class in C++?</vt:lpstr>
      <vt:lpstr>Creating and Using Objects of a Class</vt:lpstr>
      <vt:lpstr>Thank You.</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Lecture:1  An Overview of OOP and C++</dc:title>
  <dc:creator>DELL</dc:creator>
  <cp:lastModifiedBy>DELL</cp:lastModifiedBy>
  <cp:revision>23</cp:revision>
  <dcterms:created xsi:type="dcterms:W3CDTF">2024-07-04T02:09:28Z</dcterms:created>
  <dcterms:modified xsi:type="dcterms:W3CDTF">2025-01-18T12:48:22Z</dcterms:modified>
</cp:coreProperties>
</file>