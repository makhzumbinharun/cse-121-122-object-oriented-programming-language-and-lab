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12192000" cy="6858000"/>
  <p:embeddedFontLst>
    <p:embeddedFont>
      <p:font typeface="Palatino Linotype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i9xfdq8TbuBGVMKsgd+LWcWT+M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alatinoLinotype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PalatinoLinotype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alatinoLinotype-bold.fntdata"/><Relationship Id="rId6" Type="http://schemas.openxmlformats.org/officeDocument/2006/relationships/slide" Target="slides/slide1.xml"/><Relationship Id="rId18" Type="http://schemas.openxmlformats.org/officeDocument/2006/relationships/font" Target="fonts/PalatinoLinotyp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title"/>
          </p:nvPr>
        </p:nvSpPr>
        <p:spPr>
          <a:xfrm>
            <a:off x="3541394" y="531177"/>
            <a:ext cx="510921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5"/>
          <p:cNvSpPr txBox="1"/>
          <p:nvPr>
            <p:ph type="title"/>
          </p:nvPr>
        </p:nvSpPr>
        <p:spPr>
          <a:xfrm>
            <a:off x="3541394" y="531177"/>
            <a:ext cx="510921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" type="body"/>
          </p:nvPr>
        </p:nvSpPr>
        <p:spPr>
          <a:xfrm>
            <a:off x="916305" y="1840229"/>
            <a:ext cx="10359389" cy="434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/>
          <p:nvPr>
            <p:ph type="title"/>
          </p:nvPr>
        </p:nvSpPr>
        <p:spPr>
          <a:xfrm>
            <a:off x="3541394" y="531177"/>
            <a:ext cx="510921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8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3541394" y="531177"/>
            <a:ext cx="510921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916305" y="1840229"/>
            <a:ext cx="10359389" cy="434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 txBox="1"/>
          <p:nvPr>
            <p:ph type="title"/>
          </p:nvPr>
        </p:nvSpPr>
        <p:spPr>
          <a:xfrm>
            <a:off x="1981200" y="838200"/>
            <a:ext cx="8555025" cy="1767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solidFill>
                  <a:srgbClr val="538CD5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Lecture:2</a:t>
            </a:r>
            <a:br>
              <a:rPr lang="en-US" sz="5400">
                <a:latin typeface="Palatino Linotype"/>
                <a:ea typeface="Palatino Linotype"/>
                <a:cs typeface="Palatino Linotype"/>
                <a:sym typeface="Palatino Linotype"/>
              </a:rPr>
            </a:br>
            <a:r>
              <a:rPr lang="en-US" sz="4800">
                <a:solidFill>
                  <a:srgbClr val="5F497A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Access Modifiers in C++</a:t>
            </a:r>
            <a:endParaRPr sz="4800">
              <a:solidFill>
                <a:srgbClr val="5F497A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1543050" y="4191000"/>
            <a:ext cx="8610600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accen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Prepared By: Sumaiya Binte Shahid</a:t>
            </a:r>
            <a:endParaRPr b="0" i="0" sz="2800" u="none" cap="none" strike="noStrike">
              <a:solidFill>
                <a:schemeClr val="accen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Lecturer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Department of CSE, BUBT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/>
          <p:nvPr>
            <p:ph type="title"/>
          </p:nvPr>
        </p:nvSpPr>
        <p:spPr>
          <a:xfrm>
            <a:off x="3524249" y="685800"/>
            <a:ext cx="514350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Access Modifiers in C++</a:t>
            </a:r>
            <a:endParaRPr/>
          </a:p>
        </p:txBody>
      </p:sp>
      <p:sp>
        <p:nvSpPr>
          <p:cNvPr id="54" name="Google Shape;54;p2"/>
          <p:cNvSpPr txBox="1"/>
          <p:nvPr>
            <p:ph idx="1" type="body"/>
          </p:nvPr>
        </p:nvSpPr>
        <p:spPr>
          <a:xfrm>
            <a:off x="916304" y="1676400"/>
            <a:ext cx="10359389" cy="4747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5F"/>
              </a:buClr>
              <a:buSzPts val="2400"/>
              <a:buFont typeface="Noto Sans Symbols"/>
              <a:buChar char="⮚"/>
            </a:pP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Access Modifiers or Access Specifiers in a class are used to </a:t>
            </a:r>
            <a:r>
              <a:rPr b="1" i="1" lang="en-US">
                <a:solidFill>
                  <a:srgbClr val="001F5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set the accessibility</a:t>
            </a:r>
            <a:endParaRPr/>
          </a:p>
          <a:p>
            <a:pPr indent="0" lvl="0" marL="355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of the class members.</a:t>
            </a:r>
            <a:endParaRPr/>
          </a:p>
          <a:p>
            <a:pPr indent="-342900" lvl="0" marL="355600" marR="5080" rtl="0" algn="just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1F5F"/>
              </a:buClr>
              <a:buSzPts val="2400"/>
              <a:buFont typeface="Noto Sans Symbols"/>
              <a:buChar char="⮚"/>
            </a:pP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It sets some restrictions on the class members not to get directly accessed by the  outside functions.</a:t>
            </a:r>
            <a:endParaRPr/>
          </a:p>
          <a:p>
            <a:pPr indent="-342900" lvl="0" marL="355600" rtl="0" algn="just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1F5F"/>
              </a:buClr>
              <a:buSzPts val="2400"/>
              <a:buFont typeface="Noto Sans Symbols"/>
              <a:buChar char="⮚"/>
            </a:pP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There are 3 types of access modifiers available in C++:</a:t>
            </a:r>
            <a:endParaRPr/>
          </a:p>
          <a:p>
            <a:pPr indent="-285750" lvl="1" marL="755650" rtl="0" algn="just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>
                <a:srgbClr val="001F5F"/>
              </a:buClr>
              <a:buSzPts val="2700"/>
              <a:buFont typeface="Noto Sans Symbols"/>
              <a:buChar char="✔"/>
            </a:pPr>
            <a:r>
              <a:rPr b="1" lang="en-US" sz="2800">
                <a:latin typeface="Palatino Linotype"/>
                <a:ea typeface="Palatino Linotype"/>
                <a:cs typeface="Palatino Linotype"/>
                <a:sym typeface="Palatino Linotype"/>
              </a:rPr>
              <a:t>Public</a:t>
            </a:r>
            <a:endParaRPr sz="2800"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85750" lvl="1" marL="755650" rtl="0" algn="just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1F5F"/>
              </a:buClr>
              <a:buSzPts val="2700"/>
              <a:buFont typeface="Noto Sans Symbols"/>
              <a:buChar char="✔"/>
            </a:pPr>
            <a:r>
              <a:rPr b="1" lang="en-US" sz="2800">
                <a:latin typeface="Palatino Linotype"/>
                <a:ea typeface="Palatino Linotype"/>
                <a:cs typeface="Palatino Linotype"/>
                <a:sym typeface="Palatino Linotype"/>
              </a:rPr>
              <a:t>Private</a:t>
            </a:r>
            <a:endParaRPr sz="2800"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85750" lvl="1" marL="755650" rtl="0" algn="just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1F5F"/>
              </a:buClr>
              <a:buSzPts val="2700"/>
              <a:buFont typeface="Noto Sans Symbols"/>
              <a:buChar char="✔"/>
            </a:pPr>
            <a:r>
              <a:rPr b="1" lang="en-US" sz="2800">
                <a:latin typeface="Palatino Linotype"/>
                <a:ea typeface="Palatino Linotype"/>
                <a:cs typeface="Palatino Linotype"/>
                <a:sym typeface="Palatino Linotype"/>
              </a:rPr>
              <a:t>Protected</a:t>
            </a:r>
            <a:endParaRPr sz="2800"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55600" marR="508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1F5F"/>
              </a:buClr>
              <a:buSzPts val="2400"/>
              <a:buFont typeface="Noto Sans Symbols"/>
              <a:buChar char="⮚"/>
            </a:pP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If we </a:t>
            </a:r>
            <a:r>
              <a:rPr b="1" i="1" lang="en-US">
                <a:solidFill>
                  <a:srgbClr val="001F5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do not specify any access modifiers </a:t>
            </a: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for the members inside the class then  by default the access modifier for the members will be </a:t>
            </a:r>
            <a:r>
              <a:rPr b="1" lang="en-US">
                <a:latin typeface="Palatino Linotype"/>
                <a:ea typeface="Palatino Linotype"/>
                <a:cs typeface="Palatino Linotype"/>
                <a:sym typeface="Palatino Linotype"/>
              </a:rPr>
              <a:t>Private</a:t>
            </a: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type="title"/>
          </p:nvPr>
        </p:nvSpPr>
        <p:spPr>
          <a:xfrm>
            <a:off x="3377563" y="609600"/>
            <a:ext cx="5437505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Access Modifier :: Public</a:t>
            </a:r>
            <a:endParaRPr/>
          </a:p>
        </p:txBody>
      </p:sp>
      <p:sp>
        <p:nvSpPr>
          <p:cNvPr id="60" name="Google Shape;60;p3"/>
          <p:cNvSpPr txBox="1"/>
          <p:nvPr/>
        </p:nvSpPr>
        <p:spPr>
          <a:xfrm>
            <a:off x="916939" y="1767204"/>
            <a:ext cx="10358755" cy="32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25">
            <a:spAutoFit/>
          </a:bodyPr>
          <a:lstStyle/>
          <a:p>
            <a:pPr indent="-342900" lvl="0" marL="355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5F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the class members declared under public will be avail.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55600" marR="5080" rtl="0" algn="just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1F5F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The data members and member functions declared public can be accessed able to  everyone by other classes too.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55600" marR="5080" rtl="0" algn="just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1F5F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The public members of a class can be accessed from anywhere in the program  using the direct member access operator (.) with the object of that class.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55600" marR="5080" rtl="0" algn="just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1F5F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 the below program the data member </a:t>
            </a:r>
            <a:r>
              <a:rPr i="1"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radius 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is public so we are allowed to  access it outside the class.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type="title"/>
          </p:nvPr>
        </p:nvSpPr>
        <p:spPr>
          <a:xfrm>
            <a:off x="3630294" y="531177"/>
            <a:ext cx="5285105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Access Modifier :: Public</a:t>
            </a:r>
            <a:endParaRPr/>
          </a:p>
        </p:txBody>
      </p:sp>
      <p:pic>
        <p:nvPicPr>
          <p:cNvPr id="66" name="Google Shape;6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7650" y="1561600"/>
            <a:ext cx="7842225" cy="529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>
            <p:ph type="title"/>
          </p:nvPr>
        </p:nvSpPr>
        <p:spPr>
          <a:xfrm>
            <a:off x="3541394" y="531177"/>
            <a:ext cx="5374006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Access Modifier :: Private</a:t>
            </a:r>
            <a:endParaRPr/>
          </a:p>
        </p:txBody>
      </p:sp>
      <p:sp>
        <p:nvSpPr>
          <p:cNvPr id="72" name="Google Shape;72;p5"/>
          <p:cNvSpPr txBox="1"/>
          <p:nvPr>
            <p:ph idx="1" type="body"/>
          </p:nvPr>
        </p:nvSpPr>
        <p:spPr>
          <a:xfrm>
            <a:off x="1066800" y="2133600"/>
            <a:ext cx="10359389" cy="238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5F"/>
              </a:buClr>
              <a:buSzPts val="2400"/>
              <a:buFont typeface="Noto Sans Symbols"/>
              <a:buChar char="⮚"/>
            </a:pP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The class members declared as </a:t>
            </a:r>
            <a:r>
              <a:rPr b="1" i="1" lang="en-US">
                <a:solidFill>
                  <a:srgbClr val="001F5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private </a:t>
            </a: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can be accessed only by the functions  inside the class.</a:t>
            </a:r>
            <a:endParaRPr/>
          </a:p>
          <a:p>
            <a:pPr indent="-342900" lvl="0" marL="355600" marR="4445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1F5F"/>
              </a:buClr>
              <a:buSzPts val="2400"/>
              <a:buFont typeface="Noto Sans Symbols"/>
              <a:buChar char="⮚"/>
            </a:pP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They are not allowed to be accessed directly by any object or function outside the  class.</a:t>
            </a:r>
            <a:endParaRPr/>
          </a:p>
          <a:p>
            <a:pPr indent="-342900" lvl="0" marL="355600" marR="508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1F5F"/>
              </a:buClr>
              <a:buSzPts val="2400"/>
              <a:buFont typeface="Noto Sans Symbols"/>
              <a:buChar char="⮚"/>
            </a:pP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Only the member functions or the friend functions are allowed to access the  private data members of a class.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3541394" y="531177"/>
            <a:ext cx="5450206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Access Modifier :: Private</a:t>
            </a:r>
            <a:endParaRPr/>
          </a:p>
        </p:txBody>
      </p:sp>
      <p:pic>
        <p:nvPicPr>
          <p:cNvPr id="78" name="Google Shape;7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1531" y="1419226"/>
            <a:ext cx="6765035" cy="543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/>
          <p:nvPr>
            <p:ph type="title"/>
          </p:nvPr>
        </p:nvSpPr>
        <p:spPr>
          <a:xfrm>
            <a:off x="3541394" y="531177"/>
            <a:ext cx="5450206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Access Modifier :: Private</a:t>
            </a:r>
            <a:endParaRPr/>
          </a:p>
        </p:txBody>
      </p:sp>
      <p:sp>
        <p:nvSpPr>
          <p:cNvPr id="84" name="Google Shape;84;p7"/>
          <p:cNvSpPr txBox="1"/>
          <p:nvPr>
            <p:ph idx="1" type="body"/>
          </p:nvPr>
        </p:nvSpPr>
        <p:spPr>
          <a:xfrm>
            <a:off x="914400" y="2209800"/>
            <a:ext cx="10359389" cy="2318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5F"/>
              </a:buClr>
              <a:buSzPts val="2400"/>
              <a:buFont typeface="Noto Sans Symbols"/>
              <a:buChar char="⮚"/>
            </a:pP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The output of the below program will be a compile time error because we are not  allowed to access the private data members of a class directly outside the class.</a:t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190500" lvl="0" marL="355600" marR="508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1F5F"/>
              </a:buClr>
              <a:buSzPts val="2400"/>
              <a:buFont typeface="Noto Sans Symbols"/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55600" marR="5080" rtl="0" algn="just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1F5F"/>
              </a:buClr>
              <a:buSzPts val="2400"/>
              <a:buFont typeface="Noto Sans Symbols"/>
              <a:buChar char="⮚"/>
            </a:pP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However, we can access the private data members of a class indirectly using the  public member functions of the class.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 txBox="1"/>
          <p:nvPr>
            <p:ph type="title"/>
          </p:nvPr>
        </p:nvSpPr>
        <p:spPr>
          <a:xfrm>
            <a:off x="3541394" y="531177"/>
            <a:ext cx="5678806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Access Modifier :: Private</a:t>
            </a:r>
            <a:endParaRPr/>
          </a:p>
        </p:txBody>
      </p:sp>
      <p:pic>
        <p:nvPicPr>
          <p:cNvPr id="90" name="Google Shape;9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7350" y="2582075"/>
            <a:ext cx="8227200" cy="51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>
            <p:ph type="title"/>
          </p:nvPr>
        </p:nvSpPr>
        <p:spPr>
          <a:xfrm>
            <a:off x="3317240" y="531177"/>
            <a:ext cx="590296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Access Modifier :: Protected</a:t>
            </a:r>
            <a:endParaRPr/>
          </a:p>
        </p:txBody>
      </p:sp>
      <p:sp>
        <p:nvSpPr>
          <p:cNvPr id="96" name="Google Shape;96;p9"/>
          <p:cNvSpPr txBox="1"/>
          <p:nvPr/>
        </p:nvSpPr>
        <p:spPr>
          <a:xfrm>
            <a:off x="916939" y="1767204"/>
            <a:ext cx="10358755" cy="2099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25">
            <a:spAutoFit/>
          </a:bodyPr>
          <a:lstStyle/>
          <a:p>
            <a:pPr indent="-342900" lvl="0" marL="355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5F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Protected access modifier is similar to that of private access modifiers.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190500" lvl="0" marL="355600" marR="0" rtl="0" algn="just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1F5F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55600" marR="5080" rtl="0" algn="just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1F5F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The difference is that the class member declared as Protected are inaccessible  outside the class but they can be accessed by any subclass(derived class) of that  class.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"/>
          <p:cNvSpPr txBox="1"/>
          <p:nvPr>
            <p:ph type="title"/>
          </p:nvPr>
        </p:nvSpPr>
        <p:spPr>
          <a:xfrm>
            <a:off x="3317240" y="531177"/>
            <a:ext cx="597916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Access Modifier :: Protected</a:t>
            </a:r>
            <a:endParaRPr/>
          </a:p>
        </p:txBody>
      </p:sp>
      <p:pic>
        <p:nvPicPr>
          <p:cNvPr id="102" name="Google Shape;10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7240" y="1069424"/>
            <a:ext cx="5943600" cy="576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"/>
          <p:cNvSpPr txBox="1"/>
          <p:nvPr>
            <p:ph type="title"/>
          </p:nvPr>
        </p:nvSpPr>
        <p:spPr>
          <a:xfrm>
            <a:off x="4495800" y="609600"/>
            <a:ext cx="371475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Access Modifier</a:t>
            </a:r>
            <a:endParaRPr/>
          </a:p>
        </p:txBody>
      </p:sp>
      <p:sp>
        <p:nvSpPr>
          <p:cNvPr id="108" name="Google Shape;108;p11"/>
          <p:cNvSpPr txBox="1"/>
          <p:nvPr/>
        </p:nvSpPr>
        <p:spPr>
          <a:xfrm>
            <a:off x="762000" y="1981200"/>
            <a:ext cx="10815320" cy="2623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5F"/>
              </a:buClr>
              <a:buSzPts val="2400"/>
              <a:buFont typeface="Noto Sans Symbols"/>
              <a:buChar char="⮚"/>
            </a:pPr>
            <a:r>
              <a:rPr b="1" lang="en-US" sz="2400">
                <a:solidFill>
                  <a:srgbClr val="001F5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public 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- members are accessible from outside the class.</a:t>
            </a:r>
            <a:endParaRPr/>
          </a:p>
          <a:p>
            <a:pPr indent="-190500" lvl="0" marL="35560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1F5F"/>
              </a:buClr>
              <a:buSzPts val="2400"/>
              <a:buFont typeface="Noto Sans Symbols"/>
              <a:buChar char="⮚"/>
            </a:pPr>
            <a:r>
              <a:rPr b="1" lang="en-US" sz="2400">
                <a:solidFill>
                  <a:srgbClr val="001F5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private 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- members cannot be accessed (or viewed) from outside the class.</a:t>
            </a:r>
            <a:endParaRPr/>
          </a:p>
          <a:p>
            <a:pPr indent="-190500" lvl="0" marL="35560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0" marL="355600" marR="508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1F5F"/>
              </a:buClr>
              <a:buSzPts val="2400"/>
              <a:buFont typeface="Noto Sans Symbols"/>
              <a:buChar char="⮚"/>
            </a:pPr>
            <a:r>
              <a:rPr b="1" lang="en-US" sz="2400">
                <a:solidFill>
                  <a:srgbClr val="001F5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protected 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- members cannot be accessed from outside the class, however, they can  be accessed in inherited classes.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 txBox="1"/>
          <p:nvPr>
            <p:ph type="title"/>
          </p:nvPr>
        </p:nvSpPr>
        <p:spPr>
          <a:xfrm>
            <a:off x="3048000" y="685800"/>
            <a:ext cx="5735955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Access Modifier in a View</a:t>
            </a:r>
            <a:endParaRPr/>
          </a:p>
        </p:txBody>
      </p:sp>
      <p:pic>
        <p:nvPicPr>
          <p:cNvPr id="114" name="Google Shape;11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1007" y="2025395"/>
            <a:ext cx="6728459" cy="3464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2024-07-07T15:56:19Z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2024-02-06T00:00:00Z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2024-07-07T00:00:00Z</vt:filetime>
  </property>
</Properties>
</file>