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76" r:id="rId2"/>
    <p:sldId id="258" r:id="rId3"/>
    <p:sldId id="311" r:id="rId4"/>
    <p:sldId id="312" r:id="rId5"/>
    <p:sldId id="313" r:id="rId6"/>
    <p:sldId id="314" r:id="rId7"/>
    <p:sldId id="316" r:id="rId8"/>
    <p:sldId id="317" r:id="rId9"/>
    <p:sldId id="310" r:id="rId10"/>
    <p:sldId id="294" r:id="rId11"/>
    <p:sldId id="305" r:id="rId12"/>
    <p:sldId id="306" r:id="rId13"/>
    <p:sldId id="315" r:id="rId14"/>
    <p:sldId id="309" r:id="rId15"/>
    <p:sldId id="277" r:id="rId16"/>
    <p:sldId id="308" r:id="rId17"/>
    <p:sldId id="295" r:id="rId18"/>
    <p:sldId id="2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12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4/12/2026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8DDD80-0AFC-4262-834E-9279B06A19F7}"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8DDD80-0AFC-4262-834E-9279B06A19F7}"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8DDD80-0AFC-4262-834E-9279B06A19F7}" type="datetimeFigureOut">
              <a:rPr lang="en-US" smtClean="0"/>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8DDD80-0AFC-4262-834E-9279B06A19F7}" type="datetimeFigureOut">
              <a:rPr lang="en-US" smtClean="0"/>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88DDD80-0AFC-4262-834E-9279B06A19F7}" type="datetimeFigureOut">
              <a:rPr lang="en-US" smtClean="0"/>
              <a:t>4/12/2026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88DDD80-0AFC-4262-834E-9279B06A19F7}" type="datetimeFigureOut">
              <a:rPr lang="en-US" smtClean="0"/>
              <a:t>4/12/2026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EB20483-73B1-471D-AA53-D1A5ED1446D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8DDD80-0AFC-4262-834E-9279B06A19F7}"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88DDD80-0AFC-4262-834E-9279B06A19F7}" type="datetimeFigureOut">
              <a:rPr lang="en-US" smtClean="0"/>
              <a:t>4/12/2026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EB20483-73B1-471D-AA53-D1A5ED1446D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generics-in-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6939" y="363071"/>
            <a:ext cx="10058400" cy="3566160"/>
          </a:xfrm>
        </p:spPr>
        <p:txBody>
          <a:bodyPr>
            <a:normAutofit/>
          </a:bodyPr>
          <a:lstStyle/>
          <a:p>
            <a:pPr algn="ctr"/>
            <a:r>
              <a:rPr lang="en-US" sz="6600" b="1" dirty="0">
                <a:solidFill>
                  <a:schemeClr val="accent1"/>
                </a:solidFill>
                <a:latin typeface="Palatino Linotype" panose="02040502050505030304" pitchFamily="18" charset="0"/>
              </a:rPr>
              <a:t>Lecture:11</a:t>
            </a:r>
            <a:br>
              <a:rPr lang="en-US" sz="5400" dirty="0">
                <a:latin typeface="Palatino Linotype" panose="02040502050505030304" pitchFamily="18" charset="0"/>
              </a:rPr>
            </a:br>
            <a:br>
              <a:rPr lang="en-US" sz="5400" dirty="0">
                <a:latin typeface="Palatino Linotype" panose="02040502050505030304" pitchFamily="18" charset="0"/>
              </a:rPr>
            </a:br>
            <a:r>
              <a:rPr lang="en-US" sz="5400" b="1" dirty="0">
                <a:latin typeface="Palatino Linotype" panose="02040502050505030304" pitchFamily="18" charset="0"/>
              </a:rPr>
              <a:t>Template in C++ and</a:t>
            </a:r>
            <a:br>
              <a:rPr lang="en-US" sz="5400" dirty="0">
                <a:latin typeface="Palatino Linotype" panose="02040502050505030304" pitchFamily="18" charset="0"/>
              </a:rPr>
            </a:br>
            <a:r>
              <a:rPr lang="en-US" sz="5400" b="1" dirty="0">
                <a:latin typeface="Palatino Linotype" panose="02040502050505030304" pitchFamily="18" charset="0"/>
              </a:rPr>
              <a:t>Exception Handling</a:t>
            </a:r>
            <a:endParaRPr lang="en-US" sz="4800" b="1" dirty="0">
              <a:solidFill>
                <a:schemeClr val="tx1">
                  <a:lumMod val="65000"/>
                  <a:lumOff val="35000"/>
                </a:schemeClr>
              </a:solidFill>
              <a:latin typeface="Palatino Linotype" panose="02040502050505030304" pitchFamily="18" charset="0"/>
            </a:endParaRPr>
          </a:p>
        </p:txBody>
      </p:sp>
      <p:sp>
        <p:nvSpPr>
          <p:cNvPr id="4" name="TextBox 3"/>
          <p:cNvSpPr txBox="1"/>
          <p:nvPr/>
        </p:nvSpPr>
        <p:spPr>
          <a:xfrm>
            <a:off x="2542839" y="4679577"/>
            <a:ext cx="7086600" cy="1261884"/>
          </a:xfrm>
          <a:prstGeom prst="rect">
            <a:avLst/>
          </a:prstGeom>
          <a:noFill/>
        </p:spPr>
        <p:txBody>
          <a:bodyPr wrap="square" rtlCol="0">
            <a:spAutoFit/>
          </a:bodyPr>
          <a:lstStyle/>
          <a:p>
            <a:pPr algn="ctr"/>
            <a:r>
              <a:rPr lang="en-US" sz="2800" dirty="0">
                <a:solidFill>
                  <a:schemeClr val="accent1"/>
                </a:solidFill>
                <a:latin typeface="Palatino Linotype" panose="02040502050505030304" pitchFamily="18" charset="0"/>
              </a:rPr>
              <a:t>Prepared By: </a:t>
            </a:r>
            <a:r>
              <a:rPr lang="en-US" sz="2800" dirty="0" err="1">
                <a:solidFill>
                  <a:schemeClr val="accent1"/>
                </a:solidFill>
                <a:latin typeface="Palatino Linotype" panose="02040502050505030304" pitchFamily="18" charset="0"/>
              </a:rPr>
              <a:t>Sumaiya</a:t>
            </a:r>
            <a:r>
              <a:rPr lang="en-US" sz="2800" dirty="0">
                <a:solidFill>
                  <a:schemeClr val="accent1"/>
                </a:solidFill>
                <a:latin typeface="Palatino Linotype" panose="02040502050505030304" pitchFamily="18" charset="0"/>
              </a:rPr>
              <a:t> </a:t>
            </a:r>
            <a:r>
              <a:rPr lang="en-US" sz="2800" dirty="0" err="1">
                <a:solidFill>
                  <a:schemeClr val="accent1"/>
                </a:solidFill>
                <a:latin typeface="Palatino Linotype" panose="02040502050505030304" pitchFamily="18" charset="0"/>
              </a:rPr>
              <a:t>Binte</a:t>
            </a:r>
            <a:r>
              <a:rPr lang="en-US" sz="2800" dirty="0">
                <a:solidFill>
                  <a:schemeClr val="accent1"/>
                </a:solidFill>
                <a:latin typeface="Palatino Linotype" panose="02040502050505030304" pitchFamily="18" charset="0"/>
              </a:rPr>
              <a:t> </a:t>
            </a:r>
            <a:r>
              <a:rPr lang="en-US" sz="2800" dirty="0" err="1">
                <a:solidFill>
                  <a:schemeClr val="accent1"/>
                </a:solidFill>
                <a:latin typeface="Palatino Linotype" panose="02040502050505030304" pitchFamily="18" charset="0"/>
              </a:rPr>
              <a:t>Shahid</a:t>
            </a:r>
            <a:endParaRPr lang="en-US" sz="2800" dirty="0">
              <a:solidFill>
                <a:schemeClr val="accent1"/>
              </a:solidFill>
              <a:latin typeface="Palatino Linotype" panose="02040502050505030304" pitchFamily="18" charset="0"/>
            </a:endParaRPr>
          </a:p>
          <a:p>
            <a:pPr algn="ctr"/>
            <a:r>
              <a:rPr lang="en-US" sz="2400" dirty="0">
                <a:latin typeface="Palatino Linotype" panose="02040502050505030304" pitchFamily="18" charset="0"/>
              </a:rPr>
              <a:t>Lecturer</a:t>
            </a:r>
          </a:p>
          <a:p>
            <a:pPr algn="ctr"/>
            <a:r>
              <a:rPr lang="en-US" sz="2400" dirty="0">
                <a:latin typeface="Palatino Linotype" panose="02040502050505030304" pitchFamily="18" charset="0"/>
              </a:rPr>
              <a:t>Department of CSE, BUBT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227429"/>
            <a:ext cx="12192000" cy="1228725"/>
          </a:xfrm>
          <a:solidFill>
            <a:schemeClr val="bg1"/>
          </a:solidFill>
        </p:spPr>
        <p:txBody>
          <a:bodyPr>
            <a:normAutofit/>
          </a:bodyPr>
          <a:lstStyle/>
          <a:p>
            <a:pPr algn="ctr"/>
            <a:r>
              <a:rPr lang="en-US" sz="4000" b="1" dirty="0">
                <a:solidFill>
                  <a:schemeClr val="accent1">
                    <a:lumMod val="75000"/>
                  </a:schemeClr>
                </a:solidFill>
                <a:latin typeface="Palatino Linotype" panose="02040502050505030304" pitchFamily="18" charset="0"/>
              </a:rPr>
              <a:t>Templates in C++ </a:t>
            </a: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739589" y="2070269"/>
            <a:ext cx="10878670" cy="2462213"/>
          </a:xfrm>
          <a:prstGeom prst="rect">
            <a:avLst/>
          </a:prstGeom>
        </p:spPr>
        <p:txBody>
          <a:bodyPr wrap="square">
            <a:spAutoFit/>
          </a:bodyPr>
          <a:lstStyle/>
          <a:p>
            <a:pPr marL="342900" indent="-342900" algn="just" fontAlgn="base">
              <a:buFont typeface="Arial" panose="020B0604020202020204" pitchFamily="34" charset="0"/>
              <a:buChar char="•"/>
            </a:pPr>
            <a:r>
              <a:rPr lang="en-US" sz="2200" dirty="0">
                <a:latin typeface="Palatino Linotype" panose="02040502050505030304" pitchFamily="18" charset="0"/>
              </a:rPr>
              <a:t>C++ template is a powerful tool that allows you to write a generic code that can work with any data type. The idea is to simply pass the data type as a parameter so that we don't need to write the same code for different data types.</a:t>
            </a:r>
          </a:p>
          <a:p>
            <a:pPr marL="342900" indent="-342900" algn="just" fontAlgn="base">
              <a:buFont typeface="Arial" panose="020B0604020202020204" pitchFamily="34" charset="0"/>
              <a:buChar char="•"/>
            </a:pPr>
            <a:endParaRPr lang="en-US" sz="2200" dirty="0">
              <a:latin typeface="Palatino Linotype" panose="02040502050505030304" pitchFamily="18" charset="0"/>
            </a:endParaRPr>
          </a:p>
          <a:p>
            <a:pPr marL="342900" indent="-342900" algn="just" fontAlgn="base">
              <a:buFont typeface="Arial" panose="020B0604020202020204" pitchFamily="34" charset="0"/>
              <a:buChar char="•"/>
            </a:pPr>
            <a:r>
              <a:rPr lang="en-US" sz="2200" dirty="0">
                <a:latin typeface="Palatino Linotype" panose="02040502050505030304" pitchFamily="18" charset="0"/>
              </a:rPr>
              <a:t>For example, same sorting algorithm can work for different type, so rather than writing and maintaining multiple codes, we can write one sort() and pass the datatype as a parameter.</a:t>
            </a:r>
            <a:endParaRPr lang="en-US" sz="2200" b="0" i="0" dirty="0">
              <a:effectLst/>
              <a:latin typeface="Palatino Linotype" panose="0204050205050503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227429"/>
            <a:ext cx="12192000" cy="1228725"/>
          </a:xfrm>
          <a:solidFill>
            <a:schemeClr val="bg1"/>
          </a:solidFill>
        </p:spPr>
        <p:txBody>
          <a:bodyPr>
            <a:normAutofit/>
          </a:bodyPr>
          <a:lstStyle/>
          <a:p>
            <a:pPr algn="ctr"/>
            <a:r>
              <a:rPr lang="en-US" sz="4000" b="1" dirty="0">
                <a:solidFill>
                  <a:schemeClr val="accent1">
                    <a:lumMod val="75000"/>
                  </a:schemeClr>
                </a:solidFill>
                <a:latin typeface="Palatino Linotype" panose="02040502050505030304" pitchFamily="18" charset="0"/>
              </a:rPr>
              <a:t>Templates in C++ </a:t>
            </a: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3" name="Rectangle 2"/>
          <p:cNvSpPr>
            <a:spLocks noChangeArrowheads="1"/>
          </p:cNvSpPr>
          <p:nvPr/>
        </p:nvSpPr>
        <p:spPr bwMode="auto">
          <a:xfrm rot="10800000" flipV="1">
            <a:off x="940903" y="1647465"/>
            <a:ext cx="10310193" cy="44566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just"/>
            <a:r>
              <a:rPr lang="en-US" altLang="en-US" sz="2800" b="1" dirty="0">
                <a:solidFill>
                  <a:srgbClr val="273239"/>
                </a:solidFill>
                <a:latin typeface="Palatino Linotype" panose="02040502050505030304" pitchFamily="18" charset="0"/>
              </a:rPr>
              <a:t>Define Templates</a:t>
            </a:r>
          </a:p>
          <a:p>
            <a:pPr lvl="0" algn="just"/>
            <a:r>
              <a:rPr lang="en-US" altLang="en-US" sz="2400" dirty="0">
                <a:solidFill>
                  <a:srgbClr val="273239"/>
                </a:solidFill>
                <a:latin typeface="Palatino Linotype" panose="02040502050505030304" pitchFamily="18" charset="0"/>
              </a:rPr>
              <a:t>Templates can be defined using the keywords "</a:t>
            </a:r>
            <a:r>
              <a:rPr lang="en-US" altLang="en-US" sz="2400" b="1" dirty="0">
                <a:solidFill>
                  <a:srgbClr val="273239"/>
                </a:solidFill>
                <a:latin typeface="Palatino Linotype" panose="02040502050505030304" pitchFamily="18" charset="0"/>
              </a:rPr>
              <a:t>template</a:t>
            </a:r>
            <a:r>
              <a:rPr lang="en-US" altLang="en-US" sz="2400" dirty="0">
                <a:solidFill>
                  <a:srgbClr val="273239"/>
                </a:solidFill>
                <a:latin typeface="Palatino Linotype" panose="02040502050505030304" pitchFamily="18" charset="0"/>
              </a:rPr>
              <a:t>" and "</a:t>
            </a:r>
            <a:r>
              <a:rPr lang="en-US" altLang="en-US" sz="2400" b="1" dirty="0" err="1">
                <a:solidFill>
                  <a:srgbClr val="273239"/>
                </a:solidFill>
                <a:latin typeface="Palatino Linotype" panose="02040502050505030304" pitchFamily="18" charset="0"/>
              </a:rPr>
              <a:t>typename</a:t>
            </a:r>
            <a:r>
              <a:rPr lang="en-US" altLang="en-US" sz="2400" dirty="0">
                <a:solidFill>
                  <a:srgbClr val="273239"/>
                </a:solidFill>
                <a:latin typeface="Palatino Linotype" panose="02040502050505030304" pitchFamily="18" charset="0"/>
              </a:rPr>
              <a:t>" as shown:</a:t>
            </a:r>
            <a:endParaRPr lang="en-US" altLang="en-US" sz="2400" dirty="0">
              <a:latin typeface="Palatino Linotype" panose="02040502050505030304" pitchFamily="18" charset="0"/>
            </a:endParaRPr>
          </a:p>
          <a:p>
            <a:pPr lvl="3" algn="just">
              <a:spcBef>
                <a:spcPct val="30000"/>
              </a:spcBef>
            </a:pPr>
            <a:r>
              <a:rPr kumimoji="0" lang="en-US" altLang="en-US" sz="2400" b="1" i="0" u="none" strike="noStrike" cap="none" normalizeH="0" baseline="0" dirty="0">
                <a:ln>
                  <a:noFill/>
                </a:ln>
                <a:solidFill>
                  <a:srgbClr val="008000"/>
                </a:solidFill>
                <a:effectLst/>
                <a:latin typeface="Palatino Linotype" panose="02040502050505030304" pitchFamily="18" charset="0"/>
                <a:cs typeface="Arial" panose="020B0604020202020204" pitchFamily="34" charset="0"/>
              </a:rPr>
              <a:t>template</a:t>
            </a:r>
            <a:r>
              <a:rPr kumimoji="0" lang="en-US" altLang="en-US" sz="2400" b="0" i="0" u="none" strike="noStrike" cap="none" normalizeH="0" baseline="0" dirty="0">
                <a:ln>
                  <a:noFill/>
                </a:ln>
                <a:solidFill>
                  <a:srgbClr val="BBBBBB"/>
                </a:solidFill>
                <a:effectLst/>
                <a:latin typeface="Palatino Linotype" panose="02040502050505030304" pitchFamily="18" charset="0"/>
                <a:cs typeface="Arial" panose="020B0604020202020204" pitchFamily="34" charset="0"/>
              </a:rPr>
              <a:t> </a:t>
            </a:r>
            <a:r>
              <a:rPr kumimoji="0" lang="en-US" altLang="en-US" sz="2400" b="0" i="0" u="none" strike="noStrike" cap="none" normalizeH="0" baseline="0" dirty="0">
                <a:ln>
                  <a:noFill/>
                </a:ln>
                <a:solidFill>
                  <a:srgbClr val="666666"/>
                </a:solidFill>
                <a:effectLst/>
                <a:latin typeface="Palatino Linotype" panose="02040502050505030304" pitchFamily="18" charset="0"/>
              </a:rPr>
              <a:t>&lt;</a:t>
            </a:r>
            <a:r>
              <a:rPr kumimoji="0" lang="en-US" altLang="en-US" sz="2400" b="1" i="0" u="none" strike="noStrike" cap="none" normalizeH="0" baseline="0" dirty="0" err="1">
                <a:ln>
                  <a:noFill/>
                </a:ln>
                <a:solidFill>
                  <a:srgbClr val="008000"/>
                </a:solidFill>
                <a:effectLst/>
                <a:latin typeface="Palatino Linotype" panose="02040502050505030304" pitchFamily="18" charset="0"/>
                <a:cs typeface="Arial" panose="020B0604020202020204" pitchFamily="34" charset="0"/>
              </a:rPr>
              <a:t>typename</a:t>
            </a:r>
            <a:r>
              <a:rPr kumimoji="0" lang="en-US" altLang="en-US" sz="2400" b="0" i="0" u="none" strike="noStrike" cap="none" normalizeH="0" baseline="0" dirty="0">
                <a:ln>
                  <a:noFill/>
                </a:ln>
                <a:solidFill>
                  <a:srgbClr val="BBBBBB"/>
                </a:solidFill>
                <a:effectLst/>
                <a:latin typeface="Palatino Linotype" panose="02040502050505030304" pitchFamily="18" charset="0"/>
                <a:cs typeface="Arial" panose="020B0604020202020204" pitchFamily="34" charset="0"/>
              </a:rPr>
              <a:t> </a:t>
            </a:r>
            <a:r>
              <a:rPr kumimoji="0" lang="en-US" altLang="en-US" sz="2400" b="1" i="0" u="none" strike="noStrike" cap="none" normalizeH="0" baseline="0" dirty="0">
                <a:ln>
                  <a:noFill/>
                </a:ln>
                <a:solidFill>
                  <a:srgbClr val="0000FF"/>
                </a:solidFill>
                <a:effectLst/>
                <a:latin typeface="Palatino Linotype" panose="02040502050505030304" pitchFamily="18" charset="0"/>
                <a:cs typeface="Arial" panose="020B0604020202020204" pitchFamily="34" charset="0"/>
              </a:rPr>
              <a:t>A</a:t>
            </a:r>
            <a:r>
              <a:rPr kumimoji="0" lang="en-US" altLang="en-US" sz="2400" b="0" i="0" u="none" strike="noStrike" cap="none" normalizeH="0" baseline="0" dirty="0">
                <a:ln>
                  <a:noFill/>
                </a:ln>
                <a:solidFill>
                  <a:schemeClr val="tx1"/>
                </a:solidFill>
                <a:effectLst/>
                <a:latin typeface="Palatino Linotype" panose="02040502050505030304" pitchFamily="18" charset="0"/>
                <a:cs typeface="Arial" panose="020B0604020202020204" pitchFamily="34" charset="0"/>
              </a:rPr>
              <a:t>,</a:t>
            </a:r>
            <a:r>
              <a:rPr kumimoji="0" lang="en-US" altLang="en-US" sz="2400" b="0" i="0" u="none" strike="noStrike" cap="none" normalizeH="0" baseline="0" dirty="0">
                <a:ln>
                  <a:noFill/>
                </a:ln>
                <a:solidFill>
                  <a:srgbClr val="BBBBBB"/>
                </a:solidFill>
                <a:effectLst/>
                <a:latin typeface="Palatino Linotype" panose="02040502050505030304" pitchFamily="18" charset="0"/>
                <a:cs typeface="Arial" panose="020B0604020202020204" pitchFamily="34" charset="0"/>
              </a:rPr>
              <a:t> </a:t>
            </a:r>
            <a:r>
              <a:rPr kumimoji="0" lang="en-US" altLang="en-US" sz="2400" b="1" i="0" u="none" strike="noStrike" cap="none" normalizeH="0" baseline="0" dirty="0" err="1">
                <a:ln>
                  <a:noFill/>
                </a:ln>
                <a:solidFill>
                  <a:srgbClr val="008000"/>
                </a:solidFill>
                <a:effectLst/>
                <a:latin typeface="Palatino Linotype" panose="02040502050505030304" pitchFamily="18" charset="0"/>
                <a:cs typeface="Arial" panose="020B0604020202020204" pitchFamily="34" charset="0"/>
              </a:rPr>
              <a:t>typename</a:t>
            </a:r>
            <a:r>
              <a:rPr kumimoji="0" lang="en-US" altLang="en-US" sz="2400" b="0" i="0" u="none" strike="noStrike" cap="none" normalizeH="0" baseline="0" dirty="0">
                <a:ln>
                  <a:noFill/>
                </a:ln>
                <a:solidFill>
                  <a:srgbClr val="BBBBBB"/>
                </a:solidFill>
                <a:effectLst/>
                <a:latin typeface="Palatino Linotype" panose="02040502050505030304" pitchFamily="18" charset="0"/>
                <a:cs typeface="Arial" panose="020B0604020202020204" pitchFamily="34" charset="0"/>
              </a:rPr>
              <a:t> </a:t>
            </a:r>
            <a:r>
              <a:rPr kumimoji="0" lang="en-US" altLang="en-US" sz="2400" b="1" i="0" u="none" strike="noStrike" cap="none" normalizeH="0" baseline="0" dirty="0">
                <a:ln>
                  <a:noFill/>
                </a:ln>
                <a:solidFill>
                  <a:srgbClr val="0000FF"/>
                </a:solidFill>
                <a:effectLst/>
                <a:latin typeface="Palatino Linotype" panose="02040502050505030304" pitchFamily="18" charset="0"/>
                <a:cs typeface="Arial" panose="020B0604020202020204" pitchFamily="34" charset="0"/>
              </a:rPr>
              <a:t>B</a:t>
            </a:r>
            <a:r>
              <a:rPr kumimoji="0" lang="en-US" altLang="en-US" sz="2400" b="0" i="0" u="none" strike="noStrike" cap="none" normalizeH="0" baseline="0" dirty="0">
                <a:ln>
                  <a:noFill/>
                </a:ln>
                <a:solidFill>
                  <a:schemeClr val="tx1"/>
                </a:solidFill>
                <a:effectLst/>
                <a:latin typeface="Palatino Linotype" panose="02040502050505030304" pitchFamily="18" charset="0"/>
                <a:cs typeface="Arial" panose="020B0604020202020204" pitchFamily="34" charset="0"/>
              </a:rPr>
              <a:t>,</a:t>
            </a:r>
            <a:r>
              <a:rPr kumimoji="0" lang="en-US" altLang="en-US" sz="2400" b="0" i="0" u="none" strike="noStrike" cap="none" normalizeH="0" baseline="0" dirty="0">
                <a:ln>
                  <a:noFill/>
                </a:ln>
                <a:solidFill>
                  <a:srgbClr val="BBBBBB"/>
                </a:solidFill>
                <a:effectLst/>
                <a:latin typeface="Palatino Linotype" panose="02040502050505030304" pitchFamily="18" charset="0"/>
                <a:cs typeface="Arial" panose="020B0604020202020204" pitchFamily="34" charset="0"/>
              </a:rPr>
              <a:t> </a:t>
            </a:r>
            <a:r>
              <a:rPr kumimoji="0" lang="en-US" altLang="en-US" sz="2400" b="0" i="0" u="none" strike="noStrike" cap="none" normalizeH="0" baseline="0" dirty="0">
                <a:ln>
                  <a:noFill/>
                </a:ln>
                <a:solidFill>
                  <a:schemeClr val="tx1"/>
                </a:solidFill>
                <a:effectLst/>
                <a:latin typeface="Palatino Linotype" panose="02040502050505030304" pitchFamily="18" charset="0"/>
                <a:cs typeface="Arial" panose="020B0604020202020204" pitchFamily="34" charset="0"/>
              </a:rPr>
              <a:t>...</a:t>
            </a:r>
            <a:r>
              <a:rPr kumimoji="0" lang="en-US" altLang="en-US" sz="2400" b="0" i="0" u="none" strike="noStrike" cap="none" normalizeH="0" baseline="0" dirty="0">
                <a:ln>
                  <a:noFill/>
                </a:ln>
                <a:solidFill>
                  <a:srgbClr val="666666"/>
                </a:solidFill>
                <a:effectLst/>
                <a:latin typeface="Palatino Linotype" panose="02040502050505030304" pitchFamily="18" charset="0"/>
              </a:rPr>
              <a:t>&gt;</a:t>
            </a:r>
            <a:r>
              <a:rPr kumimoji="0" lang="en-US" altLang="en-US" sz="3600" b="0" i="0" u="none" strike="noStrike" cap="none" normalizeH="0" baseline="0" dirty="0">
                <a:ln>
                  <a:noFill/>
                </a:ln>
                <a:solidFill>
                  <a:schemeClr val="tx1"/>
                </a:solidFill>
                <a:effectLst/>
                <a:latin typeface="Palatino Linotype" panose="02040502050505030304" pitchFamily="18" charset="0"/>
                <a:cs typeface="Arial" panose="020B0604020202020204" pitchFamily="34" charset="0"/>
              </a:rPr>
              <a:t> </a:t>
            </a:r>
          </a:p>
          <a:p>
            <a:pPr lvl="3" algn="just">
              <a:spcBef>
                <a:spcPct val="30000"/>
              </a:spcBef>
            </a:pPr>
            <a:r>
              <a:rPr kumimoji="0" lang="en-US" altLang="en-US" sz="2400" b="0" i="0" u="none" strike="noStrike" cap="none" normalizeH="0" baseline="0" dirty="0" err="1">
                <a:ln>
                  <a:noFill/>
                </a:ln>
                <a:solidFill>
                  <a:schemeClr val="tx1"/>
                </a:solidFill>
                <a:effectLst/>
                <a:latin typeface="Palatino Linotype" panose="02040502050505030304" pitchFamily="18" charset="0"/>
              </a:rPr>
              <a:t>entity_definition</a:t>
            </a:r>
            <a:r>
              <a:rPr kumimoji="0" lang="en-US" altLang="en-US" sz="3600" b="0" i="0" u="none" strike="noStrike" cap="none" normalizeH="0" baseline="0" dirty="0">
                <a:ln>
                  <a:noFill/>
                </a:ln>
                <a:solidFill>
                  <a:schemeClr val="tx1"/>
                </a:solidFill>
                <a:effectLst/>
                <a:latin typeface="Palatino Linotype" panose="02040502050505030304" pitchFamily="18" charset="0"/>
                <a:cs typeface="Arial" panose="020B0604020202020204" pitchFamily="34" charset="0"/>
              </a:rPr>
              <a:t>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0" i="0" u="none" strike="noStrike" cap="none" normalizeH="0" baseline="0" dirty="0">
                <a:ln>
                  <a:noFill/>
                </a:ln>
                <a:solidFill>
                  <a:srgbClr val="273239"/>
                </a:solidFill>
                <a:effectLst/>
                <a:latin typeface="Palatino Linotype" panose="02040502050505030304" pitchFamily="18" charset="0"/>
              </a:rPr>
              <a:t>The </a:t>
            </a:r>
            <a:r>
              <a:rPr kumimoji="0" lang="en-US" altLang="en-US" sz="2400" b="1" i="0" u="none" strike="noStrike" cap="none" normalizeH="0" baseline="0" dirty="0">
                <a:ln>
                  <a:noFill/>
                </a:ln>
                <a:solidFill>
                  <a:srgbClr val="273239"/>
                </a:solidFill>
                <a:effectLst/>
                <a:latin typeface="Palatino Linotype" panose="02040502050505030304" pitchFamily="18" charset="0"/>
              </a:rPr>
              <a:t>template keyword </a:t>
            </a:r>
            <a:r>
              <a:rPr kumimoji="0" lang="en-US" altLang="en-US" sz="2400" b="0" i="0" u="none" strike="noStrike" cap="none" normalizeH="0" baseline="0" dirty="0">
                <a:ln>
                  <a:noFill/>
                </a:ln>
                <a:solidFill>
                  <a:srgbClr val="273239"/>
                </a:solidFill>
                <a:effectLst/>
                <a:latin typeface="Palatino Linotype" panose="02040502050505030304" pitchFamily="18" charset="0"/>
              </a:rPr>
              <a:t>is used to define that the given entity is a template</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err="1">
                <a:ln>
                  <a:noFill/>
                </a:ln>
                <a:solidFill>
                  <a:srgbClr val="273239"/>
                </a:solidFill>
                <a:effectLst/>
                <a:latin typeface="Palatino Linotype" panose="02040502050505030304" pitchFamily="18" charset="0"/>
              </a:rPr>
              <a:t>typename</a:t>
            </a:r>
            <a:r>
              <a:rPr kumimoji="0" lang="en-US" altLang="en-US" sz="2400" b="1" i="0" u="none" strike="noStrike" cap="none" normalizeH="0" baseline="0" dirty="0">
                <a:ln>
                  <a:noFill/>
                </a:ln>
                <a:solidFill>
                  <a:srgbClr val="273239"/>
                </a:solidFill>
                <a:effectLst/>
                <a:latin typeface="Palatino Linotype" panose="02040502050505030304" pitchFamily="18" charset="0"/>
              </a:rPr>
              <a:t> </a:t>
            </a:r>
            <a:r>
              <a:rPr kumimoji="0" lang="en-US" altLang="en-US" sz="2400" b="0" i="0" u="none" strike="noStrike" cap="none" normalizeH="0" baseline="0" dirty="0">
                <a:ln>
                  <a:noFill/>
                </a:ln>
                <a:solidFill>
                  <a:srgbClr val="273239"/>
                </a:solidFill>
                <a:effectLst/>
                <a:latin typeface="Palatino Linotype" panose="02040502050505030304" pitchFamily="18" charset="0"/>
              </a:rPr>
              <a:t>keyword is used to define </a:t>
            </a:r>
            <a:r>
              <a:rPr kumimoji="0" lang="en-US" altLang="en-US" sz="2400" b="1" i="0" u="none" strike="noStrike" cap="none" normalizeH="0" baseline="0" dirty="0">
                <a:ln>
                  <a:noFill/>
                </a:ln>
                <a:solidFill>
                  <a:srgbClr val="273239"/>
                </a:solidFill>
                <a:effectLst/>
                <a:latin typeface="Palatino Linotype" panose="02040502050505030304" pitchFamily="18" charset="0"/>
              </a:rPr>
              <a:t>template</a:t>
            </a:r>
            <a:r>
              <a:rPr kumimoji="0" lang="en-US" altLang="en-US" sz="2400" b="1" i="0" u="none" strike="noStrike" cap="none" normalizeH="0" dirty="0">
                <a:ln>
                  <a:noFill/>
                </a:ln>
                <a:solidFill>
                  <a:srgbClr val="273239"/>
                </a:solidFill>
                <a:effectLst/>
                <a:latin typeface="Palatino Linotype" panose="02040502050505030304" pitchFamily="18" charset="0"/>
              </a:rPr>
              <a:t> </a:t>
            </a:r>
            <a:r>
              <a:rPr kumimoji="0" lang="en-US" altLang="en-US" sz="2400" b="1" i="0" u="none" strike="noStrike" cap="none" normalizeH="0" baseline="0" dirty="0">
                <a:ln>
                  <a:noFill/>
                </a:ln>
                <a:solidFill>
                  <a:srgbClr val="273239"/>
                </a:solidFill>
                <a:effectLst/>
                <a:latin typeface="Palatino Linotype" panose="02040502050505030304" pitchFamily="18" charset="0"/>
              </a:rPr>
              <a:t>parameters</a:t>
            </a:r>
            <a:r>
              <a:rPr kumimoji="0" lang="en-US" altLang="en-US" sz="2400" b="0" i="0" u="none" strike="noStrike" cap="none" normalizeH="0" baseline="0" dirty="0">
                <a:ln>
                  <a:noFill/>
                </a:ln>
                <a:solidFill>
                  <a:srgbClr val="273239"/>
                </a:solidFill>
                <a:effectLst/>
                <a:latin typeface="Palatino Linotype" panose="02040502050505030304" pitchFamily="18" charset="0"/>
              </a:rPr>
              <a:t> which are nothing but types that will be provided when an instance is created.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0" i="0" u="none" strike="noStrike" cap="none" normalizeH="0" baseline="0" dirty="0">
                <a:ln>
                  <a:noFill/>
                </a:ln>
                <a:solidFill>
                  <a:srgbClr val="273239"/>
                </a:solidFill>
                <a:effectLst/>
                <a:latin typeface="Palatino Linotype" panose="02040502050505030304" pitchFamily="18" charset="0"/>
              </a:rPr>
              <a:t>The keyword </a:t>
            </a:r>
            <a:r>
              <a:rPr kumimoji="0" lang="en-US" altLang="en-US" sz="2400" b="1" i="0" u="none" strike="noStrike" cap="none" normalizeH="0" baseline="0" dirty="0" err="1">
                <a:ln>
                  <a:noFill/>
                </a:ln>
                <a:solidFill>
                  <a:srgbClr val="273239"/>
                </a:solidFill>
                <a:effectLst/>
                <a:latin typeface="Palatino Linotype" panose="02040502050505030304" pitchFamily="18" charset="0"/>
              </a:rPr>
              <a:t>typename</a:t>
            </a:r>
            <a:r>
              <a:rPr kumimoji="0" lang="en-US" altLang="en-US" sz="2400" b="1" i="0" u="none" strike="noStrike" cap="none" normalizeH="0" baseline="0" dirty="0">
                <a:ln>
                  <a:noFill/>
                </a:ln>
                <a:solidFill>
                  <a:srgbClr val="273239"/>
                </a:solidFill>
                <a:effectLst/>
                <a:latin typeface="Palatino Linotype" panose="02040502050505030304" pitchFamily="18" charset="0"/>
              </a:rPr>
              <a:t> </a:t>
            </a:r>
            <a:r>
              <a:rPr kumimoji="0" lang="en-US" altLang="en-US" sz="2400" b="0" i="0" u="none" strike="noStrike" cap="none" normalizeH="0" baseline="0" dirty="0">
                <a:ln>
                  <a:noFill/>
                </a:ln>
                <a:solidFill>
                  <a:srgbClr val="273239"/>
                </a:solidFill>
                <a:effectLst/>
                <a:latin typeface="Palatino Linotype" panose="02040502050505030304" pitchFamily="18" charset="0"/>
              </a:rPr>
              <a:t>can be replaced by keyword </a:t>
            </a:r>
            <a:r>
              <a:rPr kumimoji="0" lang="en-US" altLang="en-US" sz="2400" b="1" i="0" u="none" strike="noStrike" cap="none" normalizeH="0" baseline="0" dirty="0">
                <a:ln>
                  <a:noFill/>
                </a:ln>
                <a:solidFill>
                  <a:srgbClr val="273239"/>
                </a:solidFill>
                <a:effectLst/>
                <a:latin typeface="Palatino Linotype" panose="02040502050505030304" pitchFamily="18" charset="0"/>
              </a:rPr>
              <a:t>class </a:t>
            </a:r>
            <a:r>
              <a:rPr kumimoji="0" lang="en-US" altLang="en-US" sz="2400" b="0" i="0" u="none" strike="noStrike" cap="none" normalizeH="0" baseline="0" dirty="0">
                <a:ln>
                  <a:noFill/>
                </a:ln>
                <a:solidFill>
                  <a:srgbClr val="273239"/>
                </a:solidFill>
                <a:effectLst/>
                <a:latin typeface="Palatino Linotype" panose="02040502050505030304" pitchFamily="18" charset="0"/>
              </a:rPr>
              <a:t>anytime.</a:t>
            </a:r>
            <a:endParaRPr kumimoji="0" lang="en-US" altLang="en-US" sz="3600" b="0" i="0" u="none" strike="noStrike" cap="none" normalizeH="0" baseline="0" dirty="0">
              <a:ln>
                <a:noFill/>
              </a:ln>
              <a:solidFill>
                <a:schemeClr val="tx1"/>
              </a:solidFill>
              <a:effectLst/>
              <a:latin typeface="Palatino Linotype" panose="0204050205050503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35642"/>
            <a:ext cx="12192000" cy="1228725"/>
          </a:xfrm>
          <a:solidFill>
            <a:schemeClr val="bg1"/>
          </a:solidFill>
        </p:spPr>
        <p:txBody>
          <a:bodyPr>
            <a:normAutofit/>
          </a:bodyPr>
          <a:lstStyle/>
          <a:p>
            <a:pPr algn="ctr"/>
            <a:r>
              <a:rPr lang="en-US" sz="4000" b="1" dirty="0">
                <a:solidFill>
                  <a:schemeClr val="accent1">
                    <a:lumMod val="75000"/>
                  </a:schemeClr>
                </a:solidFill>
                <a:latin typeface="Palatino Linotype" panose="02040502050505030304" pitchFamily="18" charset="0"/>
              </a:rPr>
              <a:t>Function Templates in C++ </a:t>
            </a: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3" name="Rectangle 2"/>
          <p:cNvSpPr>
            <a:spLocks noChangeArrowheads="1"/>
          </p:cNvSpPr>
          <p:nvPr/>
        </p:nvSpPr>
        <p:spPr bwMode="auto">
          <a:xfrm rot="10800000" flipV="1">
            <a:off x="1088821" y="1485493"/>
            <a:ext cx="10310193" cy="49859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indent="-342900">
              <a:buFont typeface="Arial" panose="020B0604020202020204" pitchFamily="34" charset="0"/>
              <a:buChar char="•"/>
            </a:pPr>
            <a:r>
              <a:rPr lang="en-US" sz="2400" dirty="0">
                <a:latin typeface="Palatino Linotype" panose="02040502050505030304" pitchFamily="18" charset="0"/>
              </a:rPr>
              <a:t>The above syntax can define templates for three components (entities) of C++ language:</a:t>
            </a:r>
          </a:p>
          <a:p>
            <a:pPr marL="342900" indent="-342900">
              <a:buFont typeface="Arial" panose="020B0604020202020204" pitchFamily="34" charset="0"/>
              <a:buChar char="•"/>
            </a:pPr>
            <a:endParaRPr lang="en-US" sz="2400" dirty="0">
              <a:latin typeface="Palatino Linotype" panose="02040502050505030304" pitchFamily="18" charset="0"/>
            </a:endParaRPr>
          </a:p>
          <a:p>
            <a:pPr marL="1257300" lvl="2" indent="-342900">
              <a:buFont typeface="Arial" panose="020B0604020202020204" pitchFamily="34" charset="0"/>
              <a:buChar char="•"/>
            </a:pPr>
            <a:r>
              <a:rPr lang="en-US" sz="2400" dirty="0">
                <a:latin typeface="Palatino Linotype" panose="02040502050505030304" pitchFamily="18" charset="0"/>
              </a:rPr>
              <a:t>Function Templates</a:t>
            </a:r>
          </a:p>
          <a:p>
            <a:pPr marL="1257300" lvl="2" indent="-342900">
              <a:buFont typeface="Arial" panose="020B0604020202020204" pitchFamily="34" charset="0"/>
              <a:buChar char="•"/>
            </a:pPr>
            <a:r>
              <a:rPr lang="en-US" sz="2400" dirty="0">
                <a:latin typeface="Palatino Linotype" panose="02040502050505030304" pitchFamily="18" charset="0"/>
              </a:rPr>
              <a:t>Class Templates</a:t>
            </a:r>
          </a:p>
          <a:p>
            <a:pPr marL="1257300" lvl="2" indent="-342900">
              <a:buFont typeface="Arial" panose="020B0604020202020204" pitchFamily="34" charset="0"/>
              <a:buChar char="•"/>
            </a:pPr>
            <a:r>
              <a:rPr lang="en-US" sz="2400" dirty="0">
                <a:latin typeface="Palatino Linotype" panose="02040502050505030304" pitchFamily="18" charset="0"/>
              </a:rPr>
              <a:t>Variable Templates (Since C++ 14)</a:t>
            </a:r>
          </a:p>
          <a:p>
            <a:pPr marL="1257300" lvl="2" indent="-342900">
              <a:buFont typeface="Arial" panose="020B0604020202020204" pitchFamily="34" charset="0"/>
              <a:buChar char="•"/>
            </a:pPr>
            <a:endParaRPr lang="en-US" sz="2400" dirty="0">
              <a:latin typeface="Palatino Linotype" panose="02040502050505030304" pitchFamily="18" charset="0"/>
            </a:endParaRPr>
          </a:p>
          <a:p>
            <a:pPr marL="342900" indent="-342900">
              <a:buFont typeface="Arial" panose="020B0604020202020204" pitchFamily="34" charset="0"/>
              <a:buChar char="•"/>
            </a:pPr>
            <a:r>
              <a:rPr lang="en-US" sz="2400" dirty="0">
                <a:latin typeface="Palatino Linotype" panose="02040502050505030304" pitchFamily="18" charset="0"/>
              </a:rPr>
              <a:t>In C++, templates allow us to write </a:t>
            </a:r>
            <a:r>
              <a:rPr lang="en-US" sz="2400" b="1" u="sng" dirty="0">
                <a:latin typeface="Palatino Linotype" panose="02040502050505030304" pitchFamily="18" charset="0"/>
                <a:hlinkClick r:id="rId2"/>
              </a:rPr>
              <a:t>generic</a:t>
            </a:r>
            <a:r>
              <a:rPr lang="en-US" sz="2400" dirty="0">
                <a:latin typeface="Palatino Linotype" panose="02040502050505030304" pitchFamily="18" charset="0"/>
              </a:rPr>
              <a:t> code for functions that can be used with different data types, and this can be achieved by function templates. </a:t>
            </a:r>
          </a:p>
          <a:p>
            <a:pPr marL="342900" indent="-342900">
              <a:buFont typeface="Arial" panose="020B0604020202020204" pitchFamily="34" charset="0"/>
              <a:buChar char="•"/>
            </a:pPr>
            <a:r>
              <a:rPr lang="en-US" sz="2400" b="1" dirty="0">
                <a:latin typeface="Palatino Linotype" panose="02040502050505030304" pitchFamily="18" charset="0"/>
              </a:rPr>
              <a:t>For example</a:t>
            </a:r>
            <a:r>
              <a:rPr lang="en-US" sz="2400" dirty="0">
                <a:latin typeface="Palatino Linotype" panose="02040502050505030304" pitchFamily="18" charset="0"/>
              </a:rPr>
              <a:t>, we can write a function that gives you the maximum of two numbers, but it can accept any number whether it is </a:t>
            </a:r>
            <a:r>
              <a:rPr lang="en-US" sz="2400" dirty="0" err="1">
                <a:latin typeface="Palatino Linotype" panose="02040502050505030304" pitchFamily="18" charset="0"/>
              </a:rPr>
              <a:t>int</a:t>
            </a:r>
            <a:r>
              <a:rPr lang="en-US" sz="2400" dirty="0">
                <a:latin typeface="Palatino Linotype" panose="02040502050505030304" pitchFamily="18" charset="0"/>
              </a:rPr>
              <a:t>, float, or double.</a:t>
            </a:r>
          </a:p>
          <a:p>
            <a:pPr lvl="0" algn="just"/>
            <a:endParaRPr kumimoji="0" lang="en-US" altLang="en-US" sz="3600" b="0" i="0" u="none" strike="noStrike" cap="none" normalizeH="0" baseline="0" dirty="0">
              <a:ln>
                <a:noFill/>
              </a:ln>
              <a:solidFill>
                <a:schemeClr val="tx1"/>
              </a:solidFill>
              <a:effectLst/>
              <a:latin typeface="Palatino Linotype" panose="0204050205050503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
            <a:ext cx="12192000" cy="931310"/>
          </a:xfrm>
          <a:solidFill>
            <a:schemeClr val="bg1"/>
          </a:solidFill>
        </p:spPr>
        <p:txBody>
          <a:bodyPr>
            <a:normAutofit/>
          </a:bodyPr>
          <a:lstStyle/>
          <a:p>
            <a:pPr algn="ctr"/>
            <a:r>
              <a:rPr lang="en-US" sz="4000" b="1" dirty="0">
                <a:solidFill>
                  <a:schemeClr val="accent1">
                    <a:lumMod val="75000"/>
                  </a:schemeClr>
                </a:solidFill>
                <a:latin typeface="Palatino Linotype" panose="02040502050505030304" pitchFamily="18" charset="0"/>
              </a:rPr>
              <a:t>Function Templates in C++ </a:t>
            </a: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pic>
        <p:nvPicPr>
          <p:cNvPr id="2" name="Picture 1"/>
          <p:cNvPicPr>
            <a:picLocks noChangeAspect="1"/>
          </p:cNvPicPr>
          <p:nvPr/>
        </p:nvPicPr>
        <p:blipFill>
          <a:blip r:embed="rId2"/>
          <a:stretch>
            <a:fillRect/>
          </a:stretch>
        </p:blipFill>
        <p:spPr>
          <a:xfrm>
            <a:off x="2265663" y="1239079"/>
            <a:ext cx="5634901" cy="5618921"/>
          </a:xfrm>
          <a:prstGeom prst="rect">
            <a:avLst/>
          </a:prstGeom>
        </p:spPr>
      </p:pic>
      <p:pic>
        <p:nvPicPr>
          <p:cNvPr id="4" name="Picture 3"/>
          <p:cNvPicPr>
            <a:picLocks noChangeAspect="1"/>
          </p:cNvPicPr>
          <p:nvPr/>
        </p:nvPicPr>
        <p:blipFill>
          <a:blip r:embed="rId3"/>
          <a:stretch>
            <a:fillRect/>
          </a:stretch>
        </p:blipFill>
        <p:spPr>
          <a:xfrm>
            <a:off x="7176664" y="2342542"/>
            <a:ext cx="4648849" cy="19659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1"/>
            <a:ext cx="12192000" cy="931310"/>
          </a:xfrm>
          <a:solidFill>
            <a:schemeClr val="bg1"/>
          </a:solidFill>
        </p:spPr>
        <p:txBody>
          <a:bodyPr>
            <a:normAutofit/>
          </a:bodyPr>
          <a:lstStyle/>
          <a:p>
            <a:pPr algn="ctr"/>
            <a:r>
              <a:rPr lang="en-US" sz="4000" b="1" dirty="0">
                <a:solidFill>
                  <a:schemeClr val="accent1">
                    <a:lumMod val="75000"/>
                  </a:schemeClr>
                </a:solidFill>
                <a:latin typeface="Palatino Linotype" panose="02040502050505030304" pitchFamily="18" charset="0"/>
              </a:rPr>
              <a:t>Function Templates in C++ </a:t>
            </a: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pic>
        <p:nvPicPr>
          <p:cNvPr id="3" name="Picture 2"/>
          <p:cNvPicPr>
            <a:picLocks noChangeAspect="1"/>
          </p:cNvPicPr>
          <p:nvPr/>
        </p:nvPicPr>
        <p:blipFill>
          <a:blip r:embed="rId3"/>
          <a:stretch>
            <a:fillRect/>
          </a:stretch>
        </p:blipFill>
        <p:spPr>
          <a:xfrm>
            <a:off x="1220227" y="1350054"/>
            <a:ext cx="6328803" cy="4507515"/>
          </a:xfrm>
          <a:prstGeom prst="rect">
            <a:avLst/>
          </a:prstGeom>
        </p:spPr>
      </p:pic>
      <p:pic>
        <p:nvPicPr>
          <p:cNvPr id="7" name="Picture 6"/>
          <p:cNvPicPr>
            <a:picLocks noChangeAspect="1"/>
          </p:cNvPicPr>
          <p:nvPr/>
        </p:nvPicPr>
        <p:blipFill>
          <a:blip r:embed="rId4"/>
          <a:stretch>
            <a:fillRect/>
          </a:stretch>
        </p:blipFill>
        <p:spPr>
          <a:xfrm>
            <a:off x="6174254" y="1350054"/>
            <a:ext cx="5414122" cy="20883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471088" y="1838004"/>
            <a:ext cx="7765112" cy="4023360"/>
          </a:xfrm>
        </p:spPr>
        <p:txBody>
          <a:bodyPr>
            <a:normAutofit/>
          </a:bodyPr>
          <a:lstStyle/>
          <a:p>
            <a:r>
              <a:rPr lang="en-US" sz="2800" dirty="0"/>
              <a:t>Write a C++ program using class templates to create a generic Circle class that can store the dimensions (radius) of a rectangle for any numeric data type (such as </a:t>
            </a:r>
            <a:r>
              <a:rPr lang="en-US" sz="2800" dirty="0" err="1"/>
              <a:t>int</a:t>
            </a:r>
            <a:r>
              <a:rPr lang="en-US" sz="2800" dirty="0"/>
              <a:t>, float, or double). The class should include a constructor to initialize the attribute and a member function area() to calculate and return the area. In the main() function, create two circle objects: one using integer values and another using double values, and display their areas.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81643" y="1219200"/>
            <a:ext cx="3698241" cy="5016758"/>
          </a:xfrm>
          <a:prstGeom prst="rect">
            <a:avLst/>
          </a:prstGeom>
        </p:spPr>
        <p:txBody>
          <a:bodyPr wrap="square">
            <a:spAutoFit/>
          </a:bodyPr>
          <a:lstStyle/>
          <a:p>
            <a:r>
              <a:rPr lang="en-US" sz="2000" dirty="0"/>
              <a:t>T area() {</a:t>
            </a:r>
          </a:p>
          <a:p>
            <a:r>
              <a:rPr lang="en-US" sz="2000" dirty="0"/>
              <a:t>        return length * width ;</a:t>
            </a:r>
          </a:p>
          <a:p>
            <a:r>
              <a:rPr lang="en-US" sz="2000" dirty="0"/>
              <a:t>    }</a:t>
            </a:r>
          </a:p>
          <a:p>
            <a:r>
              <a:rPr lang="en-US" sz="2000" dirty="0"/>
              <a:t>};</a:t>
            </a:r>
          </a:p>
          <a:p>
            <a:endParaRPr lang="en-US" sz="2000" dirty="0"/>
          </a:p>
          <a:p>
            <a:r>
              <a:rPr lang="en-US" sz="2000" dirty="0" err="1"/>
              <a:t>int</a:t>
            </a:r>
            <a:r>
              <a:rPr lang="en-US" sz="2000" dirty="0"/>
              <a:t> main() {</a:t>
            </a:r>
          </a:p>
          <a:p>
            <a:r>
              <a:rPr lang="en-US" sz="2000" dirty="0"/>
              <a:t>Rectangle &lt;</a:t>
            </a:r>
            <a:r>
              <a:rPr lang="en-US" sz="2000" dirty="0" err="1"/>
              <a:t>int</a:t>
            </a:r>
            <a:r>
              <a:rPr lang="en-US" sz="2000" dirty="0"/>
              <a:t>&gt; box1(3, 4);</a:t>
            </a:r>
          </a:p>
          <a:p>
            <a:r>
              <a:rPr lang="en-US" sz="2000" dirty="0"/>
              <a:t>    </a:t>
            </a:r>
            <a:r>
              <a:rPr lang="en-US" sz="2000" dirty="0" err="1"/>
              <a:t>cout</a:t>
            </a:r>
            <a:r>
              <a:rPr lang="en-US" sz="2000" dirty="0"/>
              <a:t> &lt;&lt; “Area of </a:t>
            </a:r>
            <a:r>
              <a:rPr lang="en-US" sz="2000" dirty="0" err="1"/>
              <a:t>int</a:t>
            </a:r>
            <a:r>
              <a:rPr lang="en-US" sz="2000" dirty="0"/>
              <a:t> box: " &lt;&lt; box1.area() &lt;&lt; </a:t>
            </a:r>
            <a:r>
              <a:rPr lang="en-US" sz="2000" dirty="0" err="1"/>
              <a:t>endl</a:t>
            </a:r>
            <a:r>
              <a:rPr lang="en-US" sz="2000" dirty="0"/>
              <a:t>;</a:t>
            </a:r>
          </a:p>
          <a:p>
            <a:endParaRPr lang="en-US" sz="2000" dirty="0"/>
          </a:p>
          <a:p>
            <a:r>
              <a:rPr lang="en-US" sz="2000" dirty="0"/>
              <a:t>Rectangle &lt;float&gt; box2(3.5, 4.2);</a:t>
            </a:r>
          </a:p>
          <a:p>
            <a:r>
              <a:rPr lang="en-US" sz="2000" dirty="0"/>
              <a:t>    </a:t>
            </a:r>
            <a:r>
              <a:rPr lang="en-US" sz="2000" dirty="0" err="1"/>
              <a:t>cout</a:t>
            </a:r>
            <a:r>
              <a:rPr lang="en-US" sz="2000" dirty="0"/>
              <a:t> &lt;&lt; “Area of float box: " &lt;&lt; box2.area() &lt;&lt; </a:t>
            </a:r>
            <a:r>
              <a:rPr lang="en-US" sz="2000" dirty="0" err="1"/>
              <a:t>endl</a:t>
            </a:r>
            <a:r>
              <a:rPr lang="en-US" sz="2000" dirty="0"/>
              <a:t>;</a:t>
            </a:r>
          </a:p>
          <a:p>
            <a:endParaRPr lang="en-US" sz="2000" dirty="0"/>
          </a:p>
          <a:p>
            <a:r>
              <a:rPr lang="en-US" sz="2000" dirty="0"/>
              <a:t>    return 0;</a:t>
            </a:r>
          </a:p>
          <a:p>
            <a:r>
              <a:rPr lang="en-US" sz="2000" dirty="0"/>
              <a:t>}</a:t>
            </a:r>
          </a:p>
        </p:txBody>
      </p:sp>
      <p:sp>
        <p:nvSpPr>
          <p:cNvPr id="5" name="Content Placeholder 2"/>
          <p:cNvSpPr txBox="1"/>
          <p:nvPr/>
        </p:nvSpPr>
        <p:spPr>
          <a:xfrm>
            <a:off x="2315376" y="711753"/>
            <a:ext cx="3766267" cy="5431772"/>
          </a:xfrm>
          <a:prstGeom prst="rect">
            <a:avLst/>
          </a:prstGeom>
        </p:spPr>
        <p:txBody>
          <a:bodyPr>
            <a:normAutofit fontScale="6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en-US" sz="4000" dirty="0"/>
              <a:t>#include &lt;</a:t>
            </a:r>
            <a:r>
              <a:rPr lang="en-US" sz="4000" dirty="0" err="1"/>
              <a:t>iostream</a:t>
            </a:r>
            <a:r>
              <a:rPr lang="en-US" sz="4000" dirty="0"/>
              <a:t>&gt;</a:t>
            </a:r>
          </a:p>
          <a:p>
            <a:r>
              <a:rPr lang="en-US" sz="4000" dirty="0"/>
              <a:t>using namespace </a:t>
            </a:r>
            <a:r>
              <a:rPr lang="en-US" sz="4000" dirty="0" err="1"/>
              <a:t>std</a:t>
            </a:r>
            <a:r>
              <a:rPr lang="en-US" sz="4000" dirty="0"/>
              <a:t>;</a:t>
            </a:r>
          </a:p>
          <a:p>
            <a:r>
              <a:rPr lang="en-US" sz="4000" dirty="0"/>
              <a:t>template &lt;class T&gt;</a:t>
            </a:r>
          </a:p>
          <a:p>
            <a:r>
              <a:rPr lang="en-US" sz="4000" dirty="0"/>
              <a:t>class Rectangle {</a:t>
            </a:r>
          </a:p>
          <a:p>
            <a:r>
              <a:rPr lang="en-US" sz="4000" dirty="0"/>
              <a:t>private:</a:t>
            </a:r>
          </a:p>
          <a:p>
            <a:r>
              <a:rPr lang="en-US" sz="4000" dirty="0"/>
              <a:t>    T length, width;</a:t>
            </a:r>
          </a:p>
          <a:p>
            <a:pPr marL="0" indent="0">
              <a:buFont typeface="Calibri" panose="020F0502020204030204" pitchFamily="34" charset="0"/>
              <a:buNone/>
            </a:pPr>
            <a:endParaRPr lang="en-US" sz="4000" dirty="0"/>
          </a:p>
          <a:p>
            <a:r>
              <a:rPr lang="en-US" sz="4000" dirty="0"/>
              <a:t>public:</a:t>
            </a:r>
          </a:p>
          <a:p>
            <a:r>
              <a:rPr lang="en-US" sz="4000" dirty="0"/>
              <a:t>Rectangle(T l, T w) {</a:t>
            </a:r>
          </a:p>
          <a:p>
            <a:r>
              <a:rPr lang="en-US" sz="4000" dirty="0"/>
              <a:t>        length = l;</a:t>
            </a:r>
          </a:p>
          <a:p>
            <a:r>
              <a:rPr lang="en-US" sz="4000" dirty="0"/>
              <a:t>        width = w;</a:t>
            </a:r>
          </a:p>
          <a:p>
            <a:r>
              <a:rPr lang="en-US" sz="4000" dirty="0"/>
              <a: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227429"/>
            <a:ext cx="12192000" cy="1228725"/>
          </a:xfrm>
          <a:solidFill>
            <a:schemeClr val="bg1"/>
          </a:solidFill>
        </p:spPr>
        <p:txBody>
          <a:bodyPr>
            <a:normAutofit/>
          </a:bodyPr>
          <a:lstStyle/>
          <a:p>
            <a:pPr algn="ctr"/>
            <a:r>
              <a:rPr lang="en-US" sz="4000" b="1" dirty="0">
                <a:solidFill>
                  <a:schemeClr val="accent1">
                    <a:lumMod val="75000"/>
                  </a:schemeClr>
                </a:solidFill>
                <a:latin typeface="Palatino Linotype" panose="02040502050505030304" pitchFamily="18" charset="0"/>
              </a:rPr>
              <a:t>What is a C++ Exception?</a:t>
            </a: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739589" y="2070269"/>
            <a:ext cx="10878670" cy="3816429"/>
          </a:xfrm>
          <a:prstGeom prst="rect">
            <a:avLst/>
          </a:prstGeom>
        </p:spPr>
        <p:txBody>
          <a:bodyPr wrap="square">
            <a:spAutoFit/>
          </a:bodyPr>
          <a:lstStyle/>
          <a:p>
            <a:pPr marL="342900" indent="-342900" algn="just" fontAlgn="base">
              <a:buFont typeface="Arial" panose="020B0604020202020204" pitchFamily="34" charset="0"/>
              <a:buChar char="•"/>
            </a:pPr>
            <a:r>
              <a:rPr lang="en-US" sz="2200" dirty="0">
                <a:latin typeface="Palatino Linotype" panose="02040502050505030304" pitchFamily="18" charset="0"/>
              </a:rPr>
              <a:t>In C++, exceptions are runtime anomalies or abnormal conditions that a program encounters during its execution. The process of handling these exceptions is called exception handling.</a:t>
            </a:r>
          </a:p>
          <a:p>
            <a:pPr marL="342900" indent="-342900" algn="just" fontAlgn="base">
              <a:buFont typeface="Arial" panose="020B0604020202020204" pitchFamily="34" charset="0"/>
              <a:buChar char="•"/>
            </a:pPr>
            <a:endParaRPr lang="en-US" sz="2200" dirty="0">
              <a:latin typeface="Palatino Linotype" panose="02040502050505030304" pitchFamily="18" charset="0"/>
            </a:endParaRPr>
          </a:p>
          <a:p>
            <a:pPr marL="342900" indent="-342900" algn="just" fontAlgn="base">
              <a:buFont typeface="Arial" panose="020B0604020202020204" pitchFamily="34" charset="0"/>
              <a:buChar char="•"/>
            </a:pPr>
            <a:r>
              <a:rPr lang="en-US" sz="2200" dirty="0">
                <a:latin typeface="Palatino Linotype" panose="02040502050505030304" pitchFamily="18" charset="0"/>
              </a:rPr>
              <a:t> Using the exception handling mechanism, the control from one part of the program where the exception occurred can be transferred to another part of the code.</a:t>
            </a:r>
          </a:p>
          <a:p>
            <a:pPr marL="342900" indent="-342900" algn="just" fontAlgn="base">
              <a:buFont typeface="Arial" panose="020B0604020202020204" pitchFamily="34" charset="0"/>
              <a:buChar char="•"/>
            </a:pPr>
            <a:endParaRPr lang="en-US" sz="2200" dirty="0">
              <a:latin typeface="Palatino Linotype" panose="02040502050505030304" pitchFamily="18" charset="0"/>
            </a:endParaRPr>
          </a:p>
          <a:p>
            <a:pPr marL="342900" indent="-342900" algn="just" fontAlgn="base">
              <a:buFont typeface="Arial" panose="020B0604020202020204" pitchFamily="34" charset="0"/>
              <a:buChar char="•"/>
            </a:pPr>
            <a:r>
              <a:rPr lang="en-US" sz="2200" dirty="0">
                <a:latin typeface="Palatino Linotype" panose="02040502050505030304" pitchFamily="18" charset="0"/>
              </a:rPr>
              <a:t>So basically using exception handling in C++, we can handle the exceptions so that our program keeps running.</a:t>
            </a:r>
          </a:p>
          <a:p>
            <a:pPr marL="342900" indent="-342900" algn="just" fontAlgn="base">
              <a:buFont typeface="Arial" panose="020B0604020202020204" pitchFamily="34" charset="0"/>
              <a:buChar char="•"/>
            </a:pPr>
            <a:endParaRPr lang="en-US" sz="2200" dirty="0">
              <a:latin typeface="Palatino Linotype" panose="02040502050505030304" pitchFamily="18" charset="0"/>
            </a:endParaRPr>
          </a:p>
          <a:p>
            <a:pPr marL="342900" indent="-342900" algn="just" fontAlgn="base">
              <a:buFont typeface="Arial" panose="020B0604020202020204" pitchFamily="34" charset="0"/>
              <a:buChar char="•"/>
            </a:pPr>
            <a:r>
              <a:rPr lang="en-US" sz="2200" dirty="0">
                <a:latin typeface="Palatino Linotype" panose="02040502050505030304" pitchFamily="18" charset="0"/>
              </a:rPr>
              <a:t>Exception occurs during the running of the program (runtime).</a:t>
            </a:r>
            <a:endParaRPr lang="en-US" sz="2200" b="0" i="0" dirty="0">
              <a:effectLst/>
              <a:latin typeface="Palatino Linotype" panose="0204050205050503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603947"/>
            <a:ext cx="12192000" cy="1228725"/>
          </a:xfrm>
          <a:solidFill>
            <a:schemeClr val="bg1"/>
          </a:solidFill>
        </p:spPr>
        <p:txBody>
          <a:bodyPr>
            <a:normAutofit/>
          </a:bodyPr>
          <a:lstStyle/>
          <a:p>
            <a:pPr algn="ctr"/>
            <a:r>
              <a:rPr lang="en-US" sz="4000" b="1" dirty="0">
                <a:solidFill>
                  <a:schemeClr val="accent1">
                    <a:lumMod val="75000"/>
                  </a:schemeClr>
                </a:solidFill>
                <a:latin typeface="Palatino Linotype" panose="02040502050505030304" pitchFamily="18" charset="0"/>
              </a:rPr>
              <a:t>Types of C++ Exception</a:t>
            </a:r>
            <a:br>
              <a:rPr lang="en-US" sz="4000" b="1" dirty="0">
                <a:solidFill>
                  <a:schemeClr val="accent1">
                    <a:lumMod val="75000"/>
                  </a:schemeClr>
                </a:solidFill>
                <a:latin typeface="Palatino Linotype" panose="02040502050505030304" pitchFamily="18" charset="0"/>
              </a:rPr>
            </a:br>
            <a:endParaRPr lang="en-US" sz="40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721074" y="2308945"/>
            <a:ext cx="10749851" cy="3046988"/>
          </a:xfrm>
          <a:prstGeom prst="rect">
            <a:avLst/>
          </a:prstGeom>
        </p:spPr>
        <p:txBody>
          <a:bodyPr wrap="square">
            <a:spAutoFit/>
          </a:bodyPr>
          <a:lstStyle/>
          <a:p>
            <a:pPr algn="just" fontAlgn="base"/>
            <a:r>
              <a:rPr lang="en-US" sz="2400" dirty="0">
                <a:solidFill>
                  <a:schemeClr val="tx1">
                    <a:lumMod val="95000"/>
                    <a:lumOff val="5000"/>
                  </a:schemeClr>
                </a:solidFill>
                <a:latin typeface="Palatino Linotype" panose="02040502050505030304" pitchFamily="18" charset="0"/>
              </a:rPr>
              <a:t>There are two types of exceptions in C++</a:t>
            </a:r>
          </a:p>
          <a:p>
            <a:pPr algn="just" fontAlgn="base"/>
            <a:endParaRPr lang="en-US" sz="2400" dirty="0">
              <a:solidFill>
                <a:schemeClr val="tx1">
                  <a:lumMod val="95000"/>
                  <a:lumOff val="5000"/>
                </a:schemeClr>
              </a:solidFill>
              <a:latin typeface="Palatino Linotype" panose="02040502050505030304" pitchFamily="18" charset="0"/>
            </a:endParaRPr>
          </a:p>
          <a:p>
            <a:pPr algn="just" fontAlgn="base"/>
            <a:r>
              <a:rPr lang="en-US" sz="2400" b="1" dirty="0">
                <a:solidFill>
                  <a:schemeClr val="tx1">
                    <a:lumMod val="95000"/>
                    <a:lumOff val="5000"/>
                  </a:schemeClr>
                </a:solidFill>
                <a:latin typeface="Palatino Linotype" panose="02040502050505030304" pitchFamily="18" charset="0"/>
              </a:rPr>
              <a:t>Synchronous: </a:t>
            </a:r>
            <a:r>
              <a:rPr lang="en-US" sz="2400" dirty="0">
                <a:solidFill>
                  <a:schemeClr val="tx1">
                    <a:lumMod val="95000"/>
                    <a:lumOff val="5000"/>
                  </a:schemeClr>
                </a:solidFill>
                <a:latin typeface="Palatino Linotype" panose="02040502050505030304" pitchFamily="18" charset="0"/>
              </a:rPr>
              <a:t>Exceptions that happen when something goes wrong because of a mistake in the input data or when the program is not equipped to handle the current type of data it’s working with, such as dividing a number by zero.</a:t>
            </a:r>
          </a:p>
          <a:p>
            <a:pPr algn="just" fontAlgn="base"/>
            <a:endParaRPr lang="en-US" sz="2400" dirty="0">
              <a:solidFill>
                <a:schemeClr val="tx1">
                  <a:lumMod val="95000"/>
                  <a:lumOff val="5000"/>
                </a:schemeClr>
              </a:solidFill>
              <a:latin typeface="Palatino Linotype" panose="02040502050505030304" pitchFamily="18" charset="0"/>
            </a:endParaRPr>
          </a:p>
          <a:p>
            <a:pPr algn="just" fontAlgn="base"/>
            <a:r>
              <a:rPr lang="en-US" sz="2400" b="1" dirty="0">
                <a:solidFill>
                  <a:schemeClr val="tx1">
                    <a:lumMod val="95000"/>
                    <a:lumOff val="5000"/>
                  </a:schemeClr>
                </a:solidFill>
                <a:latin typeface="Palatino Linotype" panose="02040502050505030304" pitchFamily="18" charset="0"/>
              </a:rPr>
              <a:t>Asynchronous: </a:t>
            </a:r>
            <a:r>
              <a:rPr lang="en-US" sz="2400" dirty="0">
                <a:solidFill>
                  <a:schemeClr val="tx1">
                    <a:lumMod val="95000"/>
                    <a:lumOff val="5000"/>
                  </a:schemeClr>
                </a:solidFill>
                <a:latin typeface="Palatino Linotype" panose="02040502050505030304" pitchFamily="18" charset="0"/>
              </a:rPr>
              <a:t>Exceptions that are beyond the program’s control, such as disc failure, keyboard interrupts, etc.</a:t>
            </a:r>
            <a:endParaRPr lang="en-US" sz="2400" b="0" i="0" dirty="0">
              <a:solidFill>
                <a:schemeClr val="tx1">
                  <a:lumMod val="95000"/>
                  <a:lumOff val="5000"/>
                </a:schemeClr>
              </a:solidFill>
              <a:effectLst/>
              <a:latin typeface="Palatino Linotype" panose="0204050205050503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805653"/>
            <a:ext cx="12192000" cy="1228725"/>
          </a:xfrm>
          <a:solidFill>
            <a:schemeClr val="bg1"/>
          </a:solidFill>
        </p:spPr>
        <p:txBody>
          <a:bodyPr>
            <a:normAutofit fontScale="90000"/>
          </a:bodyPr>
          <a:lstStyle/>
          <a:p>
            <a:pPr algn="ctr"/>
            <a:r>
              <a:rPr lang="en-US" sz="4000" b="1" dirty="0">
                <a:solidFill>
                  <a:schemeClr val="accent1">
                    <a:lumMod val="75000"/>
                  </a:schemeClr>
                </a:solidFill>
                <a:latin typeface="Palatino Linotype" panose="02040502050505030304" pitchFamily="18" charset="0"/>
              </a:rPr>
              <a:t>C++ try and catch</a:t>
            </a:r>
            <a:br>
              <a:rPr lang="en-US" sz="4000" b="1" dirty="0">
                <a:solidFill>
                  <a:schemeClr val="accent1">
                    <a:lumMod val="75000"/>
                  </a:schemeClr>
                </a:solidFill>
                <a:latin typeface="Palatino Linotype" panose="02040502050505030304" pitchFamily="18" charset="0"/>
              </a:rPr>
            </a:br>
            <a:br>
              <a:rPr lang="en-US" sz="4000" b="1" dirty="0">
                <a:solidFill>
                  <a:schemeClr val="accent1">
                    <a:lumMod val="75000"/>
                  </a:schemeClr>
                </a:solidFill>
                <a:latin typeface="Palatino Linotype" panose="02040502050505030304" pitchFamily="18" charset="0"/>
              </a:rPr>
            </a:br>
            <a:endParaRPr lang="en-US" sz="40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2" name="Rectangle 1"/>
          <p:cNvSpPr>
            <a:spLocks noChangeArrowheads="1"/>
          </p:cNvSpPr>
          <p:nvPr/>
        </p:nvSpPr>
        <p:spPr bwMode="auto">
          <a:xfrm>
            <a:off x="1129552" y="1722201"/>
            <a:ext cx="10529047" cy="4247317"/>
          </a:xfrm>
          <a:prstGeom prst="rect">
            <a:avLst/>
          </a:prstGeom>
          <a:solidFill>
            <a:schemeClr val="bg1"/>
          </a:solid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a:ln>
                  <a:noFill/>
                </a:ln>
                <a:solidFill>
                  <a:srgbClr val="273239"/>
                </a:solidFill>
                <a:effectLst/>
                <a:latin typeface="Palatino Linotype" panose="02040502050505030304" pitchFamily="18" charset="0"/>
              </a:rPr>
              <a:t>C++ provides an inbuilt feature for Exception Handling. It can be done using the following specialized keywords: try, catch, and throw with each having a different purpose.</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dirty="0">
              <a:ln>
                <a:noFill/>
              </a:ln>
              <a:solidFill>
                <a:schemeClr val="tx1"/>
              </a:solidFill>
              <a:effectLst/>
              <a:latin typeface="Palatino Linotype" panose="0204050205050503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a:ln>
                  <a:noFill/>
                </a:ln>
                <a:solidFill>
                  <a:srgbClr val="273239"/>
                </a:solidFill>
                <a:effectLst/>
                <a:latin typeface="Palatino Linotype" panose="02040502050505030304" pitchFamily="18" charset="0"/>
              </a:rPr>
              <a:t>Syntax of try-catch in C++</a:t>
            </a:r>
          </a:p>
          <a:p>
            <a:pPr lvl="3"/>
            <a:r>
              <a:rPr kumimoji="0" lang="en-US" altLang="en-US" sz="2400" b="1" i="0" u="none" strike="noStrike" cap="none" normalizeH="0" baseline="0" dirty="0">
                <a:ln>
                  <a:noFill/>
                </a:ln>
                <a:solidFill>
                  <a:srgbClr val="C00000"/>
                </a:solidFill>
                <a:effectLst/>
                <a:latin typeface="Palatino Linotype" panose="02040502050505030304" pitchFamily="18" charset="0"/>
              </a:rPr>
              <a:t>try </a:t>
            </a:r>
            <a:r>
              <a:rPr kumimoji="0" lang="en-US" altLang="en-US" sz="2400" b="0" i="0" u="none" strike="noStrike" cap="none" normalizeH="0" baseline="0" dirty="0">
                <a:ln>
                  <a:noFill/>
                </a:ln>
                <a:solidFill>
                  <a:srgbClr val="C00000"/>
                </a:solidFill>
                <a:effectLst/>
                <a:latin typeface="Palatino Linotype" panose="02040502050505030304" pitchFamily="18" charset="0"/>
              </a:rPr>
              <a:t>{ </a:t>
            </a:r>
            <a:br>
              <a:rPr kumimoji="0" lang="en-US" altLang="en-US" sz="2400" b="0" i="0" u="none" strike="noStrike" cap="none" normalizeH="0" baseline="0" dirty="0">
                <a:ln>
                  <a:noFill/>
                </a:ln>
                <a:solidFill>
                  <a:srgbClr val="C00000"/>
                </a:solidFill>
                <a:effectLst/>
                <a:latin typeface="Palatino Linotype" panose="02040502050505030304" pitchFamily="18" charset="0"/>
              </a:rPr>
            </a:br>
            <a:r>
              <a:rPr kumimoji="0" lang="en-US" altLang="en-US" sz="2400" b="0" i="1" u="none" strike="noStrike" cap="none" normalizeH="0" baseline="0" dirty="0">
                <a:ln>
                  <a:noFill/>
                </a:ln>
                <a:effectLst/>
                <a:latin typeface="Palatino Linotype" panose="02040502050505030304" pitchFamily="18" charset="0"/>
              </a:rPr>
              <a:t>// Code that might throw an exception</a:t>
            </a:r>
            <a:br>
              <a:rPr kumimoji="0" lang="en-US" altLang="en-US" sz="2400" b="0" i="0" u="none" strike="noStrike" cap="none" normalizeH="0" baseline="0" dirty="0">
                <a:ln>
                  <a:noFill/>
                </a:ln>
                <a:solidFill>
                  <a:srgbClr val="C00000"/>
                </a:solidFill>
                <a:effectLst/>
                <a:latin typeface="Palatino Linotype" panose="02040502050505030304" pitchFamily="18" charset="0"/>
              </a:rPr>
            </a:br>
            <a:r>
              <a:rPr kumimoji="0" lang="en-US" altLang="en-US" sz="2400" b="1" i="0" u="none" strike="noStrike" cap="none" normalizeH="0" baseline="0" dirty="0">
                <a:ln>
                  <a:noFill/>
                </a:ln>
                <a:solidFill>
                  <a:srgbClr val="C00000"/>
                </a:solidFill>
                <a:effectLst/>
                <a:latin typeface="Palatino Linotype" panose="02040502050505030304" pitchFamily="18" charset="0"/>
              </a:rPr>
              <a:t>throw </a:t>
            </a:r>
            <a:r>
              <a:rPr kumimoji="0" lang="en-US" altLang="en-US" sz="2400" b="0" i="0" u="none" strike="noStrike" cap="none" normalizeH="0" baseline="0" dirty="0" err="1">
                <a:ln>
                  <a:noFill/>
                </a:ln>
                <a:solidFill>
                  <a:srgbClr val="C00000"/>
                </a:solidFill>
                <a:effectLst/>
                <a:latin typeface="Palatino Linotype" panose="02040502050505030304" pitchFamily="18" charset="0"/>
              </a:rPr>
              <a:t>SomeExceptionType</a:t>
            </a:r>
            <a:r>
              <a:rPr kumimoji="0" lang="en-US" altLang="en-US" sz="2400" b="0" i="0" u="none" strike="noStrike" cap="none" normalizeH="0" baseline="0" dirty="0">
                <a:ln>
                  <a:noFill/>
                </a:ln>
                <a:solidFill>
                  <a:srgbClr val="C00000"/>
                </a:solidFill>
                <a:effectLst/>
                <a:latin typeface="Palatino Linotype" panose="02040502050505030304" pitchFamily="18" charset="0"/>
              </a:rPr>
              <a:t>("Error message");</a:t>
            </a:r>
            <a:br>
              <a:rPr kumimoji="0" lang="en-US" altLang="en-US" sz="2400" b="0" i="0" u="none" strike="noStrike" cap="none" normalizeH="0" baseline="0" dirty="0">
                <a:ln>
                  <a:noFill/>
                </a:ln>
                <a:solidFill>
                  <a:srgbClr val="C00000"/>
                </a:solidFill>
                <a:effectLst/>
                <a:latin typeface="Palatino Linotype" panose="02040502050505030304" pitchFamily="18" charset="0"/>
              </a:rPr>
            </a:br>
            <a:r>
              <a:rPr kumimoji="0" lang="en-US" altLang="en-US" sz="2400" b="0" i="0" u="none" strike="noStrike" cap="none" normalizeH="0" baseline="0" dirty="0">
                <a:ln>
                  <a:noFill/>
                </a:ln>
                <a:solidFill>
                  <a:srgbClr val="C00000"/>
                </a:solidFill>
                <a:effectLst/>
                <a:latin typeface="Palatino Linotype" panose="02040502050505030304" pitchFamily="18" charset="0"/>
              </a:rPr>
              <a:t>} </a:t>
            </a:r>
            <a:br>
              <a:rPr kumimoji="0" lang="en-US" altLang="en-US" sz="2400" b="0" i="0" u="none" strike="noStrike" cap="none" normalizeH="0" baseline="0" dirty="0">
                <a:ln>
                  <a:noFill/>
                </a:ln>
                <a:solidFill>
                  <a:srgbClr val="C00000"/>
                </a:solidFill>
                <a:effectLst/>
                <a:latin typeface="Palatino Linotype" panose="02040502050505030304" pitchFamily="18" charset="0"/>
              </a:rPr>
            </a:br>
            <a:r>
              <a:rPr kumimoji="0" lang="en-US" altLang="en-US" sz="2400" b="1" i="0" u="none" strike="noStrike" cap="none" normalizeH="0" baseline="0" dirty="0">
                <a:ln>
                  <a:noFill/>
                </a:ln>
                <a:solidFill>
                  <a:srgbClr val="C00000"/>
                </a:solidFill>
                <a:effectLst/>
                <a:latin typeface="Palatino Linotype" panose="02040502050505030304" pitchFamily="18" charset="0"/>
              </a:rPr>
              <a:t>catch</a:t>
            </a:r>
            <a:r>
              <a:rPr kumimoji="0" lang="en-US" altLang="en-US" sz="2400" b="0" i="0" u="none" strike="noStrike" cap="none" normalizeH="0" baseline="0" dirty="0">
                <a:ln>
                  <a:noFill/>
                </a:ln>
                <a:solidFill>
                  <a:srgbClr val="C00000"/>
                </a:solidFill>
                <a:effectLst/>
                <a:latin typeface="Palatino Linotype" panose="02040502050505030304" pitchFamily="18" charset="0"/>
              </a:rPr>
              <a:t>( </a:t>
            </a:r>
            <a:r>
              <a:rPr kumimoji="0" lang="en-US" altLang="en-US" sz="2400" b="0" i="0" u="none" strike="noStrike" cap="none" normalizeH="0" baseline="0" dirty="0" err="1">
                <a:ln>
                  <a:noFill/>
                </a:ln>
                <a:solidFill>
                  <a:srgbClr val="C00000"/>
                </a:solidFill>
                <a:effectLst/>
                <a:latin typeface="Palatino Linotype" panose="02040502050505030304" pitchFamily="18" charset="0"/>
              </a:rPr>
              <a:t>ExceptionName</a:t>
            </a:r>
            <a:r>
              <a:rPr kumimoji="0" lang="en-US" altLang="en-US" sz="2400" b="0" i="0" u="none" strike="noStrike" cap="none" normalizeH="0" baseline="0" dirty="0">
                <a:ln>
                  <a:noFill/>
                </a:ln>
                <a:solidFill>
                  <a:srgbClr val="C00000"/>
                </a:solidFill>
                <a:effectLst/>
                <a:latin typeface="Palatino Linotype" panose="02040502050505030304" pitchFamily="18" charset="0"/>
              </a:rPr>
              <a:t> e1 ) { </a:t>
            </a:r>
            <a:br>
              <a:rPr kumimoji="0" lang="en-US" altLang="en-US" sz="2400" b="0" i="0" u="none" strike="noStrike" cap="none" normalizeH="0" baseline="0" dirty="0">
                <a:ln>
                  <a:noFill/>
                </a:ln>
                <a:solidFill>
                  <a:srgbClr val="C00000"/>
                </a:solidFill>
                <a:effectLst/>
                <a:latin typeface="Palatino Linotype" panose="02040502050505030304" pitchFamily="18" charset="0"/>
              </a:rPr>
            </a:br>
            <a:r>
              <a:rPr kumimoji="0" lang="en-US" altLang="en-US" sz="2400" b="0" i="1" u="none" strike="noStrike" cap="none" normalizeH="0" baseline="0" dirty="0">
                <a:ln>
                  <a:noFill/>
                </a:ln>
                <a:effectLst/>
                <a:latin typeface="Palatino Linotype" panose="02040502050505030304" pitchFamily="18" charset="0"/>
              </a:rPr>
              <a:t>// catch block catches the exception that is thrown from try block</a:t>
            </a:r>
            <a:br>
              <a:rPr kumimoji="0" lang="en-US" altLang="en-US" sz="1200" b="0" i="0" u="none" strike="noStrike" cap="none" normalizeH="0" baseline="0" dirty="0">
                <a:ln>
                  <a:noFill/>
                </a:ln>
                <a:solidFill>
                  <a:schemeClr val="tx1"/>
                </a:solidFill>
                <a:effectLst/>
                <a:latin typeface="Consolas" panose="020B0609020204030204" pitchFamily="49" charset="0"/>
              </a:rPr>
            </a:br>
            <a:r>
              <a:rPr kumimoji="0" lang="en-US" altLang="en-US" sz="1200" b="0" i="0" u="none" strike="noStrike" cap="none" normalizeH="0" baseline="0" dirty="0">
                <a:ln>
                  <a:noFill/>
                </a:ln>
                <a:solidFill>
                  <a:schemeClr val="tx1"/>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805653"/>
            <a:ext cx="12192000" cy="1228725"/>
          </a:xfrm>
          <a:solidFill>
            <a:schemeClr val="bg1"/>
          </a:solidFill>
        </p:spPr>
        <p:txBody>
          <a:bodyPr>
            <a:normAutofit fontScale="90000"/>
          </a:bodyPr>
          <a:lstStyle/>
          <a:p>
            <a:pPr algn="ctr"/>
            <a:r>
              <a:rPr lang="en-US" sz="4000" b="1" dirty="0">
                <a:solidFill>
                  <a:schemeClr val="accent1">
                    <a:lumMod val="75000"/>
                  </a:schemeClr>
                </a:solidFill>
                <a:latin typeface="Palatino Linotype" panose="02040502050505030304" pitchFamily="18" charset="0"/>
              </a:rPr>
              <a:t>C++ try and catch</a:t>
            </a:r>
            <a:br>
              <a:rPr lang="en-US" sz="4000" b="1" dirty="0">
                <a:solidFill>
                  <a:schemeClr val="accent1">
                    <a:lumMod val="75000"/>
                  </a:schemeClr>
                </a:solidFill>
                <a:latin typeface="Palatino Linotype" panose="02040502050505030304" pitchFamily="18" charset="0"/>
              </a:rPr>
            </a:br>
            <a:br>
              <a:rPr lang="en-US" sz="4000" b="1" dirty="0">
                <a:solidFill>
                  <a:schemeClr val="accent1">
                    <a:lumMod val="75000"/>
                  </a:schemeClr>
                </a:solidFill>
                <a:latin typeface="Palatino Linotype" panose="02040502050505030304" pitchFamily="18" charset="0"/>
              </a:rPr>
            </a:br>
            <a:endParaRPr lang="en-US" sz="40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2" name="Rectangle 1"/>
          <p:cNvSpPr>
            <a:spLocks noChangeArrowheads="1"/>
          </p:cNvSpPr>
          <p:nvPr/>
        </p:nvSpPr>
        <p:spPr bwMode="auto">
          <a:xfrm>
            <a:off x="1035423" y="1318022"/>
            <a:ext cx="10529047" cy="5539978"/>
          </a:xfrm>
          <a:prstGeom prst="rect">
            <a:avLst/>
          </a:prstGeom>
          <a:solidFill>
            <a:schemeClr val="bg1"/>
          </a:solid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b="1" dirty="0"/>
              <a:t>1</a:t>
            </a:r>
            <a:r>
              <a:rPr lang="en-US" altLang="en-US" sz="2000" b="1" dirty="0">
                <a:latin typeface="Palatino Linotype" panose="02040502050505030304" pitchFamily="18" charset="0"/>
              </a:rPr>
              <a:t>. try in C++</a:t>
            </a:r>
          </a:p>
          <a:p>
            <a:pPr lvl="0"/>
            <a:r>
              <a:rPr lang="en-US" altLang="en-US" sz="2000" dirty="0">
                <a:latin typeface="Palatino Linotype" panose="02040502050505030304" pitchFamily="18" charset="0"/>
              </a:rPr>
              <a:t>The try keyword represents a block of code that may throw an exception placed inside the try block. It’s followed by one or more catch blocks. If an exception occurs, try block throws that exception.</a:t>
            </a:r>
          </a:p>
          <a:p>
            <a:pPr lvl="0"/>
            <a:endParaRPr lang="en-US" altLang="en-US" sz="2000" b="1" dirty="0">
              <a:latin typeface="Palatino Linotype" panose="02040502050505030304" pitchFamily="18" charset="0"/>
            </a:endParaRPr>
          </a:p>
          <a:p>
            <a:pPr lvl="0"/>
            <a:r>
              <a:rPr lang="en-US" altLang="en-US" sz="2000" b="1" dirty="0">
                <a:latin typeface="Palatino Linotype" panose="02040502050505030304" pitchFamily="18" charset="0"/>
              </a:rPr>
              <a:t>2. catch in C++</a:t>
            </a:r>
          </a:p>
          <a:p>
            <a:pPr lvl="0"/>
            <a:r>
              <a:rPr lang="en-US" altLang="en-US" sz="2000" dirty="0">
                <a:latin typeface="Palatino Linotype" panose="02040502050505030304" pitchFamily="18" charset="0"/>
              </a:rPr>
              <a:t>The catch statement represents a block of code that is executed when a particular exception is thrown from the try block. The code to handle the exception is written inside the catch block.</a:t>
            </a:r>
          </a:p>
          <a:p>
            <a:pPr lvl="0"/>
            <a:endParaRPr lang="en-US" altLang="en-US" sz="2000" dirty="0">
              <a:latin typeface="Palatino Linotype" panose="02040502050505030304" pitchFamily="18" charset="0"/>
            </a:endParaRPr>
          </a:p>
          <a:p>
            <a:pPr lvl="0"/>
            <a:r>
              <a:rPr lang="en-US" altLang="en-US" sz="2000" b="1" dirty="0">
                <a:latin typeface="Palatino Linotype" panose="02040502050505030304" pitchFamily="18" charset="0"/>
              </a:rPr>
              <a:t>3. throw in C++</a:t>
            </a:r>
          </a:p>
          <a:p>
            <a:pPr lvl="0"/>
            <a:r>
              <a:rPr lang="en-US" altLang="en-US" sz="2000" dirty="0">
                <a:latin typeface="Palatino Linotype" panose="02040502050505030304" pitchFamily="18" charset="0"/>
              </a:rPr>
              <a:t>An exception in C++ can be thrown using the throw keyword. When a program encounters a throw statement, then it immediately terminates the current function and starts finding a matching catch block to handle the thrown exception.</a:t>
            </a:r>
          </a:p>
          <a:p>
            <a:pPr lvl="0"/>
            <a:endParaRPr kumimoji="0" lang="en-US" altLang="en-US" sz="2000" b="0" i="0" u="none" strike="noStrike" cap="none" normalizeH="0" baseline="0" dirty="0">
              <a:ln>
                <a:noFill/>
              </a:ln>
              <a:solidFill>
                <a:schemeClr val="tx1"/>
              </a:solidFill>
              <a:effectLst/>
              <a:latin typeface="Palatino Linotype" panose="02040502050505030304" pitchFamily="18" charset="0"/>
            </a:endParaRPr>
          </a:p>
          <a:p>
            <a:pPr lvl="0"/>
            <a:r>
              <a:rPr lang="en-US" altLang="en-US" sz="2000" dirty="0">
                <a:latin typeface="Palatino Linotype" panose="02040502050505030304" pitchFamily="18" charset="0"/>
              </a:rPr>
              <a:t>***Multiple catch statements can be used to catch different type of exceptions thrown by try block.</a:t>
            </a:r>
          </a:p>
          <a:p>
            <a:pPr lvl="0"/>
            <a:endParaRPr lang="en-US" altLang="en-US" sz="2000" dirty="0">
              <a:latin typeface="Palatino Linotype" panose="02040502050505030304" pitchFamily="18" charset="0"/>
            </a:endParaRPr>
          </a:p>
          <a:p>
            <a:pPr lvl="0"/>
            <a:endParaRPr kumimoji="0" lang="en-US" altLang="en-US" sz="2000" b="0" i="0" u="none" strike="noStrike" cap="none" normalizeH="0" baseline="0" dirty="0">
              <a:ln>
                <a:noFill/>
              </a:ln>
              <a:solidFill>
                <a:schemeClr val="tx1"/>
              </a:solidFill>
              <a:effectLst/>
              <a:latin typeface="Palatino Linotype" panose="0204050205050503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805653"/>
            <a:ext cx="12192000" cy="1228725"/>
          </a:xfrm>
          <a:solidFill>
            <a:schemeClr val="bg1"/>
          </a:solidFill>
        </p:spPr>
        <p:txBody>
          <a:bodyPr>
            <a:normAutofit fontScale="90000"/>
          </a:bodyPr>
          <a:lstStyle/>
          <a:p>
            <a:pPr algn="ctr"/>
            <a:r>
              <a:rPr lang="en-US" sz="4000" b="1" dirty="0">
                <a:solidFill>
                  <a:schemeClr val="accent1">
                    <a:lumMod val="75000"/>
                  </a:schemeClr>
                </a:solidFill>
                <a:latin typeface="Palatino Linotype" panose="02040502050505030304" pitchFamily="18" charset="0"/>
              </a:rPr>
              <a:t>Types</a:t>
            </a:r>
            <a:br>
              <a:rPr lang="en-US" sz="4000" b="1" dirty="0">
                <a:solidFill>
                  <a:schemeClr val="accent1">
                    <a:lumMod val="75000"/>
                  </a:schemeClr>
                </a:solidFill>
                <a:latin typeface="Palatino Linotype" panose="02040502050505030304" pitchFamily="18" charset="0"/>
              </a:rPr>
            </a:br>
            <a:br>
              <a:rPr lang="en-US" sz="4000" b="1" dirty="0">
                <a:solidFill>
                  <a:schemeClr val="accent1">
                    <a:lumMod val="75000"/>
                  </a:schemeClr>
                </a:solidFill>
                <a:latin typeface="Palatino Linotype" panose="02040502050505030304" pitchFamily="18" charset="0"/>
              </a:rPr>
            </a:br>
            <a:endParaRPr lang="en-US" sz="40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2" name="Rectangle 1"/>
          <p:cNvSpPr>
            <a:spLocks noChangeArrowheads="1"/>
          </p:cNvSpPr>
          <p:nvPr/>
        </p:nvSpPr>
        <p:spPr bwMode="auto">
          <a:xfrm>
            <a:off x="1035423" y="3780234"/>
            <a:ext cx="10529047" cy="615553"/>
          </a:xfrm>
          <a:prstGeom prst="rect">
            <a:avLst/>
          </a:prstGeom>
          <a:solidFill>
            <a:schemeClr val="bg1"/>
          </a:solid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endParaRPr lang="en-US" altLang="en-US" sz="2000" dirty="0">
              <a:latin typeface="Palatino Linotype" panose="02040502050505030304" pitchFamily="18" charset="0"/>
            </a:endParaRPr>
          </a:p>
          <a:p>
            <a:pPr lvl="0"/>
            <a:endParaRPr kumimoji="0" lang="en-US" altLang="en-US" sz="2000" b="0" i="0" u="none" strike="noStrike" cap="none" normalizeH="0" baseline="0" dirty="0">
              <a:ln>
                <a:noFill/>
              </a:ln>
              <a:solidFill>
                <a:schemeClr val="tx1"/>
              </a:solidFill>
              <a:effectLst/>
              <a:latin typeface="Palatino Linotype" panose="02040502050505030304" pitchFamily="18" charset="0"/>
            </a:endParaRPr>
          </a:p>
        </p:txBody>
      </p:sp>
      <p:graphicFrame>
        <p:nvGraphicFramePr>
          <p:cNvPr id="3" name="Table 2"/>
          <p:cNvGraphicFramePr>
            <a:graphicFrameLocks noGrp="1"/>
          </p:cNvGraphicFramePr>
          <p:nvPr/>
        </p:nvGraphicFramePr>
        <p:xfrm>
          <a:off x="1154884" y="1250451"/>
          <a:ext cx="10409586" cy="5059566"/>
        </p:xfrm>
        <a:graphic>
          <a:graphicData uri="http://schemas.openxmlformats.org/drawingml/2006/table">
            <a:tbl>
              <a:tblPr/>
              <a:tblGrid>
                <a:gridCol w="5204793">
                  <a:extLst>
                    <a:ext uri="{9D8B030D-6E8A-4147-A177-3AD203B41FA5}">
                      <a16:colId xmlns:a16="http://schemas.microsoft.com/office/drawing/2014/main" val="20000"/>
                    </a:ext>
                  </a:extLst>
                </a:gridCol>
                <a:gridCol w="5204793">
                  <a:extLst>
                    <a:ext uri="{9D8B030D-6E8A-4147-A177-3AD203B41FA5}">
                      <a16:colId xmlns:a16="http://schemas.microsoft.com/office/drawing/2014/main" val="20001"/>
                    </a:ext>
                  </a:extLst>
                </a:gridCol>
              </a:tblGrid>
              <a:tr h="297980">
                <a:tc>
                  <a:txBody>
                    <a:bodyPr/>
                    <a:lstStyle/>
                    <a:p>
                      <a:r>
                        <a:rPr lang="en-US" sz="1800" b="1" u="sng" dirty="0">
                          <a:latin typeface="Palatino Linotype" panose="02040502050505030304" pitchFamily="18" charset="0"/>
                        </a:rPr>
                        <a:t>Exception Type</a:t>
                      </a:r>
                    </a:p>
                  </a:txBody>
                  <a:tcPr marL="74495" marR="74495" marT="37247" marB="37247" anchor="ctr">
                    <a:lnL>
                      <a:noFill/>
                    </a:lnL>
                    <a:lnR>
                      <a:noFill/>
                    </a:lnR>
                    <a:lnT>
                      <a:noFill/>
                    </a:lnT>
                    <a:lnB>
                      <a:noFill/>
                    </a:lnB>
                  </a:tcPr>
                </a:tc>
                <a:tc>
                  <a:txBody>
                    <a:bodyPr/>
                    <a:lstStyle/>
                    <a:p>
                      <a:r>
                        <a:rPr lang="en-US" sz="1800" b="1" u="sng" dirty="0">
                          <a:latin typeface="Palatino Linotype" panose="02040502050505030304" pitchFamily="18" charset="0"/>
                        </a:rPr>
                        <a:t>When to Use It</a:t>
                      </a:r>
                    </a:p>
                  </a:txBody>
                  <a:tcPr marL="74495" marR="74495" marT="37247" marB="37247" anchor="ctr">
                    <a:lnL>
                      <a:noFill/>
                    </a:lnL>
                    <a:lnR>
                      <a:noFill/>
                    </a:lnR>
                    <a:lnT>
                      <a:noFill/>
                    </a:lnT>
                    <a:lnB>
                      <a:noFill/>
                    </a:lnB>
                  </a:tcPr>
                </a:tc>
                <a:extLst>
                  <a:ext uri="{0D108BD9-81ED-4DB2-BD59-A6C34878D82A}">
                    <a16:rowId xmlns:a16="http://schemas.microsoft.com/office/drawing/2014/main" val="10000"/>
                  </a:ext>
                </a:extLst>
              </a:tr>
              <a:tr h="521464">
                <a:tc>
                  <a:txBody>
                    <a:bodyPr/>
                    <a:lstStyle/>
                    <a:p>
                      <a:r>
                        <a:rPr lang="en-US" sz="1800" dirty="0" err="1">
                          <a:latin typeface="Palatino Linotype" panose="02040502050505030304" pitchFamily="18" charset="0"/>
                        </a:rPr>
                        <a:t>invalid_argument</a:t>
                      </a:r>
                      <a:endParaRPr lang="en-US" sz="1800" dirty="0">
                        <a:latin typeface="Palatino Linotype" panose="02040502050505030304" pitchFamily="18" charset="0"/>
                      </a:endParaRPr>
                    </a:p>
                  </a:txBody>
                  <a:tcPr marL="74495" marR="74495" marT="37247" marB="37247" anchor="ctr">
                    <a:lnL>
                      <a:noFill/>
                    </a:lnL>
                    <a:lnR>
                      <a:noFill/>
                    </a:lnR>
                    <a:lnT>
                      <a:noFill/>
                    </a:lnT>
                    <a:lnB>
                      <a:noFill/>
                    </a:lnB>
                  </a:tcPr>
                </a:tc>
                <a:tc>
                  <a:txBody>
                    <a:bodyPr/>
                    <a:lstStyle/>
                    <a:p>
                      <a:r>
                        <a:rPr lang="en-US" sz="1800">
                          <a:latin typeface="Palatino Linotype" panose="02040502050505030304" pitchFamily="18" charset="0"/>
                        </a:rPr>
                        <a:t>When an argument passed to a function is logically invalid</a:t>
                      </a:r>
                    </a:p>
                  </a:txBody>
                  <a:tcPr marL="74495" marR="74495" marT="37247" marB="37247" anchor="ctr">
                    <a:lnL>
                      <a:noFill/>
                    </a:lnL>
                    <a:lnR>
                      <a:noFill/>
                    </a:lnR>
                    <a:lnT>
                      <a:noFill/>
                    </a:lnT>
                    <a:lnB>
                      <a:noFill/>
                    </a:lnB>
                  </a:tcPr>
                </a:tc>
                <a:extLst>
                  <a:ext uri="{0D108BD9-81ED-4DB2-BD59-A6C34878D82A}">
                    <a16:rowId xmlns:a16="http://schemas.microsoft.com/office/drawing/2014/main" val="10001"/>
                  </a:ext>
                </a:extLst>
              </a:tr>
              <a:tr h="521464">
                <a:tc>
                  <a:txBody>
                    <a:bodyPr/>
                    <a:lstStyle/>
                    <a:p>
                      <a:r>
                        <a:rPr lang="en-US" sz="1800">
                          <a:latin typeface="Palatino Linotype" panose="02040502050505030304" pitchFamily="18" charset="0"/>
                        </a:rPr>
                        <a:t>out_of_range</a:t>
                      </a:r>
                    </a:p>
                  </a:txBody>
                  <a:tcPr marL="74495" marR="74495" marT="37247" marB="37247" anchor="ctr">
                    <a:lnL>
                      <a:noFill/>
                    </a:lnL>
                    <a:lnR>
                      <a:noFill/>
                    </a:lnR>
                    <a:lnT>
                      <a:noFill/>
                    </a:lnT>
                    <a:lnB>
                      <a:noFill/>
                    </a:lnB>
                  </a:tcPr>
                </a:tc>
                <a:tc>
                  <a:txBody>
                    <a:bodyPr/>
                    <a:lstStyle/>
                    <a:p>
                      <a:r>
                        <a:rPr lang="en-US" sz="1800">
                          <a:latin typeface="Palatino Linotype" panose="02040502050505030304" pitchFamily="18" charset="0"/>
                        </a:rPr>
                        <a:t>When an index or value is outside a valid range (like vector access)</a:t>
                      </a:r>
                    </a:p>
                  </a:txBody>
                  <a:tcPr marL="74495" marR="74495" marT="37247" marB="37247" anchor="ctr">
                    <a:lnL>
                      <a:noFill/>
                    </a:lnL>
                    <a:lnR>
                      <a:noFill/>
                    </a:lnR>
                    <a:lnT>
                      <a:noFill/>
                    </a:lnT>
                    <a:lnB>
                      <a:noFill/>
                    </a:lnB>
                  </a:tcPr>
                </a:tc>
                <a:extLst>
                  <a:ext uri="{0D108BD9-81ED-4DB2-BD59-A6C34878D82A}">
                    <a16:rowId xmlns:a16="http://schemas.microsoft.com/office/drawing/2014/main" val="10002"/>
                  </a:ext>
                </a:extLst>
              </a:tr>
              <a:tr h="521464">
                <a:tc>
                  <a:txBody>
                    <a:bodyPr/>
                    <a:lstStyle/>
                    <a:p>
                      <a:r>
                        <a:rPr lang="en-US" sz="1800" dirty="0" err="1">
                          <a:latin typeface="Palatino Linotype" panose="02040502050505030304" pitchFamily="18" charset="0"/>
                        </a:rPr>
                        <a:t>length_error</a:t>
                      </a:r>
                      <a:endParaRPr lang="en-US" sz="1800" dirty="0">
                        <a:latin typeface="Palatino Linotype" panose="02040502050505030304" pitchFamily="18" charset="0"/>
                      </a:endParaRPr>
                    </a:p>
                  </a:txBody>
                  <a:tcPr marL="74495" marR="74495" marT="37247" marB="37247" anchor="ctr">
                    <a:lnL>
                      <a:noFill/>
                    </a:lnL>
                    <a:lnR>
                      <a:noFill/>
                    </a:lnR>
                    <a:lnT>
                      <a:noFill/>
                    </a:lnT>
                    <a:lnB>
                      <a:noFill/>
                    </a:lnB>
                  </a:tcPr>
                </a:tc>
                <a:tc>
                  <a:txBody>
                    <a:bodyPr/>
                    <a:lstStyle/>
                    <a:p>
                      <a:r>
                        <a:rPr lang="en-US" sz="1800">
                          <a:latin typeface="Palatino Linotype" panose="02040502050505030304" pitchFamily="18" charset="0"/>
                        </a:rPr>
                        <a:t>When an operation exceeds the maximum allowed size or length</a:t>
                      </a:r>
                    </a:p>
                  </a:txBody>
                  <a:tcPr marL="74495" marR="74495" marT="37247" marB="37247" anchor="ctr">
                    <a:lnL>
                      <a:noFill/>
                    </a:lnL>
                    <a:lnR>
                      <a:noFill/>
                    </a:lnR>
                    <a:lnT>
                      <a:noFill/>
                    </a:lnT>
                    <a:lnB>
                      <a:noFill/>
                    </a:lnB>
                  </a:tcPr>
                </a:tc>
                <a:extLst>
                  <a:ext uri="{0D108BD9-81ED-4DB2-BD59-A6C34878D82A}">
                    <a16:rowId xmlns:a16="http://schemas.microsoft.com/office/drawing/2014/main" val="10003"/>
                  </a:ext>
                </a:extLst>
              </a:tr>
              <a:tr h="521464">
                <a:tc>
                  <a:txBody>
                    <a:bodyPr/>
                    <a:lstStyle/>
                    <a:p>
                      <a:r>
                        <a:rPr lang="en-US" sz="1800">
                          <a:latin typeface="Palatino Linotype" panose="02040502050505030304" pitchFamily="18" charset="0"/>
                        </a:rPr>
                        <a:t>domain_error</a:t>
                      </a:r>
                    </a:p>
                  </a:txBody>
                  <a:tcPr marL="74495" marR="74495" marT="37247" marB="37247" anchor="ctr">
                    <a:lnL>
                      <a:noFill/>
                    </a:lnL>
                    <a:lnR>
                      <a:noFill/>
                    </a:lnR>
                    <a:lnT>
                      <a:noFill/>
                    </a:lnT>
                    <a:lnB>
                      <a:noFill/>
                    </a:lnB>
                  </a:tcPr>
                </a:tc>
                <a:tc>
                  <a:txBody>
                    <a:bodyPr/>
                    <a:lstStyle/>
                    <a:p>
                      <a:r>
                        <a:rPr lang="en-US" sz="1800">
                          <a:latin typeface="Palatino Linotype" panose="02040502050505030304" pitchFamily="18" charset="0"/>
                        </a:rPr>
                        <a:t>For mathematical domain errors (e.g., sqrt of a negative number)</a:t>
                      </a:r>
                    </a:p>
                  </a:txBody>
                  <a:tcPr marL="74495" marR="74495" marT="37247" marB="37247" anchor="ctr">
                    <a:lnL>
                      <a:noFill/>
                    </a:lnL>
                    <a:lnR>
                      <a:noFill/>
                    </a:lnR>
                    <a:lnT>
                      <a:noFill/>
                    </a:lnT>
                    <a:lnB>
                      <a:noFill/>
                    </a:lnB>
                  </a:tcPr>
                </a:tc>
                <a:extLst>
                  <a:ext uri="{0D108BD9-81ED-4DB2-BD59-A6C34878D82A}">
                    <a16:rowId xmlns:a16="http://schemas.microsoft.com/office/drawing/2014/main" val="10004"/>
                  </a:ext>
                </a:extLst>
              </a:tr>
              <a:tr h="521464">
                <a:tc>
                  <a:txBody>
                    <a:bodyPr/>
                    <a:lstStyle/>
                    <a:p>
                      <a:r>
                        <a:rPr lang="en-US" sz="1800" dirty="0" err="1">
                          <a:latin typeface="Palatino Linotype" panose="02040502050505030304" pitchFamily="18" charset="0"/>
                        </a:rPr>
                        <a:t>logic_error</a:t>
                      </a:r>
                      <a:endParaRPr lang="en-US" sz="1800" dirty="0">
                        <a:latin typeface="Palatino Linotype" panose="02040502050505030304" pitchFamily="18" charset="0"/>
                      </a:endParaRPr>
                    </a:p>
                  </a:txBody>
                  <a:tcPr marL="74495" marR="74495" marT="37247" marB="37247" anchor="ctr">
                    <a:lnL>
                      <a:noFill/>
                    </a:lnL>
                    <a:lnR>
                      <a:noFill/>
                    </a:lnR>
                    <a:lnT>
                      <a:noFill/>
                    </a:lnT>
                    <a:lnB>
                      <a:noFill/>
                    </a:lnB>
                  </a:tcPr>
                </a:tc>
                <a:tc>
                  <a:txBody>
                    <a:bodyPr/>
                    <a:lstStyle/>
                    <a:p>
                      <a:r>
                        <a:rPr lang="en-US" sz="1800">
                          <a:latin typeface="Palatino Linotype" panose="02040502050505030304" pitchFamily="18" charset="0"/>
                        </a:rPr>
                        <a:t>General logic errors in program (base class of above logic-related errors)</a:t>
                      </a:r>
                    </a:p>
                  </a:txBody>
                  <a:tcPr marL="74495" marR="74495" marT="37247" marB="37247" anchor="ctr">
                    <a:lnL>
                      <a:noFill/>
                    </a:lnL>
                    <a:lnR>
                      <a:noFill/>
                    </a:lnR>
                    <a:lnT>
                      <a:noFill/>
                    </a:lnT>
                    <a:lnB>
                      <a:noFill/>
                    </a:lnB>
                  </a:tcPr>
                </a:tc>
                <a:extLst>
                  <a:ext uri="{0D108BD9-81ED-4DB2-BD59-A6C34878D82A}">
                    <a16:rowId xmlns:a16="http://schemas.microsoft.com/office/drawing/2014/main" val="10005"/>
                  </a:ext>
                </a:extLst>
              </a:tr>
              <a:tr h="297980">
                <a:tc>
                  <a:txBody>
                    <a:bodyPr/>
                    <a:lstStyle/>
                    <a:p>
                      <a:r>
                        <a:rPr lang="en-US" sz="1800" dirty="0" err="1">
                          <a:latin typeface="Palatino Linotype" panose="02040502050505030304" pitchFamily="18" charset="0"/>
                        </a:rPr>
                        <a:t>runtime_error</a:t>
                      </a:r>
                      <a:endParaRPr lang="en-US" sz="1800" dirty="0">
                        <a:latin typeface="Palatino Linotype" panose="02040502050505030304" pitchFamily="18" charset="0"/>
                      </a:endParaRPr>
                    </a:p>
                  </a:txBody>
                  <a:tcPr marL="74495" marR="74495" marT="37247" marB="37247" anchor="ctr">
                    <a:lnL>
                      <a:noFill/>
                    </a:lnL>
                    <a:lnR>
                      <a:noFill/>
                    </a:lnR>
                    <a:lnT>
                      <a:noFill/>
                    </a:lnT>
                    <a:lnB>
                      <a:noFill/>
                    </a:lnB>
                  </a:tcPr>
                </a:tc>
                <a:tc>
                  <a:txBody>
                    <a:bodyPr/>
                    <a:lstStyle/>
                    <a:p>
                      <a:r>
                        <a:rPr lang="en-US" sz="1800">
                          <a:latin typeface="Palatino Linotype" panose="02040502050505030304" pitchFamily="18" charset="0"/>
                        </a:rPr>
                        <a:t>For general runtime errors (e.g., I/O failure)</a:t>
                      </a:r>
                    </a:p>
                  </a:txBody>
                  <a:tcPr marL="74495" marR="74495" marT="37247" marB="37247" anchor="ctr">
                    <a:lnL>
                      <a:noFill/>
                    </a:lnL>
                    <a:lnR>
                      <a:noFill/>
                    </a:lnR>
                    <a:lnT>
                      <a:noFill/>
                    </a:lnT>
                    <a:lnB>
                      <a:noFill/>
                    </a:lnB>
                  </a:tcPr>
                </a:tc>
                <a:extLst>
                  <a:ext uri="{0D108BD9-81ED-4DB2-BD59-A6C34878D82A}">
                    <a16:rowId xmlns:a16="http://schemas.microsoft.com/office/drawing/2014/main" val="10006"/>
                  </a:ext>
                </a:extLst>
              </a:tr>
              <a:tr h="297980">
                <a:tc>
                  <a:txBody>
                    <a:bodyPr/>
                    <a:lstStyle/>
                    <a:p>
                      <a:r>
                        <a:rPr lang="en-US" sz="1800" dirty="0" err="1">
                          <a:latin typeface="Palatino Linotype" panose="02040502050505030304" pitchFamily="18" charset="0"/>
                        </a:rPr>
                        <a:t>overflow_error</a:t>
                      </a:r>
                      <a:endParaRPr lang="en-US" sz="1800" dirty="0">
                        <a:latin typeface="Palatino Linotype" panose="02040502050505030304" pitchFamily="18" charset="0"/>
                      </a:endParaRPr>
                    </a:p>
                  </a:txBody>
                  <a:tcPr marL="74495" marR="74495" marT="37247" marB="37247" anchor="ctr">
                    <a:lnL>
                      <a:noFill/>
                    </a:lnL>
                    <a:lnR>
                      <a:noFill/>
                    </a:lnR>
                    <a:lnT>
                      <a:noFill/>
                    </a:lnT>
                    <a:lnB>
                      <a:noFill/>
                    </a:lnB>
                  </a:tcPr>
                </a:tc>
                <a:tc>
                  <a:txBody>
                    <a:bodyPr/>
                    <a:lstStyle/>
                    <a:p>
                      <a:r>
                        <a:rPr lang="en-US" sz="1800">
                          <a:latin typeface="Palatino Linotype" panose="02040502050505030304" pitchFamily="18" charset="0"/>
                        </a:rPr>
                        <a:t>Arithmetic overflow (e.g., result too large to store)</a:t>
                      </a:r>
                    </a:p>
                  </a:txBody>
                  <a:tcPr marL="74495" marR="74495" marT="37247" marB="37247" anchor="ctr">
                    <a:lnL>
                      <a:noFill/>
                    </a:lnL>
                    <a:lnR>
                      <a:noFill/>
                    </a:lnR>
                    <a:lnT>
                      <a:noFill/>
                    </a:lnT>
                    <a:lnB>
                      <a:noFill/>
                    </a:lnB>
                  </a:tcPr>
                </a:tc>
                <a:extLst>
                  <a:ext uri="{0D108BD9-81ED-4DB2-BD59-A6C34878D82A}">
                    <a16:rowId xmlns:a16="http://schemas.microsoft.com/office/drawing/2014/main" val="10007"/>
                  </a:ext>
                </a:extLst>
              </a:tr>
              <a:tr h="521464">
                <a:tc>
                  <a:txBody>
                    <a:bodyPr/>
                    <a:lstStyle/>
                    <a:p>
                      <a:r>
                        <a:rPr lang="en-US" sz="1800" dirty="0" err="1">
                          <a:latin typeface="Palatino Linotype" panose="02040502050505030304" pitchFamily="18" charset="0"/>
                        </a:rPr>
                        <a:t>underflow_error</a:t>
                      </a:r>
                      <a:endParaRPr lang="en-US" sz="1800" dirty="0">
                        <a:latin typeface="Palatino Linotype" panose="02040502050505030304" pitchFamily="18" charset="0"/>
                      </a:endParaRPr>
                    </a:p>
                  </a:txBody>
                  <a:tcPr marL="74495" marR="74495" marT="37247" marB="37247" anchor="ctr">
                    <a:lnL>
                      <a:noFill/>
                    </a:lnL>
                    <a:lnR>
                      <a:noFill/>
                    </a:lnR>
                    <a:lnT>
                      <a:noFill/>
                    </a:lnT>
                    <a:lnB>
                      <a:noFill/>
                    </a:lnB>
                  </a:tcPr>
                </a:tc>
                <a:tc>
                  <a:txBody>
                    <a:bodyPr/>
                    <a:lstStyle/>
                    <a:p>
                      <a:r>
                        <a:rPr lang="en-US" sz="1800" dirty="0">
                          <a:latin typeface="Palatino Linotype" panose="02040502050505030304" pitchFamily="18" charset="0"/>
                        </a:rPr>
                        <a:t>Arithmetic underflow (e.g., result too small to represent accurately)</a:t>
                      </a:r>
                    </a:p>
                  </a:txBody>
                  <a:tcPr marL="74495" marR="74495" marT="37247" marB="37247" anchor="ctr">
                    <a:lnL>
                      <a:noFill/>
                    </a:lnL>
                    <a:lnR>
                      <a:noFill/>
                    </a:lnR>
                    <a:lnT>
                      <a:noFill/>
                    </a:lnT>
                    <a:lnB>
                      <a:noFill/>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6613" y="1513866"/>
            <a:ext cx="3566105" cy="461665"/>
          </a:xfrm>
          <a:prstGeom prst="rect">
            <a:avLst/>
          </a:prstGeom>
        </p:spPr>
        <p:txBody>
          <a:bodyPr wrap="square">
            <a:spAutoFit/>
          </a:bodyPr>
          <a:lstStyle/>
          <a:p>
            <a:pPr algn="just"/>
            <a:endParaRPr lang="en-US" sz="2400" dirty="0">
              <a:latin typeface="Palatino Linotype" panose="02040502050505030304" pitchFamily="18" charset="0"/>
            </a:endParaRPr>
          </a:p>
        </p:txBody>
      </p:sp>
      <p:pic>
        <p:nvPicPr>
          <p:cNvPr id="2" name="Picture 1"/>
          <p:cNvPicPr>
            <a:picLocks noChangeAspect="1"/>
          </p:cNvPicPr>
          <p:nvPr/>
        </p:nvPicPr>
        <p:blipFill>
          <a:blip r:embed="rId2"/>
          <a:stretch>
            <a:fillRect/>
          </a:stretch>
        </p:blipFill>
        <p:spPr>
          <a:xfrm>
            <a:off x="4992500" y="-26894"/>
            <a:ext cx="6276135" cy="6320118"/>
          </a:xfrm>
          <a:prstGeom prst="rect">
            <a:avLst/>
          </a:prstGeom>
        </p:spPr>
      </p:pic>
      <p:sp>
        <p:nvSpPr>
          <p:cNvPr id="5" name="Rectangle 4"/>
          <p:cNvSpPr/>
          <p:nvPr/>
        </p:nvSpPr>
        <p:spPr>
          <a:xfrm>
            <a:off x="590353" y="1821231"/>
            <a:ext cx="3778624" cy="2677656"/>
          </a:xfrm>
          <a:prstGeom prst="rect">
            <a:avLst/>
          </a:prstGeom>
        </p:spPr>
        <p:txBody>
          <a:bodyPr wrap="square">
            <a:spAutoFit/>
          </a:bodyPr>
          <a:lstStyle/>
          <a:p>
            <a:pPr algn="just"/>
            <a:r>
              <a:rPr lang="en-US" sz="2400" b="1" dirty="0">
                <a:latin typeface="Palatino Linotype" panose="02040502050505030304" pitchFamily="18" charset="0"/>
              </a:rPr>
              <a:t>Problem:</a:t>
            </a:r>
            <a:r>
              <a:rPr lang="en-US" sz="2400" dirty="0">
                <a:latin typeface="Palatino Linotype" panose="02040502050505030304" pitchFamily="18" charset="0"/>
              </a:rPr>
              <a:t> Write a program that takes the marks of a student as input. If the marks are less than 0 or greater than 100, throw an exception and handle it to ensure valid input.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6613" y="1513866"/>
            <a:ext cx="3566105" cy="3416320"/>
          </a:xfrm>
          <a:prstGeom prst="rect">
            <a:avLst/>
          </a:prstGeom>
        </p:spPr>
        <p:txBody>
          <a:bodyPr wrap="square">
            <a:spAutoFit/>
          </a:bodyPr>
          <a:lstStyle/>
          <a:p>
            <a:pPr algn="just"/>
            <a:r>
              <a:rPr lang="en-US" sz="2400" dirty="0">
                <a:latin typeface="Palatino Linotype" panose="02040502050505030304" pitchFamily="18" charset="0"/>
              </a:rPr>
              <a:t>Write a program that takes the age of a person as input. If the age entered is negative or greater than 120, throw an exception and print "Invalid age entered." Handle this exception to ensure valid age input.</a:t>
            </a:r>
          </a:p>
        </p:txBody>
      </p:sp>
      <p:pic>
        <p:nvPicPr>
          <p:cNvPr id="3" name="Picture 2"/>
          <p:cNvPicPr>
            <a:picLocks noChangeAspect="1"/>
          </p:cNvPicPr>
          <p:nvPr/>
        </p:nvPicPr>
        <p:blipFill>
          <a:blip r:embed="rId2"/>
          <a:stretch>
            <a:fillRect/>
          </a:stretch>
        </p:blipFill>
        <p:spPr>
          <a:xfrm>
            <a:off x="5055534" y="107577"/>
            <a:ext cx="5930713" cy="60108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6613" y="1513866"/>
            <a:ext cx="3270269" cy="4154984"/>
          </a:xfrm>
          <a:prstGeom prst="rect">
            <a:avLst/>
          </a:prstGeom>
        </p:spPr>
        <p:txBody>
          <a:bodyPr wrap="square">
            <a:spAutoFit/>
          </a:bodyPr>
          <a:lstStyle/>
          <a:p>
            <a:pPr algn="just"/>
            <a:r>
              <a:rPr lang="en-US" altLang="en-US" sz="2400" b="1" dirty="0">
                <a:latin typeface="Palatino Linotype" panose="02040502050505030304" pitchFamily="18" charset="0"/>
              </a:rPr>
              <a:t>Problem:</a:t>
            </a:r>
            <a:r>
              <a:rPr lang="en-US" altLang="en-US" sz="2400" dirty="0">
                <a:latin typeface="Palatino Linotype" panose="02040502050505030304" pitchFamily="18" charset="0"/>
              </a:rPr>
              <a:t> Write a program that takes a temperature input in Celsius. If the temperature is less than -273.15 (absolute zero), throw an exception and handle it to ensure valid input.</a:t>
            </a:r>
            <a:endParaRPr lang="en-US" altLang="en-US" sz="2400" b="1" dirty="0">
              <a:latin typeface="Palatino Linotype" panose="02040502050505030304" pitchFamily="18" charset="0"/>
            </a:endParaRPr>
          </a:p>
          <a:p>
            <a:pPr algn="just"/>
            <a:endParaRPr lang="en-US" sz="2400" dirty="0">
              <a:latin typeface="Palatino Linotype" panose="02040502050505030304" pitchFamily="18" charset="0"/>
            </a:endParaRPr>
          </a:p>
        </p:txBody>
      </p:sp>
      <p:pic>
        <p:nvPicPr>
          <p:cNvPr id="2" name="Picture 1"/>
          <p:cNvPicPr>
            <a:picLocks noChangeAspect="1"/>
          </p:cNvPicPr>
          <p:nvPr/>
        </p:nvPicPr>
        <p:blipFill>
          <a:blip r:embed="rId2"/>
          <a:stretch>
            <a:fillRect/>
          </a:stretch>
        </p:blipFill>
        <p:spPr>
          <a:xfrm>
            <a:off x="4303619" y="343893"/>
            <a:ext cx="7888381" cy="649492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1961" y="644288"/>
            <a:ext cx="12192000" cy="1228725"/>
          </a:xfrm>
          <a:solidFill>
            <a:schemeClr val="bg1"/>
          </a:solidFill>
        </p:spPr>
        <p:txBody>
          <a:bodyPr>
            <a:normAutofit/>
          </a:bodyPr>
          <a:lstStyle/>
          <a:p>
            <a:pPr algn="ctr"/>
            <a:r>
              <a:rPr lang="en-US" sz="4000" b="1" dirty="0">
                <a:solidFill>
                  <a:schemeClr val="accent1">
                    <a:lumMod val="75000"/>
                  </a:schemeClr>
                </a:solidFill>
                <a:latin typeface="Palatino Linotype" panose="02040502050505030304" pitchFamily="18" charset="0"/>
              </a:rPr>
              <a:t>Why do we need Exception Handling in C++?</a:t>
            </a:r>
            <a:br>
              <a:rPr lang="en-US" sz="4000" b="1" dirty="0">
                <a:solidFill>
                  <a:schemeClr val="accent1">
                    <a:lumMod val="75000"/>
                  </a:schemeClr>
                </a:solidFill>
                <a:latin typeface="Palatino Linotype" panose="02040502050505030304" pitchFamily="18" charset="0"/>
              </a:rPr>
            </a:br>
            <a:endParaRPr lang="en-US" sz="40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641561" y="1604072"/>
            <a:ext cx="10908877" cy="5786199"/>
          </a:xfrm>
          <a:prstGeom prst="rect">
            <a:avLst/>
          </a:prstGeom>
        </p:spPr>
        <p:txBody>
          <a:bodyPr wrap="square">
            <a:spAutoFit/>
          </a:bodyPr>
          <a:lstStyle/>
          <a:p>
            <a:pPr algn="just" fontAlgn="base"/>
            <a:r>
              <a:rPr lang="en-US" sz="2000" dirty="0">
                <a:latin typeface="Palatino Linotype" panose="02040502050505030304" pitchFamily="18" charset="0"/>
              </a:rPr>
              <a:t>The following are the main advantages of exception handling over traditional error handling:</a:t>
            </a:r>
          </a:p>
          <a:p>
            <a:pPr algn="just" fontAlgn="base"/>
            <a:endParaRPr lang="en-US" sz="2000" dirty="0">
              <a:latin typeface="Palatino Linotype" panose="02040502050505030304" pitchFamily="18" charset="0"/>
            </a:endParaRPr>
          </a:p>
          <a:p>
            <a:pPr algn="just" fontAlgn="base"/>
            <a:r>
              <a:rPr lang="en-US" sz="2000" b="1" dirty="0">
                <a:latin typeface="Palatino Linotype" panose="02040502050505030304" pitchFamily="18" charset="0"/>
              </a:rPr>
              <a:t>Separation of Error Handling Code from Normal Code</a:t>
            </a:r>
            <a:r>
              <a:rPr lang="en-US" sz="2000" i="1" dirty="0">
                <a:latin typeface="Palatino Linotype" panose="02040502050505030304" pitchFamily="18" charset="0"/>
              </a:rPr>
              <a:t>: </a:t>
            </a:r>
            <a:r>
              <a:rPr lang="en-US" sz="2000" dirty="0">
                <a:latin typeface="Palatino Linotype" panose="02040502050505030304" pitchFamily="18" charset="0"/>
              </a:rPr>
              <a:t>There are always if-else conditions to handle errors in traditional error handling codes. These conditions and the code to handle errors get mixed up with the normal flow. This makes the code less readable and maintainable. With try/catch blocks, the code for error handling becomes separate from the normal flow.</a:t>
            </a:r>
          </a:p>
          <a:p>
            <a:pPr algn="just" fontAlgn="base"/>
            <a:endParaRPr lang="en-US" sz="2000" dirty="0">
              <a:latin typeface="Palatino Linotype" panose="02040502050505030304" pitchFamily="18" charset="0"/>
            </a:endParaRPr>
          </a:p>
          <a:p>
            <a:pPr algn="just" fontAlgn="base"/>
            <a:r>
              <a:rPr lang="en-US" sz="2000" b="1" dirty="0">
                <a:latin typeface="Palatino Linotype" panose="02040502050505030304" pitchFamily="18" charset="0"/>
              </a:rPr>
              <a:t>Functions/Methods can handle only the exceptions they choose</a:t>
            </a:r>
            <a:r>
              <a:rPr lang="en-US" sz="2000" i="1" dirty="0">
                <a:latin typeface="Palatino Linotype" panose="02040502050505030304" pitchFamily="18" charset="0"/>
              </a:rPr>
              <a:t>:</a:t>
            </a:r>
            <a:r>
              <a:rPr lang="en-US" sz="2000" dirty="0">
                <a:latin typeface="Palatino Linotype" panose="02040502050505030304" pitchFamily="18" charset="0"/>
              </a:rPr>
              <a:t> A function can throw many exceptions, but may choose to handle some of them. The other exceptions, which are thrown but not caught, can be handled by the caller. If the caller chooses not to catch them, then the exceptions are handled by the caller of the caller. </a:t>
            </a:r>
            <a:br>
              <a:rPr lang="en-US" sz="2000" dirty="0">
                <a:latin typeface="Palatino Linotype" panose="02040502050505030304" pitchFamily="18" charset="0"/>
              </a:rPr>
            </a:br>
            <a:r>
              <a:rPr lang="en-US" sz="2000" dirty="0">
                <a:latin typeface="Palatino Linotype" panose="02040502050505030304" pitchFamily="18" charset="0"/>
              </a:rPr>
              <a:t> </a:t>
            </a:r>
          </a:p>
          <a:p>
            <a:pPr algn="just" fontAlgn="base"/>
            <a:r>
              <a:rPr lang="en-US" sz="2000" b="1" dirty="0">
                <a:latin typeface="Palatino Linotype" panose="02040502050505030304" pitchFamily="18" charset="0"/>
              </a:rPr>
              <a:t>Grouping of Error Types</a:t>
            </a:r>
            <a:r>
              <a:rPr lang="en-US" sz="2000" i="1" dirty="0">
                <a:latin typeface="Palatino Linotype" panose="02040502050505030304" pitchFamily="18" charset="0"/>
              </a:rPr>
              <a:t>:</a:t>
            </a:r>
            <a:r>
              <a:rPr lang="en-US" sz="2000" dirty="0">
                <a:latin typeface="Palatino Linotype" panose="02040502050505030304" pitchFamily="18" charset="0"/>
              </a:rPr>
              <a:t> In C++, both basic types and objects can be thrown as exceptions. We can create a hierarchy of exception objects, group exceptions in namespaces or classes, and categorize them according to their types.</a:t>
            </a:r>
          </a:p>
          <a:p>
            <a:pPr fontAlgn="base"/>
            <a:br>
              <a:rPr lang="en-US" sz="2400" dirty="0"/>
            </a:br>
            <a:r>
              <a:rPr lang="en-US" sz="2400" dirty="0"/>
              <a:t> </a:t>
            </a:r>
          </a:p>
          <a:p>
            <a:pPr algn="just" fontAlgn="base"/>
            <a:endParaRPr lang="en-US" sz="2200" b="0" i="0" dirty="0">
              <a:effectLst/>
              <a:latin typeface="Palatino Linotype" panose="0204050205050503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080" y="1761565"/>
            <a:ext cx="10058400" cy="1414630"/>
          </a:xfrm>
        </p:spPr>
        <p:txBody>
          <a:bodyPr>
            <a:normAutofit/>
          </a:bodyPr>
          <a:lstStyle/>
          <a:p>
            <a:r>
              <a:rPr lang="en-US" sz="9600" b="1" dirty="0">
                <a:latin typeface="Palatino Linotype" panose="02040502050505030304" pitchFamily="18" charset="0"/>
              </a:rPr>
              <a:t>Thank You</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0648" y="3433202"/>
            <a:ext cx="2143125" cy="2143125"/>
          </a:xfrm>
          <a:prstGeom prst="rect">
            <a:avLst/>
          </a:prstGeom>
        </p:spPr>
      </p:pic>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91</TotalTime>
  <Words>1394</Words>
  <Application>Microsoft Office PowerPoint</Application>
  <PresentationFormat>Widescreen</PresentationFormat>
  <Paragraphs>115</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Consolas</vt:lpstr>
      <vt:lpstr>Palatino Linotype</vt:lpstr>
      <vt:lpstr>Retrospect</vt:lpstr>
      <vt:lpstr>Lecture:11  Template in C++ and Exception Handling</vt:lpstr>
      <vt:lpstr>Templates in C++ </vt:lpstr>
      <vt:lpstr>Templates in C++ </vt:lpstr>
      <vt:lpstr>Function Templates in C++ </vt:lpstr>
      <vt:lpstr>Function Templates in C++ </vt:lpstr>
      <vt:lpstr>Function Templates in C++ </vt:lpstr>
      <vt:lpstr>PowerPoint Presentation</vt:lpstr>
      <vt:lpstr>PowerPoint Presentation</vt:lpstr>
      <vt:lpstr>What is a C++ Exception?</vt:lpstr>
      <vt:lpstr>Types of C++ Exception </vt:lpstr>
      <vt:lpstr>C++ try and catch  </vt:lpstr>
      <vt:lpstr>C++ try and catch  </vt:lpstr>
      <vt:lpstr>Types  </vt:lpstr>
      <vt:lpstr>PowerPoint Presentation</vt:lpstr>
      <vt:lpstr>PowerPoint Presentation</vt:lpstr>
      <vt:lpstr>PowerPoint Presentation</vt:lpstr>
      <vt:lpstr>Why do we need Exception Handling in C++?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B2-218</cp:lastModifiedBy>
  <cp:revision>78</cp:revision>
  <dcterms:created xsi:type="dcterms:W3CDTF">2024-08-09T06:52:00Z</dcterms:created>
  <dcterms:modified xsi:type="dcterms:W3CDTF">2026-04-12T04:59:14Z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8F5F3849C440439CBF2ADCE6BCDB0B44_12</vt:lpwstr>
  </property>
  <property fmtid="{D5CDD505-2E9C-101B-9397-08002B2CF9AE}" pid="3" name="KSOProductBuildVer">
    <vt:lpwstr>1033-12.2.0.23155</vt:lpwstr>
  </property>
</Properties>
</file>