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2"/>
    <p:sldId id="258" r:id="rId3"/>
    <p:sldId id="294" r:id="rId4"/>
    <p:sldId id="277" r:id="rId5"/>
    <p:sldId id="263" r:id="rId6"/>
    <p:sldId id="305" r:id="rId7"/>
    <p:sldId id="299" r:id="rId8"/>
    <p:sldId id="313" r:id="rId9"/>
    <p:sldId id="295" r:id="rId10"/>
    <p:sldId id="296" r:id="rId11"/>
    <p:sldId id="306" r:id="rId12"/>
    <p:sldId id="307" r:id="rId13"/>
    <p:sldId id="300" r:id="rId14"/>
    <p:sldId id="301" r:id="rId15"/>
    <p:sldId id="302" r:id="rId16"/>
    <p:sldId id="303" r:id="rId17"/>
    <p:sldId id="325" r:id="rId18"/>
    <p:sldId id="297" r:id="rId19"/>
    <p:sldId id="298" r:id="rId20"/>
    <p:sldId id="308" r:id="rId21"/>
    <p:sldId id="310" r:id="rId22"/>
    <p:sldId id="309" r:id="rId23"/>
    <p:sldId id="311" r:id="rId24"/>
    <p:sldId id="312" r:id="rId25"/>
    <p:sldId id="304" r:id="rId26"/>
    <p:sldId id="315" r:id="rId27"/>
    <p:sldId id="316" r:id="rId28"/>
    <p:sldId id="317" r:id="rId29"/>
    <p:sldId id="318" r:id="rId30"/>
    <p:sldId id="319" r:id="rId31"/>
    <p:sldId id="320" r:id="rId32"/>
    <p:sldId id="321" r:id="rId33"/>
    <p:sldId id="322" r:id="rId34"/>
    <p:sldId id="323" r:id="rId35"/>
    <p:sldId id="326" r:id="rId36"/>
    <p:sldId id="28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8DDD80-0AFC-4262-834E-9279B06A19F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88DDD80-0AFC-4262-834E-9279B06A19F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88DDD80-0AFC-4262-834E-9279B06A19F7}"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88DDD80-0AFC-4262-834E-9279B06A19F7}"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8DDD80-0AFC-4262-834E-9279B06A19F7}" type="datetimeFigureOut">
              <a:rPr lang="en-US" smtClean="0"/>
              <a:t>3/30/2026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88DDD80-0AFC-4262-834E-9279B06A19F7}" type="datetimeFigureOut">
              <a:rPr lang="en-US" smtClean="0"/>
              <a:t>3/30/2026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EB20483-73B1-471D-AA53-D1A5ED1446D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8DDD80-0AFC-4262-834E-9279B06A19F7}"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88DDD80-0AFC-4262-834E-9279B06A19F7}"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20483-73B1-471D-AA53-D1A5ED1446D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Slide Number Placeholder 4"/>
          <p:cNvSpPr txBox="1">
            <a:spLocks noGrp="1"/>
          </p:cNvSpPr>
          <p:nvPr>
            <p:ph type="sldNum" sz="quarter" idx="8"/>
          </p:nvPr>
        </p:nvSpPr>
        <p:spPr/>
        <p:txBody>
          <a:bodyPr/>
          <a:lstStyle>
            <a:lvl1pPr>
              <a:defRPr/>
            </a:lvl1pPr>
          </a:lstStyle>
          <a:p>
            <a:pPr lvl="0"/>
            <a:fld id="{0972D20F-9C1E-4A2A-BC8B-5915C6FBB0C5}" type="slidenum">
              <a:r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88DDD80-0AFC-4262-834E-9279B06A19F7}" type="datetimeFigureOut">
              <a:rPr lang="en-US" smtClean="0"/>
              <a:t>3/30/2026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EB20483-73B1-471D-AA53-D1A5ED1446D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6939" y="-842877"/>
            <a:ext cx="10058400" cy="3566160"/>
          </a:xfrm>
        </p:spPr>
        <p:txBody>
          <a:bodyPr>
            <a:normAutofit/>
          </a:bodyPr>
          <a:lstStyle/>
          <a:p>
            <a:pPr algn="ctr"/>
            <a:r>
              <a:rPr lang="en-US" sz="5400" dirty="0" smtClean="0">
                <a:latin typeface="Palatino Linotype" panose="02040502050505030304" pitchFamily="18" charset="0"/>
              </a:rPr>
              <a:t/>
            </a:r>
            <a:br>
              <a:rPr lang="en-US" sz="5400" dirty="0" smtClean="0">
                <a:latin typeface="Palatino Linotype" panose="02040502050505030304" pitchFamily="18" charset="0"/>
              </a:rPr>
            </a:br>
            <a:r>
              <a:rPr lang="en-US" sz="5400" dirty="0" smtClean="0">
                <a:latin typeface="Palatino Linotype" panose="02040502050505030304" pitchFamily="18" charset="0"/>
              </a:rPr>
              <a:t/>
            </a:r>
            <a:br>
              <a:rPr lang="en-US" sz="5400" dirty="0" smtClean="0">
                <a:latin typeface="Palatino Linotype" panose="02040502050505030304" pitchFamily="18" charset="0"/>
              </a:rPr>
            </a:br>
            <a:r>
              <a:rPr lang="en-US" sz="5400" b="1" dirty="0">
                <a:latin typeface="Palatino Linotype" panose="02040502050505030304" pitchFamily="18" charset="0"/>
              </a:rPr>
              <a:t>Virtual Functions</a:t>
            </a:r>
            <a:endParaRPr lang="en-US" sz="4800" b="1" dirty="0">
              <a:solidFill>
                <a:schemeClr val="tx1">
                  <a:lumMod val="65000"/>
                  <a:lumOff val="35000"/>
                </a:schemeClr>
              </a:solidFill>
              <a:latin typeface="Palatino Linotype" panose="02040502050505030304" pitchFamily="18" charset="0"/>
            </a:endParaRPr>
          </a:p>
        </p:txBody>
      </p:sp>
      <p:sp>
        <p:nvSpPr>
          <p:cNvPr id="4" name="TextBox 3"/>
          <p:cNvSpPr txBox="1"/>
          <p:nvPr/>
        </p:nvSpPr>
        <p:spPr>
          <a:xfrm>
            <a:off x="2542839" y="4679577"/>
            <a:ext cx="7086600" cy="1261884"/>
          </a:xfrm>
          <a:prstGeom prst="rect">
            <a:avLst/>
          </a:prstGeom>
          <a:noFill/>
        </p:spPr>
        <p:txBody>
          <a:bodyPr wrap="square" rtlCol="0">
            <a:spAutoFit/>
          </a:bodyPr>
          <a:lstStyle/>
          <a:p>
            <a:pPr algn="ctr"/>
            <a:r>
              <a:rPr lang="en-US" sz="2800" dirty="0" smtClean="0">
                <a:solidFill>
                  <a:schemeClr val="accent1"/>
                </a:solidFill>
                <a:latin typeface="Palatino Linotype" panose="02040502050505030304" pitchFamily="18" charset="0"/>
              </a:rPr>
              <a:t>Prepared By: </a:t>
            </a:r>
            <a:r>
              <a:rPr lang="en-US" sz="2800" dirty="0" err="1" smtClean="0">
                <a:solidFill>
                  <a:schemeClr val="accent1"/>
                </a:solidFill>
                <a:latin typeface="Palatino Linotype" panose="02040502050505030304" pitchFamily="18" charset="0"/>
              </a:rPr>
              <a:t>Sumaiya</a:t>
            </a:r>
            <a:r>
              <a:rPr lang="en-US" sz="2800" dirty="0" smtClean="0">
                <a:solidFill>
                  <a:schemeClr val="accent1"/>
                </a:solidFill>
                <a:latin typeface="Palatino Linotype" panose="02040502050505030304" pitchFamily="18" charset="0"/>
              </a:rPr>
              <a:t> </a:t>
            </a:r>
            <a:r>
              <a:rPr lang="en-US" sz="2800" dirty="0" err="1" smtClean="0">
                <a:solidFill>
                  <a:schemeClr val="accent1"/>
                </a:solidFill>
                <a:latin typeface="Palatino Linotype" panose="02040502050505030304" pitchFamily="18" charset="0"/>
              </a:rPr>
              <a:t>Binte</a:t>
            </a:r>
            <a:r>
              <a:rPr lang="en-US" sz="2800" dirty="0" smtClean="0">
                <a:solidFill>
                  <a:schemeClr val="accent1"/>
                </a:solidFill>
                <a:latin typeface="Palatino Linotype" panose="02040502050505030304" pitchFamily="18" charset="0"/>
              </a:rPr>
              <a:t> </a:t>
            </a:r>
            <a:r>
              <a:rPr lang="en-US" sz="2800" dirty="0" err="1" smtClean="0">
                <a:solidFill>
                  <a:schemeClr val="accent1"/>
                </a:solidFill>
                <a:latin typeface="Palatino Linotype" panose="02040502050505030304" pitchFamily="18" charset="0"/>
              </a:rPr>
              <a:t>Shahid</a:t>
            </a:r>
            <a:endParaRPr lang="en-US" sz="2800" dirty="0" smtClean="0">
              <a:solidFill>
                <a:schemeClr val="accent1"/>
              </a:solidFill>
              <a:latin typeface="Palatino Linotype" panose="02040502050505030304" pitchFamily="18" charset="0"/>
            </a:endParaRPr>
          </a:p>
          <a:p>
            <a:pPr algn="ctr"/>
            <a:r>
              <a:rPr lang="en-US" sz="2400" dirty="0" smtClean="0">
                <a:latin typeface="Palatino Linotype" panose="02040502050505030304" pitchFamily="18" charset="0"/>
              </a:rPr>
              <a:t>Lecturer</a:t>
            </a:r>
          </a:p>
          <a:p>
            <a:pPr algn="ctr"/>
            <a:r>
              <a:rPr lang="en-US" sz="2400" dirty="0" smtClean="0">
                <a:latin typeface="Palatino Linotype" panose="02040502050505030304" pitchFamily="18" charset="0"/>
              </a:rPr>
              <a:t>Department of CSE, BUBT</a:t>
            </a:r>
            <a:endParaRPr lang="en-US" sz="2400" dirty="0">
              <a:latin typeface="Palatino Linotype" panose="0204050205050503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27429"/>
            <a:ext cx="12192000" cy="1228725"/>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Pointers To Derived Classes</a:t>
            </a: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753036" y="1720587"/>
            <a:ext cx="11183470" cy="4616648"/>
          </a:xfrm>
          <a:prstGeom prst="rect">
            <a:avLst/>
          </a:prstGeom>
        </p:spPr>
        <p:txBody>
          <a:bodyPr wrap="square">
            <a:spAutoFit/>
          </a:bodyPr>
          <a:lstStyle/>
          <a:p>
            <a:pPr fontAlgn="base"/>
            <a:r>
              <a:rPr lang="en-US" sz="2200" dirty="0" smtClean="0">
                <a:solidFill>
                  <a:srgbClr val="273239"/>
                </a:solidFill>
                <a:latin typeface="Palatino Linotype" panose="02040502050505030304" pitchFamily="18" charset="0"/>
              </a:rPr>
              <a:t>A pointer declared as a pointer to a base class can also be used to point to any class derived from that base.  For example, assume two classes called base and derived, where derived inherits base.</a:t>
            </a:r>
          </a:p>
          <a:p>
            <a:pPr marL="342900" indent="-342900" fontAlgn="base">
              <a:buFont typeface="Arial" panose="020B0604020202020204" pitchFamily="34" charset="0"/>
              <a:buChar char="•"/>
            </a:pPr>
            <a:endParaRPr lang="en-US" sz="2000" dirty="0" smtClean="0">
              <a:solidFill>
                <a:srgbClr val="273239"/>
              </a:solidFill>
              <a:latin typeface="Palatino Linotype" panose="02040502050505030304" pitchFamily="18" charset="0"/>
            </a:endParaRPr>
          </a:p>
          <a:p>
            <a:pPr lvl="4" fontAlgn="base"/>
            <a:r>
              <a:rPr lang="en-US" sz="2000" dirty="0" smtClean="0">
                <a:solidFill>
                  <a:srgbClr val="C00000"/>
                </a:solidFill>
                <a:latin typeface="Palatino Linotype" panose="02040502050505030304" pitchFamily="18" charset="0"/>
              </a:rPr>
              <a:t>base *p; </a:t>
            </a:r>
            <a:r>
              <a:rPr lang="en-US" sz="2000" dirty="0" smtClean="0">
                <a:solidFill>
                  <a:srgbClr val="273239"/>
                </a:solidFill>
                <a:latin typeface="Palatino Linotype" panose="02040502050505030304" pitchFamily="18" charset="0"/>
              </a:rPr>
              <a:t>                                    // base class pointer</a:t>
            </a:r>
          </a:p>
          <a:p>
            <a:pPr lvl="4" fontAlgn="base"/>
            <a:r>
              <a:rPr lang="en-US" sz="2000" dirty="0" smtClean="0">
                <a:solidFill>
                  <a:srgbClr val="C00000"/>
                </a:solidFill>
                <a:latin typeface="Palatino Linotype" panose="02040502050505030304" pitchFamily="18" charset="0"/>
              </a:rPr>
              <a:t>base </a:t>
            </a:r>
            <a:r>
              <a:rPr lang="en-US" sz="2000" dirty="0" err="1" smtClean="0">
                <a:solidFill>
                  <a:srgbClr val="C00000"/>
                </a:solidFill>
                <a:latin typeface="Palatino Linotype" panose="02040502050505030304" pitchFamily="18" charset="0"/>
              </a:rPr>
              <a:t>base_ob</a:t>
            </a:r>
            <a:r>
              <a:rPr lang="en-US" sz="2000" dirty="0" smtClean="0">
                <a:solidFill>
                  <a:srgbClr val="C00000"/>
                </a:solidFill>
                <a:latin typeface="Palatino Linotype" panose="02040502050505030304" pitchFamily="18" charset="0"/>
              </a:rPr>
              <a:t> ;                         </a:t>
            </a:r>
            <a:r>
              <a:rPr lang="en-US" sz="2000" dirty="0" smtClean="0">
                <a:solidFill>
                  <a:srgbClr val="273239"/>
                </a:solidFill>
                <a:latin typeface="Palatino Linotype" panose="02040502050505030304" pitchFamily="18" charset="0"/>
              </a:rPr>
              <a:t>// object of type base</a:t>
            </a:r>
          </a:p>
          <a:p>
            <a:pPr lvl="4" fontAlgn="base"/>
            <a:r>
              <a:rPr lang="en-US" sz="2000" dirty="0" smtClean="0">
                <a:solidFill>
                  <a:srgbClr val="C00000"/>
                </a:solidFill>
                <a:latin typeface="Palatino Linotype" panose="02040502050505030304" pitchFamily="18" charset="0"/>
              </a:rPr>
              <a:t>derived </a:t>
            </a:r>
            <a:r>
              <a:rPr lang="en-US" sz="2000" dirty="0" err="1" smtClean="0">
                <a:solidFill>
                  <a:srgbClr val="C00000"/>
                </a:solidFill>
                <a:latin typeface="Palatino Linotype" panose="02040502050505030304" pitchFamily="18" charset="0"/>
              </a:rPr>
              <a:t>derived_ob</a:t>
            </a:r>
            <a:r>
              <a:rPr lang="en-US" sz="2000" dirty="0" smtClean="0">
                <a:solidFill>
                  <a:srgbClr val="C00000"/>
                </a:solidFill>
                <a:latin typeface="Palatino Linotype" panose="02040502050505030304" pitchFamily="18" charset="0"/>
              </a:rPr>
              <a:t> ; </a:t>
            </a:r>
            <a:r>
              <a:rPr lang="en-US" sz="2000" dirty="0" smtClean="0">
                <a:solidFill>
                  <a:srgbClr val="273239"/>
                </a:solidFill>
                <a:latin typeface="Palatino Linotype" panose="02040502050505030304" pitchFamily="18" charset="0"/>
              </a:rPr>
              <a:t>            // object of type derived</a:t>
            </a:r>
            <a:endParaRPr lang="en-US" sz="2000" dirty="0" smtClean="0">
              <a:solidFill>
                <a:srgbClr val="C00000"/>
              </a:solidFill>
              <a:latin typeface="Palatino Linotype" panose="02040502050505030304" pitchFamily="18" charset="0"/>
            </a:endParaRPr>
          </a:p>
          <a:p>
            <a:pPr lvl="4" fontAlgn="base"/>
            <a:r>
              <a:rPr lang="en-US" sz="2000" dirty="0" smtClean="0">
                <a:solidFill>
                  <a:srgbClr val="C00000"/>
                </a:solidFill>
                <a:latin typeface="Palatino Linotype" panose="02040502050505030304" pitchFamily="18" charset="0"/>
              </a:rPr>
              <a:t>p = &amp; </a:t>
            </a:r>
            <a:r>
              <a:rPr lang="en-US" sz="2000" dirty="0" err="1" smtClean="0">
                <a:solidFill>
                  <a:srgbClr val="C00000"/>
                </a:solidFill>
                <a:latin typeface="Palatino Linotype" panose="02040502050505030304" pitchFamily="18" charset="0"/>
              </a:rPr>
              <a:t>base_ob</a:t>
            </a:r>
            <a:r>
              <a:rPr lang="en-US" sz="2000" dirty="0" smtClean="0">
                <a:solidFill>
                  <a:srgbClr val="C00000"/>
                </a:solidFill>
                <a:latin typeface="Palatino Linotype" panose="02040502050505030304" pitchFamily="18" charset="0"/>
              </a:rPr>
              <a:t> ;                      </a:t>
            </a:r>
            <a:r>
              <a:rPr lang="en-US" sz="2000" dirty="0" smtClean="0">
                <a:solidFill>
                  <a:schemeClr val="tx1">
                    <a:lumMod val="95000"/>
                    <a:lumOff val="5000"/>
                  </a:schemeClr>
                </a:solidFill>
                <a:latin typeface="Palatino Linotype" panose="02040502050505030304" pitchFamily="18" charset="0"/>
              </a:rPr>
              <a:t>// p points to base object</a:t>
            </a:r>
            <a:endParaRPr lang="en-US" sz="2000" dirty="0" smtClean="0">
              <a:solidFill>
                <a:srgbClr val="C00000"/>
              </a:solidFill>
              <a:latin typeface="Palatino Linotype" panose="02040502050505030304" pitchFamily="18" charset="0"/>
            </a:endParaRPr>
          </a:p>
          <a:p>
            <a:pPr lvl="4" fontAlgn="base"/>
            <a:r>
              <a:rPr lang="en-US" sz="2000" dirty="0" smtClean="0">
                <a:solidFill>
                  <a:srgbClr val="C00000"/>
                </a:solidFill>
                <a:latin typeface="Palatino Linotype" panose="02040502050505030304" pitchFamily="18" charset="0"/>
              </a:rPr>
              <a:t>p = &amp; </a:t>
            </a:r>
            <a:r>
              <a:rPr lang="en-US" sz="2000" dirty="0" err="1" smtClean="0">
                <a:solidFill>
                  <a:srgbClr val="C00000"/>
                </a:solidFill>
                <a:latin typeface="Palatino Linotype" panose="02040502050505030304" pitchFamily="18" charset="0"/>
              </a:rPr>
              <a:t>derived_ob</a:t>
            </a:r>
            <a:r>
              <a:rPr lang="en-US" sz="2000" dirty="0" smtClean="0">
                <a:solidFill>
                  <a:srgbClr val="C00000"/>
                </a:solidFill>
                <a:latin typeface="Palatino Linotype" panose="02040502050505030304" pitchFamily="18" charset="0"/>
              </a:rPr>
              <a:t> ;                </a:t>
            </a:r>
            <a:r>
              <a:rPr lang="en-US" sz="2000" dirty="0" smtClean="0">
                <a:solidFill>
                  <a:schemeClr val="tx1">
                    <a:lumMod val="95000"/>
                    <a:lumOff val="5000"/>
                  </a:schemeClr>
                </a:solidFill>
                <a:latin typeface="Palatino Linotype" panose="02040502050505030304" pitchFamily="18" charset="0"/>
              </a:rPr>
              <a:t>// p points to derived object</a:t>
            </a:r>
          </a:p>
          <a:p>
            <a:pPr lvl="4" fontAlgn="base"/>
            <a:endParaRPr lang="en-US" sz="2000" b="0" i="0" dirty="0">
              <a:solidFill>
                <a:srgbClr val="C00000"/>
              </a:solidFill>
              <a:effectLst/>
              <a:latin typeface="Palatino Linotype" panose="02040502050505030304" pitchFamily="18" charset="0"/>
            </a:endParaRPr>
          </a:p>
          <a:p>
            <a:pPr algn="just"/>
            <a:r>
              <a:rPr lang="en-US" sz="2200" dirty="0" smtClean="0">
                <a:latin typeface="Palatino Linotype" panose="02040502050505030304" pitchFamily="18" charset="0"/>
              </a:rPr>
              <a:t>One </a:t>
            </a:r>
            <a:r>
              <a:rPr lang="en-US" sz="2200" dirty="0">
                <a:latin typeface="Palatino Linotype" panose="02040502050505030304" pitchFamily="18" charset="0"/>
              </a:rPr>
              <a:t>can use a base pointer to point to a derived object, </a:t>
            </a:r>
            <a:r>
              <a:rPr lang="en-US" sz="2200" dirty="0" smtClean="0">
                <a:latin typeface="Palatino Linotype" panose="02040502050505030304" pitchFamily="18" charset="0"/>
              </a:rPr>
              <a:t>one </a:t>
            </a:r>
            <a:r>
              <a:rPr lang="en-US" sz="2200" dirty="0">
                <a:latin typeface="Palatino Linotype" panose="02040502050505030304" pitchFamily="18" charset="0"/>
              </a:rPr>
              <a:t>can access only </a:t>
            </a:r>
            <a:r>
              <a:rPr lang="en-US" sz="2200" dirty="0" smtClean="0">
                <a:latin typeface="Palatino Linotype" panose="02040502050505030304" pitchFamily="18" charset="0"/>
              </a:rPr>
              <a:t>those members </a:t>
            </a:r>
            <a:r>
              <a:rPr lang="en-US" sz="2200" dirty="0">
                <a:latin typeface="Palatino Linotype" panose="02040502050505030304" pitchFamily="18" charset="0"/>
              </a:rPr>
              <a:t>of the derived object that were inherited from the base. This is because the </a:t>
            </a:r>
            <a:r>
              <a:rPr lang="en-US" sz="2200" dirty="0" smtClean="0">
                <a:latin typeface="Palatino Linotype" panose="02040502050505030304" pitchFamily="18" charset="0"/>
              </a:rPr>
              <a:t>base pointer </a:t>
            </a:r>
            <a:r>
              <a:rPr lang="en-US" sz="2200" dirty="0">
                <a:latin typeface="Palatino Linotype" panose="02040502050505030304" pitchFamily="18" charset="0"/>
              </a:rPr>
              <a:t>has knowledge only of the base class. It knows nothing about the members added </a:t>
            </a:r>
            <a:r>
              <a:rPr lang="en-US" sz="2200" dirty="0" smtClean="0">
                <a:latin typeface="Palatino Linotype" panose="02040502050505030304" pitchFamily="18" charset="0"/>
              </a:rPr>
              <a:t>by the </a:t>
            </a:r>
            <a:r>
              <a:rPr lang="en-US" sz="2200" dirty="0">
                <a:latin typeface="Palatino Linotype" panose="02040502050505030304" pitchFamily="18" charset="0"/>
              </a:rPr>
              <a:t>derived class.</a:t>
            </a:r>
            <a:endParaRPr lang="en-US" sz="2200" b="0" i="0" dirty="0">
              <a:solidFill>
                <a:srgbClr val="C00000"/>
              </a:solidFill>
              <a:effectLst/>
              <a:latin typeface="Palatino Linotype" panose="0204050205050503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27429"/>
            <a:ext cx="12192000" cy="1228725"/>
          </a:xfrm>
          <a:solidFill>
            <a:schemeClr val="bg1"/>
          </a:solidFill>
        </p:spPr>
        <p:txBody>
          <a:bodyPr>
            <a:normAutofit/>
          </a:bodyPr>
          <a:lstStyle/>
          <a:p>
            <a:pPr algn="ctr"/>
            <a:r>
              <a:rPr lang="en-US" sz="4000" b="1" dirty="0" smtClean="0">
                <a:solidFill>
                  <a:schemeClr val="accent1">
                    <a:lumMod val="75000"/>
                  </a:schemeClr>
                </a:solidFill>
                <a:latin typeface="Palatino Linotype" panose="02040502050505030304" pitchFamily="18" charset="0"/>
              </a:rPr>
              <a:t>Pointers To Derived Classes</a:t>
            </a: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766288" y="1945874"/>
            <a:ext cx="10749851" cy="3139321"/>
          </a:xfrm>
          <a:prstGeom prst="rect">
            <a:avLst/>
          </a:prstGeom>
        </p:spPr>
        <p:txBody>
          <a:bodyPr wrap="square">
            <a:spAutoFit/>
          </a:bodyPr>
          <a:lstStyle/>
          <a:p>
            <a:pPr algn="just" fontAlgn="base"/>
            <a:r>
              <a:rPr lang="en-US" sz="2200" dirty="0">
                <a:solidFill>
                  <a:srgbClr val="FF0000"/>
                </a:solidFill>
                <a:latin typeface="Palatino Linotype" panose="02040502050505030304" pitchFamily="18" charset="0"/>
              </a:rPr>
              <a:t>While it is permissible for a base pointer to point to a derived object, the reverse is not </a:t>
            </a:r>
            <a:r>
              <a:rPr lang="en-US" sz="2200" dirty="0" smtClean="0">
                <a:solidFill>
                  <a:srgbClr val="FF0000"/>
                </a:solidFill>
                <a:latin typeface="Palatino Linotype" panose="02040502050505030304" pitchFamily="18" charset="0"/>
              </a:rPr>
              <a:t>true. </a:t>
            </a:r>
          </a:p>
          <a:p>
            <a:pPr algn="just" fontAlgn="base"/>
            <a:r>
              <a:rPr lang="en-US" sz="2200" dirty="0" smtClean="0">
                <a:solidFill>
                  <a:schemeClr val="tx1">
                    <a:lumMod val="95000"/>
                    <a:lumOff val="5000"/>
                  </a:schemeClr>
                </a:solidFill>
                <a:latin typeface="Palatino Linotype" panose="02040502050505030304" pitchFamily="18" charset="0"/>
              </a:rPr>
              <a:t>A </a:t>
            </a:r>
            <a:r>
              <a:rPr lang="en-US" sz="2200" dirty="0">
                <a:solidFill>
                  <a:schemeClr val="tx1">
                    <a:lumMod val="95000"/>
                    <a:lumOff val="5000"/>
                  </a:schemeClr>
                </a:solidFill>
                <a:latin typeface="Palatino Linotype" panose="02040502050505030304" pitchFamily="18" charset="0"/>
              </a:rPr>
              <a:t>pointer of the derived type cannot be used to access an object of the base class. (A type </a:t>
            </a:r>
            <a:r>
              <a:rPr lang="en-US" sz="2200" dirty="0" smtClean="0">
                <a:solidFill>
                  <a:schemeClr val="tx1">
                    <a:lumMod val="95000"/>
                    <a:lumOff val="5000"/>
                  </a:schemeClr>
                </a:solidFill>
                <a:latin typeface="Palatino Linotype" panose="02040502050505030304" pitchFamily="18" charset="0"/>
              </a:rPr>
              <a:t>cast can </a:t>
            </a:r>
            <a:r>
              <a:rPr lang="en-US" sz="2200" dirty="0">
                <a:solidFill>
                  <a:schemeClr val="tx1">
                    <a:lumMod val="95000"/>
                    <a:lumOff val="5000"/>
                  </a:schemeClr>
                </a:solidFill>
                <a:latin typeface="Palatino Linotype" panose="02040502050505030304" pitchFamily="18" charset="0"/>
              </a:rPr>
              <a:t>be used to overcome this restriction, but its use is not recommended practice</a:t>
            </a:r>
            <a:r>
              <a:rPr lang="en-US" sz="2200" dirty="0" smtClean="0">
                <a:solidFill>
                  <a:schemeClr val="tx1">
                    <a:lumMod val="95000"/>
                    <a:lumOff val="5000"/>
                  </a:schemeClr>
                </a:solidFill>
                <a:latin typeface="Palatino Linotype" panose="02040502050505030304" pitchFamily="18" charset="0"/>
              </a:rPr>
              <a:t>.)</a:t>
            </a:r>
            <a:endParaRPr lang="en-US" sz="2200" dirty="0">
              <a:solidFill>
                <a:schemeClr val="tx1">
                  <a:lumMod val="95000"/>
                  <a:lumOff val="5000"/>
                </a:schemeClr>
              </a:solidFill>
              <a:latin typeface="Palatino Linotype" panose="02040502050505030304" pitchFamily="18" charset="0"/>
            </a:endParaRPr>
          </a:p>
          <a:p>
            <a:pPr algn="just" fontAlgn="base"/>
            <a:r>
              <a:rPr lang="en-US" sz="2200" dirty="0" smtClean="0">
                <a:solidFill>
                  <a:schemeClr val="tx1">
                    <a:lumMod val="95000"/>
                    <a:lumOff val="5000"/>
                  </a:schemeClr>
                </a:solidFill>
                <a:latin typeface="Palatino Linotype" panose="02040502050505030304" pitchFamily="18" charset="0"/>
              </a:rPr>
              <a:t>Pointer </a:t>
            </a:r>
            <a:r>
              <a:rPr lang="en-US" sz="2200" dirty="0">
                <a:solidFill>
                  <a:schemeClr val="tx1">
                    <a:lumMod val="95000"/>
                    <a:lumOff val="5000"/>
                  </a:schemeClr>
                </a:solidFill>
                <a:latin typeface="Palatino Linotype" panose="02040502050505030304" pitchFamily="18" charset="0"/>
              </a:rPr>
              <a:t>arithmetic is relative to the data type the pointer </a:t>
            </a:r>
            <a:r>
              <a:rPr lang="en-US" sz="2200" dirty="0" smtClean="0">
                <a:solidFill>
                  <a:schemeClr val="tx1">
                    <a:lumMod val="95000"/>
                    <a:lumOff val="5000"/>
                  </a:schemeClr>
                </a:solidFill>
                <a:latin typeface="Palatino Linotype" panose="02040502050505030304" pitchFamily="18" charset="0"/>
              </a:rPr>
              <a:t>is declared </a:t>
            </a:r>
            <a:r>
              <a:rPr lang="en-US" sz="2200" dirty="0">
                <a:solidFill>
                  <a:schemeClr val="tx1">
                    <a:lumMod val="95000"/>
                    <a:lumOff val="5000"/>
                  </a:schemeClr>
                </a:solidFill>
                <a:latin typeface="Palatino Linotype" panose="02040502050505030304" pitchFamily="18" charset="0"/>
              </a:rPr>
              <a:t>as pointing to. Thus, if you point a base pointer to a derived object and then </a:t>
            </a:r>
            <a:r>
              <a:rPr lang="en-US" sz="2200" dirty="0" smtClean="0">
                <a:solidFill>
                  <a:schemeClr val="tx1">
                    <a:lumMod val="95000"/>
                    <a:lumOff val="5000"/>
                  </a:schemeClr>
                </a:solidFill>
                <a:latin typeface="Palatino Linotype" panose="02040502050505030304" pitchFamily="18" charset="0"/>
              </a:rPr>
              <a:t>increment that </a:t>
            </a:r>
            <a:r>
              <a:rPr lang="en-US" sz="2200" dirty="0">
                <a:solidFill>
                  <a:schemeClr val="tx1">
                    <a:lumMod val="95000"/>
                    <a:lumOff val="5000"/>
                  </a:schemeClr>
                </a:solidFill>
                <a:latin typeface="Palatino Linotype" panose="02040502050505030304" pitchFamily="18" charset="0"/>
              </a:rPr>
              <a:t>pointer, it will not be pointing to the next derived object. It will be pointing to (what </a:t>
            </a:r>
            <a:r>
              <a:rPr lang="en-US" sz="2200" dirty="0" smtClean="0">
                <a:solidFill>
                  <a:schemeClr val="tx1">
                    <a:lumMod val="95000"/>
                    <a:lumOff val="5000"/>
                  </a:schemeClr>
                </a:solidFill>
                <a:latin typeface="Palatino Linotype" panose="02040502050505030304" pitchFamily="18" charset="0"/>
              </a:rPr>
              <a:t>it thinks </a:t>
            </a:r>
            <a:r>
              <a:rPr lang="en-US" sz="2200" dirty="0">
                <a:solidFill>
                  <a:schemeClr val="tx1">
                    <a:lumMod val="95000"/>
                    <a:lumOff val="5000"/>
                  </a:schemeClr>
                </a:solidFill>
                <a:latin typeface="Palatino Linotype" panose="02040502050505030304" pitchFamily="18" charset="0"/>
              </a:rPr>
              <a:t>is) the next base object. </a:t>
            </a:r>
            <a:endParaRPr lang="en-US" sz="2200" b="0" i="0" dirty="0">
              <a:solidFill>
                <a:schemeClr val="tx1">
                  <a:lumMod val="95000"/>
                  <a:lumOff val="5000"/>
                </a:schemeClr>
              </a:solidFill>
              <a:effectLst/>
              <a:latin typeface="Palatino Linotype" panose="0204050205050503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9413" y="2213113"/>
            <a:ext cx="4292832" cy="1323439"/>
          </a:xfrm>
          <a:prstGeom prst="rect">
            <a:avLst/>
          </a:prstGeom>
        </p:spPr>
        <p:txBody>
          <a:bodyPr wrap="square">
            <a:spAutoFit/>
          </a:bodyPr>
          <a:lstStyle/>
          <a:p>
            <a:pPr algn="ctr"/>
            <a:r>
              <a:rPr lang="en-US" sz="4000" b="1" dirty="0">
                <a:solidFill>
                  <a:schemeClr val="accent1">
                    <a:lumMod val="75000"/>
                  </a:schemeClr>
                </a:solidFill>
                <a:latin typeface="Palatino Linotype" panose="02040502050505030304" pitchFamily="18" charset="0"/>
              </a:rPr>
              <a:t>Pointers To Derived Classes</a:t>
            </a:r>
            <a:endParaRPr lang="en-US" sz="4000" dirty="0"/>
          </a:p>
        </p:txBody>
      </p:sp>
      <p:pic>
        <p:nvPicPr>
          <p:cNvPr id="2" name="Picture 1"/>
          <p:cNvPicPr>
            <a:picLocks noChangeAspect="1"/>
          </p:cNvPicPr>
          <p:nvPr/>
        </p:nvPicPr>
        <p:blipFill>
          <a:blip r:embed="rId2"/>
          <a:stretch>
            <a:fillRect/>
          </a:stretch>
        </p:blipFill>
        <p:spPr>
          <a:xfrm>
            <a:off x="2583848" y="-725805"/>
            <a:ext cx="7369777"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766392" y="610187"/>
            <a:ext cx="7716078" cy="769441"/>
          </a:xfrm>
          <a:prstGeom prst="rect">
            <a:avLst/>
          </a:prstGeom>
          <a:noFill/>
        </p:spPr>
        <p:txBody>
          <a:bodyPr wrap="square" rtlCol="0">
            <a:spAutoFit/>
          </a:bodyPr>
          <a:lstStyle/>
          <a:p>
            <a:r>
              <a:rPr lang="en-US" sz="4400" b="1" dirty="0">
                <a:solidFill>
                  <a:schemeClr val="accent1">
                    <a:lumMod val="75000"/>
                  </a:schemeClr>
                </a:solidFill>
                <a:latin typeface="Palatino Linotype" panose="02040502050505030304" pitchFamily="18" charset="0"/>
              </a:rPr>
              <a:t>Pointers To Derived Classes</a:t>
            </a:r>
            <a:endParaRPr lang="en-US" sz="4300" b="1" dirty="0">
              <a:solidFill>
                <a:schemeClr val="accent1">
                  <a:lumMod val="75000"/>
                </a:schemeClr>
              </a:solidFill>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3783175" y="1690147"/>
            <a:ext cx="5427085" cy="2219244"/>
          </a:xfrm>
          <a:prstGeom prst="rect">
            <a:avLst/>
          </a:prstGeom>
        </p:spPr>
      </p:pic>
      <p:sp>
        <p:nvSpPr>
          <p:cNvPr id="4" name="Rectangle 2"/>
          <p:cNvSpPr>
            <a:spLocks noChangeArrowheads="1"/>
          </p:cNvSpPr>
          <p:nvPr/>
        </p:nvSpPr>
        <p:spPr bwMode="auto">
          <a:xfrm rot="10800000" flipV="1">
            <a:off x="1096616" y="4055165"/>
            <a:ext cx="1019423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Palatino Linotype" panose="02040502050505030304" pitchFamily="18" charset="0"/>
              </a:rPr>
              <a:t>Explanation: </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A base pointer (p) can only interact with members inherited from the base class, even when pointing to a derived object.</a:t>
            </a:r>
            <a:r>
              <a:rPr kumimoji="0" lang="en-US" altLang="en-US" sz="2000" b="0" i="0" u="none" strike="noStrike" cap="none" normalizeH="0" dirty="0" smtClean="0">
                <a:ln>
                  <a:noFill/>
                </a:ln>
                <a:solidFill>
                  <a:schemeClr val="tx1"/>
                </a:solidFill>
                <a:effectLst/>
                <a:latin typeface="Palatino Linotype" panose="02040502050505030304" pitchFamily="18" charset="0"/>
              </a:rPr>
              <a:t> </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To access derived-specific members, the derived object must be used directly, as seen with </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d_ob</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accessing </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sety</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 and </a:t>
            </a:r>
            <a:r>
              <a:rPr kumimoji="0" lang="en-US" altLang="en-US" sz="2000" b="0" i="0" u="none" strike="noStrike" cap="none" normalizeH="0" baseline="0" dirty="0" err="1" smtClean="0">
                <a:ln>
                  <a:noFill/>
                </a:ln>
                <a:solidFill>
                  <a:schemeClr val="tx1"/>
                </a:solidFill>
                <a:effectLst/>
                <a:latin typeface="Palatino Linotype" panose="02040502050505030304" pitchFamily="18" charset="0"/>
              </a:rPr>
              <a:t>gety</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a:t>
            </a:r>
            <a:r>
              <a:rPr kumimoji="0" lang="en-US" altLang="en-US" sz="2000" b="0" i="0" u="none" strike="noStrike" cap="none" normalizeH="0" dirty="0" smtClean="0">
                <a:ln>
                  <a:noFill/>
                </a:ln>
                <a:solidFill>
                  <a:schemeClr val="tx1"/>
                </a:solidFill>
                <a:effectLst/>
                <a:latin typeface="Palatino Linotype" panose="02040502050505030304" pitchFamily="18" charset="0"/>
              </a:rPr>
              <a:t> </a:t>
            </a:r>
            <a:r>
              <a:rPr kumimoji="0" lang="en-US" altLang="en-US" sz="2000" b="0" i="0" u="none" strike="noStrike" cap="none" normalizeH="0" baseline="0" dirty="0" smtClean="0">
                <a:ln>
                  <a:noFill/>
                </a:ln>
                <a:solidFill>
                  <a:schemeClr val="tx1"/>
                </a:solidFill>
                <a:effectLst/>
                <a:latin typeface="Palatino Linotype" panose="02040502050505030304" pitchFamily="18" charset="0"/>
              </a:rPr>
              <a:t>This behavior highlights how base class pointers are restricted to base-level knowledge, ensuring compatibility in inheritance hierarchies.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766392" y="610187"/>
            <a:ext cx="7716078" cy="769441"/>
          </a:xfrm>
          <a:prstGeom prst="rect">
            <a:avLst/>
          </a:prstGeom>
          <a:noFill/>
        </p:spPr>
        <p:txBody>
          <a:bodyPr wrap="square" rtlCol="0">
            <a:spAutoFit/>
          </a:bodyPr>
          <a:lstStyle/>
          <a:p>
            <a:r>
              <a:rPr lang="en-US" sz="4400" b="1" dirty="0">
                <a:solidFill>
                  <a:schemeClr val="accent1">
                    <a:lumMod val="75000"/>
                  </a:schemeClr>
                </a:solidFill>
                <a:latin typeface="Palatino Linotype" panose="02040502050505030304" pitchFamily="18" charset="0"/>
              </a:rPr>
              <a:t>Pointers To Derived Classes</a:t>
            </a:r>
            <a:endParaRPr lang="en-US" sz="4300" b="1" dirty="0">
              <a:solidFill>
                <a:schemeClr val="accent1">
                  <a:lumMod val="75000"/>
                </a:schemeClr>
              </a:solidFill>
              <a:latin typeface="Palatino Linotype" panose="02040502050505030304" pitchFamily="18" charset="0"/>
            </a:endParaRPr>
          </a:p>
        </p:txBody>
      </p:sp>
      <p:sp>
        <p:nvSpPr>
          <p:cNvPr id="4" name="Rectangle 2"/>
          <p:cNvSpPr>
            <a:spLocks noChangeArrowheads="1"/>
          </p:cNvSpPr>
          <p:nvPr/>
        </p:nvSpPr>
        <p:spPr bwMode="auto">
          <a:xfrm rot="10800000" flipV="1">
            <a:off x="1149625" y="2834668"/>
            <a:ext cx="1019423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spcBef>
                <a:spcPct val="0"/>
              </a:spcBef>
              <a:spcAft>
                <a:spcPct val="0"/>
              </a:spcAft>
            </a:pPr>
            <a:r>
              <a:rPr lang="en-US" altLang="en-US" sz="2800" dirty="0" smtClean="0">
                <a:latin typeface="Palatino Linotype" panose="02040502050505030304" pitchFamily="18" charset="0"/>
              </a:rPr>
              <a:t>Task: On </a:t>
            </a:r>
            <a:r>
              <a:rPr lang="en-US" altLang="en-US" sz="2800" dirty="0">
                <a:latin typeface="Palatino Linotype" panose="02040502050505030304" pitchFamily="18" charset="0"/>
              </a:rPr>
              <a:t>your own, try the preceding example and experiment with it. For example, try </a:t>
            </a:r>
            <a:r>
              <a:rPr lang="en-US" altLang="en-US" sz="2800" dirty="0" smtClean="0">
                <a:latin typeface="Palatino Linotype" panose="02040502050505030304" pitchFamily="18" charset="0"/>
              </a:rPr>
              <a:t>declar</a:t>
            </a:r>
            <a:r>
              <a:rPr lang="en-US" altLang="en-US" sz="2800" dirty="0">
                <a:latin typeface="Palatino Linotype" panose="02040502050505030304" pitchFamily="18" charset="0"/>
              </a:rPr>
              <a:t>i</a:t>
            </a:r>
            <a:r>
              <a:rPr lang="en-US" altLang="en-US" sz="2800" dirty="0" smtClean="0">
                <a:latin typeface="Palatino Linotype" panose="02040502050505030304" pitchFamily="18" charset="0"/>
              </a:rPr>
              <a:t>ng </a:t>
            </a:r>
            <a:r>
              <a:rPr lang="en-US" altLang="en-US" sz="2800" dirty="0">
                <a:latin typeface="Palatino Linotype" panose="02040502050505030304" pitchFamily="18" charset="0"/>
              </a:rPr>
              <a:t>a derived pointer and having it access an object of the base class.</a:t>
            </a:r>
            <a:endParaRPr kumimoji="0" lang="en-US" altLang="en-US" sz="2800" b="0" i="0" u="none" strike="noStrike" cap="none" normalizeH="0" baseline="0" dirty="0" smtClean="0">
              <a:ln>
                <a:noFill/>
              </a:ln>
              <a:solidFill>
                <a:schemeClr val="tx1"/>
              </a:solidFill>
              <a:effectLst/>
              <a:latin typeface="Palatino Linotype" panose="0204050205050503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980" y="355600"/>
            <a:ext cx="8643620" cy="1026160"/>
          </a:xfrm>
        </p:spPr>
        <p:txBody>
          <a:bodyPr>
            <a:normAutofit fontScale="90000"/>
          </a:bodyPr>
          <a:lstStyle/>
          <a:p>
            <a:pPr algn="ctr"/>
            <a:r>
              <a:rPr lang="en-US" sz="4000" b="1" dirty="0" smtClean="0">
                <a:solidFill>
                  <a:srgbClr val="00B0F0"/>
                </a:solidFill>
                <a:latin typeface="Palatino Linotype" panose="02040502050505030304" pitchFamily="18" charset="0"/>
              </a:rPr>
              <a:t>Compile-time Polymorphism and Runtime Polymorphism</a:t>
            </a:r>
            <a:endParaRPr lang="en-US" sz="4000" b="1" dirty="0">
              <a:solidFill>
                <a:srgbClr val="00B0F0"/>
              </a:solidFill>
              <a:latin typeface="Palatino Linotype" panose="02040502050505030304" pitchFamily="18" charset="0"/>
            </a:endParaRPr>
          </a:p>
        </p:txBody>
      </p:sp>
      <p:graphicFrame>
        <p:nvGraphicFramePr>
          <p:cNvPr id="4" name="Table 3"/>
          <p:cNvGraphicFramePr>
            <a:graphicFrameLocks noGrp="1"/>
          </p:cNvGraphicFramePr>
          <p:nvPr/>
        </p:nvGraphicFramePr>
        <p:xfrm>
          <a:off x="373380" y="1737360"/>
          <a:ext cx="11506200" cy="5008074"/>
        </p:xfrm>
        <a:graphic>
          <a:graphicData uri="http://schemas.openxmlformats.org/drawingml/2006/table">
            <a:tbl>
              <a:tblPr/>
              <a:tblGrid>
                <a:gridCol w="2654301">
                  <a:extLst>
                    <a:ext uri="{9D8B030D-6E8A-4147-A177-3AD203B41FA5}">
                      <a16:colId xmlns:a16="http://schemas.microsoft.com/office/drawing/2014/main" val="20000"/>
                    </a:ext>
                  </a:extLst>
                </a:gridCol>
                <a:gridCol w="4610100">
                  <a:extLst>
                    <a:ext uri="{9D8B030D-6E8A-4147-A177-3AD203B41FA5}">
                      <a16:colId xmlns:a16="http://schemas.microsoft.com/office/drawing/2014/main" val="20001"/>
                    </a:ext>
                  </a:extLst>
                </a:gridCol>
                <a:gridCol w="4241799">
                  <a:extLst>
                    <a:ext uri="{9D8B030D-6E8A-4147-A177-3AD203B41FA5}">
                      <a16:colId xmlns:a16="http://schemas.microsoft.com/office/drawing/2014/main" val="20002"/>
                    </a:ext>
                  </a:extLst>
                </a:gridCol>
              </a:tblGrid>
              <a:tr h="401200">
                <a:tc>
                  <a:txBody>
                    <a:bodyPr/>
                    <a:lstStyle/>
                    <a:p>
                      <a:pPr fontAlgn="b"/>
                      <a:r>
                        <a:rPr lang="en-US" sz="1800" b="1" dirty="0">
                          <a:effectLst/>
                          <a:latin typeface="Palatino Linotype" panose="02040502050505030304" pitchFamily="18" charset="0"/>
                        </a:rPr>
                        <a:t>Aspect</a:t>
                      </a:r>
                    </a:p>
                  </a:txBody>
                  <a:tcPr marL="46238" marR="46238" marT="23119" marB="23119" anchor="b">
                    <a:lnL w="9525" cap="flat" cmpd="sng" algn="ctr">
                      <a:solidFill>
                        <a:srgbClr val="E04100"/>
                      </a:solidFill>
                      <a:prstDash val="solid"/>
                      <a:round/>
                      <a:headEnd type="none" w="med" len="med"/>
                      <a:tailEnd type="none" w="med" len="med"/>
                    </a:lnL>
                    <a:lnR w="9525" cap="flat" cmpd="sng" algn="ctr">
                      <a:solidFill>
                        <a:srgbClr val="C05800"/>
                      </a:solidFill>
                      <a:prstDash val="solid"/>
                      <a:round/>
                      <a:headEnd type="none" w="med" len="med"/>
                      <a:tailEnd type="none" w="med" len="med"/>
                    </a:lnR>
                    <a:lnT w="9525" cap="flat" cmpd="sng" algn="ctr">
                      <a:solidFill>
                        <a:srgbClr val="E04100"/>
                      </a:solidFill>
                      <a:prstDash val="solid"/>
                      <a:round/>
                      <a:headEnd type="none" w="med" len="med"/>
                      <a:tailEnd type="none" w="med" len="med"/>
                    </a:lnT>
                    <a:lnB w="12700" cap="flat" cmpd="sng" algn="ctr">
                      <a:solidFill>
                        <a:srgbClr val="D02D00"/>
                      </a:solidFill>
                      <a:prstDash val="solid"/>
                      <a:round/>
                      <a:headEnd type="none" w="med" len="med"/>
                      <a:tailEnd type="none" w="med" len="med"/>
                    </a:lnB>
                    <a:solidFill>
                      <a:srgbClr val="FFFFFF"/>
                    </a:solidFill>
                  </a:tcPr>
                </a:tc>
                <a:tc>
                  <a:txBody>
                    <a:bodyPr/>
                    <a:lstStyle/>
                    <a:p>
                      <a:pPr fontAlgn="b"/>
                      <a:r>
                        <a:rPr lang="en-US" sz="1800" b="1">
                          <a:effectLst/>
                          <a:latin typeface="Palatino Linotype" panose="02040502050505030304" pitchFamily="18" charset="0"/>
                        </a:rPr>
                        <a:t>Compile-Time Polymorphism</a:t>
                      </a:r>
                    </a:p>
                  </a:txBody>
                  <a:tcPr marL="46238" marR="46238" marT="23119" marB="23119" anchor="b">
                    <a:lnL w="9525" cap="flat" cmpd="sng" algn="ctr">
                      <a:solidFill>
                        <a:srgbClr val="C05800"/>
                      </a:solidFill>
                      <a:prstDash val="solid"/>
                      <a:round/>
                      <a:headEnd type="none" w="med" len="med"/>
                      <a:tailEnd type="none" w="med" len="med"/>
                    </a:lnL>
                    <a:lnR w="9525" cap="flat" cmpd="sng" algn="ctr">
                      <a:solidFill>
                        <a:srgbClr val="900100"/>
                      </a:solidFill>
                      <a:prstDash val="solid"/>
                      <a:round/>
                      <a:headEnd type="none" w="med" len="med"/>
                      <a:tailEnd type="none" w="med" len="med"/>
                    </a:lnR>
                    <a:lnT w="9525" cap="flat" cmpd="sng" algn="ctr">
                      <a:solidFill>
                        <a:srgbClr val="C05800"/>
                      </a:solidFill>
                      <a:prstDash val="solid"/>
                      <a:round/>
                      <a:headEnd type="none" w="med" len="med"/>
                      <a:tailEnd type="none" w="med" len="med"/>
                    </a:lnT>
                    <a:lnB w="12700" cap="flat" cmpd="sng" algn="ctr">
                      <a:solidFill>
                        <a:srgbClr val="103900"/>
                      </a:solidFill>
                      <a:prstDash val="solid"/>
                      <a:round/>
                      <a:headEnd type="none" w="med" len="med"/>
                      <a:tailEnd type="none" w="med" len="med"/>
                    </a:lnB>
                    <a:solidFill>
                      <a:srgbClr val="FFFFFF"/>
                    </a:solidFill>
                  </a:tcPr>
                </a:tc>
                <a:tc>
                  <a:txBody>
                    <a:bodyPr/>
                    <a:lstStyle/>
                    <a:p>
                      <a:pPr fontAlgn="b"/>
                      <a:r>
                        <a:rPr lang="en-US" sz="1800" b="1">
                          <a:effectLst/>
                          <a:latin typeface="Palatino Linotype" panose="02040502050505030304" pitchFamily="18" charset="0"/>
                        </a:rPr>
                        <a:t>Runtime Polymorphism</a:t>
                      </a:r>
                    </a:p>
                  </a:txBody>
                  <a:tcPr marL="46238" marR="46238" marT="23119" marB="23119" anchor="b">
                    <a:lnL w="9525" cap="flat" cmpd="sng" algn="ctr">
                      <a:solidFill>
                        <a:srgbClr val="900100"/>
                      </a:solidFill>
                      <a:prstDash val="solid"/>
                      <a:round/>
                      <a:headEnd type="none" w="med" len="med"/>
                      <a:tailEnd type="none" w="med" len="med"/>
                    </a:lnL>
                    <a:lnR w="9525" cap="flat" cmpd="sng" algn="ctr">
                      <a:solidFill>
                        <a:srgbClr val="900100"/>
                      </a:solidFill>
                      <a:prstDash val="solid"/>
                      <a:round/>
                      <a:headEnd type="none" w="med" len="med"/>
                      <a:tailEnd type="none" w="med" len="med"/>
                    </a:lnR>
                    <a:lnT w="9525" cap="flat" cmpd="sng" algn="ctr">
                      <a:solidFill>
                        <a:srgbClr val="900100"/>
                      </a:solidFill>
                      <a:prstDash val="solid"/>
                      <a:round/>
                      <a:headEnd type="none" w="med" len="med"/>
                      <a:tailEnd type="none" w="med" len="med"/>
                    </a:lnT>
                    <a:lnB w="12700" cap="flat" cmpd="sng" algn="ctr">
                      <a:solidFill>
                        <a:srgbClr val="004C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45085">
                <a:tc>
                  <a:txBody>
                    <a:bodyPr/>
                    <a:lstStyle/>
                    <a:p>
                      <a:pPr fontAlgn="base"/>
                      <a:r>
                        <a:rPr lang="en-US" sz="1800" b="1">
                          <a:effectLst/>
                          <a:latin typeface="Palatino Linotype" panose="02040502050505030304" pitchFamily="18" charset="0"/>
                        </a:rPr>
                        <a:t>Definition</a:t>
                      </a:r>
                      <a:endParaRPr lang="en-US" sz="1800">
                        <a:effectLst/>
                        <a:latin typeface="Palatino Linotype" panose="02040502050505030304" pitchFamily="18" charset="0"/>
                      </a:endParaRPr>
                    </a:p>
                  </a:txBody>
                  <a:tcPr marL="46238" marR="46238" marT="23119" marB="23119" anchor="ctr">
                    <a:lnL w="9525" cap="flat" cmpd="sng" algn="ctr">
                      <a:solidFill>
                        <a:srgbClr val="D02D00"/>
                      </a:solidFill>
                      <a:prstDash val="solid"/>
                      <a:round/>
                      <a:headEnd type="none" w="med" len="med"/>
                      <a:tailEnd type="none" w="med" len="med"/>
                    </a:lnL>
                    <a:lnR w="9525" cap="flat" cmpd="sng" algn="ctr">
                      <a:solidFill>
                        <a:srgbClr val="103900"/>
                      </a:solidFill>
                      <a:prstDash val="solid"/>
                      <a:round/>
                      <a:headEnd type="none" w="med" len="med"/>
                      <a:tailEnd type="none" w="med" len="med"/>
                    </a:lnR>
                    <a:lnT w="12700" cap="flat" cmpd="sng" algn="ctr">
                      <a:solidFill>
                        <a:srgbClr val="D02D00"/>
                      </a:solidFill>
                      <a:prstDash val="solid"/>
                      <a:round/>
                      <a:headEnd type="none" w="med" len="med"/>
                      <a:tailEnd type="none" w="med" len="med"/>
                    </a:lnT>
                    <a:lnB w="12700" cap="flat" cmpd="sng" algn="ctr">
                      <a:solidFill>
                        <a:srgbClr val="B06500"/>
                      </a:solidFill>
                      <a:prstDash val="solid"/>
                      <a:round/>
                      <a:headEnd type="none" w="med" len="med"/>
                      <a:tailEnd type="none" w="med" len="med"/>
                    </a:lnB>
                    <a:solidFill>
                      <a:srgbClr val="FFFFFF"/>
                    </a:solidFill>
                  </a:tcPr>
                </a:tc>
                <a:tc>
                  <a:txBody>
                    <a:bodyPr/>
                    <a:lstStyle/>
                    <a:p>
                      <a:pPr fontAlgn="base"/>
                      <a:r>
                        <a:rPr lang="en-US" sz="1800" dirty="0">
                          <a:effectLst/>
                          <a:latin typeface="Palatino Linotype" panose="02040502050505030304" pitchFamily="18" charset="0"/>
                        </a:rPr>
                        <a:t>In compile-time polymorphism, the call is resolved at compile time.</a:t>
                      </a:r>
                    </a:p>
                  </a:txBody>
                  <a:tcPr marL="46238" marR="46238" marT="23119" marB="23119" anchor="ctr">
                    <a:lnL w="9525" cap="flat" cmpd="sng" algn="ctr">
                      <a:solidFill>
                        <a:srgbClr val="103900"/>
                      </a:solidFill>
                      <a:prstDash val="solid"/>
                      <a:round/>
                      <a:headEnd type="none" w="med" len="med"/>
                      <a:tailEnd type="none" w="med" len="med"/>
                    </a:lnL>
                    <a:lnR w="9525" cap="flat" cmpd="sng" algn="ctr">
                      <a:solidFill>
                        <a:srgbClr val="004C00"/>
                      </a:solidFill>
                      <a:prstDash val="solid"/>
                      <a:round/>
                      <a:headEnd type="none" w="med" len="med"/>
                      <a:tailEnd type="none" w="med" len="med"/>
                    </a:lnR>
                    <a:lnT w="12700" cap="flat" cmpd="sng" algn="ctr">
                      <a:solidFill>
                        <a:srgbClr val="103900"/>
                      </a:solidFill>
                      <a:prstDash val="solid"/>
                      <a:round/>
                      <a:headEnd type="none" w="med" len="med"/>
                      <a:tailEnd type="none" w="med" len="med"/>
                    </a:lnT>
                    <a:lnB w="12700" cap="flat" cmpd="sng" algn="ctr">
                      <a:solidFill>
                        <a:srgbClr val="002B00"/>
                      </a:solidFill>
                      <a:prstDash val="solid"/>
                      <a:round/>
                      <a:headEnd type="none" w="med" len="med"/>
                      <a:tailEnd type="none" w="med" len="med"/>
                    </a:lnB>
                    <a:solidFill>
                      <a:srgbClr val="FFFFFF"/>
                    </a:solidFill>
                  </a:tcPr>
                </a:tc>
                <a:tc>
                  <a:txBody>
                    <a:bodyPr/>
                    <a:lstStyle/>
                    <a:p>
                      <a:pPr fontAlgn="base"/>
                      <a:r>
                        <a:rPr lang="en-US" sz="1800">
                          <a:effectLst/>
                          <a:latin typeface="Palatino Linotype" panose="02040502050505030304" pitchFamily="18" charset="0"/>
                        </a:rPr>
                        <a:t>In runtime polymorphism, the call is not resolved by the compiler.</a:t>
                      </a:r>
                    </a:p>
                  </a:txBody>
                  <a:tcPr marL="46238" marR="46238" marT="23119" marB="23119" anchor="ctr">
                    <a:lnL w="9525" cap="flat" cmpd="sng" algn="ctr">
                      <a:solidFill>
                        <a:srgbClr val="004C00"/>
                      </a:solidFill>
                      <a:prstDash val="solid"/>
                      <a:round/>
                      <a:headEnd type="none" w="med" len="med"/>
                      <a:tailEnd type="none" w="med" len="med"/>
                    </a:lnL>
                    <a:lnR w="9525" cap="flat" cmpd="sng" algn="ctr">
                      <a:solidFill>
                        <a:srgbClr val="004C00"/>
                      </a:solidFill>
                      <a:prstDash val="solid"/>
                      <a:round/>
                      <a:headEnd type="none" w="med" len="med"/>
                      <a:tailEnd type="none" w="med" len="med"/>
                    </a:lnR>
                    <a:lnT w="12700" cap="flat" cmpd="sng" algn="ctr">
                      <a:solidFill>
                        <a:srgbClr val="004C00"/>
                      </a:solidFill>
                      <a:prstDash val="solid"/>
                      <a:round/>
                      <a:headEnd type="none" w="med" len="med"/>
                      <a:tailEnd type="none" w="med" len="med"/>
                    </a:lnT>
                    <a:lnB w="12700" cap="flat" cmpd="sng" algn="ctr">
                      <a:solidFill>
                        <a:srgbClr val="9049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5085">
                <a:tc>
                  <a:txBody>
                    <a:bodyPr/>
                    <a:lstStyle/>
                    <a:p>
                      <a:pPr fontAlgn="base"/>
                      <a:r>
                        <a:rPr lang="en-US" sz="1800" b="1">
                          <a:effectLst/>
                          <a:latin typeface="Palatino Linotype" panose="02040502050505030304" pitchFamily="18" charset="0"/>
                        </a:rPr>
                        <a:t>Binding</a:t>
                      </a:r>
                      <a:endParaRPr lang="en-US" sz="1800">
                        <a:effectLst/>
                        <a:latin typeface="Palatino Linotype" panose="02040502050505030304" pitchFamily="18" charset="0"/>
                      </a:endParaRPr>
                    </a:p>
                  </a:txBody>
                  <a:tcPr marL="46238" marR="46238" marT="23119" marB="23119" anchor="ctr">
                    <a:lnL w="9525" cap="flat" cmpd="sng" algn="ctr">
                      <a:solidFill>
                        <a:srgbClr val="B06500"/>
                      </a:solidFill>
                      <a:prstDash val="solid"/>
                      <a:round/>
                      <a:headEnd type="none" w="med" len="med"/>
                      <a:tailEnd type="none" w="med" len="med"/>
                    </a:lnL>
                    <a:lnR w="9525" cap="flat" cmpd="sng" algn="ctr">
                      <a:solidFill>
                        <a:srgbClr val="002B00"/>
                      </a:solidFill>
                      <a:prstDash val="solid"/>
                      <a:round/>
                      <a:headEnd type="none" w="med" len="med"/>
                      <a:tailEnd type="none" w="med" len="med"/>
                    </a:lnR>
                    <a:lnT w="12700" cap="flat" cmpd="sng" algn="ctr">
                      <a:solidFill>
                        <a:srgbClr val="B06500"/>
                      </a:solidFill>
                      <a:prstDash val="solid"/>
                      <a:round/>
                      <a:headEnd type="none" w="med" len="med"/>
                      <a:tailEnd type="none" w="med" len="med"/>
                    </a:lnT>
                    <a:lnB w="12700" cap="flat" cmpd="sng" algn="ctr">
                      <a:solidFill>
                        <a:srgbClr val="C06400"/>
                      </a:solidFill>
                      <a:prstDash val="solid"/>
                      <a:round/>
                      <a:headEnd type="none" w="med" len="med"/>
                      <a:tailEnd type="none" w="med" len="med"/>
                    </a:lnB>
                    <a:solidFill>
                      <a:srgbClr val="FFFFFF"/>
                    </a:solidFill>
                  </a:tcPr>
                </a:tc>
                <a:tc>
                  <a:txBody>
                    <a:bodyPr/>
                    <a:lstStyle/>
                    <a:p>
                      <a:pPr fontAlgn="base"/>
                      <a:r>
                        <a:rPr lang="en-US" sz="1800">
                          <a:effectLst/>
                          <a:latin typeface="Palatino Linotype" panose="02040502050505030304" pitchFamily="18" charset="0"/>
                        </a:rPr>
                        <a:t>It is also known as static binding, early binding, or overloading.</a:t>
                      </a:r>
                    </a:p>
                  </a:txBody>
                  <a:tcPr marL="46238" marR="46238" marT="23119" marB="23119" anchor="ctr">
                    <a:lnL w="9525" cap="flat" cmpd="sng" algn="ctr">
                      <a:solidFill>
                        <a:srgbClr val="002B00"/>
                      </a:solidFill>
                      <a:prstDash val="solid"/>
                      <a:round/>
                      <a:headEnd type="none" w="med" len="med"/>
                      <a:tailEnd type="none" w="med" len="med"/>
                    </a:lnL>
                    <a:lnR w="9525" cap="flat" cmpd="sng" algn="ctr">
                      <a:solidFill>
                        <a:srgbClr val="904900"/>
                      </a:solidFill>
                      <a:prstDash val="solid"/>
                      <a:round/>
                      <a:headEnd type="none" w="med" len="med"/>
                      <a:tailEnd type="none" w="med" len="med"/>
                    </a:lnR>
                    <a:lnT w="12700" cap="flat" cmpd="sng" algn="ctr">
                      <a:solidFill>
                        <a:srgbClr val="002B00"/>
                      </a:solidFill>
                      <a:prstDash val="solid"/>
                      <a:round/>
                      <a:headEnd type="none" w="med" len="med"/>
                      <a:tailEnd type="none" w="med" len="med"/>
                    </a:lnT>
                    <a:lnB w="12700" cap="flat" cmpd="sng" algn="ctr">
                      <a:solidFill>
                        <a:srgbClr val="103F00"/>
                      </a:solidFill>
                      <a:prstDash val="solid"/>
                      <a:round/>
                      <a:headEnd type="none" w="med" len="med"/>
                      <a:tailEnd type="none" w="med" len="med"/>
                    </a:lnB>
                    <a:solidFill>
                      <a:srgbClr val="FFFFFF"/>
                    </a:solidFill>
                  </a:tcPr>
                </a:tc>
                <a:tc>
                  <a:txBody>
                    <a:bodyPr/>
                    <a:lstStyle/>
                    <a:p>
                      <a:pPr fontAlgn="base"/>
                      <a:r>
                        <a:rPr lang="en-US" sz="1800">
                          <a:effectLst/>
                          <a:latin typeface="Palatino Linotype" panose="02040502050505030304" pitchFamily="18" charset="0"/>
                        </a:rPr>
                        <a:t>It is also known as dynamic binding, late binding, or overriding.</a:t>
                      </a:r>
                    </a:p>
                  </a:txBody>
                  <a:tcPr marL="46238" marR="46238" marT="23119" marB="23119" anchor="ctr">
                    <a:lnL w="9525" cap="flat" cmpd="sng" algn="ctr">
                      <a:solidFill>
                        <a:srgbClr val="904900"/>
                      </a:solidFill>
                      <a:prstDash val="solid"/>
                      <a:round/>
                      <a:headEnd type="none" w="med" len="med"/>
                      <a:tailEnd type="none" w="med" len="med"/>
                    </a:lnL>
                    <a:lnR w="9525" cap="flat" cmpd="sng" algn="ctr">
                      <a:solidFill>
                        <a:srgbClr val="904900"/>
                      </a:solidFill>
                      <a:prstDash val="solid"/>
                      <a:round/>
                      <a:headEnd type="none" w="med" len="med"/>
                      <a:tailEnd type="none" w="med" len="med"/>
                    </a:lnR>
                    <a:lnT w="12700" cap="flat" cmpd="sng" algn="ctr">
                      <a:solidFill>
                        <a:srgbClr val="904900"/>
                      </a:solidFill>
                      <a:prstDash val="solid"/>
                      <a:round/>
                      <a:headEnd type="none" w="med" len="med"/>
                      <a:tailEnd type="none" w="med" len="med"/>
                    </a:lnT>
                    <a:lnB w="12700" cap="flat" cmpd="sng" algn="ctr">
                      <a:solidFill>
                        <a:srgbClr val="8056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60913">
                <a:tc>
                  <a:txBody>
                    <a:bodyPr/>
                    <a:lstStyle/>
                    <a:p>
                      <a:pPr fontAlgn="base"/>
                      <a:r>
                        <a:rPr lang="en-US" sz="1800" b="1">
                          <a:effectLst/>
                          <a:latin typeface="Palatino Linotype" panose="02040502050505030304" pitchFamily="18" charset="0"/>
                        </a:rPr>
                        <a:t>Method Overloading/Overriding</a:t>
                      </a:r>
                      <a:endParaRPr lang="en-US" sz="1800">
                        <a:effectLst/>
                        <a:latin typeface="Palatino Linotype" panose="02040502050505030304" pitchFamily="18" charset="0"/>
                      </a:endParaRPr>
                    </a:p>
                  </a:txBody>
                  <a:tcPr marL="46238" marR="46238" marT="23119" marB="23119" anchor="ctr">
                    <a:lnL w="9525" cap="flat" cmpd="sng" algn="ctr">
                      <a:solidFill>
                        <a:srgbClr val="C06400"/>
                      </a:solidFill>
                      <a:prstDash val="solid"/>
                      <a:round/>
                      <a:headEnd type="none" w="med" len="med"/>
                      <a:tailEnd type="none" w="med" len="med"/>
                    </a:lnL>
                    <a:lnR w="9525" cap="flat" cmpd="sng" algn="ctr">
                      <a:solidFill>
                        <a:srgbClr val="103F00"/>
                      </a:solidFill>
                      <a:prstDash val="solid"/>
                      <a:round/>
                      <a:headEnd type="none" w="med" len="med"/>
                      <a:tailEnd type="none" w="med" len="med"/>
                    </a:lnR>
                    <a:lnT w="12700" cap="flat" cmpd="sng" algn="ctr">
                      <a:solidFill>
                        <a:srgbClr val="C06400"/>
                      </a:solidFill>
                      <a:prstDash val="solid"/>
                      <a:round/>
                      <a:headEnd type="none" w="med" len="med"/>
                      <a:tailEnd type="none" w="med" len="med"/>
                    </a:lnT>
                    <a:lnB w="12700" cap="flat" cmpd="sng" algn="ctr">
                      <a:solidFill>
                        <a:srgbClr val="404200"/>
                      </a:solidFill>
                      <a:prstDash val="solid"/>
                      <a:round/>
                      <a:headEnd type="none" w="med" len="med"/>
                      <a:tailEnd type="none" w="med" len="med"/>
                    </a:lnB>
                    <a:solidFill>
                      <a:srgbClr val="FFFFFF"/>
                    </a:solidFill>
                  </a:tcPr>
                </a:tc>
                <a:tc>
                  <a:txBody>
                    <a:bodyPr/>
                    <a:lstStyle/>
                    <a:p>
                      <a:pPr fontAlgn="base"/>
                      <a:r>
                        <a:rPr lang="en-US" sz="1800">
                          <a:effectLst/>
                          <a:latin typeface="Palatino Linotype" panose="02040502050505030304" pitchFamily="18" charset="0"/>
                        </a:rPr>
                        <a:t>Achieved by using the same method name but with different arguments or parameters in the same or different scope.</a:t>
                      </a:r>
                    </a:p>
                  </a:txBody>
                  <a:tcPr marL="46238" marR="46238" marT="23119" marB="23119" anchor="ctr">
                    <a:lnL w="9525" cap="flat" cmpd="sng" algn="ctr">
                      <a:solidFill>
                        <a:srgbClr val="103F00"/>
                      </a:solidFill>
                      <a:prstDash val="solid"/>
                      <a:round/>
                      <a:headEnd type="none" w="med" len="med"/>
                      <a:tailEnd type="none" w="med" len="med"/>
                    </a:lnL>
                    <a:lnR w="9525" cap="flat" cmpd="sng" algn="ctr">
                      <a:solidFill>
                        <a:srgbClr val="805600"/>
                      </a:solidFill>
                      <a:prstDash val="solid"/>
                      <a:round/>
                      <a:headEnd type="none" w="med" len="med"/>
                      <a:tailEnd type="none" w="med" len="med"/>
                    </a:lnR>
                    <a:lnT w="12700" cap="flat" cmpd="sng" algn="ctr">
                      <a:solidFill>
                        <a:srgbClr val="103F00"/>
                      </a:solidFill>
                      <a:prstDash val="solid"/>
                      <a:round/>
                      <a:headEnd type="none" w="med" len="med"/>
                      <a:tailEnd type="none" w="med" len="med"/>
                    </a:lnT>
                    <a:lnB w="12700" cap="flat" cmpd="sng" algn="ctr">
                      <a:solidFill>
                        <a:srgbClr val="B06500"/>
                      </a:solidFill>
                      <a:prstDash val="solid"/>
                      <a:round/>
                      <a:headEnd type="none" w="med" len="med"/>
                      <a:tailEnd type="none" w="med" len="med"/>
                    </a:lnB>
                    <a:solidFill>
                      <a:srgbClr val="FFFFFF"/>
                    </a:solidFill>
                  </a:tcPr>
                </a:tc>
                <a:tc>
                  <a:txBody>
                    <a:bodyPr/>
                    <a:lstStyle/>
                    <a:p>
                      <a:pPr fontAlgn="base"/>
                      <a:r>
                        <a:rPr lang="en-US" sz="1800" dirty="0">
                          <a:effectLst/>
                          <a:latin typeface="Palatino Linotype" panose="02040502050505030304" pitchFamily="18" charset="0"/>
                        </a:rPr>
                        <a:t>Achieved by overriding methods in the derived classes to suit their requirements.</a:t>
                      </a:r>
                    </a:p>
                  </a:txBody>
                  <a:tcPr marL="46238" marR="46238" marT="23119" marB="23119" anchor="ctr">
                    <a:lnL w="9525" cap="flat" cmpd="sng" algn="ctr">
                      <a:solidFill>
                        <a:srgbClr val="805600"/>
                      </a:solidFill>
                      <a:prstDash val="solid"/>
                      <a:round/>
                      <a:headEnd type="none" w="med" len="med"/>
                      <a:tailEnd type="none" w="med" len="med"/>
                    </a:lnL>
                    <a:lnR w="9525" cap="flat" cmpd="sng" algn="ctr">
                      <a:solidFill>
                        <a:srgbClr val="805600"/>
                      </a:solidFill>
                      <a:prstDash val="solid"/>
                      <a:round/>
                      <a:headEnd type="none" w="med" len="med"/>
                      <a:tailEnd type="none" w="med" len="med"/>
                    </a:lnR>
                    <a:lnT w="12700" cap="flat" cmpd="sng" algn="ctr">
                      <a:solidFill>
                        <a:srgbClr val="805600"/>
                      </a:solidFill>
                      <a:prstDash val="solid"/>
                      <a:round/>
                      <a:headEnd type="none" w="med" len="med"/>
                      <a:tailEnd type="none" w="med" len="med"/>
                    </a:lnT>
                    <a:lnB w="12700" cap="flat" cmpd="sng" algn="ctr">
                      <a:solidFill>
                        <a:srgbClr val="7045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3142">
                <a:tc>
                  <a:txBody>
                    <a:bodyPr/>
                    <a:lstStyle/>
                    <a:p>
                      <a:pPr fontAlgn="base"/>
                      <a:r>
                        <a:rPr lang="en-US" sz="1800" b="1">
                          <a:effectLst/>
                          <a:latin typeface="Palatino Linotype" panose="02040502050505030304" pitchFamily="18" charset="0"/>
                        </a:rPr>
                        <a:t>Techniques</a:t>
                      </a:r>
                      <a:endParaRPr lang="en-US" sz="1800">
                        <a:effectLst/>
                        <a:latin typeface="Palatino Linotype" panose="02040502050505030304" pitchFamily="18" charset="0"/>
                      </a:endParaRPr>
                    </a:p>
                  </a:txBody>
                  <a:tcPr marL="46238" marR="46238" marT="23119" marB="23119" anchor="ctr">
                    <a:lnL w="9525" cap="flat" cmpd="sng" algn="ctr">
                      <a:solidFill>
                        <a:srgbClr val="404200"/>
                      </a:solidFill>
                      <a:prstDash val="solid"/>
                      <a:round/>
                      <a:headEnd type="none" w="med" len="med"/>
                      <a:tailEnd type="none" w="med" len="med"/>
                    </a:lnL>
                    <a:lnR w="9525" cap="flat" cmpd="sng" algn="ctr">
                      <a:solidFill>
                        <a:srgbClr val="B06500"/>
                      </a:solidFill>
                      <a:prstDash val="solid"/>
                      <a:round/>
                      <a:headEnd type="none" w="med" len="med"/>
                      <a:tailEnd type="none" w="med" len="med"/>
                    </a:lnR>
                    <a:lnT w="12700" cap="flat" cmpd="sng" algn="ctr">
                      <a:solidFill>
                        <a:srgbClr val="404200"/>
                      </a:solidFill>
                      <a:prstDash val="solid"/>
                      <a:round/>
                      <a:headEnd type="none" w="med" len="med"/>
                      <a:tailEnd type="none" w="med" len="med"/>
                    </a:lnT>
                    <a:lnB w="12700" cap="flat" cmpd="sng" algn="ctr">
                      <a:solidFill>
                        <a:srgbClr val="304C00"/>
                      </a:solidFill>
                      <a:prstDash val="solid"/>
                      <a:round/>
                      <a:headEnd type="none" w="med" len="med"/>
                      <a:tailEnd type="none" w="med" len="med"/>
                    </a:lnB>
                    <a:solidFill>
                      <a:srgbClr val="FFFFFF"/>
                    </a:solidFill>
                  </a:tcPr>
                </a:tc>
                <a:tc>
                  <a:txBody>
                    <a:bodyPr/>
                    <a:lstStyle/>
                    <a:p>
                      <a:pPr fontAlgn="base"/>
                      <a:r>
                        <a:rPr lang="en-US" sz="1800">
                          <a:effectLst/>
                          <a:latin typeface="Palatino Linotype" panose="02040502050505030304" pitchFamily="18" charset="0"/>
                        </a:rPr>
                        <a:t>Achieved by function overloading and operator overloading.</a:t>
                      </a:r>
                    </a:p>
                  </a:txBody>
                  <a:tcPr marL="46238" marR="46238" marT="23119" marB="23119" anchor="ctr">
                    <a:lnL w="9525" cap="flat" cmpd="sng" algn="ctr">
                      <a:solidFill>
                        <a:srgbClr val="B06500"/>
                      </a:solidFill>
                      <a:prstDash val="solid"/>
                      <a:round/>
                      <a:headEnd type="none" w="med" len="med"/>
                      <a:tailEnd type="none" w="med" len="med"/>
                    </a:lnL>
                    <a:lnR w="9525" cap="flat" cmpd="sng" algn="ctr">
                      <a:solidFill>
                        <a:srgbClr val="704500"/>
                      </a:solidFill>
                      <a:prstDash val="solid"/>
                      <a:round/>
                      <a:headEnd type="none" w="med" len="med"/>
                      <a:tailEnd type="none" w="med" len="med"/>
                    </a:lnR>
                    <a:lnT w="12700" cap="flat" cmpd="sng" algn="ctr">
                      <a:solidFill>
                        <a:srgbClr val="B06500"/>
                      </a:solidFill>
                      <a:prstDash val="solid"/>
                      <a:round/>
                      <a:headEnd type="none" w="med" len="med"/>
                      <a:tailEnd type="none" w="med" len="med"/>
                    </a:lnT>
                    <a:lnB w="12700" cap="flat" cmpd="sng" algn="ctr">
                      <a:solidFill>
                        <a:srgbClr val="303100"/>
                      </a:solidFill>
                      <a:prstDash val="solid"/>
                      <a:round/>
                      <a:headEnd type="none" w="med" len="med"/>
                      <a:tailEnd type="none" w="med" len="med"/>
                    </a:lnB>
                    <a:solidFill>
                      <a:srgbClr val="FFFFFF"/>
                    </a:solidFill>
                  </a:tcPr>
                </a:tc>
                <a:tc>
                  <a:txBody>
                    <a:bodyPr/>
                    <a:lstStyle/>
                    <a:p>
                      <a:pPr fontAlgn="base"/>
                      <a:r>
                        <a:rPr lang="en-US" sz="1800">
                          <a:effectLst/>
                          <a:latin typeface="Palatino Linotype" panose="02040502050505030304" pitchFamily="18" charset="0"/>
                        </a:rPr>
                        <a:t>Achieved by virtual functions and pointers.</a:t>
                      </a:r>
                    </a:p>
                  </a:txBody>
                  <a:tcPr marL="46238" marR="46238" marT="23119" marB="23119" anchor="ctr">
                    <a:lnL w="9525" cap="flat" cmpd="sng" algn="ctr">
                      <a:solidFill>
                        <a:srgbClr val="704500"/>
                      </a:solidFill>
                      <a:prstDash val="solid"/>
                      <a:round/>
                      <a:headEnd type="none" w="med" len="med"/>
                      <a:tailEnd type="none" w="med" len="med"/>
                    </a:lnL>
                    <a:lnR w="9525" cap="flat" cmpd="sng" algn="ctr">
                      <a:solidFill>
                        <a:srgbClr val="704500"/>
                      </a:solidFill>
                      <a:prstDash val="solid"/>
                      <a:round/>
                      <a:headEnd type="none" w="med" len="med"/>
                      <a:tailEnd type="none" w="med" len="med"/>
                    </a:lnR>
                    <a:lnT w="12700" cap="flat" cmpd="sng" algn="ctr">
                      <a:solidFill>
                        <a:srgbClr val="704500"/>
                      </a:solidFill>
                      <a:prstDash val="solid"/>
                      <a:round/>
                      <a:headEnd type="none" w="med" len="med"/>
                      <a:tailEnd type="none" w="med" len="med"/>
                    </a:lnT>
                    <a:lnB w="12700" cap="flat" cmpd="sng" algn="ctr">
                      <a:solidFill>
                        <a:srgbClr val="E014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260913">
                <a:tc>
                  <a:txBody>
                    <a:bodyPr/>
                    <a:lstStyle/>
                    <a:p>
                      <a:pPr fontAlgn="base"/>
                      <a:r>
                        <a:rPr lang="en-US" sz="1800" b="1">
                          <a:effectLst/>
                          <a:latin typeface="Palatino Linotype" panose="02040502050505030304" pitchFamily="18" charset="0"/>
                        </a:rPr>
                        <a:t>Execution Speed</a:t>
                      </a:r>
                      <a:endParaRPr lang="en-US" sz="1800">
                        <a:effectLst/>
                        <a:latin typeface="Palatino Linotype" panose="02040502050505030304" pitchFamily="18" charset="0"/>
                      </a:endParaRPr>
                    </a:p>
                  </a:txBody>
                  <a:tcPr marL="46238" marR="46238" marT="23119" marB="23119" anchor="ctr">
                    <a:lnL w="9525" cap="flat" cmpd="sng" algn="ctr">
                      <a:solidFill>
                        <a:srgbClr val="304C00"/>
                      </a:solidFill>
                      <a:prstDash val="solid"/>
                      <a:round/>
                      <a:headEnd type="none" w="med" len="med"/>
                      <a:tailEnd type="none" w="med" len="med"/>
                    </a:lnL>
                    <a:lnR w="9525" cap="flat" cmpd="sng" algn="ctr">
                      <a:solidFill>
                        <a:srgbClr val="303100"/>
                      </a:solidFill>
                      <a:prstDash val="solid"/>
                      <a:round/>
                      <a:headEnd type="none" w="med" len="med"/>
                      <a:tailEnd type="none" w="med" len="med"/>
                    </a:lnR>
                    <a:lnT w="12700" cap="flat" cmpd="sng" algn="ctr">
                      <a:solidFill>
                        <a:srgbClr val="304C00"/>
                      </a:solidFill>
                      <a:prstDash val="solid"/>
                      <a:round/>
                      <a:headEnd type="none" w="med" len="med"/>
                      <a:tailEnd type="none" w="med" len="med"/>
                    </a:lnT>
                    <a:lnB w="9525" cap="flat" cmpd="sng" algn="ctr">
                      <a:solidFill>
                        <a:srgbClr val="304C00"/>
                      </a:solidFill>
                      <a:prstDash val="solid"/>
                      <a:round/>
                      <a:headEnd type="none" w="med" len="med"/>
                      <a:tailEnd type="none" w="med" len="med"/>
                    </a:lnB>
                    <a:solidFill>
                      <a:srgbClr val="FFFFFF"/>
                    </a:solidFill>
                  </a:tcPr>
                </a:tc>
                <a:tc>
                  <a:txBody>
                    <a:bodyPr/>
                    <a:lstStyle/>
                    <a:p>
                      <a:pPr fontAlgn="base"/>
                      <a:r>
                        <a:rPr lang="en-US" sz="1800">
                          <a:effectLst/>
                          <a:latin typeface="Palatino Linotype" panose="02040502050505030304" pitchFamily="18" charset="0"/>
                        </a:rPr>
                        <a:t>Provides fast execution because the method to be executed is known early at compile time.</a:t>
                      </a:r>
                    </a:p>
                  </a:txBody>
                  <a:tcPr marL="46238" marR="46238" marT="23119" marB="23119" anchor="ctr">
                    <a:lnL w="9525" cap="flat" cmpd="sng" algn="ctr">
                      <a:solidFill>
                        <a:srgbClr val="303100"/>
                      </a:solidFill>
                      <a:prstDash val="solid"/>
                      <a:round/>
                      <a:headEnd type="none" w="med" len="med"/>
                      <a:tailEnd type="none" w="med" len="med"/>
                    </a:lnL>
                    <a:lnR w="9525" cap="flat" cmpd="sng" algn="ctr">
                      <a:solidFill>
                        <a:srgbClr val="E01400"/>
                      </a:solidFill>
                      <a:prstDash val="solid"/>
                      <a:round/>
                      <a:headEnd type="none" w="med" len="med"/>
                      <a:tailEnd type="none" w="med" len="med"/>
                    </a:lnR>
                    <a:lnT w="12700" cap="flat" cmpd="sng" algn="ctr">
                      <a:solidFill>
                        <a:srgbClr val="303100"/>
                      </a:solidFill>
                      <a:prstDash val="solid"/>
                      <a:round/>
                      <a:headEnd type="none" w="med" len="med"/>
                      <a:tailEnd type="none" w="med" len="med"/>
                    </a:lnT>
                    <a:lnB w="9525" cap="flat" cmpd="sng" algn="ctr">
                      <a:solidFill>
                        <a:srgbClr val="303100"/>
                      </a:solidFill>
                      <a:prstDash val="solid"/>
                      <a:round/>
                      <a:headEnd type="none" w="med" len="med"/>
                      <a:tailEnd type="none" w="med" len="med"/>
                    </a:lnB>
                    <a:solidFill>
                      <a:srgbClr val="FFFFFF"/>
                    </a:solidFill>
                  </a:tcPr>
                </a:tc>
                <a:tc>
                  <a:txBody>
                    <a:bodyPr/>
                    <a:lstStyle/>
                    <a:p>
                      <a:pPr fontAlgn="base"/>
                      <a:r>
                        <a:rPr lang="en-US" sz="1800" dirty="0">
                          <a:effectLst/>
                          <a:latin typeface="Palatino Linotype" panose="02040502050505030304" pitchFamily="18" charset="0"/>
                        </a:rPr>
                        <a:t>Provides slow execution as compared to compile-time polymorphism because the method to be executed is known at runtime.</a:t>
                      </a:r>
                    </a:p>
                  </a:txBody>
                  <a:tcPr marL="46238" marR="46238" marT="23119" marB="23119" anchor="ctr">
                    <a:lnL w="9525" cap="flat" cmpd="sng" algn="ctr">
                      <a:solidFill>
                        <a:srgbClr val="E01400"/>
                      </a:solidFill>
                      <a:prstDash val="solid"/>
                      <a:round/>
                      <a:headEnd type="none" w="med" len="med"/>
                      <a:tailEnd type="none" w="med" len="med"/>
                    </a:lnL>
                    <a:lnR w="9525" cap="flat" cmpd="sng" algn="ctr">
                      <a:solidFill>
                        <a:srgbClr val="E01400"/>
                      </a:solidFill>
                      <a:prstDash val="solid"/>
                      <a:round/>
                      <a:headEnd type="none" w="med" len="med"/>
                      <a:tailEnd type="none" w="med" len="med"/>
                    </a:lnR>
                    <a:lnT w="12700" cap="flat" cmpd="sng" algn="ctr">
                      <a:solidFill>
                        <a:srgbClr val="E01400"/>
                      </a:solidFill>
                      <a:prstDash val="solid"/>
                      <a:round/>
                      <a:headEnd type="none" w="med" len="med"/>
                      <a:tailEnd type="none" w="med" len="med"/>
                    </a:lnT>
                    <a:lnB w="9525" cap="flat" cmpd="sng" algn="ctr">
                      <a:solidFill>
                        <a:srgbClr val="E014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0046" y="132522"/>
            <a:ext cx="10058400" cy="1258957"/>
          </a:xfrm>
        </p:spPr>
        <p:txBody>
          <a:bodyPr>
            <a:normAutofit/>
          </a:bodyPr>
          <a:lstStyle/>
          <a:p>
            <a:pPr algn="ctr"/>
            <a:r>
              <a:rPr lang="en-US" sz="4000" b="1" dirty="0" smtClean="0">
                <a:solidFill>
                  <a:srgbClr val="00B0F0"/>
                </a:solidFill>
                <a:latin typeface="Palatino Linotype" panose="02040502050505030304" pitchFamily="18" charset="0"/>
              </a:rPr>
              <a:t>Function Overloading vs </a:t>
            </a:r>
            <a:br>
              <a:rPr lang="en-US" sz="4000" b="1" dirty="0" smtClean="0">
                <a:solidFill>
                  <a:srgbClr val="00B0F0"/>
                </a:solidFill>
                <a:latin typeface="Palatino Linotype" panose="02040502050505030304" pitchFamily="18" charset="0"/>
              </a:rPr>
            </a:br>
            <a:r>
              <a:rPr lang="en-US" sz="4000" b="1" dirty="0" smtClean="0">
                <a:solidFill>
                  <a:srgbClr val="00B0F0"/>
                </a:solidFill>
                <a:latin typeface="Palatino Linotype" panose="02040502050505030304" pitchFamily="18" charset="0"/>
              </a:rPr>
              <a:t>Function Overriding</a:t>
            </a:r>
            <a:endParaRPr lang="en-US" sz="4000" b="1" dirty="0">
              <a:solidFill>
                <a:srgbClr val="00B0F0"/>
              </a:solidFill>
              <a:latin typeface="Palatino Linotype" panose="02040502050505030304" pitchFamily="18" charset="0"/>
            </a:endParaRPr>
          </a:p>
        </p:txBody>
      </p:sp>
      <p:pic>
        <p:nvPicPr>
          <p:cNvPr id="3" name="Picture 2"/>
          <p:cNvPicPr>
            <a:picLocks noChangeAspect="1"/>
          </p:cNvPicPr>
          <p:nvPr/>
        </p:nvPicPr>
        <p:blipFill>
          <a:blip r:embed="rId2"/>
          <a:stretch>
            <a:fillRect/>
          </a:stretch>
        </p:blipFill>
        <p:spPr>
          <a:xfrm>
            <a:off x="967410" y="1391479"/>
            <a:ext cx="9992138" cy="54329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227429"/>
            <a:ext cx="12192000" cy="1228725"/>
          </a:xfrm>
          <a:solidFill>
            <a:schemeClr val="bg1"/>
          </a:solidFill>
        </p:spPr>
        <p:txBody>
          <a:bodyPr>
            <a:normAutofit/>
          </a:bodyPr>
          <a:lstStyle/>
          <a:p>
            <a:pPr algn="ctr"/>
            <a:r>
              <a:rPr lang="en-US" sz="4000" b="1" dirty="0" smtClean="0">
                <a:solidFill>
                  <a:schemeClr val="accent1">
                    <a:lumMod val="75000"/>
                  </a:schemeClr>
                </a:solidFill>
                <a:latin typeface="Palatino Linotype" panose="02040502050505030304" pitchFamily="18" charset="0"/>
              </a:rPr>
              <a:t>Virtual Function</a:t>
            </a: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673523" y="2118153"/>
            <a:ext cx="10908877" cy="3816429"/>
          </a:xfrm>
          <a:prstGeom prst="rect">
            <a:avLst/>
          </a:prstGeom>
        </p:spPr>
        <p:txBody>
          <a:bodyPr wrap="square">
            <a:spAutoFit/>
          </a:bodyPr>
          <a:lstStyle/>
          <a:p>
            <a:pPr algn="just" fontAlgn="base"/>
            <a:r>
              <a:rPr lang="en-US" sz="2200" dirty="0">
                <a:latin typeface="Palatino Linotype" panose="02040502050505030304" pitchFamily="18" charset="0"/>
              </a:rPr>
              <a:t>A virtual function (also known as virtual methods) is a member function that is declared within a base class and is re-defined (overridden) by a derived class. When you refer to a derived class object using a pointer or a reference to the base class, you can call a virtual function for that object and execute the derived class’s version of the method.</a:t>
            </a:r>
          </a:p>
          <a:p>
            <a:pPr marL="342900" indent="-342900" algn="just" fontAlgn="base">
              <a:buFont typeface="Arial" panose="020B0604020202020204" pitchFamily="34" charset="0"/>
              <a:buChar char="•"/>
            </a:pPr>
            <a:endParaRPr lang="en-US" sz="2200" dirty="0">
              <a:latin typeface="Palatino Linotype" panose="02040502050505030304" pitchFamily="18" charset="0"/>
            </a:endParaRPr>
          </a:p>
          <a:p>
            <a:pPr marL="1257300" lvl="2" indent="-342900" algn="just" fontAlgn="base">
              <a:buFont typeface="Arial" panose="020B0604020202020204" pitchFamily="34" charset="0"/>
              <a:buChar char="•"/>
            </a:pPr>
            <a:r>
              <a:rPr lang="en-US" sz="2200" dirty="0">
                <a:latin typeface="Palatino Linotype" panose="02040502050505030304" pitchFamily="18" charset="0"/>
              </a:rPr>
              <a:t>Virtual functions ensure that the correct function is called for an object, regardless of the type of reference (or pointer) used for the function call.</a:t>
            </a:r>
          </a:p>
          <a:p>
            <a:pPr marL="1257300" lvl="2" indent="-342900" algn="just" fontAlgn="base">
              <a:buFont typeface="Arial" panose="020B0604020202020204" pitchFamily="34" charset="0"/>
              <a:buChar char="•"/>
            </a:pPr>
            <a:r>
              <a:rPr lang="en-US" sz="2200" dirty="0">
                <a:latin typeface="Palatino Linotype" panose="02040502050505030304" pitchFamily="18" charset="0"/>
              </a:rPr>
              <a:t>They are mainly used to achieve Runtime polymorphism.</a:t>
            </a:r>
          </a:p>
          <a:p>
            <a:pPr marL="1257300" lvl="2" indent="-342900" algn="just" fontAlgn="base">
              <a:buFont typeface="Arial" panose="020B0604020202020204" pitchFamily="34" charset="0"/>
              <a:buChar char="•"/>
            </a:pPr>
            <a:r>
              <a:rPr lang="en-US" sz="2200" dirty="0">
                <a:latin typeface="Palatino Linotype" panose="02040502050505030304" pitchFamily="18" charset="0"/>
              </a:rPr>
              <a:t>Functions are declared with a virtual keyword in a base class.</a:t>
            </a:r>
          </a:p>
          <a:p>
            <a:pPr marL="1257300" lvl="2" indent="-342900" algn="just" fontAlgn="base">
              <a:buFont typeface="Arial" panose="020B0604020202020204" pitchFamily="34" charset="0"/>
              <a:buChar char="•"/>
            </a:pPr>
            <a:r>
              <a:rPr lang="en-US" sz="2200" dirty="0">
                <a:latin typeface="Palatino Linotype" panose="02040502050505030304" pitchFamily="18" charset="0"/>
              </a:rPr>
              <a:t>The resolving of a function call is done at runtime.</a:t>
            </a:r>
            <a:endParaRPr lang="en-US" sz="2200" b="0" i="0" dirty="0">
              <a:effectLst/>
              <a:latin typeface="Palatino Linotype" panose="0204050205050503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661752"/>
            <a:ext cx="12192000" cy="1228725"/>
          </a:xfrm>
          <a:solidFill>
            <a:schemeClr val="bg1"/>
          </a:solidFill>
        </p:spPr>
        <p:txBody>
          <a:bodyPr>
            <a:normAutofit/>
          </a:bodyPr>
          <a:lstStyle/>
          <a:p>
            <a:pPr algn="ctr"/>
            <a:r>
              <a:rPr lang="en-US" sz="4000" b="1" dirty="0">
                <a:solidFill>
                  <a:schemeClr val="accent1">
                    <a:lumMod val="75000"/>
                  </a:schemeClr>
                </a:solidFill>
                <a:latin typeface="Palatino Linotype" panose="02040502050505030304" pitchFamily="18" charset="0"/>
              </a:rPr>
              <a:t>Rules for Virtual Functions</a:t>
            </a:r>
            <a:br>
              <a:rPr lang="en-US" sz="4000" b="1" dirty="0">
                <a:solidFill>
                  <a:schemeClr val="accent1">
                    <a:lumMod val="75000"/>
                  </a:schemeClr>
                </a:solidFill>
                <a:latin typeface="Palatino Linotype" panose="02040502050505030304" pitchFamily="18" charset="0"/>
              </a:rPr>
            </a:b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4" name="Rectangle 3"/>
          <p:cNvSpPr/>
          <p:nvPr/>
        </p:nvSpPr>
        <p:spPr>
          <a:xfrm>
            <a:off x="641561" y="1890477"/>
            <a:ext cx="10908877" cy="3816429"/>
          </a:xfrm>
          <a:prstGeom prst="rect">
            <a:avLst/>
          </a:prstGeom>
        </p:spPr>
        <p:txBody>
          <a:bodyPr wrap="square">
            <a:spAutoFit/>
          </a:bodyPr>
          <a:lstStyle/>
          <a:p>
            <a:pPr algn="just" fontAlgn="base"/>
            <a:r>
              <a:rPr lang="en-US" sz="2200" dirty="0" smtClean="0">
                <a:latin typeface="Palatino Linotype" panose="02040502050505030304" pitchFamily="18" charset="0"/>
              </a:rPr>
              <a:t>The </a:t>
            </a:r>
            <a:r>
              <a:rPr lang="en-US" sz="2200" dirty="0">
                <a:latin typeface="Palatino Linotype" panose="02040502050505030304" pitchFamily="18" charset="0"/>
              </a:rPr>
              <a:t>rules for the virtual functions in C++ are as follows:</a:t>
            </a:r>
          </a:p>
          <a:p>
            <a:pPr marL="342900" indent="-342900" algn="just" fontAlgn="base">
              <a:buFont typeface="Arial" panose="020B0604020202020204" pitchFamily="34" charset="0"/>
              <a:buChar char="•"/>
            </a:pPr>
            <a:endParaRPr lang="en-US" sz="2200" dirty="0">
              <a:latin typeface="Palatino Linotype" panose="02040502050505030304" pitchFamily="18" charset="0"/>
            </a:endParaRPr>
          </a:p>
          <a:p>
            <a:pPr marL="342900" indent="-342900" algn="just" fontAlgn="base">
              <a:buFont typeface="Arial" panose="020B0604020202020204" pitchFamily="34" charset="0"/>
              <a:buChar char="•"/>
            </a:pPr>
            <a:r>
              <a:rPr lang="en-US" sz="2200" dirty="0">
                <a:latin typeface="Palatino Linotype" panose="02040502050505030304" pitchFamily="18" charset="0"/>
              </a:rPr>
              <a:t>Virtual functions cannot be static.</a:t>
            </a:r>
          </a:p>
          <a:p>
            <a:pPr marL="342900" indent="-342900" algn="just" fontAlgn="base">
              <a:buFont typeface="Arial" panose="020B0604020202020204" pitchFamily="34" charset="0"/>
              <a:buChar char="•"/>
            </a:pPr>
            <a:r>
              <a:rPr lang="en-US" sz="2200" dirty="0">
                <a:latin typeface="Palatino Linotype" panose="02040502050505030304" pitchFamily="18" charset="0"/>
              </a:rPr>
              <a:t>A virtual function can be a friend function of another class.</a:t>
            </a:r>
          </a:p>
          <a:p>
            <a:pPr marL="342900" indent="-342900" algn="just" fontAlgn="base">
              <a:buFont typeface="Arial" panose="020B0604020202020204" pitchFamily="34" charset="0"/>
              <a:buChar char="•"/>
            </a:pPr>
            <a:r>
              <a:rPr lang="en-US" sz="2200" dirty="0">
                <a:latin typeface="Palatino Linotype" panose="02040502050505030304" pitchFamily="18" charset="0"/>
              </a:rPr>
              <a:t>Virtual functions should be accessed using a pointer or reference of base class type to achieve runtime polymorphism.</a:t>
            </a:r>
          </a:p>
          <a:p>
            <a:pPr marL="342900" indent="-342900" algn="just" fontAlgn="base">
              <a:buFont typeface="Arial" panose="020B0604020202020204" pitchFamily="34" charset="0"/>
              <a:buChar char="•"/>
            </a:pPr>
            <a:r>
              <a:rPr lang="en-US" sz="2200" dirty="0">
                <a:latin typeface="Palatino Linotype" panose="02040502050505030304" pitchFamily="18" charset="0"/>
              </a:rPr>
              <a:t>The prototype of virtual functions should be the same in the base as well as the derived class.</a:t>
            </a:r>
          </a:p>
          <a:p>
            <a:pPr marL="342900" indent="-342900" algn="just" fontAlgn="base">
              <a:buFont typeface="Arial" panose="020B0604020202020204" pitchFamily="34" charset="0"/>
              <a:buChar char="•"/>
            </a:pPr>
            <a:r>
              <a:rPr lang="en-US" sz="2200" dirty="0">
                <a:latin typeface="Palatino Linotype" panose="02040502050505030304" pitchFamily="18" charset="0"/>
              </a:rPr>
              <a:t>They are always defined in the base class and overridden in a derived class. It is not mandatory for the derived class to override (or re-define the virtual function), in that case, the base class version of the function is </a:t>
            </a:r>
            <a:r>
              <a:rPr lang="en-US" sz="2200">
                <a:latin typeface="Palatino Linotype" panose="02040502050505030304" pitchFamily="18" charset="0"/>
              </a:rPr>
              <a:t>used</a:t>
            </a:r>
            <a:r>
              <a:rPr lang="en-US" sz="2200" smtClean="0">
                <a:latin typeface="Palatino Linotype" panose="02040502050505030304" pitchFamily="18" charset="0"/>
              </a:rPr>
              <a:t>.</a:t>
            </a:r>
            <a:endParaRPr lang="en-US" sz="2200" dirty="0">
              <a:latin typeface="Palatino Linotype" panose="0204050205050503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2706768" y="167919"/>
            <a:ext cx="8872728" cy="1450759"/>
          </a:xfrm>
          <a:prstGeom prst="rect">
            <a:avLst/>
          </a:prstGeom>
          <a:noFill/>
          <a:ln>
            <a:noFill/>
          </a:ln>
        </p:spPr>
        <p:txBody>
          <a:bodyPr vert="horz" wrap="square" lIns="91440" tIns="45720" rIns="91440" bIns="45720" anchor="b" anchorCtr="0" compatLnSpc="1">
            <a:normAutofit/>
          </a:bodyPr>
          <a:lstStyle/>
          <a:p>
            <a:pPr lvl="0"/>
            <a:r>
              <a:rPr lang="en-US" sz="4400" b="1" dirty="0">
                <a:solidFill>
                  <a:srgbClr val="1482AC"/>
                </a:solidFill>
                <a:latin typeface="Palatino Linotype" panose="02040502050505030304" pitchFamily="18" charset="0"/>
                <a:cs typeface="Calibri Light" panose="020F0302020204030204"/>
              </a:rPr>
              <a:t>S</a:t>
            </a:r>
            <a:r>
              <a:rPr lang="en-US" sz="4400" b="1" dirty="0" smtClean="0">
                <a:solidFill>
                  <a:srgbClr val="1482AC"/>
                </a:solidFill>
                <a:latin typeface="Palatino Linotype" panose="02040502050505030304" pitchFamily="18" charset="0"/>
                <a:cs typeface="Calibri Light" panose="020F0302020204030204"/>
              </a:rPr>
              <a:t>tatic </a:t>
            </a:r>
            <a:r>
              <a:rPr lang="en-US" sz="4400" b="1" dirty="0">
                <a:solidFill>
                  <a:srgbClr val="1482AC"/>
                </a:solidFill>
                <a:latin typeface="Palatino Linotype" panose="02040502050505030304" pitchFamily="18" charset="0"/>
                <a:cs typeface="Calibri Light" panose="020F0302020204030204"/>
              </a:rPr>
              <a:t>Member Functions</a:t>
            </a:r>
            <a:r>
              <a:rPr lang="en-US" sz="4400" dirty="0" smtClean="0">
                <a:solidFill>
                  <a:srgbClr val="1482AC"/>
                </a:solidFill>
                <a:cs typeface="Calibri Light" panose="020F0302020204030204"/>
              </a:rPr>
              <a:t/>
            </a:r>
            <a:br>
              <a:rPr lang="en-US" sz="4400" dirty="0" smtClean="0">
                <a:solidFill>
                  <a:srgbClr val="1482AC"/>
                </a:solidFill>
                <a:cs typeface="Calibri Light" panose="020F0302020204030204"/>
              </a:rPr>
            </a:br>
            <a:endParaRPr lang="en-US" sz="4000" b="1" dirty="0">
              <a:solidFill>
                <a:srgbClr val="1482AC"/>
              </a:solidFill>
              <a:latin typeface="Palatino Linotype" panose="02040502050505030304" pitchFamily="18"/>
            </a:endParaRPr>
          </a:p>
        </p:txBody>
      </p:sp>
      <p:sp>
        <p:nvSpPr>
          <p:cNvPr id="3" name="Rectangle 2"/>
          <p:cNvSpPr/>
          <p:nvPr/>
        </p:nvSpPr>
        <p:spPr>
          <a:xfrm flipV="1">
            <a:off x="1945549" y="5165229"/>
            <a:ext cx="8685641" cy="1692771"/>
          </a:xfrm>
          <a:prstGeom prst="rect">
            <a:avLst/>
          </a:prstGeom>
          <a:noFill/>
          <a:ln cap="flat">
            <a:noFill/>
            <a:prstDash val="solid"/>
          </a:ln>
        </p:spPr>
        <p:txBody>
          <a:bodyPr vert="horz" wrap="square" lIns="91440" tIns="45720" rIns="91440" bIns="45720" anchor="t" anchorCtr="0" compatLnSpc="1">
            <a:spAutoFit/>
          </a:bodyPr>
          <a:lstStyle/>
          <a:p>
            <a:pPr marL="457200" indent="-457200" algn="just">
              <a:buFont typeface="Arial" panose="020B0604020202020204" pitchFamily="34" charset="0"/>
              <a:buChar char="•"/>
            </a:pPr>
            <a:endParaRPr lang="en-US" sz="24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4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8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800" b="0" i="0" u="none" strike="noStrike" kern="1200" cap="none" spc="0" baseline="0" dirty="0">
              <a:solidFill>
                <a:srgbClr val="000000"/>
              </a:solidFill>
              <a:uFillTx/>
              <a:latin typeface="Palatino Linotype" panose="02040502050505030304" pitchFamily="18" charset="0"/>
              <a:ea typeface="Calibri" panose="020F0502020204030204"/>
              <a:cs typeface="Calibri" panose="020F0502020204030204"/>
            </a:endParaRPr>
          </a:p>
        </p:txBody>
      </p:sp>
      <p:sp>
        <p:nvSpPr>
          <p:cNvPr id="4" name="Rectangle 1"/>
          <p:cNvSpPr>
            <a:spLocks noChangeArrowheads="1"/>
          </p:cNvSpPr>
          <p:nvPr/>
        </p:nvSpPr>
        <p:spPr bwMode="auto">
          <a:xfrm>
            <a:off x="1945549" y="6843932"/>
            <a:ext cx="1088839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lvl="8" eaLnBrk="0" fontAlgn="base" hangingPunct="0">
              <a:spcBef>
                <a:spcPct val="0"/>
              </a:spcBef>
              <a:spcAft>
                <a:spcPct val="0"/>
              </a:spcAft>
            </a:pPr>
            <a:endParaRPr lang="en-US" altLang="en-US" sz="2000" dirty="0">
              <a:latin typeface="Palatino Linotype" panose="02040502050505030304" pitchFamily="18" charset="0"/>
            </a:endParaRPr>
          </a:p>
        </p:txBody>
      </p:sp>
      <p:sp>
        <p:nvSpPr>
          <p:cNvPr id="5" name="Rectangle 4"/>
          <p:cNvSpPr/>
          <p:nvPr/>
        </p:nvSpPr>
        <p:spPr>
          <a:xfrm>
            <a:off x="633046" y="1378634"/>
            <a:ext cx="10946450" cy="49799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just" eaLnBrk="0" fontAlgn="base" hangingPunct="0">
              <a:spcBef>
                <a:spcPct val="0"/>
              </a:spcBef>
              <a:spcAft>
                <a:spcPct val="0"/>
              </a:spcAft>
              <a:buFontTx/>
              <a:buChar char="•"/>
            </a:pPr>
            <a:r>
              <a:rPr lang="en-US" altLang="en-US" sz="2200" dirty="0">
                <a:solidFill>
                  <a:schemeClr val="tx1"/>
                </a:solidFill>
                <a:latin typeface="Palatino Linotype" panose="02040502050505030304" pitchFamily="18" charset="0"/>
              </a:rPr>
              <a:t>These functions belong to the </a:t>
            </a:r>
            <a:r>
              <a:rPr lang="en-US" altLang="en-US" sz="2200" b="1" dirty="0">
                <a:solidFill>
                  <a:schemeClr val="tx1"/>
                </a:solidFill>
                <a:latin typeface="Palatino Linotype" panose="02040502050505030304" pitchFamily="18" charset="0"/>
              </a:rPr>
              <a:t>class itself</a:t>
            </a:r>
            <a:r>
              <a:rPr lang="en-US" altLang="en-US" sz="2200" dirty="0">
                <a:solidFill>
                  <a:schemeClr val="tx1"/>
                </a:solidFill>
                <a:latin typeface="Palatino Linotype" panose="02040502050505030304" pitchFamily="18" charset="0"/>
              </a:rPr>
              <a:t>, not to any specific object.</a:t>
            </a:r>
          </a:p>
          <a:p>
            <a:pPr lvl="0" algn="just" eaLnBrk="0" fontAlgn="base" hangingPunct="0">
              <a:spcBef>
                <a:spcPct val="0"/>
              </a:spcBef>
              <a:spcAft>
                <a:spcPct val="0"/>
              </a:spcAft>
              <a:buFontTx/>
              <a:buChar char="•"/>
            </a:pPr>
            <a:r>
              <a:rPr lang="en-US" altLang="en-US" sz="2200" dirty="0">
                <a:solidFill>
                  <a:schemeClr val="tx1"/>
                </a:solidFill>
                <a:latin typeface="Palatino Linotype" panose="02040502050505030304" pitchFamily="18" charset="0"/>
              </a:rPr>
              <a:t>They can only access </a:t>
            </a:r>
            <a:r>
              <a:rPr lang="en-US" altLang="en-US" sz="2200" b="1" dirty="0">
                <a:solidFill>
                  <a:schemeClr val="tx1"/>
                </a:solidFill>
                <a:latin typeface="Palatino Linotype" panose="02040502050505030304" pitchFamily="18" charset="0"/>
              </a:rPr>
              <a:t>static members</a:t>
            </a:r>
            <a:r>
              <a:rPr lang="en-US" altLang="en-US" sz="2200" dirty="0">
                <a:solidFill>
                  <a:schemeClr val="tx1"/>
                </a:solidFill>
                <a:latin typeface="Palatino Linotype" panose="02040502050505030304" pitchFamily="18" charset="0"/>
              </a:rPr>
              <a:t> of the class, which are shared among all objects of that class.</a:t>
            </a:r>
          </a:p>
          <a:p>
            <a:pPr lvl="0" algn="just" eaLnBrk="0" fontAlgn="base" hangingPunct="0">
              <a:spcBef>
                <a:spcPct val="0"/>
              </a:spcBef>
              <a:spcAft>
                <a:spcPct val="0"/>
              </a:spcAft>
              <a:buFontTx/>
              <a:buChar char="•"/>
            </a:pPr>
            <a:r>
              <a:rPr lang="en-US" altLang="en-US" sz="2200" b="1" dirty="0">
                <a:solidFill>
                  <a:schemeClr val="tx1"/>
                </a:solidFill>
                <a:latin typeface="Palatino Linotype" panose="02040502050505030304" pitchFamily="18" charset="0"/>
              </a:rPr>
              <a:t>No this pointer</a:t>
            </a:r>
            <a:r>
              <a:rPr lang="en-US" altLang="en-US" sz="2200" dirty="0">
                <a:solidFill>
                  <a:schemeClr val="tx1"/>
                </a:solidFill>
                <a:latin typeface="Palatino Linotype" panose="02040502050505030304" pitchFamily="18" charset="0"/>
              </a:rPr>
              <a:t> is passed because static functions don’t operate on individual object data.</a:t>
            </a:r>
          </a:p>
          <a:p>
            <a:pPr lvl="0" algn="just" eaLnBrk="0" fontAlgn="base" hangingPunct="0">
              <a:spcBef>
                <a:spcPct val="0"/>
              </a:spcBef>
              <a:spcAft>
                <a:spcPct val="0"/>
              </a:spcAft>
              <a:buFontTx/>
              <a:buChar char="•"/>
            </a:pPr>
            <a:r>
              <a:rPr lang="en-US" altLang="en-US" sz="2200" dirty="0">
                <a:solidFill>
                  <a:schemeClr val="tx1"/>
                </a:solidFill>
                <a:latin typeface="Palatino Linotype" panose="02040502050505030304" pitchFamily="18" charset="0"/>
              </a:rPr>
              <a:t>You can call static functions </a:t>
            </a:r>
            <a:r>
              <a:rPr lang="en-US" altLang="en-US" sz="2200" b="1" dirty="0">
                <a:solidFill>
                  <a:schemeClr val="tx1"/>
                </a:solidFill>
                <a:latin typeface="Palatino Linotype" panose="02040502050505030304" pitchFamily="18" charset="0"/>
              </a:rPr>
              <a:t>without creating an object</a:t>
            </a:r>
            <a:r>
              <a:rPr lang="en-US" altLang="en-US" sz="2200" dirty="0">
                <a:solidFill>
                  <a:schemeClr val="tx1"/>
                </a:solidFill>
                <a:latin typeface="Palatino Linotype" panose="02040502050505030304" pitchFamily="18" charset="0"/>
              </a:rPr>
              <a:t>. </a:t>
            </a:r>
          </a:p>
          <a:p>
            <a:pPr lvl="2" algn="just" eaLnBrk="0" fontAlgn="base" hangingPunct="0">
              <a:spcBef>
                <a:spcPct val="0"/>
              </a:spcBef>
              <a:spcAft>
                <a:spcPct val="0"/>
              </a:spcAft>
            </a:pPr>
            <a:r>
              <a:rPr lang="en-US" altLang="en-US" dirty="0">
                <a:solidFill>
                  <a:srgbClr val="C00000"/>
                </a:solidFill>
                <a:latin typeface="Palatino Linotype" panose="02040502050505030304" pitchFamily="18" charset="0"/>
              </a:rPr>
              <a:t>class Car {</a:t>
            </a:r>
          </a:p>
          <a:p>
            <a:pPr lvl="2" algn="just" eaLnBrk="0" fontAlgn="base" hangingPunct="0">
              <a:spcBef>
                <a:spcPct val="0"/>
              </a:spcBef>
              <a:spcAft>
                <a:spcPct val="0"/>
              </a:spcAft>
            </a:pPr>
            <a:r>
              <a:rPr lang="en-US" altLang="en-US" dirty="0">
                <a:solidFill>
                  <a:srgbClr val="C00000"/>
                </a:solidFill>
                <a:latin typeface="Palatino Linotype" panose="02040502050505030304" pitchFamily="18" charset="0"/>
              </a:rPr>
              <a:t>static </a:t>
            </a:r>
            <a:r>
              <a:rPr lang="en-US" altLang="en-US" dirty="0" err="1">
                <a:solidFill>
                  <a:srgbClr val="C00000"/>
                </a:solidFill>
                <a:latin typeface="Palatino Linotype" panose="02040502050505030304" pitchFamily="18" charset="0"/>
              </a:rPr>
              <a:t>int</a:t>
            </a:r>
            <a:r>
              <a:rPr lang="en-US" altLang="en-US" dirty="0">
                <a:solidFill>
                  <a:srgbClr val="C00000"/>
                </a:solidFill>
                <a:latin typeface="Palatino Linotype" panose="02040502050505030304" pitchFamily="18" charset="0"/>
              </a:rPr>
              <a:t> </a:t>
            </a:r>
            <a:r>
              <a:rPr lang="en-US" altLang="en-US" dirty="0" err="1">
                <a:solidFill>
                  <a:srgbClr val="C00000"/>
                </a:solidFill>
                <a:latin typeface="Palatino Linotype" panose="02040502050505030304" pitchFamily="18" charset="0"/>
              </a:rPr>
              <a:t>totalCars</a:t>
            </a:r>
            <a:r>
              <a:rPr lang="en-US" altLang="en-US" dirty="0">
                <a:solidFill>
                  <a:srgbClr val="C00000"/>
                </a:solidFill>
                <a:latin typeface="Palatino Linotype" panose="02040502050505030304" pitchFamily="18" charset="0"/>
              </a:rPr>
              <a:t>;                               // static member (shared by all Car objects)</a:t>
            </a:r>
          </a:p>
          <a:p>
            <a:pPr lvl="2" algn="just" eaLnBrk="0" fontAlgn="base" hangingPunct="0">
              <a:spcBef>
                <a:spcPct val="0"/>
              </a:spcBef>
              <a:spcAft>
                <a:spcPct val="0"/>
              </a:spcAft>
            </a:pPr>
            <a:r>
              <a:rPr lang="en-US" altLang="en-US" dirty="0">
                <a:solidFill>
                  <a:srgbClr val="C00000"/>
                </a:solidFill>
                <a:latin typeface="Palatino Linotype" panose="02040502050505030304" pitchFamily="18" charset="0"/>
              </a:rPr>
              <a:t>public:</a:t>
            </a:r>
          </a:p>
          <a:p>
            <a:pPr lvl="2" algn="just" eaLnBrk="0" fontAlgn="base" hangingPunct="0">
              <a:spcBef>
                <a:spcPct val="0"/>
              </a:spcBef>
              <a:spcAft>
                <a:spcPct val="0"/>
              </a:spcAft>
            </a:pPr>
            <a:r>
              <a:rPr lang="en-US" altLang="en-US" dirty="0">
                <a:solidFill>
                  <a:srgbClr val="C00000"/>
                </a:solidFill>
                <a:latin typeface="Palatino Linotype" panose="02040502050505030304" pitchFamily="18" charset="0"/>
              </a:rPr>
              <a:t>static void </a:t>
            </a:r>
            <a:r>
              <a:rPr lang="en-US" altLang="en-US" dirty="0" err="1">
                <a:solidFill>
                  <a:srgbClr val="C00000"/>
                </a:solidFill>
                <a:latin typeface="Palatino Linotype" panose="02040502050505030304" pitchFamily="18" charset="0"/>
              </a:rPr>
              <a:t>setTotalCars</a:t>
            </a:r>
            <a:r>
              <a:rPr lang="en-US" altLang="en-US" dirty="0">
                <a:solidFill>
                  <a:srgbClr val="C00000"/>
                </a:solidFill>
                <a:latin typeface="Palatino Linotype" panose="02040502050505030304" pitchFamily="18" charset="0"/>
              </a:rPr>
              <a:t>(</a:t>
            </a:r>
            <a:r>
              <a:rPr lang="en-US" altLang="en-US" dirty="0" err="1">
                <a:solidFill>
                  <a:srgbClr val="C00000"/>
                </a:solidFill>
                <a:latin typeface="Palatino Linotype" panose="02040502050505030304" pitchFamily="18" charset="0"/>
              </a:rPr>
              <a:t>int</a:t>
            </a:r>
            <a:r>
              <a:rPr lang="en-US" altLang="en-US" dirty="0">
                <a:solidFill>
                  <a:srgbClr val="C00000"/>
                </a:solidFill>
                <a:latin typeface="Palatino Linotype" panose="02040502050505030304" pitchFamily="18" charset="0"/>
              </a:rPr>
              <a:t> count) {                              // static function</a:t>
            </a:r>
          </a:p>
          <a:p>
            <a:pPr lvl="2" algn="just" eaLnBrk="0" fontAlgn="base" hangingPunct="0">
              <a:spcBef>
                <a:spcPct val="0"/>
              </a:spcBef>
              <a:spcAft>
                <a:spcPct val="0"/>
              </a:spcAft>
            </a:pPr>
            <a:r>
              <a:rPr lang="en-US" altLang="en-US" dirty="0" err="1">
                <a:solidFill>
                  <a:srgbClr val="C00000"/>
                </a:solidFill>
                <a:latin typeface="Palatino Linotype" panose="02040502050505030304" pitchFamily="18" charset="0"/>
              </a:rPr>
              <a:t>totalCars</a:t>
            </a:r>
            <a:r>
              <a:rPr lang="en-US" altLang="en-US" dirty="0">
                <a:solidFill>
                  <a:srgbClr val="C00000"/>
                </a:solidFill>
                <a:latin typeface="Palatino Linotype" panose="02040502050505030304" pitchFamily="18" charset="0"/>
              </a:rPr>
              <a:t> = count;    </a:t>
            </a:r>
            <a:r>
              <a:rPr lang="en-US" altLang="en-US" dirty="0" smtClean="0">
                <a:solidFill>
                  <a:srgbClr val="C00000"/>
                </a:solidFill>
                <a:latin typeface="Palatino Linotype" panose="02040502050505030304" pitchFamily="18" charset="0"/>
              </a:rPr>
              <a:t>}</a:t>
            </a:r>
          </a:p>
          <a:p>
            <a:pPr lvl="2" algn="just" eaLnBrk="0" fontAlgn="base" hangingPunct="0">
              <a:spcBef>
                <a:spcPct val="0"/>
              </a:spcBef>
              <a:spcAft>
                <a:spcPct val="0"/>
              </a:spcAft>
            </a:pPr>
            <a:r>
              <a:rPr lang="en-US" altLang="en-US" dirty="0">
                <a:solidFill>
                  <a:srgbClr val="C00000"/>
                </a:solidFill>
                <a:latin typeface="Palatino Linotype" panose="02040502050505030304" pitchFamily="18" charset="0"/>
              </a:rPr>
              <a:t>static </a:t>
            </a:r>
            <a:r>
              <a:rPr lang="en-US" altLang="en-US" dirty="0" err="1">
                <a:solidFill>
                  <a:srgbClr val="C00000"/>
                </a:solidFill>
                <a:latin typeface="Palatino Linotype" panose="02040502050505030304" pitchFamily="18" charset="0"/>
              </a:rPr>
              <a:t>int</a:t>
            </a:r>
            <a:r>
              <a:rPr lang="en-US" altLang="en-US" dirty="0">
                <a:solidFill>
                  <a:srgbClr val="C00000"/>
                </a:solidFill>
                <a:latin typeface="Palatino Linotype" panose="02040502050505030304" pitchFamily="18" charset="0"/>
              </a:rPr>
              <a:t> </a:t>
            </a:r>
            <a:r>
              <a:rPr lang="en-US" altLang="en-US" dirty="0" err="1">
                <a:solidFill>
                  <a:srgbClr val="C00000"/>
                </a:solidFill>
                <a:latin typeface="Palatino Linotype" panose="02040502050505030304" pitchFamily="18" charset="0"/>
              </a:rPr>
              <a:t>getTotalCars</a:t>
            </a:r>
            <a:r>
              <a:rPr lang="en-US" altLang="en-US" dirty="0">
                <a:solidFill>
                  <a:srgbClr val="C00000"/>
                </a:solidFill>
                <a:latin typeface="Palatino Linotype" panose="02040502050505030304" pitchFamily="18" charset="0"/>
              </a:rPr>
              <a:t>() </a:t>
            </a:r>
            <a:r>
              <a:rPr lang="en-US" altLang="en-US" dirty="0" smtClean="0">
                <a:solidFill>
                  <a:srgbClr val="C00000"/>
                </a:solidFill>
                <a:latin typeface="Palatino Linotype" panose="02040502050505030304" pitchFamily="18" charset="0"/>
              </a:rPr>
              <a:t>{return </a:t>
            </a:r>
            <a:r>
              <a:rPr lang="en-US" altLang="en-US" dirty="0" err="1">
                <a:solidFill>
                  <a:srgbClr val="C00000"/>
                </a:solidFill>
                <a:latin typeface="Palatino Linotype" panose="02040502050505030304" pitchFamily="18" charset="0"/>
              </a:rPr>
              <a:t>totalCars</a:t>
            </a:r>
            <a:r>
              <a:rPr lang="en-US" altLang="en-US" dirty="0">
                <a:solidFill>
                  <a:srgbClr val="C00000"/>
                </a:solidFill>
                <a:latin typeface="Palatino Linotype" panose="02040502050505030304" pitchFamily="18" charset="0"/>
              </a:rPr>
              <a:t>;    }};</a:t>
            </a:r>
          </a:p>
          <a:p>
            <a:pPr lvl="2" algn="just" eaLnBrk="0" fontAlgn="base" hangingPunct="0">
              <a:spcBef>
                <a:spcPct val="0"/>
              </a:spcBef>
              <a:spcAft>
                <a:spcPct val="0"/>
              </a:spcAft>
            </a:pPr>
            <a:endParaRPr lang="en-US" altLang="en-US" dirty="0">
              <a:solidFill>
                <a:schemeClr val="tx1"/>
              </a:solidFill>
              <a:latin typeface="Palatino Linotype" panose="02040502050505030304" pitchFamily="18" charset="0"/>
            </a:endParaRPr>
          </a:p>
          <a:p>
            <a:pPr lvl="0" algn="just" eaLnBrk="0" fontAlgn="base" hangingPunct="0">
              <a:spcBef>
                <a:spcPct val="0"/>
              </a:spcBef>
              <a:spcAft>
                <a:spcPct val="0"/>
              </a:spcAft>
            </a:pPr>
            <a:r>
              <a:rPr lang="en-US" dirty="0">
                <a:solidFill>
                  <a:schemeClr val="tx1"/>
                </a:solidFill>
              </a:rPr>
              <a:t>	</a:t>
            </a:r>
            <a:r>
              <a:rPr lang="en-US" dirty="0" err="1">
                <a:solidFill>
                  <a:schemeClr val="tx1"/>
                </a:solidFill>
              </a:rPr>
              <a:t>int</a:t>
            </a:r>
            <a:r>
              <a:rPr lang="en-US" dirty="0">
                <a:solidFill>
                  <a:schemeClr val="tx1"/>
                </a:solidFill>
              </a:rPr>
              <a:t> main() </a:t>
            </a:r>
          </a:p>
          <a:p>
            <a:pPr lvl="2" algn="just" eaLnBrk="0" fontAlgn="base" hangingPunct="0">
              <a:spcBef>
                <a:spcPct val="0"/>
              </a:spcBef>
              <a:spcAft>
                <a:spcPct val="0"/>
              </a:spcAft>
            </a:pPr>
            <a:r>
              <a:rPr lang="en-US" dirty="0">
                <a:solidFill>
                  <a:schemeClr val="tx1"/>
                </a:solidFill>
              </a:rPr>
              <a:t>{ Car::</a:t>
            </a:r>
            <a:r>
              <a:rPr lang="en-US" dirty="0" err="1">
                <a:solidFill>
                  <a:schemeClr val="tx1"/>
                </a:solidFill>
              </a:rPr>
              <a:t>setTotalCars</a:t>
            </a:r>
            <a:r>
              <a:rPr lang="en-US" dirty="0">
                <a:solidFill>
                  <a:schemeClr val="tx1"/>
                </a:solidFill>
              </a:rPr>
              <a:t>(5); </a:t>
            </a:r>
          </a:p>
          <a:p>
            <a:pPr lvl="2" algn="just" eaLnBrk="0" fontAlgn="base" hangingPunct="0">
              <a:spcBef>
                <a:spcPct val="0"/>
              </a:spcBef>
              <a:spcAft>
                <a:spcPct val="0"/>
              </a:spcAft>
            </a:pPr>
            <a:r>
              <a:rPr lang="en-US" dirty="0" err="1">
                <a:solidFill>
                  <a:schemeClr val="tx1"/>
                </a:solidFill>
              </a:rPr>
              <a:t>cout</a:t>
            </a:r>
            <a:r>
              <a:rPr lang="en-US" dirty="0">
                <a:solidFill>
                  <a:schemeClr val="tx1"/>
                </a:solidFill>
              </a:rPr>
              <a:t> &lt;&lt; "Total Cars: " &lt;&lt; Car::</a:t>
            </a:r>
            <a:r>
              <a:rPr lang="en-US" dirty="0" err="1">
                <a:solidFill>
                  <a:schemeClr val="tx1"/>
                </a:solidFill>
              </a:rPr>
              <a:t>getTotalCars</a:t>
            </a:r>
            <a:r>
              <a:rPr lang="en-US" dirty="0">
                <a:solidFill>
                  <a:schemeClr val="tx1"/>
                </a:solidFill>
              </a:rPr>
              <a:t>() &lt;&lt; </a:t>
            </a:r>
            <a:r>
              <a:rPr lang="en-US" dirty="0" err="1">
                <a:solidFill>
                  <a:schemeClr val="tx1"/>
                </a:solidFill>
              </a:rPr>
              <a:t>endl</a:t>
            </a:r>
            <a:r>
              <a:rPr lang="en-US" dirty="0">
                <a:solidFill>
                  <a:schemeClr val="tx1"/>
                </a:solidFill>
              </a:rPr>
              <a:t>; </a:t>
            </a:r>
          </a:p>
          <a:p>
            <a:pPr lvl="2" algn="just" eaLnBrk="0" fontAlgn="base" hangingPunct="0">
              <a:spcBef>
                <a:spcPct val="0"/>
              </a:spcBef>
              <a:spcAft>
                <a:spcPct val="0"/>
              </a:spcAft>
            </a:pPr>
            <a:r>
              <a:rPr lang="en-US" altLang="en-US" dirty="0">
                <a:solidFill>
                  <a:schemeClr val="tx1"/>
                </a:solidFill>
                <a:latin typeface="Palatino Linotype" panose="02040502050505030304" pitchFamily="18" charset="0"/>
              </a:rPr>
              <a:t>Return 0;}</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1886306" y="564043"/>
            <a:ext cx="8872728" cy="1450759"/>
          </a:xfrm>
          <a:prstGeom prst="rect">
            <a:avLst/>
          </a:prstGeom>
          <a:noFill/>
          <a:ln>
            <a:noFill/>
          </a:ln>
        </p:spPr>
        <p:txBody>
          <a:bodyPr vert="horz" wrap="square" lIns="91440" tIns="45720" rIns="91440" bIns="45720" anchor="b" anchorCtr="0" compatLnSpc="1">
            <a:normAutofit/>
          </a:bodyPr>
          <a:lstStyle/>
          <a:p>
            <a:pPr lvl="0"/>
            <a:r>
              <a:rPr lang="en-US" b="1" dirty="0" smtClean="0">
                <a:solidFill>
                  <a:srgbClr val="1482AC"/>
                </a:solidFill>
                <a:latin typeface="Palatino Linotype" panose="02040502050505030304" pitchFamily="18" charset="0"/>
                <a:cs typeface="Calibri Light" panose="020F0302020204030204"/>
              </a:rPr>
              <a:t>Non- Static </a:t>
            </a:r>
            <a:r>
              <a:rPr lang="en-US" b="1" dirty="0">
                <a:solidFill>
                  <a:srgbClr val="1482AC"/>
                </a:solidFill>
                <a:latin typeface="Palatino Linotype" panose="02040502050505030304" pitchFamily="18" charset="0"/>
                <a:cs typeface="Calibri Light" panose="020F0302020204030204"/>
              </a:rPr>
              <a:t>Member Functions</a:t>
            </a:r>
            <a:r>
              <a:rPr lang="en-US" dirty="0" smtClean="0">
                <a:solidFill>
                  <a:srgbClr val="1482AC"/>
                </a:solidFill>
                <a:cs typeface="Calibri Light" panose="020F0302020204030204"/>
              </a:rPr>
              <a:t/>
            </a:r>
            <a:br>
              <a:rPr lang="en-US" dirty="0" smtClean="0">
                <a:solidFill>
                  <a:srgbClr val="1482AC"/>
                </a:solidFill>
                <a:cs typeface="Calibri Light" panose="020F0302020204030204"/>
              </a:rPr>
            </a:br>
            <a:endParaRPr lang="en-US" sz="4300" b="1" dirty="0">
              <a:solidFill>
                <a:srgbClr val="1482AC"/>
              </a:solidFill>
              <a:latin typeface="Palatino Linotype" panose="02040502050505030304" pitchFamily="18"/>
            </a:endParaRPr>
          </a:p>
        </p:txBody>
      </p:sp>
      <p:sp>
        <p:nvSpPr>
          <p:cNvPr id="3" name="Rectangle 2"/>
          <p:cNvSpPr/>
          <p:nvPr/>
        </p:nvSpPr>
        <p:spPr>
          <a:xfrm flipV="1">
            <a:off x="1945549" y="5165229"/>
            <a:ext cx="8685641" cy="1692771"/>
          </a:xfrm>
          <a:prstGeom prst="rect">
            <a:avLst/>
          </a:prstGeom>
          <a:noFill/>
          <a:ln cap="flat">
            <a:noFill/>
            <a:prstDash val="solid"/>
          </a:ln>
        </p:spPr>
        <p:txBody>
          <a:bodyPr vert="horz" wrap="square" lIns="91440" tIns="45720" rIns="91440" bIns="45720" anchor="t" anchorCtr="0" compatLnSpc="1">
            <a:spAutoFit/>
          </a:bodyPr>
          <a:lstStyle/>
          <a:p>
            <a:pPr marL="457200" indent="-457200" algn="just">
              <a:buFont typeface="Arial" panose="020B0604020202020204" pitchFamily="34" charset="0"/>
              <a:buChar char="•"/>
            </a:pPr>
            <a:endParaRPr lang="en-US" sz="24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4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8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800" b="0" i="0" u="none" strike="noStrike" kern="1200" cap="none" spc="0" baseline="0" dirty="0">
              <a:solidFill>
                <a:srgbClr val="000000"/>
              </a:solidFill>
              <a:uFillTx/>
              <a:latin typeface="Palatino Linotype" panose="02040502050505030304" pitchFamily="18" charset="0"/>
              <a:ea typeface="Calibri" panose="020F0502020204030204"/>
              <a:cs typeface="Calibri" panose="020F0502020204030204"/>
            </a:endParaRPr>
          </a:p>
        </p:txBody>
      </p:sp>
      <p:sp>
        <p:nvSpPr>
          <p:cNvPr id="4" name="Rectangle 1"/>
          <p:cNvSpPr>
            <a:spLocks noChangeArrowheads="1"/>
          </p:cNvSpPr>
          <p:nvPr/>
        </p:nvSpPr>
        <p:spPr bwMode="auto">
          <a:xfrm>
            <a:off x="1945549" y="6843932"/>
            <a:ext cx="1088839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lvl="8" eaLnBrk="0" fontAlgn="base" hangingPunct="0">
              <a:spcBef>
                <a:spcPct val="0"/>
              </a:spcBef>
              <a:spcAft>
                <a:spcPct val="0"/>
              </a:spcAft>
            </a:pPr>
            <a:endParaRPr lang="en-US" altLang="en-US" sz="2000" dirty="0">
              <a:latin typeface="Palatino Linotype" panose="02040502050505030304" pitchFamily="18" charset="0"/>
            </a:endParaRPr>
          </a:p>
        </p:txBody>
      </p:sp>
      <p:sp>
        <p:nvSpPr>
          <p:cNvPr id="8" name="Rectangle 5"/>
          <p:cNvSpPr>
            <a:spLocks noChangeArrowheads="1"/>
          </p:cNvSpPr>
          <p:nvPr/>
        </p:nvSpPr>
        <p:spPr bwMode="auto">
          <a:xfrm flipV="1">
            <a:off x="1634289" y="6012935"/>
            <a:ext cx="93767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smtClean="0">
              <a:ln>
                <a:noFill/>
              </a:ln>
              <a:solidFill>
                <a:schemeClr val="tx1"/>
              </a:solidFill>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smtClean="0">
              <a:ln>
                <a:noFill/>
              </a:ln>
              <a:solidFill>
                <a:schemeClr val="tx1"/>
              </a:solidFill>
              <a:effectLst/>
              <a:latin typeface="Palatino Linotype" panose="02040502050505030304" pitchFamily="18" charset="0"/>
            </a:endParaRPr>
          </a:p>
        </p:txBody>
      </p:sp>
      <p:sp>
        <p:nvSpPr>
          <p:cNvPr id="5" name="Rectangle 1"/>
          <p:cNvSpPr>
            <a:spLocks noChangeArrowheads="1"/>
          </p:cNvSpPr>
          <p:nvPr/>
        </p:nvSpPr>
        <p:spPr bwMode="auto">
          <a:xfrm>
            <a:off x="614400" y="1536267"/>
            <a:ext cx="11061785"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These functions belong to </a:t>
            </a:r>
            <a:r>
              <a:rPr kumimoji="0" lang="en-US" altLang="en-US" sz="2200" b="1" i="0" u="none" strike="noStrike" cap="none" normalizeH="0" baseline="0" dirty="0" smtClean="0">
                <a:ln>
                  <a:noFill/>
                </a:ln>
                <a:solidFill>
                  <a:schemeClr val="tx1"/>
                </a:solidFill>
                <a:effectLst/>
                <a:latin typeface="Palatino Linotype" panose="02040502050505030304" pitchFamily="18" charset="0"/>
              </a:rPr>
              <a:t>individual objects</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 of a class.</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Every time you create an object, that object has its own separate copy of the non-static data members, and non-static functions work on that data.</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Non-static functions can access both </a:t>
            </a:r>
            <a:r>
              <a:rPr kumimoji="0" lang="en-US" altLang="en-US" sz="2200" b="1" i="0" u="none" strike="noStrike" cap="none" normalizeH="0" baseline="0" dirty="0" smtClean="0">
                <a:ln>
                  <a:noFill/>
                </a:ln>
                <a:solidFill>
                  <a:schemeClr val="tx1"/>
                </a:solidFill>
                <a:effectLst/>
                <a:latin typeface="Palatino Linotype" panose="02040502050505030304" pitchFamily="18" charset="0"/>
              </a:rPr>
              <a:t>static</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 and </a:t>
            </a:r>
            <a:r>
              <a:rPr kumimoji="0" lang="en-US" altLang="en-US" sz="2200" b="1" i="0" u="none" strike="noStrike" cap="none" normalizeH="0" baseline="0" dirty="0" smtClean="0">
                <a:ln>
                  <a:noFill/>
                </a:ln>
                <a:solidFill>
                  <a:schemeClr val="tx1"/>
                </a:solidFill>
                <a:effectLst/>
                <a:latin typeface="Palatino Linotype" panose="02040502050505030304" pitchFamily="18" charset="0"/>
              </a:rPr>
              <a:t>non-static</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 members (variables or functions) of the class.</a:t>
            </a: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sz="2200" b="1" i="0" u="none" strike="noStrike" cap="none" normalizeH="0" baseline="0" dirty="0" smtClean="0">
                <a:ln>
                  <a:noFill/>
                </a:ln>
                <a:solidFill>
                  <a:schemeClr val="tx1"/>
                </a:solidFill>
                <a:effectLst/>
                <a:latin typeface="Palatino Linotype" panose="02040502050505030304" pitchFamily="18" charset="0"/>
              </a:rPr>
              <a:t>The this pointer</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 is passed to non-static functions, which points to the current object calling the function. This allows the function to know which object's data to use. </a:t>
            </a:r>
          </a:p>
          <a:p>
            <a:pPr marL="0" marR="0" lvl="0" indent="0" algn="just" defTabSz="914400" rtl="0" eaLnBrk="0" fontAlgn="base" latinLnBrk="0" hangingPunct="0">
              <a:lnSpc>
                <a:spcPct val="100000"/>
              </a:lnSpc>
              <a:spcBef>
                <a:spcPct val="0"/>
              </a:spcBef>
              <a:spcAft>
                <a:spcPct val="0"/>
              </a:spcAft>
              <a:buClrTx/>
              <a:buSzTx/>
            </a:pPr>
            <a:r>
              <a:rPr lang="en-US" altLang="en-US" sz="2200" dirty="0" smtClean="0">
                <a:latin typeface="Palatino Linotype" panose="02040502050505030304" pitchFamily="18" charset="0"/>
              </a:rPr>
              <a:t>                             </a:t>
            </a:r>
            <a:r>
              <a:rPr lang="en-US" altLang="en-US" sz="2200" dirty="0" smtClean="0">
                <a:solidFill>
                  <a:srgbClr val="C00000"/>
                </a:solidFill>
                <a:latin typeface="Palatino Linotype" panose="02040502050505030304" pitchFamily="18" charset="0"/>
              </a:rPr>
              <a:t>   </a:t>
            </a:r>
            <a:r>
              <a:rPr lang="en-US" altLang="en-US" sz="2000" dirty="0" smtClean="0">
                <a:solidFill>
                  <a:srgbClr val="C00000"/>
                </a:solidFill>
                <a:latin typeface="Palatino Linotype" panose="02040502050505030304" pitchFamily="18" charset="0"/>
              </a:rPr>
              <a:t>class </a:t>
            </a:r>
            <a:r>
              <a:rPr lang="en-US" altLang="en-US" sz="2000" dirty="0">
                <a:solidFill>
                  <a:srgbClr val="C00000"/>
                </a:solidFill>
                <a:latin typeface="Palatino Linotype" panose="02040502050505030304" pitchFamily="18" charset="0"/>
              </a:rPr>
              <a:t>Car </a:t>
            </a:r>
            <a:r>
              <a:rPr lang="en-US" altLang="en-US" sz="2000" dirty="0" smtClean="0">
                <a:solidFill>
                  <a:srgbClr val="C00000"/>
                </a:solidFill>
                <a:latin typeface="Palatino Linotype" panose="02040502050505030304" pitchFamily="18" charset="0"/>
              </a:rPr>
              <a:t>{</a:t>
            </a:r>
          </a:p>
          <a:p>
            <a:pPr lvl="5" algn="just" eaLnBrk="0" fontAlgn="base" hangingPunct="0">
              <a:spcBef>
                <a:spcPct val="0"/>
              </a:spcBef>
              <a:spcAft>
                <a:spcPct val="0"/>
              </a:spcAft>
            </a:pPr>
            <a:r>
              <a:rPr lang="en-US" altLang="en-US" sz="2000" dirty="0" err="1" smtClean="0">
                <a:solidFill>
                  <a:srgbClr val="C00000"/>
                </a:solidFill>
                <a:latin typeface="Palatino Linotype" panose="02040502050505030304" pitchFamily="18" charset="0"/>
              </a:rPr>
              <a:t>int</a:t>
            </a:r>
            <a:r>
              <a:rPr lang="en-US" altLang="en-US" sz="2000" dirty="0" smtClean="0">
                <a:solidFill>
                  <a:srgbClr val="C00000"/>
                </a:solidFill>
                <a:latin typeface="Palatino Linotype" panose="02040502050505030304" pitchFamily="18" charset="0"/>
              </a:rPr>
              <a:t> speed;                                             // non-static member</a:t>
            </a:r>
          </a:p>
          <a:p>
            <a:pPr lvl="5" algn="just" eaLnBrk="0" fontAlgn="base" hangingPunct="0">
              <a:spcBef>
                <a:spcPct val="0"/>
              </a:spcBef>
              <a:spcAft>
                <a:spcPct val="0"/>
              </a:spcAft>
            </a:pPr>
            <a:r>
              <a:rPr lang="en-US" altLang="en-US" sz="2000" dirty="0" smtClean="0">
                <a:solidFill>
                  <a:srgbClr val="C00000"/>
                </a:solidFill>
                <a:latin typeface="Palatino Linotype" panose="02040502050505030304" pitchFamily="18" charset="0"/>
              </a:rPr>
              <a:t>public:</a:t>
            </a:r>
          </a:p>
          <a:p>
            <a:pPr lvl="5" algn="just" eaLnBrk="0" fontAlgn="base" hangingPunct="0">
              <a:spcBef>
                <a:spcPct val="0"/>
              </a:spcBef>
              <a:spcAft>
                <a:spcPct val="0"/>
              </a:spcAft>
            </a:pPr>
            <a:r>
              <a:rPr lang="en-US" altLang="en-US" sz="2000" dirty="0" smtClean="0">
                <a:solidFill>
                  <a:srgbClr val="C00000"/>
                </a:solidFill>
                <a:latin typeface="Palatino Linotype" panose="02040502050505030304" pitchFamily="18" charset="0"/>
              </a:rPr>
              <a:t>void </a:t>
            </a:r>
            <a:r>
              <a:rPr lang="en-US" altLang="en-US" sz="2000" dirty="0" err="1" smtClean="0">
                <a:solidFill>
                  <a:srgbClr val="C00000"/>
                </a:solidFill>
                <a:latin typeface="Palatino Linotype" panose="02040502050505030304" pitchFamily="18" charset="0"/>
              </a:rPr>
              <a:t>setSpeed</a:t>
            </a:r>
            <a:r>
              <a:rPr lang="en-US" altLang="en-US" sz="2000" dirty="0" smtClean="0">
                <a:solidFill>
                  <a:srgbClr val="C00000"/>
                </a:solidFill>
                <a:latin typeface="Palatino Linotype" panose="02040502050505030304" pitchFamily="18" charset="0"/>
              </a:rPr>
              <a:t>(</a:t>
            </a:r>
            <a:r>
              <a:rPr lang="en-US" altLang="en-US" sz="2000" dirty="0" err="1" smtClean="0">
                <a:solidFill>
                  <a:srgbClr val="C00000"/>
                </a:solidFill>
                <a:latin typeface="Palatino Linotype" panose="02040502050505030304" pitchFamily="18" charset="0"/>
              </a:rPr>
              <a:t>int</a:t>
            </a:r>
            <a:r>
              <a:rPr lang="en-US" altLang="en-US" sz="2000" dirty="0" smtClean="0">
                <a:solidFill>
                  <a:srgbClr val="C00000"/>
                </a:solidFill>
                <a:latin typeface="Palatino Linotype" panose="02040502050505030304" pitchFamily="18" charset="0"/>
              </a:rPr>
              <a:t> s) {                        // non-static function</a:t>
            </a:r>
          </a:p>
          <a:p>
            <a:pPr lvl="5" algn="just" eaLnBrk="0" fontAlgn="base" hangingPunct="0">
              <a:spcBef>
                <a:spcPct val="0"/>
              </a:spcBef>
              <a:spcAft>
                <a:spcPct val="0"/>
              </a:spcAft>
            </a:pPr>
            <a:r>
              <a:rPr lang="en-US" altLang="en-US" sz="2000" dirty="0" smtClean="0">
                <a:solidFill>
                  <a:srgbClr val="C00000"/>
                </a:solidFill>
                <a:latin typeface="Palatino Linotype" panose="02040502050505030304" pitchFamily="18" charset="0"/>
              </a:rPr>
              <a:t>speed </a:t>
            </a:r>
            <a:r>
              <a:rPr lang="en-US" altLang="en-US" sz="2000" dirty="0">
                <a:solidFill>
                  <a:srgbClr val="C00000"/>
                </a:solidFill>
                <a:latin typeface="Palatino Linotype" panose="02040502050505030304" pitchFamily="18" charset="0"/>
              </a:rPr>
              <a:t>= s;  </a:t>
            </a:r>
            <a:r>
              <a:rPr lang="en-US" altLang="en-US" sz="2000" dirty="0" smtClean="0">
                <a:solidFill>
                  <a:srgbClr val="C00000"/>
                </a:solidFill>
                <a:latin typeface="Palatino Linotype" panose="02040502050505030304" pitchFamily="18" charset="0"/>
              </a:rPr>
              <a:t>                              // </a:t>
            </a:r>
            <a:r>
              <a:rPr lang="en-US" altLang="en-US" sz="2000" dirty="0">
                <a:solidFill>
                  <a:srgbClr val="C00000"/>
                </a:solidFill>
                <a:latin typeface="Palatino Linotype" panose="02040502050505030304" pitchFamily="18" charset="0"/>
              </a:rPr>
              <a:t>works on the speed of the object calling it</a:t>
            </a:r>
          </a:p>
          <a:p>
            <a:pPr lvl="5" algn="just" eaLnBrk="0" fontAlgn="base" hangingPunct="0">
              <a:spcBef>
                <a:spcPct val="0"/>
              </a:spcBef>
              <a:spcAft>
                <a:spcPct val="0"/>
              </a:spcAft>
            </a:pPr>
            <a:r>
              <a:rPr lang="en-US" altLang="en-US" sz="2000" dirty="0" smtClean="0">
                <a:solidFill>
                  <a:srgbClr val="C00000"/>
                </a:solidFill>
                <a:latin typeface="Palatino Linotype" panose="02040502050505030304" pitchFamily="18" charset="0"/>
              </a:rPr>
              <a:t>}};</a:t>
            </a:r>
            <a:endParaRPr lang="en-US" altLang="en-US" sz="2000" dirty="0">
              <a:solidFill>
                <a:srgbClr val="C00000"/>
              </a:solidFill>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29356" y="2641600"/>
            <a:ext cx="6109253" cy="1323439"/>
          </a:xfrm>
          <a:prstGeom prst="rect">
            <a:avLst/>
          </a:prstGeom>
        </p:spPr>
        <p:txBody>
          <a:bodyPr wrap="square">
            <a:spAutoFit/>
          </a:bodyPr>
          <a:lstStyle/>
          <a:p>
            <a:pPr algn="ctr"/>
            <a:r>
              <a:rPr lang="en-US" sz="4000" b="1" dirty="0">
                <a:solidFill>
                  <a:schemeClr val="accent1">
                    <a:lumMod val="75000"/>
                  </a:schemeClr>
                </a:solidFill>
                <a:latin typeface="Palatino Linotype" panose="02040502050505030304" pitchFamily="18" charset="0"/>
              </a:rPr>
              <a:t>Virtual Functions</a:t>
            </a:r>
            <a:br>
              <a:rPr lang="en-US" sz="4000" b="1" dirty="0">
                <a:solidFill>
                  <a:schemeClr val="accent1">
                    <a:lumMod val="75000"/>
                  </a:schemeClr>
                </a:solidFill>
                <a:latin typeface="Palatino Linotype" panose="02040502050505030304" pitchFamily="18" charset="0"/>
              </a:rPr>
            </a:br>
            <a:endParaRPr lang="en-US" sz="4000" dirty="0"/>
          </a:p>
        </p:txBody>
      </p:sp>
      <p:pic>
        <p:nvPicPr>
          <p:cNvPr id="2" name="Picture 1"/>
          <p:cNvPicPr>
            <a:picLocks noChangeAspect="1"/>
          </p:cNvPicPr>
          <p:nvPr/>
        </p:nvPicPr>
        <p:blipFill>
          <a:blip r:embed="rId2"/>
          <a:stretch>
            <a:fillRect/>
          </a:stretch>
        </p:blipFill>
        <p:spPr>
          <a:xfrm>
            <a:off x="5432425" y="-1758950"/>
            <a:ext cx="6384520" cy="6769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77140" y="517422"/>
            <a:ext cx="7716078" cy="769441"/>
          </a:xfrm>
          <a:prstGeom prst="rect">
            <a:avLst/>
          </a:prstGeom>
          <a:noFill/>
        </p:spPr>
        <p:txBody>
          <a:bodyPr wrap="square" rtlCol="0">
            <a:spAutoFit/>
          </a:bodyPr>
          <a:lstStyle/>
          <a:p>
            <a:r>
              <a:rPr lang="en-US" sz="4300" b="1" dirty="0" smtClean="0">
                <a:solidFill>
                  <a:schemeClr val="accent1">
                    <a:lumMod val="75000"/>
                  </a:schemeClr>
                </a:solidFill>
                <a:latin typeface="Palatino Linotype" panose="02040502050505030304" pitchFamily="18" charset="0"/>
              </a:rPr>
              <a:t>Virtual Function</a:t>
            </a:r>
            <a:endParaRPr lang="en-US" sz="4300" b="1" dirty="0">
              <a:solidFill>
                <a:schemeClr val="accent1">
                  <a:lumMod val="75000"/>
                </a:schemeClr>
              </a:solidFill>
              <a:latin typeface="Palatino Linotype" panose="02040502050505030304" pitchFamily="18" charset="0"/>
            </a:endParaRPr>
          </a:p>
        </p:txBody>
      </p:sp>
      <p:sp>
        <p:nvSpPr>
          <p:cNvPr id="4" name="Rectangle 2"/>
          <p:cNvSpPr>
            <a:spLocks noChangeArrowheads="1"/>
          </p:cNvSpPr>
          <p:nvPr/>
        </p:nvSpPr>
        <p:spPr bwMode="auto">
          <a:xfrm flipV="1">
            <a:off x="2841768" y="6919501"/>
            <a:ext cx="736958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Palatino Linotype" panose="02040502050505030304" pitchFamily="18" charset="0"/>
              </a:rPr>
              <a:t>Explanation:</a:t>
            </a: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p:txBody>
      </p:sp>
      <p:sp>
        <p:nvSpPr>
          <p:cNvPr id="2" name="Rectangle 1"/>
          <p:cNvSpPr>
            <a:spLocks noChangeArrowheads="1"/>
          </p:cNvSpPr>
          <p:nvPr/>
        </p:nvSpPr>
        <p:spPr bwMode="auto">
          <a:xfrm rot="10800000" flipV="1">
            <a:off x="1041950" y="3525241"/>
            <a:ext cx="10595668" cy="27699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pPr>
            <a:r>
              <a:rPr kumimoji="0" lang="en-US" altLang="en-US" b="1" i="0" u="none" strike="noStrike" cap="none" normalizeH="0" baseline="0" dirty="0" smtClean="0">
                <a:ln>
                  <a:noFill/>
                </a:ln>
                <a:solidFill>
                  <a:srgbClr val="0D0D0D"/>
                </a:solidFill>
                <a:effectLst/>
                <a:latin typeface="Palatino Linotype" panose="02040502050505030304" pitchFamily="18" charset="0"/>
              </a:rPr>
              <a:t>Virtual Function (</a:t>
            </a:r>
            <a:r>
              <a:rPr kumimoji="0" lang="en-US" altLang="en-US" b="0" i="0" u="none" strike="noStrike" cap="none" normalizeH="0" baseline="0" dirty="0" smtClean="0">
                <a:ln>
                  <a:noFill/>
                </a:ln>
                <a:solidFill>
                  <a:srgbClr val="0D0D0D"/>
                </a:solidFill>
                <a:effectLst/>
                <a:latin typeface="Palatino Linotype" panose="02040502050505030304" pitchFamily="18" charset="0"/>
              </a:rPr>
              <a:t>display</a:t>
            </a:r>
            <a:r>
              <a:rPr kumimoji="0" lang="en-US" altLang="en-US" b="1" i="0" u="none" strike="noStrike" cap="none" normalizeH="0" baseline="0" dirty="0" smtClean="0">
                <a:ln>
                  <a:noFill/>
                </a:ln>
                <a:solidFill>
                  <a:srgbClr val="0D0D0D"/>
                </a:solidFill>
                <a:effectLst/>
                <a:latin typeface="Palatino Linotype" panose="02040502050505030304" pitchFamily="18" charset="0"/>
              </a:rPr>
              <a:t>)</a:t>
            </a:r>
            <a:r>
              <a:rPr kumimoji="0" lang="en-US" altLang="en-US" b="0" i="0" u="none" strike="noStrike" cap="none" normalizeH="0" baseline="0" dirty="0" smtClean="0">
                <a:ln>
                  <a:noFill/>
                </a:ln>
                <a:solidFill>
                  <a:srgbClr val="0D0D0D"/>
                </a:solidFill>
                <a:effectLst/>
                <a:latin typeface="Palatino Linotype" panose="02040502050505030304" pitchFamily="18" charset="0"/>
              </a:rPr>
              <a:t>:</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The function display in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GFG_Base</a:t>
            </a:r>
            <a:r>
              <a:rPr kumimoji="0" lang="en-US" altLang="en-US" b="0" i="0" u="none" strike="noStrike" cap="none" normalizeH="0" baseline="0" dirty="0" smtClean="0">
                <a:ln>
                  <a:noFill/>
                </a:ln>
                <a:solidFill>
                  <a:srgbClr val="0D0D0D"/>
                </a:solidFill>
                <a:effectLst/>
                <a:latin typeface="Palatino Linotype" panose="02040502050505030304" pitchFamily="18" charset="0"/>
              </a:rPr>
              <a:t> is declared as </a:t>
            </a:r>
            <a:r>
              <a:rPr kumimoji="0" lang="en-US" altLang="en-US" b="1" i="0" u="none" strike="noStrike" cap="none" normalizeH="0" baseline="0" dirty="0" smtClean="0">
                <a:ln>
                  <a:noFill/>
                </a:ln>
                <a:solidFill>
                  <a:srgbClr val="0D0D0D"/>
                </a:solidFill>
                <a:effectLst/>
                <a:latin typeface="Palatino Linotype" panose="02040502050505030304" pitchFamily="18" charset="0"/>
              </a:rPr>
              <a:t>virtual</a:t>
            </a:r>
            <a:r>
              <a:rPr kumimoji="0" lang="en-US" altLang="en-US" b="0" i="0" u="none" strike="noStrike" cap="none" normalizeH="0" baseline="0" dirty="0" smtClean="0">
                <a:ln>
                  <a:noFill/>
                </a:ln>
                <a:solidFill>
                  <a:srgbClr val="0D0D0D"/>
                </a:solidFill>
                <a:effectLst/>
                <a:latin typeface="Palatino Linotype" panose="02040502050505030304" pitchFamily="18" charset="0"/>
              </a:rPr>
              <a:t>.</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This allows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GFG_Child</a:t>
            </a:r>
            <a:r>
              <a:rPr kumimoji="0" lang="en-US" altLang="en-US" b="0" i="0" u="none" strike="noStrike" cap="none" normalizeH="0" baseline="0" dirty="0" smtClean="0">
                <a:ln>
                  <a:noFill/>
                </a:ln>
                <a:solidFill>
                  <a:srgbClr val="0D0D0D"/>
                </a:solidFill>
                <a:effectLst/>
                <a:latin typeface="Palatino Linotype" panose="02040502050505030304" pitchFamily="18" charset="0"/>
              </a:rPr>
              <a:t> to </a:t>
            </a:r>
            <a:r>
              <a:rPr kumimoji="0" lang="en-US" altLang="en-US" b="1" i="0" u="none" strike="noStrike" cap="none" normalizeH="0" baseline="0" dirty="0" smtClean="0">
                <a:ln>
                  <a:noFill/>
                </a:ln>
                <a:solidFill>
                  <a:srgbClr val="0D0D0D"/>
                </a:solidFill>
                <a:effectLst/>
                <a:latin typeface="Palatino Linotype" panose="02040502050505030304" pitchFamily="18" charset="0"/>
              </a:rPr>
              <a:t>override</a:t>
            </a:r>
            <a:r>
              <a:rPr kumimoji="0" lang="en-US" altLang="en-US" b="0" i="0" u="none" strike="noStrike" cap="none" normalizeH="0" baseline="0" dirty="0" smtClean="0">
                <a:ln>
                  <a:noFill/>
                </a:ln>
                <a:solidFill>
                  <a:srgbClr val="0D0D0D"/>
                </a:solidFill>
                <a:effectLst/>
                <a:latin typeface="Palatino Linotype" panose="02040502050505030304" pitchFamily="18" charset="0"/>
              </a:rPr>
              <a:t> display with its own version.</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When you call base-&gt;display(), the actual </a:t>
            </a:r>
            <a:r>
              <a:rPr kumimoji="0" lang="en-US" altLang="en-US" b="1" i="0" u="none" strike="noStrike" cap="none" normalizeH="0" baseline="0" dirty="0" smtClean="0">
                <a:ln>
                  <a:noFill/>
                </a:ln>
                <a:solidFill>
                  <a:srgbClr val="0D0D0D"/>
                </a:solidFill>
                <a:effectLst/>
                <a:latin typeface="Palatino Linotype" panose="02040502050505030304" pitchFamily="18" charset="0"/>
              </a:rPr>
              <a:t>object type</a:t>
            </a:r>
            <a:r>
              <a:rPr kumimoji="0" lang="en-US" altLang="en-US" b="0" i="0" u="none" strike="noStrike" cap="none" normalizeH="0" baseline="0" dirty="0" smtClean="0">
                <a:ln>
                  <a:noFill/>
                </a:ln>
                <a:solidFill>
                  <a:srgbClr val="0D0D0D"/>
                </a:solidFill>
                <a:effectLst/>
                <a:latin typeface="Palatino Linotype" panose="02040502050505030304" pitchFamily="18" charset="0"/>
              </a:rPr>
              <a:t> (in this case,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GFG_Child</a:t>
            </a:r>
            <a:r>
              <a:rPr kumimoji="0" lang="en-US" altLang="en-US" b="0" i="0" u="none" strike="noStrike" cap="none" normalizeH="0" baseline="0" dirty="0" smtClean="0">
                <a:ln>
                  <a:noFill/>
                </a:ln>
                <a:solidFill>
                  <a:srgbClr val="0D0D0D"/>
                </a:solidFill>
                <a:effectLst/>
                <a:latin typeface="Palatino Linotype" panose="02040502050505030304" pitchFamily="18" charset="0"/>
              </a:rPr>
              <a:t>) determines which version of the function to execute.</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So, base-&gt;display() calls the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GFG_Child's</a:t>
            </a:r>
            <a:r>
              <a:rPr kumimoji="0" lang="en-US" altLang="en-US" b="0" i="0" u="none" strike="noStrike" cap="none" normalizeH="0" baseline="0" dirty="0" smtClean="0">
                <a:ln>
                  <a:noFill/>
                </a:ln>
                <a:solidFill>
                  <a:srgbClr val="0D0D0D"/>
                </a:solidFill>
                <a:effectLst/>
                <a:latin typeface="Palatino Linotype" panose="02040502050505030304" pitchFamily="18" charset="0"/>
              </a:rPr>
              <a:t> version of display.</a:t>
            </a:r>
          </a:p>
          <a:p>
            <a:pPr marL="0" marR="0" lvl="0" indent="0" algn="just" defTabSz="914400" rtl="0" eaLnBrk="0" fontAlgn="base" latinLnBrk="0" hangingPunct="0">
              <a:lnSpc>
                <a:spcPct val="100000"/>
              </a:lnSpc>
              <a:spcBef>
                <a:spcPct val="0"/>
              </a:spcBef>
              <a:spcAft>
                <a:spcPct val="0"/>
              </a:spcAft>
              <a:buClrTx/>
              <a:buSzTx/>
              <a:buFontTx/>
              <a:buAutoNum type="arabicPeriod"/>
            </a:pPr>
            <a:endParaRPr kumimoji="0" lang="en-US" altLang="en-US" b="0" i="0" u="none" strike="noStrike" cap="none" normalizeH="0" baseline="0" dirty="0" smtClean="0">
              <a:ln>
                <a:noFill/>
              </a:ln>
              <a:solidFill>
                <a:srgbClr val="0D0D0D"/>
              </a:solidFill>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pPr>
            <a:r>
              <a:rPr kumimoji="0" lang="en-US" altLang="en-US" b="1" i="0" u="none" strike="noStrike" cap="none" normalizeH="0" baseline="0" dirty="0" smtClean="0">
                <a:ln>
                  <a:noFill/>
                </a:ln>
                <a:solidFill>
                  <a:srgbClr val="0D0D0D"/>
                </a:solidFill>
                <a:effectLst/>
                <a:latin typeface="Palatino Linotype" panose="02040502050505030304" pitchFamily="18" charset="0"/>
              </a:rPr>
              <a:t>Non-Virtual Function (</a:t>
            </a:r>
            <a:r>
              <a:rPr kumimoji="0" lang="en-US" altLang="en-US" b="0" i="0" u="none" strike="noStrike" cap="none" normalizeH="0" baseline="0" dirty="0" smtClean="0">
                <a:ln>
                  <a:noFill/>
                </a:ln>
                <a:solidFill>
                  <a:srgbClr val="0D0D0D"/>
                </a:solidFill>
                <a:effectLst/>
                <a:latin typeface="Palatino Linotype" panose="02040502050505030304" pitchFamily="18" charset="0"/>
              </a:rPr>
              <a:t>print</a:t>
            </a:r>
            <a:r>
              <a:rPr kumimoji="0" lang="en-US" altLang="en-US" b="1" i="0" u="none" strike="noStrike" cap="none" normalizeH="0" baseline="0" dirty="0" smtClean="0">
                <a:ln>
                  <a:noFill/>
                </a:ln>
                <a:solidFill>
                  <a:srgbClr val="0D0D0D"/>
                </a:solidFill>
                <a:effectLst/>
                <a:latin typeface="Palatino Linotype" panose="02040502050505030304" pitchFamily="18" charset="0"/>
              </a:rPr>
              <a:t>)</a:t>
            </a:r>
            <a:r>
              <a:rPr lang="en-US" altLang="en-US" dirty="0" smtClean="0">
                <a:solidFill>
                  <a:srgbClr val="0D0D0D"/>
                </a:solidFill>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The function print in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GFG_Base</a:t>
            </a:r>
            <a:r>
              <a:rPr kumimoji="0" lang="en-US" altLang="en-US" b="0" i="0" u="none" strike="noStrike" cap="none" normalizeH="0" baseline="0" dirty="0" smtClean="0">
                <a:ln>
                  <a:noFill/>
                </a:ln>
                <a:solidFill>
                  <a:srgbClr val="0D0D0D"/>
                </a:solidFill>
                <a:effectLst/>
                <a:latin typeface="Palatino Linotype" panose="02040502050505030304" pitchFamily="18" charset="0"/>
              </a:rPr>
              <a:t> is </a:t>
            </a:r>
            <a:r>
              <a:rPr kumimoji="0" lang="en-US" altLang="en-US" b="1" i="0" u="none" strike="noStrike" cap="none" normalizeH="0" baseline="0" dirty="0" smtClean="0">
                <a:ln>
                  <a:noFill/>
                </a:ln>
                <a:solidFill>
                  <a:srgbClr val="0D0D0D"/>
                </a:solidFill>
                <a:effectLst/>
                <a:latin typeface="Palatino Linotype" panose="02040502050505030304" pitchFamily="18" charset="0"/>
              </a:rPr>
              <a:t>not virtual</a:t>
            </a:r>
            <a:r>
              <a:rPr kumimoji="0" lang="en-US" altLang="en-US" b="0" i="0" u="none" strike="noStrike" cap="none" normalizeH="0" baseline="0" dirty="0" smtClean="0">
                <a:ln>
                  <a:noFill/>
                </a:ln>
                <a:solidFill>
                  <a:srgbClr val="0D0D0D"/>
                </a:solidFill>
                <a:effectLst/>
                <a:latin typeface="Palatino Linotype" panose="02040502050505030304" pitchFamily="18" charset="0"/>
              </a:rPr>
              <a:t>.</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This means the function is resolved at </a:t>
            </a:r>
            <a:r>
              <a:rPr kumimoji="0" lang="en-US" altLang="en-US" b="1" i="0" u="none" strike="noStrike" cap="none" normalizeH="0" baseline="0" dirty="0" smtClean="0">
                <a:ln>
                  <a:noFill/>
                </a:ln>
                <a:solidFill>
                  <a:srgbClr val="0D0D0D"/>
                </a:solidFill>
                <a:effectLst/>
                <a:latin typeface="Palatino Linotype" panose="02040502050505030304" pitchFamily="18" charset="0"/>
              </a:rPr>
              <a:t>compile time</a:t>
            </a:r>
            <a:r>
              <a:rPr kumimoji="0" lang="en-US" altLang="en-US" b="0" i="0" u="none" strike="noStrike" cap="none" normalizeH="0" baseline="0" dirty="0" smtClean="0">
                <a:ln>
                  <a:noFill/>
                </a:ln>
                <a:solidFill>
                  <a:srgbClr val="0D0D0D"/>
                </a:solidFill>
                <a:effectLst/>
                <a:latin typeface="Palatino Linotype" panose="02040502050505030304" pitchFamily="18" charset="0"/>
              </a:rPr>
              <a:t>, based on the type of the pointer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GFG_Base</a:t>
            </a:r>
            <a:r>
              <a:rPr kumimoji="0" lang="en-US" altLang="en-US" b="0" i="0" u="none" strike="noStrike" cap="none" normalizeH="0" baseline="0" dirty="0" smtClean="0">
                <a:ln>
                  <a:noFill/>
                </a:ln>
                <a:solidFill>
                  <a:srgbClr val="0D0D0D"/>
                </a:solidFill>
                <a:effectLst/>
                <a:latin typeface="Palatino Linotype" panose="02040502050505030304" pitchFamily="18" charset="0"/>
              </a:rPr>
              <a:t>*).</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So, base-&gt;print() calls the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GFG_Base's</a:t>
            </a:r>
            <a:r>
              <a:rPr kumimoji="0" lang="en-US" altLang="en-US" b="0" i="0" u="none" strike="noStrike" cap="none" normalizeH="0" baseline="0" dirty="0" smtClean="0">
                <a:ln>
                  <a:noFill/>
                </a:ln>
                <a:solidFill>
                  <a:srgbClr val="0D0D0D"/>
                </a:solidFill>
                <a:effectLst/>
                <a:latin typeface="Palatino Linotype" panose="02040502050505030304" pitchFamily="18" charset="0"/>
              </a:rPr>
              <a:t> version of print, even though the pointer points to a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GFG_Child</a:t>
            </a:r>
            <a:r>
              <a:rPr kumimoji="0" lang="en-US" altLang="en-US" b="0" i="0" u="none" strike="noStrike" cap="none" normalizeH="0" baseline="0" dirty="0" smtClean="0">
                <a:ln>
                  <a:noFill/>
                </a:ln>
                <a:solidFill>
                  <a:srgbClr val="0D0D0D"/>
                </a:solidFill>
                <a:effectLst/>
                <a:latin typeface="Palatino Linotype" panose="02040502050505030304" pitchFamily="18" charset="0"/>
              </a:rPr>
              <a:t> object.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4245871" y="1790700"/>
            <a:ext cx="4187825" cy="16129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29356" y="2641600"/>
            <a:ext cx="6109253" cy="1323439"/>
          </a:xfrm>
          <a:prstGeom prst="rect">
            <a:avLst/>
          </a:prstGeom>
        </p:spPr>
        <p:txBody>
          <a:bodyPr wrap="square">
            <a:spAutoFit/>
          </a:bodyPr>
          <a:lstStyle/>
          <a:p>
            <a:pPr algn="ctr"/>
            <a:r>
              <a:rPr lang="en-US" sz="4000" b="1" dirty="0">
                <a:solidFill>
                  <a:schemeClr val="accent1">
                    <a:lumMod val="75000"/>
                  </a:schemeClr>
                </a:solidFill>
                <a:latin typeface="Palatino Linotype" panose="02040502050505030304" pitchFamily="18" charset="0"/>
              </a:rPr>
              <a:t>Virtual Functions</a:t>
            </a:r>
            <a:br>
              <a:rPr lang="en-US" sz="4000" b="1" dirty="0">
                <a:solidFill>
                  <a:schemeClr val="accent1">
                    <a:lumMod val="75000"/>
                  </a:schemeClr>
                </a:solidFill>
                <a:latin typeface="Palatino Linotype" panose="02040502050505030304" pitchFamily="18" charset="0"/>
              </a:rPr>
            </a:br>
            <a:endParaRPr lang="en-US" sz="4000" dirty="0"/>
          </a:p>
        </p:txBody>
      </p:sp>
      <p:pic>
        <p:nvPicPr>
          <p:cNvPr id="3" name="Picture 2"/>
          <p:cNvPicPr>
            <a:picLocks noChangeAspect="1"/>
          </p:cNvPicPr>
          <p:nvPr/>
        </p:nvPicPr>
        <p:blipFill>
          <a:blip r:embed="rId2"/>
          <a:stretch>
            <a:fillRect/>
          </a:stretch>
        </p:blipFill>
        <p:spPr>
          <a:xfrm>
            <a:off x="3506787" y="552450"/>
            <a:ext cx="6586538" cy="6248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77140" y="517422"/>
            <a:ext cx="7716078" cy="769441"/>
          </a:xfrm>
          <a:prstGeom prst="rect">
            <a:avLst/>
          </a:prstGeom>
          <a:noFill/>
        </p:spPr>
        <p:txBody>
          <a:bodyPr wrap="square" rtlCol="0">
            <a:spAutoFit/>
          </a:bodyPr>
          <a:lstStyle/>
          <a:p>
            <a:r>
              <a:rPr lang="en-US" sz="4300" b="1" dirty="0" smtClean="0">
                <a:solidFill>
                  <a:schemeClr val="accent1">
                    <a:lumMod val="75000"/>
                  </a:schemeClr>
                </a:solidFill>
                <a:latin typeface="Palatino Linotype" panose="02040502050505030304" pitchFamily="18" charset="0"/>
              </a:rPr>
              <a:t>Virtual Function</a:t>
            </a:r>
            <a:endParaRPr lang="en-US" sz="4300" b="1" dirty="0">
              <a:solidFill>
                <a:schemeClr val="accent1">
                  <a:lumMod val="75000"/>
                </a:schemeClr>
              </a:solidFill>
              <a:latin typeface="Palatino Linotype" panose="02040502050505030304" pitchFamily="18" charset="0"/>
            </a:endParaRPr>
          </a:p>
        </p:txBody>
      </p:sp>
      <p:sp>
        <p:nvSpPr>
          <p:cNvPr id="4" name="Rectangle 2"/>
          <p:cNvSpPr>
            <a:spLocks noChangeArrowheads="1"/>
          </p:cNvSpPr>
          <p:nvPr/>
        </p:nvSpPr>
        <p:spPr bwMode="auto">
          <a:xfrm flipV="1">
            <a:off x="2841768" y="6919501"/>
            <a:ext cx="736958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a:p>
            <a:pPr marL="0" marR="0" lvl="0" indent="0" algn="just" defTabSz="914400" rtl="0" eaLnBrk="0" fontAlgn="base" latinLnBrk="0" hangingPunct="0">
              <a:lnSpc>
                <a:spcPct val="100000"/>
              </a:lnSpc>
              <a:spcBef>
                <a:spcPct val="0"/>
              </a:spcBef>
              <a:spcAft>
                <a:spcPct val="0"/>
              </a:spcAft>
              <a:buClrTx/>
              <a:buSzTx/>
            </a:pPr>
            <a:r>
              <a:rPr kumimoji="0" lang="en-US" altLang="en-US" sz="2000" b="1" i="0" u="none" strike="noStrike" cap="none" normalizeH="0" baseline="0" dirty="0" smtClean="0">
                <a:ln>
                  <a:noFill/>
                </a:ln>
                <a:solidFill>
                  <a:schemeClr val="tx1"/>
                </a:solidFill>
                <a:effectLst/>
                <a:latin typeface="Palatino Linotype" panose="02040502050505030304" pitchFamily="18" charset="0"/>
              </a:rPr>
              <a:t>Explanation:</a:t>
            </a: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p:txBody>
      </p:sp>
      <p:sp>
        <p:nvSpPr>
          <p:cNvPr id="2" name="Rectangle 1"/>
          <p:cNvSpPr>
            <a:spLocks noChangeArrowheads="1"/>
          </p:cNvSpPr>
          <p:nvPr/>
        </p:nvSpPr>
        <p:spPr bwMode="auto">
          <a:xfrm rot="10800000" flipV="1">
            <a:off x="1041950" y="3525241"/>
            <a:ext cx="10595668" cy="27699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lvl="0" algn="just" eaLnBrk="0" fontAlgn="base" hangingPunct="0">
              <a:spcBef>
                <a:spcPct val="0"/>
              </a:spcBef>
              <a:spcAft>
                <a:spcPct val="0"/>
              </a:spcAft>
              <a:buFontTx/>
              <a:buAutoNum type="arabicPeriod"/>
            </a:pPr>
            <a:r>
              <a:rPr kumimoji="0" lang="en-US" altLang="en-US" b="1" i="0" u="none" strike="noStrike" cap="none" normalizeH="0" baseline="0" dirty="0" smtClean="0">
                <a:ln>
                  <a:noFill/>
                </a:ln>
                <a:solidFill>
                  <a:srgbClr val="0D0D0D"/>
                </a:solidFill>
                <a:effectLst/>
                <a:latin typeface="Palatino Linotype" panose="02040502050505030304" pitchFamily="18" charset="0"/>
              </a:rPr>
              <a:t>Virtual Function</a:t>
            </a:r>
            <a:r>
              <a:rPr kumimoji="0" lang="en-US" altLang="en-US" b="0" i="0" u="none" strike="noStrike" cap="none" normalizeH="0" baseline="0" dirty="0" smtClean="0">
                <a:ln>
                  <a:noFill/>
                </a:ln>
                <a:solidFill>
                  <a:srgbClr val="0D0D0D"/>
                </a:solidFill>
                <a:effectLst/>
                <a:latin typeface="Palatino Linotype" panose="02040502050505030304" pitchFamily="18" charset="0"/>
              </a:rPr>
              <a:t>:</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The function </a:t>
            </a:r>
            <a:r>
              <a:rPr lang="en-US" altLang="en-US" dirty="0" smtClean="0">
                <a:solidFill>
                  <a:srgbClr val="0D0D0D"/>
                </a:solidFill>
                <a:latin typeface="Palatino Linotype" panose="02040502050505030304" pitchFamily="18" charset="0"/>
              </a:rPr>
              <a:t>print</a:t>
            </a:r>
            <a:r>
              <a:rPr kumimoji="0" lang="en-US" altLang="en-US" b="0" i="0" u="none" strike="noStrike" cap="none" normalizeH="0" baseline="0" dirty="0" smtClean="0">
                <a:ln>
                  <a:noFill/>
                </a:ln>
                <a:solidFill>
                  <a:srgbClr val="0D0D0D"/>
                </a:solidFill>
                <a:effectLst/>
                <a:latin typeface="Palatino Linotype" panose="02040502050505030304" pitchFamily="18" charset="0"/>
              </a:rPr>
              <a:t> in </a:t>
            </a:r>
            <a:r>
              <a:rPr lang="en-US" altLang="en-US" dirty="0">
                <a:solidFill>
                  <a:srgbClr val="0D0D0D"/>
                </a:solidFill>
                <a:latin typeface="Palatino Linotype" panose="02040502050505030304" pitchFamily="18" charset="0"/>
              </a:rPr>
              <a:t>b</a:t>
            </a:r>
            <a:r>
              <a:rPr kumimoji="0" lang="en-US" altLang="en-US" b="0" i="0" u="none" strike="noStrike" cap="none" normalizeH="0" baseline="0" dirty="0" smtClean="0">
                <a:ln>
                  <a:noFill/>
                </a:ln>
                <a:solidFill>
                  <a:srgbClr val="0D0D0D"/>
                </a:solidFill>
                <a:effectLst/>
                <a:latin typeface="Palatino Linotype" panose="02040502050505030304" pitchFamily="18" charset="0"/>
              </a:rPr>
              <a:t>ase is declared as </a:t>
            </a:r>
            <a:r>
              <a:rPr kumimoji="0" lang="en-US" altLang="en-US" b="1" i="0" u="none" strike="noStrike" cap="none" normalizeH="0" baseline="0" dirty="0" smtClean="0">
                <a:ln>
                  <a:noFill/>
                </a:ln>
                <a:solidFill>
                  <a:srgbClr val="0D0D0D"/>
                </a:solidFill>
                <a:effectLst/>
                <a:latin typeface="Palatino Linotype" panose="02040502050505030304" pitchFamily="18" charset="0"/>
              </a:rPr>
              <a:t>virtual</a:t>
            </a:r>
            <a:r>
              <a:rPr kumimoji="0" lang="en-US" altLang="en-US" b="0" i="0" u="none" strike="noStrike" cap="none" normalizeH="0" baseline="0" dirty="0" smtClean="0">
                <a:ln>
                  <a:noFill/>
                </a:ln>
                <a:solidFill>
                  <a:srgbClr val="0D0D0D"/>
                </a:solidFill>
                <a:effectLst/>
                <a:latin typeface="Palatino Linotype" panose="02040502050505030304" pitchFamily="18" charset="0"/>
              </a:rPr>
              <a:t>.</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This allows </a:t>
            </a:r>
            <a:r>
              <a:rPr lang="en-US" altLang="en-US" dirty="0" smtClean="0">
                <a:solidFill>
                  <a:srgbClr val="0D0D0D"/>
                </a:solidFill>
                <a:latin typeface="Palatino Linotype" panose="02040502050505030304" pitchFamily="18" charset="0"/>
              </a:rPr>
              <a:t>derived</a:t>
            </a:r>
            <a:r>
              <a:rPr kumimoji="0" lang="en-US" altLang="en-US" b="0" i="0" u="none" strike="noStrike" cap="none" normalizeH="0" baseline="0" dirty="0" smtClean="0">
                <a:ln>
                  <a:noFill/>
                </a:ln>
                <a:solidFill>
                  <a:srgbClr val="0D0D0D"/>
                </a:solidFill>
                <a:effectLst/>
                <a:latin typeface="Palatino Linotype" panose="02040502050505030304" pitchFamily="18" charset="0"/>
              </a:rPr>
              <a:t> to </a:t>
            </a:r>
            <a:r>
              <a:rPr kumimoji="0" lang="en-US" altLang="en-US" b="1" i="0" u="none" strike="noStrike" cap="none" normalizeH="0" baseline="0" dirty="0" smtClean="0">
                <a:ln>
                  <a:noFill/>
                </a:ln>
                <a:solidFill>
                  <a:srgbClr val="0D0D0D"/>
                </a:solidFill>
                <a:effectLst/>
                <a:latin typeface="Palatino Linotype" panose="02040502050505030304" pitchFamily="18" charset="0"/>
              </a:rPr>
              <a:t>override</a:t>
            </a:r>
            <a:r>
              <a:rPr kumimoji="0" lang="en-US" altLang="en-US" b="0" i="0" u="none" strike="noStrike" cap="none" normalizeH="0" baseline="0" dirty="0" smtClean="0">
                <a:ln>
                  <a:noFill/>
                </a:ln>
                <a:solidFill>
                  <a:srgbClr val="0D0D0D"/>
                </a:solidFill>
                <a:effectLst/>
                <a:latin typeface="Palatino Linotype" panose="02040502050505030304" pitchFamily="18" charset="0"/>
              </a:rPr>
              <a:t> </a:t>
            </a:r>
            <a:r>
              <a:rPr lang="en-US" altLang="en-US" dirty="0" smtClean="0">
                <a:solidFill>
                  <a:srgbClr val="0D0D0D"/>
                </a:solidFill>
                <a:latin typeface="Palatino Linotype" panose="02040502050505030304" pitchFamily="18" charset="0"/>
              </a:rPr>
              <a:t>print</a:t>
            </a:r>
            <a:r>
              <a:rPr kumimoji="0" lang="en-US" altLang="en-US" b="0" i="0" u="none" strike="noStrike" cap="none" normalizeH="0" baseline="0" dirty="0" smtClean="0">
                <a:ln>
                  <a:noFill/>
                </a:ln>
                <a:solidFill>
                  <a:srgbClr val="0D0D0D"/>
                </a:solidFill>
                <a:effectLst/>
                <a:latin typeface="Palatino Linotype" panose="02040502050505030304" pitchFamily="18" charset="0"/>
              </a:rPr>
              <a:t> with its own version.</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When you call </a:t>
            </a:r>
            <a:r>
              <a:rPr kumimoji="0" lang="en-US" altLang="en-US" b="0" i="0" u="none" strike="noStrike" cap="none" normalizeH="0" baseline="0" dirty="0" err="1" smtClean="0">
                <a:ln>
                  <a:noFill/>
                </a:ln>
                <a:solidFill>
                  <a:srgbClr val="0D0D0D"/>
                </a:solidFill>
                <a:effectLst/>
                <a:latin typeface="Palatino Linotype" panose="02040502050505030304" pitchFamily="18" charset="0"/>
              </a:rPr>
              <a:t>bptr</a:t>
            </a:r>
            <a:r>
              <a:rPr kumimoji="0" lang="en-US" altLang="en-US" b="0" i="0" u="none" strike="noStrike" cap="none" normalizeH="0" baseline="0" dirty="0" smtClean="0">
                <a:ln>
                  <a:noFill/>
                </a:ln>
                <a:solidFill>
                  <a:srgbClr val="0D0D0D"/>
                </a:solidFill>
                <a:effectLst/>
                <a:latin typeface="Palatino Linotype" panose="02040502050505030304" pitchFamily="18" charset="0"/>
              </a:rPr>
              <a:t>-&gt;</a:t>
            </a:r>
            <a:r>
              <a:rPr lang="en-US" altLang="en-US" dirty="0" smtClean="0">
                <a:solidFill>
                  <a:srgbClr val="0D0D0D"/>
                </a:solidFill>
                <a:latin typeface="Palatino Linotype" panose="02040502050505030304" pitchFamily="18" charset="0"/>
              </a:rPr>
              <a:t>print</a:t>
            </a:r>
            <a:r>
              <a:rPr kumimoji="0" lang="en-US" altLang="en-US" b="0" i="0" u="none" strike="noStrike" cap="none" normalizeH="0" baseline="0" dirty="0" smtClean="0">
                <a:ln>
                  <a:noFill/>
                </a:ln>
                <a:solidFill>
                  <a:srgbClr val="0D0D0D"/>
                </a:solidFill>
                <a:effectLst/>
                <a:latin typeface="Palatino Linotype" panose="02040502050505030304" pitchFamily="18" charset="0"/>
              </a:rPr>
              <a:t>(), the actual </a:t>
            </a:r>
            <a:r>
              <a:rPr kumimoji="0" lang="en-US" altLang="en-US" b="1" i="0" u="none" strike="noStrike" cap="none" normalizeH="0" baseline="0" dirty="0" smtClean="0">
                <a:ln>
                  <a:noFill/>
                </a:ln>
                <a:solidFill>
                  <a:srgbClr val="0D0D0D"/>
                </a:solidFill>
                <a:effectLst/>
                <a:latin typeface="Palatino Linotype" panose="02040502050505030304" pitchFamily="18" charset="0"/>
              </a:rPr>
              <a:t>object type</a:t>
            </a:r>
            <a:r>
              <a:rPr kumimoji="0" lang="en-US" altLang="en-US" b="0" i="0" u="none" strike="noStrike" cap="none" normalizeH="0" baseline="0" dirty="0" smtClean="0">
                <a:ln>
                  <a:noFill/>
                </a:ln>
                <a:solidFill>
                  <a:srgbClr val="0D0D0D"/>
                </a:solidFill>
                <a:effectLst/>
                <a:latin typeface="Palatino Linotype" panose="02040502050505030304" pitchFamily="18" charset="0"/>
              </a:rPr>
              <a:t> (in this case, </a:t>
            </a:r>
            <a:r>
              <a:rPr lang="en-US" altLang="en-US" dirty="0" smtClean="0">
                <a:solidFill>
                  <a:srgbClr val="0D0D0D"/>
                </a:solidFill>
                <a:latin typeface="Palatino Linotype" panose="02040502050505030304" pitchFamily="18" charset="0"/>
              </a:rPr>
              <a:t>derived</a:t>
            </a:r>
            <a:r>
              <a:rPr kumimoji="0" lang="en-US" altLang="en-US" b="0" i="0" u="none" strike="noStrike" cap="none" normalizeH="0" baseline="0" dirty="0" smtClean="0">
                <a:ln>
                  <a:noFill/>
                </a:ln>
                <a:solidFill>
                  <a:srgbClr val="0D0D0D"/>
                </a:solidFill>
                <a:effectLst/>
                <a:latin typeface="Palatino Linotype" panose="02040502050505030304" pitchFamily="18" charset="0"/>
              </a:rPr>
              <a:t>) determines which version of the function to execute.</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So, </a:t>
            </a:r>
            <a:r>
              <a:rPr lang="en-US" altLang="en-US" dirty="0">
                <a:solidFill>
                  <a:srgbClr val="0D0D0D"/>
                </a:solidFill>
                <a:latin typeface="Palatino Linotype" panose="02040502050505030304" pitchFamily="18" charset="0"/>
              </a:rPr>
              <a:t> </a:t>
            </a:r>
            <a:r>
              <a:rPr lang="en-US" altLang="en-US" dirty="0" err="1">
                <a:solidFill>
                  <a:srgbClr val="0D0D0D"/>
                </a:solidFill>
                <a:latin typeface="Palatino Linotype" panose="02040502050505030304" pitchFamily="18" charset="0"/>
              </a:rPr>
              <a:t>bptr</a:t>
            </a:r>
            <a:r>
              <a:rPr lang="en-US" altLang="en-US" dirty="0">
                <a:solidFill>
                  <a:srgbClr val="0D0D0D"/>
                </a:solidFill>
                <a:latin typeface="Palatino Linotype" panose="02040502050505030304" pitchFamily="18" charset="0"/>
              </a:rPr>
              <a:t>-&gt;print</a:t>
            </a:r>
            <a:r>
              <a:rPr lang="en-US" altLang="en-US" dirty="0" smtClean="0">
                <a:solidFill>
                  <a:srgbClr val="0D0D0D"/>
                </a:solidFill>
                <a:latin typeface="Palatino Linotype" panose="02040502050505030304" pitchFamily="18" charset="0"/>
              </a:rPr>
              <a:t>()</a:t>
            </a:r>
            <a:r>
              <a:rPr kumimoji="0" lang="en-US" altLang="en-US" b="0" i="0" u="none" strike="noStrike" cap="none" normalizeH="0" baseline="0" dirty="0" smtClean="0">
                <a:ln>
                  <a:noFill/>
                </a:ln>
                <a:solidFill>
                  <a:srgbClr val="0D0D0D"/>
                </a:solidFill>
                <a:effectLst/>
                <a:latin typeface="Palatino Linotype" panose="02040502050505030304" pitchFamily="18" charset="0"/>
              </a:rPr>
              <a:t> calls the </a:t>
            </a:r>
            <a:r>
              <a:rPr lang="en-US" altLang="en-US" dirty="0" err="1" smtClean="0">
                <a:solidFill>
                  <a:srgbClr val="0D0D0D"/>
                </a:solidFill>
                <a:latin typeface="Palatino Linotype" panose="02040502050505030304" pitchFamily="18" charset="0"/>
              </a:rPr>
              <a:t>derive’s</a:t>
            </a:r>
            <a:r>
              <a:rPr kumimoji="0" lang="en-US" altLang="en-US" b="0" i="0" u="none" strike="noStrike" cap="none" normalizeH="0" baseline="0" dirty="0" smtClean="0">
                <a:ln>
                  <a:noFill/>
                </a:ln>
                <a:solidFill>
                  <a:srgbClr val="0D0D0D"/>
                </a:solidFill>
                <a:effectLst/>
                <a:latin typeface="Palatino Linotype" panose="02040502050505030304" pitchFamily="18" charset="0"/>
              </a:rPr>
              <a:t> version of </a:t>
            </a:r>
            <a:r>
              <a:rPr lang="en-US" altLang="en-US" dirty="0" smtClean="0">
                <a:solidFill>
                  <a:srgbClr val="0D0D0D"/>
                </a:solidFill>
                <a:latin typeface="Palatino Linotype" panose="02040502050505030304" pitchFamily="18" charset="0"/>
              </a:rPr>
              <a:t>print</a:t>
            </a:r>
            <a:r>
              <a:rPr kumimoji="0" lang="en-US" altLang="en-US" b="0" i="0" u="none" strike="noStrike" cap="none" normalizeH="0" baseline="0" dirty="0" smtClean="0">
                <a:ln>
                  <a:noFill/>
                </a:ln>
                <a:solidFill>
                  <a:srgbClr val="0D0D0D"/>
                </a:solidFill>
                <a:effectLst/>
                <a:latin typeface="Palatino Linotype" panose="02040502050505030304" pitchFamily="18"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a:pPr>
            <a:endParaRPr kumimoji="0" lang="en-US" altLang="en-US" b="0" i="0" u="none" strike="noStrike" cap="none" normalizeH="0" baseline="0" dirty="0" smtClean="0">
              <a:ln>
                <a:noFill/>
              </a:ln>
              <a:solidFill>
                <a:srgbClr val="0D0D0D"/>
              </a:solidFill>
              <a:effectLst/>
              <a:latin typeface="Palatino Linotype" panose="02040502050505030304" pitchFamily="18" charset="0"/>
            </a:endParaRPr>
          </a:p>
          <a:p>
            <a:pPr lvl="0" algn="just" eaLnBrk="0" fontAlgn="base" hangingPunct="0">
              <a:spcBef>
                <a:spcPct val="0"/>
              </a:spcBef>
              <a:spcAft>
                <a:spcPct val="0"/>
              </a:spcAft>
              <a:buFontTx/>
              <a:buAutoNum type="arabicPeriod" startAt="2"/>
            </a:pPr>
            <a:r>
              <a:rPr kumimoji="0" lang="en-US" altLang="en-US" b="1" i="0" u="none" strike="noStrike" cap="none" normalizeH="0" baseline="0" dirty="0" smtClean="0">
                <a:ln>
                  <a:noFill/>
                </a:ln>
                <a:solidFill>
                  <a:srgbClr val="0D0D0D"/>
                </a:solidFill>
                <a:effectLst/>
                <a:latin typeface="Palatino Linotype" panose="02040502050505030304" pitchFamily="18" charset="0"/>
              </a:rPr>
              <a:t>Non-Virtual Function (</a:t>
            </a:r>
            <a:r>
              <a:rPr lang="en-US" altLang="en-US" dirty="0" smtClean="0">
                <a:solidFill>
                  <a:srgbClr val="0D0D0D"/>
                </a:solidFill>
                <a:latin typeface="Palatino Linotype" panose="02040502050505030304" pitchFamily="18" charset="0"/>
              </a:rPr>
              <a:t>display</a:t>
            </a:r>
            <a:r>
              <a:rPr kumimoji="0" lang="en-US" altLang="en-US" b="1" i="0" u="none" strike="noStrike" cap="none" normalizeH="0" baseline="0" dirty="0" smtClean="0">
                <a:ln>
                  <a:noFill/>
                </a:ln>
                <a:solidFill>
                  <a:srgbClr val="0D0D0D"/>
                </a:solidFill>
                <a:effectLst/>
                <a:latin typeface="Palatino Linotype" panose="02040502050505030304" pitchFamily="18" charset="0"/>
              </a:rPr>
              <a:t>)</a:t>
            </a:r>
            <a:r>
              <a:rPr lang="en-US" altLang="en-US" dirty="0" smtClean="0">
                <a:solidFill>
                  <a:srgbClr val="0D0D0D"/>
                </a:solidFill>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The function </a:t>
            </a:r>
            <a:r>
              <a:rPr lang="en-US" altLang="en-US" dirty="0" smtClean="0">
                <a:solidFill>
                  <a:srgbClr val="0D0D0D"/>
                </a:solidFill>
                <a:latin typeface="Palatino Linotype" panose="02040502050505030304" pitchFamily="18" charset="0"/>
              </a:rPr>
              <a:t>display</a:t>
            </a:r>
            <a:r>
              <a:rPr kumimoji="0" lang="en-US" altLang="en-US" b="0" i="0" u="none" strike="noStrike" cap="none" normalizeH="0" baseline="0" dirty="0" smtClean="0">
                <a:ln>
                  <a:noFill/>
                </a:ln>
                <a:solidFill>
                  <a:srgbClr val="0D0D0D"/>
                </a:solidFill>
                <a:effectLst/>
                <a:latin typeface="Palatino Linotype" panose="02040502050505030304" pitchFamily="18" charset="0"/>
              </a:rPr>
              <a:t> in </a:t>
            </a:r>
            <a:r>
              <a:rPr lang="en-US" altLang="en-US" dirty="0" smtClean="0">
                <a:solidFill>
                  <a:srgbClr val="0D0D0D"/>
                </a:solidFill>
                <a:latin typeface="Palatino Linotype" panose="02040502050505030304" pitchFamily="18" charset="0"/>
              </a:rPr>
              <a:t>base</a:t>
            </a:r>
            <a:r>
              <a:rPr kumimoji="0" lang="en-US" altLang="en-US" b="0" i="0" u="none" strike="noStrike" cap="none" normalizeH="0" baseline="0" dirty="0" smtClean="0">
                <a:ln>
                  <a:noFill/>
                </a:ln>
                <a:solidFill>
                  <a:srgbClr val="0D0D0D"/>
                </a:solidFill>
                <a:effectLst/>
                <a:latin typeface="Palatino Linotype" panose="02040502050505030304" pitchFamily="18" charset="0"/>
              </a:rPr>
              <a:t> is </a:t>
            </a:r>
            <a:r>
              <a:rPr kumimoji="0" lang="en-US" altLang="en-US" b="1" i="0" u="none" strike="noStrike" cap="none" normalizeH="0" baseline="0" dirty="0" smtClean="0">
                <a:ln>
                  <a:noFill/>
                </a:ln>
                <a:solidFill>
                  <a:srgbClr val="0D0D0D"/>
                </a:solidFill>
                <a:effectLst/>
                <a:latin typeface="Palatino Linotype" panose="02040502050505030304" pitchFamily="18" charset="0"/>
              </a:rPr>
              <a:t>not virtual</a:t>
            </a:r>
            <a:r>
              <a:rPr kumimoji="0" lang="en-US" altLang="en-US" b="0" i="0" u="none" strike="noStrike" cap="none" normalizeH="0" baseline="0" dirty="0" smtClean="0">
                <a:ln>
                  <a:noFill/>
                </a:ln>
                <a:solidFill>
                  <a:srgbClr val="0D0D0D"/>
                </a:solidFill>
                <a:effectLst/>
                <a:latin typeface="Palatino Linotype" panose="02040502050505030304" pitchFamily="18" charset="0"/>
              </a:rPr>
              <a:t>.</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This means the function is resolved at </a:t>
            </a:r>
            <a:r>
              <a:rPr kumimoji="0" lang="en-US" altLang="en-US" b="1" i="0" u="none" strike="noStrike" cap="none" normalizeH="0" baseline="0" dirty="0" smtClean="0">
                <a:ln>
                  <a:noFill/>
                </a:ln>
                <a:solidFill>
                  <a:srgbClr val="0D0D0D"/>
                </a:solidFill>
                <a:effectLst/>
                <a:latin typeface="Palatino Linotype" panose="02040502050505030304" pitchFamily="18" charset="0"/>
              </a:rPr>
              <a:t>compile time</a:t>
            </a:r>
            <a:r>
              <a:rPr kumimoji="0" lang="en-US" altLang="en-US" b="0" i="0" u="none" strike="noStrike" cap="none" normalizeH="0" baseline="0" dirty="0" smtClean="0">
                <a:ln>
                  <a:noFill/>
                </a:ln>
                <a:solidFill>
                  <a:srgbClr val="0D0D0D"/>
                </a:solidFill>
                <a:effectLst/>
                <a:latin typeface="Palatino Linotype" panose="02040502050505030304" pitchFamily="18" charset="0"/>
              </a:rPr>
              <a:t>, based on the type of the pointer (</a:t>
            </a:r>
            <a:r>
              <a:rPr lang="en-US" altLang="en-US" dirty="0">
                <a:solidFill>
                  <a:srgbClr val="0D0D0D"/>
                </a:solidFill>
                <a:latin typeface="Palatino Linotype" panose="02040502050505030304" pitchFamily="18" charset="0"/>
              </a:rPr>
              <a:t>b</a:t>
            </a:r>
            <a:r>
              <a:rPr kumimoji="0" lang="en-US" altLang="en-US" b="0" i="0" u="none" strike="noStrike" cap="none" normalizeH="0" baseline="0" dirty="0" smtClean="0">
                <a:ln>
                  <a:noFill/>
                </a:ln>
                <a:solidFill>
                  <a:srgbClr val="0D0D0D"/>
                </a:solidFill>
                <a:effectLst/>
                <a:latin typeface="Palatino Linotype" panose="02040502050505030304" pitchFamily="18" charset="0"/>
              </a:rPr>
              <a:t>ase*).</a:t>
            </a:r>
            <a:r>
              <a:rPr kumimoji="0" lang="en-US" altLang="en-US" b="0" i="0" u="none" strike="noStrike" cap="none" normalizeH="0" dirty="0" smtClean="0">
                <a:ln>
                  <a:noFill/>
                </a:ln>
                <a:solidFill>
                  <a:srgbClr val="0D0D0D"/>
                </a:solidFill>
                <a:effectLst/>
                <a:latin typeface="Palatino Linotype" panose="02040502050505030304" pitchFamily="18" charset="0"/>
              </a:rPr>
              <a:t> </a:t>
            </a:r>
            <a:r>
              <a:rPr kumimoji="0" lang="en-US" altLang="en-US" b="0" i="0" u="none" strike="noStrike" cap="none" normalizeH="0" baseline="0" dirty="0" smtClean="0">
                <a:ln>
                  <a:noFill/>
                </a:ln>
                <a:solidFill>
                  <a:srgbClr val="0D0D0D"/>
                </a:solidFill>
                <a:effectLst/>
                <a:latin typeface="Palatino Linotype" panose="02040502050505030304" pitchFamily="18" charset="0"/>
              </a:rPr>
              <a:t>So, </a:t>
            </a:r>
            <a:r>
              <a:rPr lang="en-US" altLang="en-US" dirty="0">
                <a:solidFill>
                  <a:srgbClr val="0D0D0D"/>
                </a:solidFill>
                <a:latin typeface="Palatino Linotype" panose="02040502050505030304" pitchFamily="18" charset="0"/>
              </a:rPr>
              <a:t> </a:t>
            </a:r>
            <a:r>
              <a:rPr lang="en-US" altLang="en-US" dirty="0" err="1">
                <a:solidFill>
                  <a:srgbClr val="0D0D0D"/>
                </a:solidFill>
                <a:latin typeface="Palatino Linotype" panose="02040502050505030304" pitchFamily="18" charset="0"/>
              </a:rPr>
              <a:t>bptr</a:t>
            </a:r>
            <a:r>
              <a:rPr lang="en-US" altLang="en-US" dirty="0">
                <a:solidFill>
                  <a:srgbClr val="0D0D0D"/>
                </a:solidFill>
                <a:latin typeface="Palatino Linotype" panose="02040502050505030304" pitchFamily="18" charset="0"/>
              </a:rPr>
              <a:t>-</a:t>
            </a:r>
            <a:r>
              <a:rPr lang="en-US" altLang="en-US" dirty="0" smtClean="0">
                <a:solidFill>
                  <a:srgbClr val="0D0D0D"/>
                </a:solidFill>
                <a:latin typeface="Palatino Linotype" panose="02040502050505030304" pitchFamily="18" charset="0"/>
              </a:rPr>
              <a:t>&gt;display(), </a:t>
            </a:r>
            <a:r>
              <a:rPr lang="en-US" altLang="en-US" dirty="0">
                <a:solidFill>
                  <a:srgbClr val="0D0D0D"/>
                </a:solidFill>
                <a:latin typeface="Palatino Linotype" panose="02040502050505030304" pitchFamily="18" charset="0"/>
              </a:rPr>
              <a:t>calls </a:t>
            </a:r>
            <a:r>
              <a:rPr kumimoji="0" lang="en-US" altLang="en-US" b="0" i="0" u="none" strike="noStrike" cap="none" normalizeH="0" baseline="0" dirty="0" smtClean="0">
                <a:ln>
                  <a:noFill/>
                </a:ln>
                <a:solidFill>
                  <a:srgbClr val="0D0D0D"/>
                </a:solidFill>
                <a:effectLst/>
                <a:latin typeface="Palatino Linotype" panose="02040502050505030304" pitchFamily="18" charset="0"/>
              </a:rPr>
              <a:t>the </a:t>
            </a:r>
            <a:r>
              <a:rPr lang="en-US" altLang="en-US" dirty="0" smtClean="0">
                <a:solidFill>
                  <a:srgbClr val="0D0D0D"/>
                </a:solidFill>
                <a:latin typeface="Palatino Linotype" panose="02040502050505030304" pitchFamily="18" charset="0"/>
              </a:rPr>
              <a:t>base</a:t>
            </a:r>
            <a:r>
              <a:rPr kumimoji="0" lang="en-US" altLang="en-US" b="0" i="0" u="none" strike="noStrike" cap="none" normalizeH="0" baseline="0" dirty="0" smtClean="0">
                <a:ln>
                  <a:noFill/>
                </a:ln>
                <a:solidFill>
                  <a:srgbClr val="0D0D0D"/>
                </a:solidFill>
                <a:effectLst/>
                <a:latin typeface="Palatino Linotype" panose="02040502050505030304" pitchFamily="18" charset="0"/>
              </a:rPr>
              <a:t>'s version of </a:t>
            </a:r>
            <a:r>
              <a:rPr lang="en-US" altLang="en-US" dirty="0" smtClean="0">
                <a:solidFill>
                  <a:srgbClr val="0D0D0D"/>
                </a:solidFill>
                <a:latin typeface="Palatino Linotype" panose="02040502050505030304" pitchFamily="18" charset="0"/>
              </a:rPr>
              <a:t>display</a:t>
            </a:r>
            <a:r>
              <a:rPr kumimoji="0" lang="en-US" altLang="en-US" b="0" i="0" u="none" strike="noStrike" cap="none" normalizeH="0" baseline="0" dirty="0" smtClean="0">
                <a:ln>
                  <a:noFill/>
                </a:ln>
                <a:solidFill>
                  <a:srgbClr val="0D0D0D"/>
                </a:solidFill>
                <a:effectLst/>
                <a:latin typeface="Palatino Linotype" panose="02040502050505030304" pitchFamily="18" charset="0"/>
              </a:rPr>
              <a:t>, even though the pointer points to a </a:t>
            </a:r>
            <a:r>
              <a:rPr lang="en-US" altLang="en-US" dirty="0" smtClean="0">
                <a:solidFill>
                  <a:srgbClr val="0D0D0D"/>
                </a:solidFill>
                <a:latin typeface="Palatino Linotype" panose="02040502050505030304" pitchFamily="18" charset="0"/>
              </a:rPr>
              <a:t>derive</a:t>
            </a:r>
            <a:r>
              <a:rPr kumimoji="0" lang="en-US" altLang="en-US" b="0" i="0" u="none" strike="noStrike" cap="none" normalizeH="0" baseline="0" dirty="0" smtClean="0">
                <a:ln>
                  <a:noFill/>
                </a:ln>
                <a:solidFill>
                  <a:srgbClr val="0D0D0D"/>
                </a:solidFill>
                <a:effectLst/>
                <a:latin typeface="Palatino Linotype" panose="02040502050505030304" pitchFamily="18" charset="0"/>
              </a:rPr>
              <a:t> object.</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4595812" y="1741487"/>
            <a:ext cx="3735388" cy="139541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02844" y="0"/>
            <a:ext cx="6109253" cy="1323439"/>
          </a:xfrm>
          <a:prstGeom prst="rect">
            <a:avLst/>
          </a:prstGeom>
        </p:spPr>
        <p:txBody>
          <a:bodyPr wrap="square">
            <a:spAutoFit/>
          </a:bodyPr>
          <a:lstStyle/>
          <a:p>
            <a:pPr algn="ctr"/>
            <a:r>
              <a:rPr lang="en-US" sz="4000" b="1" dirty="0">
                <a:solidFill>
                  <a:schemeClr val="accent1">
                    <a:lumMod val="75000"/>
                  </a:schemeClr>
                </a:solidFill>
                <a:latin typeface="Palatino Linotype" panose="02040502050505030304" pitchFamily="18" charset="0"/>
              </a:rPr>
              <a:t>Virtual Functions</a:t>
            </a:r>
            <a:br>
              <a:rPr lang="en-US" sz="4000" b="1" dirty="0">
                <a:solidFill>
                  <a:schemeClr val="accent1">
                    <a:lumMod val="75000"/>
                  </a:schemeClr>
                </a:solidFill>
                <a:latin typeface="Palatino Linotype" panose="02040502050505030304" pitchFamily="18" charset="0"/>
              </a:rPr>
            </a:br>
            <a:endParaRPr lang="en-US" sz="4000" dirty="0"/>
          </a:p>
        </p:txBody>
      </p:sp>
      <p:pic>
        <p:nvPicPr>
          <p:cNvPr id="3" name="Picture 2"/>
          <p:cNvPicPr>
            <a:picLocks noChangeAspect="1"/>
          </p:cNvPicPr>
          <p:nvPr/>
        </p:nvPicPr>
        <p:blipFill>
          <a:blip r:embed="rId2"/>
          <a:stretch>
            <a:fillRect/>
          </a:stretch>
        </p:blipFill>
        <p:spPr>
          <a:xfrm>
            <a:off x="3119188" y="90999"/>
            <a:ext cx="5953638" cy="6076121"/>
          </a:xfrm>
          <a:prstGeom prst="rect">
            <a:avLst/>
          </a:prstGeom>
        </p:spPr>
      </p:pic>
      <p:pic>
        <p:nvPicPr>
          <p:cNvPr id="5" name="Picture 4"/>
          <p:cNvPicPr>
            <a:picLocks noChangeAspect="1"/>
          </p:cNvPicPr>
          <p:nvPr/>
        </p:nvPicPr>
        <p:blipFill>
          <a:blip r:embed="rId3"/>
          <a:stretch>
            <a:fillRect/>
          </a:stretch>
        </p:blipFill>
        <p:spPr>
          <a:xfrm>
            <a:off x="6391910" y="946150"/>
            <a:ext cx="4439285" cy="42075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77140" y="517422"/>
            <a:ext cx="7716078" cy="769441"/>
          </a:xfrm>
          <a:prstGeom prst="rect">
            <a:avLst/>
          </a:prstGeom>
          <a:noFill/>
        </p:spPr>
        <p:txBody>
          <a:bodyPr wrap="square" rtlCol="0">
            <a:spAutoFit/>
          </a:bodyPr>
          <a:lstStyle/>
          <a:p>
            <a:r>
              <a:rPr lang="en-US" sz="4300" b="1" dirty="0" smtClean="0">
                <a:solidFill>
                  <a:schemeClr val="accent1">
                    <a:lumMod val="75000"/>
                  </a:schemeClr>
                </a:solidFill>
                <a:latin typeface="Palatino Linotype" panose="02040502050505030304" pitchFamily="18" charset="0"/>
              </a:rPr>
              <a:t>Virtual Function</a:t>
            </a:r>
            <a:endParaRPr lang="en-US" sz="4300" b="1" dirty="0">
              <a:solidFill>
                <a:schemeClr val="accent1">
                  <a:lumMod val="75000"/>
                </a:schemeClr>
              </a:solidFill>
              <a:latin typeface="Palatino Linotype" panose="02040502050505030304" pitchFamily="18" charset="0"/>
            </a:endParaRPr>
          </a:p>
        </p:txBody>
      </p:sp>
      <p:sp>
        <p:nvSpPr>
          <p:cNvPr id="4" name="Rectangle 2"/>
          <p:cNvSpPr>
            <a:spLocks noChangeArrowheads="1"/>
          </p:cNvSpPr>
          <p:nvPr/>
        </p:nvSpPr>
        <p:spPr bwMode="auto">
          <a:xfrm rot="10800000" flipV="1">
            <a:off x="1003850" y="3363938"/>
            <a:ext cx="10287002"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endParaRPr kumimoji="0" lang="en-US" altLang="en-US" sz="2000" b="0" i="0" u="none" strike="noStrike" cap="none" normalizeH="0" baseline="0" dirty="0" smtClean="0">
              <a:ln>
                <a:noFill/>
              </a:ln>
              <a:solidFill>
                <a:schemeClr val="tx1"/>
              </a:solidFill>
              <a:effectLst/>
              <a:latin typeface="Palatino Linotype" panose="02040502050505030304" pitchFamily="18" charset="0"/>
            </a:endParaRPr>
          </a:p>
          <a:p>
            <a:pPr lvl="0" algn="just" eaLnBrk="0" fontAlgn="base" hangingPunct="0">
              <a:spcBef>
                <a:spcPct val="0"/>
              </a:spcBef>
              <a:spcAft>
                <a:spcPct val="0"/>
              </a:spcAft>
            </a:pPr>
            <a:r>
              <a:rPr lang="en-US" altLang="en-US" sz="2000" b="1" dirty="0">
                <a:latin typeface="Palatino Linotype" panose="02040502050505030304" pitchFamily="18" charset="0"/>
              </a:rPr>
              <a:t>Explanation: </a:t>
            </a:r>
            <a:r>
              <a:rPr lang="en-US" altLang="en-US" dirty="0">
                <a:latin typeface="Palatino Linotype" panose="02040502050505030304" pitchFamily="18" charset="0"/>
              </a:rPr>
              <a:t>As you can see, the example program creates three classes. The base class </a:t>
            </a:r>
            <a:r>
              <a:rPr lang="en-US" altLang="en-US" dirty="0" smtClean="0">
                <a:latin typeface="Palatino Linotype" panose="02040502050505030304" pitchFamily="18" charset="0"/>
              </a:rPr>
              <a:t>defines </a:t>
            </a:r>
            <a:r>
              <a:rPr lang="en-US" altLang="en-US" dirty="0">
                <a:latin typeface="Palatino Linotype" panose="02040502050505030304" pitchFamily="18" charset="0"/>
              </a:rPr>
              <a:t>the</a:t>
            </a:r>
          </a:p>
          <a:p>
            <a:pPr lvl="0" algn="just" eaLnBrk="0" fontAlgn="base" hangingPunct="0">
              <a:spcBef>
                <a:spcPct val="0"/>
              </a:spcBef>
              <a:spcAft>
                <a:spcPct val="0"/>
              </a:spcAft>
            </a:pPr>
            <a:r>
              <a:rPr lang="en-US" altLang="en-US" dirty="0">
                <a:latin typeface="Palatino Linotype" panose="02040502050505030304" pitchFamily="18" charset="0"/>
              </a:rPr>
              <a:t>virtual function </a:t>
            </a:r>
            <a:r>
              <a:rPr lang="en-US" altLang="en-US" dirty="0" err="1">
                <a:latin typeface="Palatino Linotype" panose="02040502050505030304" pitchFamily="18" charset="0"/>
              </a:rPr>
              <a:t>func</a:t>
            </a:r>
            <a:r>
              <a:rPr lang="en-US" altLang="en-US" dirty="0">
                <a:latin typeface="Palatino Linotype" panose="02040502050505030304" pitchFamily="18" charset="0"/>
              </a:rPr>
              <a:t>(). This class is then inherited by both derived1 and </a:t>
            </a:r>
            <a:r>
              <a:rPr lang="en-US" altLang="en-US" dirty="0" smtClean="0">
                <a:latin typeface="Palatino Linotype" panose="02040502050505030304" pitchFamily="18" charset="0"/>
              </a:rPr>
              <a:t>derived2. Each </a:t>
            </a:r>
            <a:r>
              <a:rPr lang="en-US" altLang="en-US" dirty="0">
                <a:latin typeface="Palatino Linotype" panose="02040502050505030304" pitchFamily="18" charset="0"/>
              </a:rPr>
              <a:t>of these classes overrides </a:t>
            </a:r>
            <a:r>
              <a:rPr lang="en-US" altLang="en-US" dirty="0" err="1">
                <a:latin typeface="Palatino Linotype" panose="02040502050505030304" pitchFamily="18" charset="0"/>
              </a:rPr>
              <a:t>func</a:t>
            </a:r>
            <a:r>
              <a:rPr lang="en-US" altLang="en-US" dirty="0">
                <a:latin typeface="Palatino Linotype" panose="02040502050505030304" pitchFamily="18" charset="0"/>
              </a:rPr>
              <a:t>() with its individual implementation. Inside main</a:t>
            </a:r>
            <a:r>
              <a:rPr lang="en-US" altLang="en-US" dirty="0" smtClean="0">
                <a:latin typeface="Palatino Linotype" panose="02040502050505030304" pitchFamily="18" charset="0"/>
              </a:rPr>
              <a:t>(), the </a:t>
            </a:r>
            <a:r>
              <a:rPr lang="en-US" altLang="en-US" dirty="0">
                <a:latin typeface="Palatino Linotype" panose="02040502050505030304" pitchFamily="18" charset="0"/>
              </a:rPr>
              <a:t>base class pointer p is declared along with objects of type base, derived1, </a:t>
            </a:r>
            <a:r>
              <a:rPr lang="en-US" altLang="en-US" dirty="0" smtClean="0">
                <a:latin typeface="Palatino Linotype" panose="02040502050505030304" pitchFamily="18" charset="0"/>
              </a:rPr>
              <a:t>and derived2</a:t>
            </a:r>
            <a:r>
              <a:rPr lang="en-US" altLang="en-US" dirty="0">
                <a:latin typeface="Palatino Linotype" panose="02040502050505030304" pitchFamily="18" charset="0"/>
              </a:rPr>
              <a:t>. First, p is assigned the address </a:t>
            </a:r>
            <a:r>
              <a:rPr lang="en-US" altLang="en-US" dirty="0" err="1">
                <a:latin typeface="Palatino Linotype" panose="02040502050505030304" pitchFamily="18" charset="0"/>
              </a:rPr>
              <a:t>ob</a:t>
            </a:r>
            <a:r>
              <a:rPr lang="en-US" altLang="en-US" dirty="0">
                <a:latin typeface="Palatino Linotype" panose="02040502050505030304" pitchFamily="18" charset="0"/>
              </a:rPr>
              <a:t> </a:t>
            </a:r>
            <a:r>
              <a:rPr lang="en-US" altLang="en-US" dirty="0" err="1">
                <a:latin typeface="Palatino Linotype" panose="02040502050505030304" pitchFamily="18" charset="0"/>
              </a:rPr>
              <a:t>ob</a:t>
            </a:r>
            <a:r>
              <a:rPr lang="en-US" altLang="en-US" dirty="0">
                <a:latin typeface="Palatino Linotype" panose="02040502050505030304" pitchFamily="18" charset="0"/>
              </a:rPr>
              <a:t> (an object of type base). When </a:t>
            </a:r>
            <a:r>
              <a:rPr lang="en-US" altLang="en-US" dirty="0" err="1">
                <a:latin typeface="Palatino Linotype" panose="02040502050505030304" pitchFamily="18" charset="0"/>
              </a:rPr>
              <a:t>func</a:t>
            </a:r>
            <a:r>
              <a:rPr lang="en-US" altLang="en-US" dirty="0" smtClean="0">
                <a:latin typeface="Palatino Linotype" panose="02040502050505030304" pitchFamily="18" charset="0"/>
              </a:rPr>
              <a:t>() is </a:t>
            </a:r>
            <a:r>
              <a:rPr lang="en-US" altLang="en-US" dirty="0">
                <a:latin typeface="Palatino Linotype" panose="02040502050505030304" pitchFamily="18" charset="0"/>
              </a:rPr>
              <a:t>called by using [, it is the version in base that is used. Next, p is assigned the </a:t>
            </a:r>
            <a:r>
              <a:rPr lang="en-US" altLang="en-US" dirty="0" smtClean="0">
                <a:latin typeface="Palatino Linotype" panose="02040502050505030304" pitchFamily="18" charset="0"/>
              </a:rPr>
              <a:t>address of </a:t>
            </a:r>
            <a:r>
              <a:rPr lang="en-US" altLang="en-US" dirty="0">
                <a:latin typeface="Palatino Linotype" panose="02040502050505030304" pitchFamily="18" charset="0"/>
              </a:rPr>
              <a:t>d ob1 and </a:t>
            </a:r>
            <a:r>
              <a:rPr lang="en-US" altLang="en-US" dirty="0" err="1">
                <a:latin typeface="Palatino Linotype" panose="02040502050505030304" pitchFamily="18" charset="0"/>
              </a:rPr>
              <a:t>func</a:t>
            </a:r>
            <a:r>
              <a:rPr lang="en-US" altLang="en-US" dirty="0">
                <a:latin typeface="Palatino Linotype" panose="02040502050505030304" pitchFamily="18" charset="0"/>
              </a:rPr>
              <a:t>() is called again. Because it is the type of the object pointed to </a:t>
            </a:r>
            <a:r>
              <a:rPr lang="en-US" altLang="en-US" dirty="0" smtClean="0">
                <a:latin typeface="Palatino Linotype" panose="02040502050505030304" pitchFamily="18" charset="0"/>
              </a:rPr>
              <a:t>that determines </a:t>
            </a:r>
            <a:r>
              <a:rPr lang="en-US" altLang="en-US" dirty="0">
                <a:latin typeface="Palatino Linotype" panose="02040502050505030304" pitchFamily="18" charset="0"/>
              </a:rPr>
              <a:t>which virtual function will be called, this time it is the overridden </a:t>
            </a:r>
            <a:r>
              <a:rPr lang="en-US" altLang="en-US" dirty="0" smtClean="0">
                <a:latin typeface="Palatino Linotype" panose="02040502050505030304" pitchFamily="18" charset="0"/>
              </a:rPr>
              <a:t>version in </a:t>
            </a:r>
            <a:r>
              <a:rPr lang="en-US" altLang="en-US" dirty="0">
                <a:latin typeface="Palatino Linotype" panose="02040502050505030304" pitchFamily="18" charset="0"/>
              </a:rPr>
              <a:t>derived1 that is executed. Finally, p is assigned the address of d ob2 and </a:t>
            </a:r>
            <a:r>
              <a:rPr lang="en-US" altLang="en-US" dirty="0" err="1">
                <a:latin typeface="Palatino Linotype" panose="02040502050505030304" pitchFamily="18" charset="0"/>
              </a:rPr>
              <a:t>func</a:t>
            </a:r>
            <a:r>
              <a:rPr lang="en-US" altLang="en-US" dirty="0" smtClean="0">
                <a:latin typeface="Palatino Linotype" panose="02040502050505030304" pitchFamily="18" charset="0"/>
              </a:rPr>
              <a:t>() is </a:t>
            </a:r>
            <a:r>
              <a:rPr lang="en-US" altLang="en-US" dirty="0">
                <a:latin typeface="Palatino Linotype" panose="02040502050505030304" pitchFamily="18" charset="0"/>
              </a:rPr>
              <a:t>called again, This time, it is the version of </a:t>
            </a:r>
            <a:r>
              <a:rPr lang="en-US" altLang="en-US" dirty="0" err="1">
                <a:latin typeface="Palatino Linotype" panose="02040502050505030304" pitchFamily="18" charset="0"/>
              </a:rPr>
              <a:t>func</a:t>
            </a:r>
            <a:r>
              <a:rPr lang="en-US" altLang="en-US" dirty="0">
                <a:latin typeface="Palatino Linotype" panose="02040502050505030304" pitchFamily="18" charset="0"/>
              </a:rPr>
              <a:t>() </a:t>
            </a:r>
            <a:r>
              <a:rPr lang="en-US" altLang="en-US" dirty="0" smtClean="0">
                <a:latin typeface="Palatino Linotype" panose="02040502050505030304" pitchFamily="18" charset="0"/>
              </a:rPr>
              <a:t>defined </a:t>
            </a:r>
            <a:r>
              <a:rPr lang="en-US" altLang="en-US" dirty="0">
                <a:latin typeface="Palatino Linotype" panose="02040502050505030304" pitchFamily="18" charset="0"/>
              </a:rPr>
              <a:t>inside derived2 that </a:t>
            </a:r>
            <a:r>
              <a:rPr lang="en-US" altLang="en-US" dirty="0" smtClean="0">
                <a:latin typeface="Palatino Linotype" panose="02040502050505030304" pitchFamily="18" charset="0"/>
              </a:rPr>
              <a:t>is executed.</a:t>
            </a:r>
            <a:endParaRPr kumimoji="0" lang="en-US" altLang="en-US" i="0" u="none" strike="noStrike" cap="none" normalizeH="0" baseline="0" dirty="0" smtClean="0">
              <a:ln>
                <a:noFill/>
              </a:ln>
              <a:solidFill>
                <a:schemeClr val="tx1"/>
              </a:solidFill>
              <a:effectLst/>
              <a:latin typeface="Palatino Linotype" panose="02040502050505030304" pitchFamily="18" charset="0"/>
            </a:endParaRPr>
          </a:p>
        </p:txBody>
      </p:sp>
      <p:pic>
        <p:nvPicPr>
          <p:cNvPr id="3" name="Picture 2"/>
          <p:cNvPicPr>
            <a:picLocks noChangeAspect="1"/>
          </p:cNvPicPr>
          <p:nvPr/>
        </p:nvPicPr>
        <p:blipFill>
          <a:blip r:embed="rId2"/>
          <a:stretch>
            <a:fillRect/>
          </a:stretch>
        </p:blipFill>
        <p:spPr>
          <a:xfrm>
            <a:off x="3340614" y="1590261"/>
            <a:ext cx="5869647" cy="202336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02844" y="0"/>
            <a:ext cx="6109253" cy="1323439"/>
          </a:xfrm>
          <a:prstGeom prst="rect">
            <a:avLst/>
          </a:prstGeom>
        </p:spPr>
        <p:txBody>
          <a:bodyPr wrap="square">
            <a:spAutoFit/>
          </a:bodyPr>
          <a:lstStyle/>
          <a:p>
            <a:pPr algn="ctr"/>
            <a:r>
              <a:rPr lang="en-US" sz="4000" b="1" dirty="0">
                <a:solidFill>
                  <a:schemeClr val="accent1">
                    <a:lumMod val="75000"/>
                  </a:schemeClr>
                </a:solidFill>
                <a:latin typeface="Palatino Linotype" panose="02040502050505030304" pitchFamily="18" charset="0"/>
              </a:rPr>
              <a:t>Virtual Functions</a:t>
            </a:r>
            <a:br>
              <a:rPr lang="en-US" sz="4000" b="1" dirty="0">
                <a:solidFill>
                  <a:schemeClr val="accent1">
                    <a:lumMod val="75000"/>
                  </a:schemeClr>
                </a:solidFill>
                <a:latin typeface="Palatino Linotype" panose="02040502050505030304" pitchFamily="18" charset="0"/>
              </a:rPr>
            </a:br>
            <a:endParaRPr lang="en-US" sz="4000" dirty="0"/>
          </a:p>
        </p:txBody>
      </p:sp>
      <p:pic>
        <p:nvPicPr>
          <p:cNvPr id="2" name="Picture 1"/>
          <p:cNvPicPr>
            <a:picLocks noChangeAspect="1"/>
          </p:cNvPicPr>
          <p:nvPr/>
        </p:nvPicPr>
        <p:blipFill>
          <a:blip r:embed="rId2"/>
          <a:stretch>
            <a:fillRect/>
          </a:stretch>
        </p:blipFill>
        <p:spPr>
          <a:xfrm>
            <a:off x="5523603" y="820745"/>
            <a:ext cx="5541962" cy="6037255"/>
          </a:xfrm>
          <a:prstGeom prst="rect">
            <a:avLst/>
          </a:prstGeom>
        </p:spPr>
      </p:pic>
      <p:sp>
        <p:nvSpPr>
          <p:cNvPr id="7" name="TextBox 6"/>
          <p:cNvSpPr txBox="1"/>
          <p:nvPr/>
        </p:nvSpPr>
        <p:spPr>
          <a:xfrm>
            <a:off x="622861" y="1972796"/>
            <a:ext cx="4359965" cy="2800767"/>
          </a:xfrm>
          <a:prstGeom prst="rect">
            <a:avLst/>
          </a:prstGeom>
          <a:noFill/>
        </p:spPr>
        <p:txBody>
          <a:bodyPr wrap="square" rtlCol="0">
            <a:spAutoFit/>
          </a:bodyPr>
          <a:lstStyle/>
          <a:p>
            <a:pPr algn="just"/>
            <a:r>
              <a:rPr lang="en-US" sz="2200" dirty="0">
                <a:latin typeface="Palatino Linotype" panose="02040502050505030304" pitchFamily="18" charset="0"/>
              </a:rPr>
              <a:t>Virtual functions are hierarchical in order of inheritance. Further, when a derived </a:t>
            </a:r>
            <a:r>
              <a:rPr lang="en-US" sz="2200" dirty="0" smtClean="0">
                <a:latin typeface="Palatino Linotype" panose="02040502050505030304" pitchFamily="18" charset="0"/>
              </a:rPr>
              <a:t>class does </a:t>
            </a:r>
            <a:r>
              <a:rPr lang="en-US" sz="2200" dirty="0">
                <a:latin typeface="Palatino Linotype" panose="02040502050505030304" pitchFamily="18" charset="0"/>
              </a:rPr>
              <a:t>not override a virtual function, the function </a:t>
            </a:r>
            <a:r>
              <a:rPr lang="en-US" sz="2200" dirty="0" smtClean="0">
                <a:latin typeface="Palatino Linotype" panose="02040502050505030304" pitchFamily="18" charset="0"/>
              </a:rPr>
              <a:t>defined </a:t>
            </a:r>
            <a:r>
              <a:rPr lang="en-US" sz="2200" dirty="0">
                <a:latin typeface="Palatino Linotype" panose="02040502050505030304" pitchFamily="18" charset="0"/>
              </a:rPr>
              <a:t>within its base class is used. </a:t>
            </a:r>
            <a:r>
              <a:rPr lang="en-US" sz="2200" dirty="0" smtClean="0">
                <a:latin typeface="Palatino Linotype" panose="02040502050505030304" pitchFamily="18" charset="0"/>
              </a:rPr>
              <a:t>For example</a:t>
            </a:r>
            <a:r>
              <a:rPr lang="en-US" sz="2200" dirty="0">
                <a:latin typeface="Palatino Linotype" panose="02040502050505030304" pitchFamily="18" charset="0"/>
              </a:rPr>
              <a:t>, here is a slightly </a:t>
            </a:r>
            <a:r>
              <a:rPr lang="en-US" sz="2200" dirty="0" smtClean="0">
                <a:latin typeface="Palatino Linotype" panose="02040502050505030304" pitchFamily="18" charset="0"/>
              </a:rPr>
              <a:t>different </a:t>
            </a:r>
            <a:r>
              <a:rPr lang="en-US" sz="2200" dirty="0">
                <a:latin typeface="Palatino Linotype" panose="02040502050505030304" pitchFamily="18" charset="0"/>
              </a:rPr>
              <a:t>version of the preceding program: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02844" y="0"/>
            <a:ext cx="6109253" cy="1323439"/>
          </a:xfrm>
          <a:prstGeom prst="rect">
            <a:avLst/>
          </a:prstGeom>
        </p:spPr>
        <p:txBody>
          <a:bodyPr wrap="square">
            <a:spAutoFit/>
          </a:bodyPr>
          <a:lstStyle/>
          <a:p>
            <a:pPr algn="ctr"/>
            <a:r>
              <a:rPr lang="en-US" sz="4000" b="1" dirty="0">
                <a:solidFill>
                  <a:schemeClr val="accent1">
                    <a:lumMod val="75000"/>
                  </a:schemeClr>
                </a:solidFill>
                <a:latin typeface="Palatino Linotype" panose="02040502050505030304" pitchFamily="18" charset="0"/>
              </a:rPr>
              <a:t>Virtual Functions</a:t>
            </a:r>
            <a:br>
              <a:rPr lang="en-US" sz="4000" b="1" dirty="0">
                <a:solidFill>
                  <a:schemeClr val="accent1">
                    <a:lumMod val="75000"/>
                  </a:schemeClr>
                </a:solidFill>
                <a:latin typeface="Palatino Linotype" panose="02040502050505030304" pitchFamily="18" charset="0"/>
              </a:rPr>
            </a:br>
            <a:endParaRPr lang="en-US" sz="4000" dirty="0"/>
          </a:p>
        </p:txBody>
      </p:sp>
      <p:pic>
        <p:nvPicPr>
          <p:cNvPr id="6" name="Picture 5"/>
          <p:cNvPicPr>
            <a:picLocks noChangeAspect="1"/>
          </p:cNvPicPr>
          <p:nvPr/>
        </p:nvPicPr>
        <p:blipFill>
          <a:blip r:embed="rId2"/>
          <a:stretch>
            <a:fillRect/>
          </a:stretch>
        </p:blipFill>
        <p:spPr>
          <a:xfrm>
            <a:off x="3167268" y="901148"/>
            <a:ext cx="5963479" cy="543339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77140" y="517422"/>
            <a:ext cx="7716078" cy="769441"/>
          </a:xfrm>
          <a:prstGeom prst="rect">
            <a:avLst/>
          </a:prstGeom>
          <a:noFill/>
        </p:spPr>
        <p:txBody>
          <a:bodyPr wrap="square" rtlCol="0">
            <a:spAutoFit/>
          </a:bodyPr>
          <a:lstStyle/>
          <a:p>
            <a:r>
              <a:rPr lang="en-US" sz="4300" b="1" dirty="0" smtClean="0">
                <a:solidFill>
                  <a:schemeClr val="accent1">
                    <a:lumMod val="75000"/>
                  </a:schemeClr>
                </a:solidFill>
                <a:latin typeface="Palatino Linotype" panose="02040502050505030304" pitchFamily="18" charset="0"/>
              </a:rPr>
              <a:t>Virtual Function</a:t>
            </a:r>
            <a:endParaRPr lang="en-US" sz="4300" b="1" dirty="0">
              <a:solidFill>
                <a:schemeClr val="accent1">
                  <a:lumMod val="75000"/>
                </a:schemeClr>
              </a:solidFill>
              <a:latin typeface="Palatino Linotype" panose="02040502050505030304" pitchFamily="18" charset="0"/>
            </a:endParaRPr>
          </a:p>
        </p:txBody>
      </p:sp>
      <p:sp>
        <p:nvSpPr>
          <p:cNvPr id="4" name="Rectangle 2"/>
          <p:cNvSpPr>
            <a:spLocks noChangeArrowheads="1"/>
          </p:cNvSpPr>
          <p:nvPr/>
        </p:nvSpPr>
        <p:spPr bwMode="auto">
          <a:xfrm rot="10800000" flipV="1">
            <a:off x="1268893" y="3959829"/>
            <a:ext cx="10287002"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endParaRPr kumimoji="0" lang="en-US" altLang="en-US" sz="2200" b="0" i="0" u="none" strike="noStrike" cap="none" normalizeH="0" baseline="0" dirty="0" smtClean="0">
              <a:ln>
                <a:noFill/>
              </a:ln>
              <a:solidFill>
                <a:schemeClr val="tx1"/>
              </a:solidFill>
              <a:effectLst/>
              <a:latin typeface="Palatino Linotype" panose="02040502050505030304" pitchFamily="18" charset="0"/>
            </a:endParaRPr>
          </a:p>
          <a:p>
            <a:pPr algn="just"/>
            <a:r>
              <a:rPr lang="en-US" altLang="en-US" sz="2200" b="1" dirty="0" smtClean="0">
                <a:latin typeface="Palatino Linotype" panose="02040502050505030304" pitchFamily="18" charset="0"/>
              </a:rPr>
              <a:t>Explanation: </a:t>
            </a:r>
            <a:r>
              <a:rPr lang="en-US" sz="2200" dirty="0" smtClean="0">
                <a:latin typeface="Palatino Linotype" panose="02040502050505030304" pitchFamily="18" charset="0"/>
              </a:rPr>
              <a:t>In </a:t>
            </a:r>
            <a:r>
              <a:rPr lang="en-US" sz="2200" dirty="0">
                <a:latin typeface="Palatino Linotype" panose="02040502050505030304" pitchFamily="18" charset="0"/>
              </a:rPr>
              <a:t>this version, derived2 does not override </a:t>
            </a:r>
            <a:r>
              <a:rPr lang="en-US" sz="2200" dirty="0" err="1">
                <a:latin typeface="Palatino Linotype" panose="02040502050505030304" pitchFamily="18" charset="0"/>
              </a:rPr>
              <a:t>func</a:t>
            </a:r>
            <a:r>
              <a:rPr lang="en-US" sz="2200" dirty="0">
                <a:latin typeface="Palatino Linotype" panose="02040502050505030304" pitchFamily="18" charset="0"/>
              </a:rPr>
              <a:t>(). When p is assigned d ob2 and </a:t>
            </a:r>
            <a:r>
              <a:rPr lang="en-US" sz="2200" dirty="0" err="1">
                <a:latin typeface="Palatino Linotype" panose="02040502050505030304" pitchFamily="18" charset="0"/>
              </a:rPr>
              <a:t>func</a:t>
            </a:r>
            <a:r>
              <a:rPr lang="en-US" sz="2200" dirty="0" smtClean="0">
                <a:latin typeface="Palatino Linotype" panose="02040502050505030304" pitchFamily="18" charset="0"/>
              </a:rPr>
              <a:t>() is </a:t>
            </a:r>
            <a:r>
              <a:rPr lang="en-US" sz="2200" dirty="0">
                <a:latin typeface="Palatino Linotype" panose="02040502050505030304" pitchFamily="18" charset="0"/>
              </a:rPr>
              <a:t>called, base's version is used because it is next up in the class hierarchy. In </a:t>
            </a:r>
            <a:r>
              <a:rPr lang="en-US" sz="2200" dirty="0" smtClean="0">
                <a:latin typeface="Palatino Linotype" panose="02040502050505030304" pitchFamily="18" charset="0"/>
              </a:rPr>
              <a:t>general, when </a:t>
            </a:r>
            <a:r>
              <a:rPr lang="en-US" sz="2200" dirty="0">
                <a:latin typeface="Palatino Linotype" panose="02040502050505030304" pitchFamily="18" charset="0"/>
              </a:rPr>
              <a:t>a derived class does not override a virtual function, the base class's version is used.</a:t>
            </a:r>
            <a:endParaRPr kumimoji="0" lang="en-US" altLang="en-US" sz="2200" i="0" u="none" strike="noStrike" cap="none" normalizeH="0" baseline="0" dirty="0" smtClean="0">
              <a:ln>
                <a:noFill/>
              </a:ln>
              <a:solidFill>
                <a:schemeClr val="tx1"/>
              </a:solidFill>
              <a:effectLst/>
              <a:latin typeface="Palatino Linotype" panose="02040502050505030304" pitchFamily="18" charset="0"/>
            </a:endParaRPr>
          </a:p>
        </p:txBody>
      </p:sp>
      <p:pic>
        <p:nvPicPr>
          <p:cNvPr id="2" name="Picture 1"/>
          <p:cNvPicPr>
            <a:picLocks noChangeAspect="1"/>
          </p:cNvPicPr>
          <p:nvPr/>
        </p:nvPicPr>
        <p:blipFill>
          <a:blip r:embed="rId2"/>
          <a:stretch>
            <a:fillRect/>
          </a:stretch>
        </p:blipFill>
        <p:spPr>
          <a:xfrm>
            <a:off x="3861032" y="2021910"/>
            <a:ext cx="4572638" cy="17528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784" y="901148"/>
            <a:ext cx="6109253" cy="1323439"/>
          </a:xfrm>
          <a:prstGeom prst="rect">
            <a:avLst/>
          </a:prstGeom>
        </p:spPr>
        <p:txBody>
          <a:bodyPr wrap="square">
            <a:spAutoFit/>
          </a:bodyPr>
          <a:lstStyle/>
          <a:p>
            <a:pPr algn="ctr"/>
            <a:r>
              <a:rPr lang="en-US" sz="4000" b="1" dirty="0">
                <a:solidFill>
                  <a:schemeClr val="accent1">
                    <a:lumMod val="75000"/>
                  </a:schemeClr>
                </a:solidFill>
                <a:latin typeface="Palatino Linotype" panose="02040502050505030304" pitchFamily="18" charset="0"/>
              </a:rPr>
              <a:t>Virtual Functions</a:t>
            </a:r>
            <a:br>
              <a:rPr lang="en-US" sz="4000" b="1" dirty="0">
                <a:solidFill>
                  <a:schemeClr val="accent1">
                    <a:lumMod val="75000"/>
                  </a:schemeClr>
                </a:solidFill>
                <a:latin typeface="Palatino Linotype" panose="02040502050505030304" pitchFamily="18" charset="0"/>
              </a:rPr>
            </a:br>
            <a:endParaRPr lang="en-US" sz="4000" dirty="0"/>
          </a:p>
        </p:txBody>
      </p:sp>
      <p:sp>
        <p:nvSpPr>
          <p:cNvPr id="7" name="TextBox 6"/>
          <p:cNvSpPr txBox="1"/>
          <p:nvPr/>
        </p:nvSpPr>
        <p:spPr>
          <a:xfrm>
            <a:off x="622861" y="1972796"/>
            <a:ext cx="4359965" cy="3416320"/>
          </a:xfrm>
          <a:prstGeom prst="rect">
            <a:avLst/>
          </a:prstGeom>
          <a:noFill/>
        </p:spPr>
        <p:txBody>
          <a:bodyPr wrap="square" rtlCol="0">
            <a:spAutoFit/>
          </a:bodyPr>
          <a:lstStyle/>
          <a:p>
            <a:pPr algn="just"/>
            <a:r>
              <a:rPr lang="en-US" sz="2400" dirty="0" smtClean="0">
                <a:latin typeface="Palatino Linotype" panose="02040502050505030304" pitchFamily="18" charset="0"/>
              </a:rPr>
              <a:t>It </a:t>
            </a:r>
            <a:r>
              <a:rPr lang="en-US" sz="2400" dirty="0">
                <a:latin typeface="Palatino Linotype" panose="02040502050505030304" pitchFamily="18" charset="0"/>
              </a:rPr>
              <a:t>is allowed to call the </a:t>
            </a:r>
            <a:r>
              <a:rPr lang="en-US" sz="2400" b="1" dirty="0">
                <a:latin typeface="Palatino Linotype" panose="02040502050505030304" pitchFamily="18" charset="0"/>
              </a:rPr>
              <a:t>virtual function</a:t>
            </a:r>
            <a:r>
              <a:rPr lang="en-US" sz="2400" dirty="0">
                <a:latin typeface="Palatino Linotype" panose="02040502050505030304" pitchFamily="18" charset="0"/>
              </a:rPr>
              <a:t> of the grandparent class from the child class in case of multilevel inheritance. Virtual functions ensure that the most </a:t>
            </a:r>
            <a:r>
              <a:rPr lang="en-US" sz="2400" b="1" dirty="0">
                <a:latin typeface="Palatino Linotype" panose="02040502050505030304" pitchFamily="18" charset="0"/>
              </a:rPr>
              <a:t>overridden version</a:t>
            </a:r>
            <a:r>
              <a:rPr lang="en-US" sz="2400" dirty="0">
                <a:latin typeface="Palatino Linotype" panose="02040502050505030304" pitchFamily="18" charset="0"/>
              </a:rPr>
              <a:t> of the function is invoked, depending on the actual type of the object being used.</a:t>
            </a:r>
            <a:endParaRPr lang="en-US" sz="2200" dirty="0">
              <a:latin typeface="Palatino Linotype" panose="02040502050505030304" pitchFamily="18" charset="0"/>
            </a:endParaRPr>
          </a:p>
        </p:txBody>
      </p:sp>
      <p:pic>
        <p:nvPicPr>
          <p:cNvPr id="3" name="Picture 2"/>
          <p:cNvPicPr>
            <a:picLocks noChangeAspect="1"/>
          </p:cNvPicPr>
          <p:nvPr/>
        </p:nvPicPr>
        <p:blipFill>
          <a:blip r:embed="rId2"/>
          <a:stretch>
            <a:fillRect/>
          </a:stretch>
        </p:blipFill>
        <p:spPr>
          <a:xfrm>
            <a:off x="5456867" y="176092"/>
            <a:ext cx="6390577" cy="63941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77140" y="517422"/>
            <a:ext cx="7716078" cy="769441"/>
          </a:xfrm>
          <a:prstGeom prst="rect">
            <a:avLst/>
          </a:prstGeom>
          <a:noFill/>
        </p:spPr>
        <p:txBody>
          <a:bodyPr wrap="square" rtlCol="0">
            <a:spAutoFit/>
          </a:bodyPr>
          <a:lstStyle/>
          <a:p>
            <a:r>
              <a:rPr lang="en-US" sz="4300" b="1" dirty="0" smtClean="0">
                <a:solidFill>
                  <a:schemeClr val="accent1">
                    <a:lumMod val="75000"/>
                  </a:schemeClr>
                </a:solidFill>
                <a:latin typeface="Palatino Linotype" panose="02040502050505030304" pitchFamily="18" charset="0"/>
              </a:rPr>
              <a:t>Virtual Function</a:t>
            </a:r>
            <a:endParaRPr lang="en-US" sz="4300" b="1" dirty="0">
              <a:solidFill>
                <a:schemeClr val="accent1">
                  <a:lumMod val="75000"/>
                </a:schemeClr>
              </a:solidFill>
              <a:latin typeface="Palatino Linotype" panose="02040502050505030304" pitchFamily="18" charset="0"/>
            </a:endParaRPr>
          </a:p>
        </p:txBody>
      </p:sp>
      <p:pic>
        <p:nvPicPr>
          <p:cNvPr id="3" name="Picture 2"/>
          <p:cNvPicPr>
            <a:picLocks noChangeAspect="1"/>
          </p:cNvPicPr>
          <p:nvPr/>
        </p:nvPicPr>
        <p:blipFill>
          <a:blip r:embed="rId2"/>
          <a:stretch>
            <a:fillRect/>
          </a:stretch>
        </p:blipFill>
        <p:spPr>
          <a:xfrm>
            <a:off x="3947224" y="1810805"/>
            <a:ext cx="4930340" cy="2149024"/>
          </a:xfrm>
          <a:prstGeom prst="rect">
            <a:avLst/>
          </a:prstGeom>
        </p:spPr>
      </p:pic>
      <p:sp>
        <p:nvSpPr>
          <p:cNvPr id="6" name="Rectangle 1"/>
          <p:cNvSpPr>
            <a:spLocks noChangeArrowheads="1"/>
          </p:cNvSpPr>
          <p:nvPr/>
        </p:nvSpPr>
        <p:spPr bwMode="auto">
          <a:xfrm rot="10800000" flipV="1">
            <a:off x="1043608" y="4483771"/>
            <a:ext cx="10260496"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spcBef>
                <a:spcPct val="0"/>
              </a:spcBef>
              <a:spcAft>
                <a:spcPct val="0"/>
              </a:spcAft>
            </a:pPr>
            <a:r>
              <a:rPr kumimoji="0" lang="en-US" altLang="en-US" sz="2200" b="0" i="0" u="none" strike="noStrike" cap="none" normalizeH="0" baseline="0" dirty="0" smtClean="0">
                <a:ln>
                  <a:noFill/>
                </a:ln>
                <a:solidFill>
                  <a:schemeClr val="tx1"/>
                </a:solidFill>
                <a:effectLst/>
                <a:latin typeface="Palatino Linotype" panose="02040502050505030304" pitchFamily="18" charset="0"/>
              </a:rPr>
              <a:t>If you use a </a:t>
            </a:r>
            <a:r>
              <a:rPr kumimoji="0" lang="en-US" altLang="en-US" sz="2200" b="0" i="0" u="none" strike="noStrike" cap="none" normalizeH="0" baseline="0" dirty="0" err="1" smtClean="0">
                <a:ln>
                  <a:noFill/>
                </a:ln>
                <a:solidFill>
                  <a:schemeClr val="tx1"/>
                </a:solidFill>
                <a:effectLst/>
                <a:latin typeface="Palatino Linotype" panose="02040502050505030304" pitchFamily="18" charset="0"/>
              </a:rPr>
              <a:t>GrandParent</a:t>
            </a:r>
            <a:r>
              <a:rPr kumimoji="0" lang="en-US" altLang="en-US" sz="2200" b="0" i="0" u="none" strike="noStrike" cap="none" normalizeH="0" baseline="0" dirty="0" smtClean="0">
                <a:ln>
                  <a:noFill/>
                </a:ln>
                <a:solidFill>
                  <a:schemeClr val="tx1"/>
                </a:solidFill>
                <a:effectLst/>
                <a:latin typeface="Palatino Linotype" panose="02040502050505030304" pitchFamily="18" charset="0"/>
              </a:rPr>
              <a:t>* or Parent* pointer to refer to the Child object, the virtual function mechanism ensures that the Child's overridden version of display() is called. </a:t>
            </a:r>
            <a:r>
              <a:rPr lang="en-US" sz="2200" dirty="0">
                <a:latin typeface="Palatino Linotype" panose="02040502050505030304" pitchFamily="18" charset="0"/>
              </a:rPr>
              <a:t>Even though the function is overridden at each level, you can still directly access the base class versions when needed.</a:t>
            </a:r>
            <a:endParaRPr kumimoji="0" lang="en-US" altLang="en-US" sz="2200" b="0" i="0" u="none" strike="noStrike" cap="none" normalizeH="0" baseline="0" dirty="0" smtClean="0">
              <a:ln>
                <a:noFill/>
              </a:ln>
              <a:solidFill>
                <a:schemeClr val="tx1"/>
              </a:solidFill>
              <a:effectLst/>
              <a:latin typeface="Palatino Linotype" panose="0204050205050503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title"/>
          </p:nvPr>
        </p:nvSpPr>
        <p:spPr>
          <a:xfrm>
            <a:off x="0" y="227429"/>
            <a:ext cx="12192000" cy="1228725"/>
          </a:xfrm>
          <a:solidFill>
            <a:schemeClr val="bg1"/>
          </a:solidFill>
        </p:spPr>
        <p:txBody>
          <a:bodyPr>
            <a:normAutofit/>
          </a:bodyPr>
          <a:lstStyle/>
          <a:p>
            <a:pPr algn="ctr"/>
            <a:r>
              <a:rPr lang="en-US" sz="4000" b="1" dirty="0" smtClean="0">
                <a:solidFill>
                  <a:schemeClr val="accent1">
                    <a:lumMod val="75000"/>
                  </a:schemeClr>
                </a:solidFill>
                <a:latin typeface="Palatino Linotype" panose="02040502050505030304" pitchFamily="18" charset="0"/>
              </a:rPr>
              <a:t>Advantages of using Virtual Function</a:t>
            </a:r>
            <a:endParaRPr lang="en-US" sz="4000" b="1" dirty="0">
              <a:solidFill>
                <a:schemeClr val="accent1">
                  <a:lumMod val="75000"/>
                </a:schemeClr>
              </a:solidFill>
              <a:latin typeface="Palatino Linotype" panose="02040502050505030304" pitchFamily="18" charset="0"/>
            </a:endParaRPr>
          </a:p>
        </p:txBody>
      </p:sp>
      <p:sp>
        <p:nvSpPr>
          <p:cNvPr id="6" name="Rectangle 5"/>
          <p:cNvSpPr/>
          <p:nvPr/>
        </p:nvSpPr>
        <p:spPr>
          <a:xfrm>
            <a:off x="0" y="6500813"/>
            <a:ext cx="12192000" cy="35718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solidFill>
              <a:latin typeface="Palatino Linotype" panose="02040502050505030304" pitchFamily="18" charset="0"/>
            </a:endParaRPr>
          </a:p>
        </p:txBody>
      </p:sp>
      <p:sp>
        <p:nvSpPr>
          <p:cNvPr id="7" name="Rectangle 6"/>
          <p:cNvSpPr/>
          <p:nvPr/>
        </p:nvSpPr>
        <p:spPr>
          <a:xfrm>
            <a:off x="371061" y="1868557"/>
            <a:ext cx="11398664" cy="4348947"/>
          </a:xfrm>
          <a:prstGeom prst="rect">
            <a:avLst/>
          </a:prstGeom>
        </p:spPr>
        <p:txBody>
          <a:bodyPr wrap="square">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dirty="0">
                <a:solidFill>
                  <a:srgbClr val="0D0D0D"/>
                </a:solidFill>
                <a:latin typeface="Palatino Linotype" panose="02040502050505030304" pitchFamily="18" charset="0"/>
              </a:rPr>
              <a:t>The derived class's overridden method is executed, even when a base class pointer/reference is used.</a:t>
            </a:r>
            <a:endParaRPr lang="en-US" altLang="en-US" dirty="0">
              <a:latin typeface="Palatino Linotype" panose="02040502050505030304" pitchFamily="18" charset="0"/>
            </a:endParaRPr>
          </a:p>
          <a:p>
            <a:pPr lvl="2" algn="just" eaLnBrk="0" fontAlgn="base" hangingPunct="0">
              <a:spcBef>
                <a:spcPct val="0"/>
              </a:spcBef>
              <a:spcAft>
                <a:spcPct val="0"/>
              </a:spcAft>
            </a:pPr>
            <a:r>
              <a:rPr lang="en-US" altLang="en-US" dirty="0">
                <a:solidFill>
                  <a:srgbClr val="383A42"/>
                </a:solidFill>
                <a:latin typeface="Palatino Linotype" panose="02040502050505030304" pitchFamily="18" charset="0"/>
              </a:rPr>
              <a:t>base-&gt;</a:t>
            </a:r>
            <a:r>
              <a:rPr lang="en-US" altLang="en-US" dirty="0">
                <a:solidFill>
                  <a:srgbClr val="C18401"/>
                </a:solidFill>
                <a:latin typeface="Palatino Linotype" panose="02040502050505030304" pitchFamily="18" charset="0"/>
              </a:rPr>
              <a:t>display</a:t>
            </a:r>
            <a:r>
              <a:rPr lang="en-US" altLang="en-US" dirty="0">
                <a:solidFill>
                  <a:srgbClr val="383A42"/>
                </a:solidFill>
                <a:latin typeface="Palatino Linotype" panose="02040502050505030304" pitchFamily="18" charset="0"/>
              </a:rPr>
              <a:t>(); </a:t>
            </a:r>
            <a:r>
              <a:rPr lang="en-US" altLang="en-US" dirty="0" smtClean="0">
                <a:solidFill>
                  <a:srgbClr val="383A42"/>
                </a:solidFill>
                <a:latin typeface="Palatino Linotype" panose="02040502050505030304" pitchFamily="18" charset="0"/>
              </a:rPr>
              <a:t>         </a:t>
            </a:r>
            <a:r>
              <a:rPr lang="en-US" altLang="en-US" i="1" dirty="0" smtClean="0">
                <a:solidFill>
                  <a:srgbClr val="A0A1A7"/>
                </a:solidFill>
                <a:latin typeface="Palatino Linotype" panose="02040502050505030304" pitchFamily="18" charset="0"/>
              </a:rPr>
              <a:t>// </a:t>
            </a:r>
            <a:r>
              <a:rPr lang="en-US" altLang="en-US" i="1" dirty="0">
                <a:solidFill>
                  <a:srgbClr val="A0A1A7"/>
                </a:solidFill>
                <a:latin typeface="Palatino Linotype" panose="02040502050505030304" pitchFamily="18" charset="0"/>
              </a:rPr>
              <a:t>Calls Derived class method, if base points to a derived object.</a:t>
            </a:r>
            <a:r>
              <a:rPr lang="en-US" altLang="en-US" dirty="0">
                <a:solidFill>
                  <a:srgbClr val="383A42"/>
                </a:solidFill>
                <a:latin typeface="Palatino Linotype" panose="02040502050505030304" pitchFamily="18" charset="0"/>
              </a:rPr>
              <a:t> </a:t>
            </a:r>
            <a:endParaRPr lang="en-US" altLang="en-US" dirty="0">
              <a:solidFill>
                <a:srgbClr val="0D0D0D"/>
              </a:solidFill>
              <a:latin typeface="Palatino Linotype" panose="02040502050505030304" pitchFamily="18" charset="0"/>
            </a:endParaRPr>
          </a:p>
          <a:p>
            <a:pPr lvl="0" algn="just" eaLnBrk="0" fontAlgn="base" hangingPunct="0">
              <a:spcBef>
                <a:spcPct val="0"/>
              </a:spcBef>
              <a:spcAft>
                <a:spcPct val="0"/>
              </a:spcAft>
            </a:pPr>
            <a:r>
              <a:rPr lang="en-US" altLang="en-US" dirty="0">
                <a:solidFill>
                  <a:srgbClr val="0D0D0D"/>
                </a:solidFill>
                <a:latin typeface="Palatino Linotype" panose="02040502050505030304" pitchFamily="18" charset="0"/>
              </a:rPr>
              <a:t>       This behavior is resolved at runtime (called runtime binding or dynamic dispatch).</a:t>
            </a:r>
          </a:p>
          <a:p>
            <a:pPr marL="285750" lvl="0" indent="-285750" algn="just" eaLnBrk="0" fontAlgn="base" hangingPunct="0">
              <a:spcBef>
                <a:spcPct val="0"/>
              </a:spcBef>
              <a:spcAft>
                <a:spcPct val="0"/>
              </a:spcAft>
              <a:buFont typeface="Arial" panose="020B0604020202020204" pitchFamily="34" charset="0"/>
              <a:buChar char="•"/>
            </a:pPr>
            <a:endParaRPr lang="en-US" altLang="en-US" dirty="0">
              <a:latin typeface="Palatino Linotype" panose="0204050205050503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altLang="en-US" dirty="0">
                <a:solidFill>
                  <a:srgbClr val="0D0D0D"/>
                </a:solidFill>
                <a:latin typeface="Palatino Linotype" panose="02040502050505030304" pitchFamily="18" charset="0"/>
              </a:rPr>
              <a:t>In large applications, you might have multiple derived classes from a common base class. With virtual functions, you can create generic code that can handle different derived classes dynamically. For example, if you have multiple shapes like Circle, Rectangle, and Triangle derived from Shape, you can write</a:t>
            </a:r>
            <a:r>
              <a:rPr lang="en-US" altLang="en-US" dirty="0" smtClean="0">
                <a:solidFill>
                  <a:srgbClr val="0D0D0D"/>
                </a:solidFill>
                <a:latin typeface="Palatino Linotype" panose="02040502050505030304" pitchFamily="18" charset="0"/>
              </a:rPr>
              <a:t>:</a:t>
            </a:r>
            <a:endParaRPr lang="en-US" altLang="en-US" dirty="0">
              <a:solidFill>
                <a:srgbClr val="0D0D0D"/>
              </a:solidFill>
              <a:latin typeface="Palatino Linotype" panose="02040502050505030304" pitchFamily="18" charset="0"/>
            </a:endParaRPr>
          </a:p>
          <a:p>
            <a:pPr lvl="3" algn="just" eaLnBrk="0" fontAlgn="base" hangingPunct="0">
              <a:spcBef>
                <a:spcPct val="0"/>
              </a:spcBef>
              <a:spcAft>
                <a:spcPct val="0"/>
              </a:spcAft>
            </a:pPr>
            <a:r>
              <a:rPr lang="en-US" altLang="en-US" dirty="0">
                <a:solidFill>
                  <a:srgbClr val="383A42"/>
                </a:solidFill>
                <a:latin typeface="Palatino Linotype" panose="02040502050505030304" pitchFamily="18" charset="0"/>
              </a:rPr>
              <a:t>Shape* shape = </a:t>
            </a:r>
            <a:r>
              <a:rPr lang="en-US" altLang="en-US" dirty="0" err="1">
                <a:solidFill>
                  <a:srgbClr val="C18401"/>
                </a:solidFill>
                <a:latin typeface="Palatino Linotype" panose="02040502050505030304" pitchFamily="18" charset="0"/>
              </a:rPr>
              <a:t>getShape</a:t>
            </a:r>
            <a:r>
              <a:rPr lang="en-US" altLang="en-US" dirty="0">
                <a:solidFill>
                  <a:srgbClr val="383A42"/>
                </a:solidFill>
                <a:latin typeface="Palatino Linotype" panose="02040502050505030304" pitchFamily="18" charset="0"/>
              </a:rPr>
              <a:t>(); </a:t>
            </a:r>
            <a:r>
              <a:rPr lang="en-US" altLang="en-US" dirty="0" smtClean="0">
                <a:solidFill>
                  <a:srgbClr val="383A42"/>
                </a:solidFill>
                <a:latin typeface="Palatino Linotype" panose="02040502050505030304" pitchFamily="18" charset="0"/>
              </a:rPr>
              <a:t>           </a:t>
            </a:r>
            <a:r>
              <a:rPr lang="en-US" altLang="en-US" i="1" dirty="0" smtClean="0">
                <a:solidFill>
                  <a:srgbClr val="A0A1A7"/>
                </a:solidFill>
                <a:latin typeface="Palatino Linotype" panose="02040502050505030304" pitchFamily="18" charset="0"/>
              </a:rPr>
              <a:t>// </a:t>
            </a:r>
            <a:r>
              <a:rPr lang="en-US" altLang="en-US" i="1" dirty="0">
                <a:solidFill>
                  <a:srgbClr val="A0A1A7"/>
                </a:solidFill>
                <a:latin typeface="Palatino Linotype" panose="02040502050505030304" pitchFamily="18" charset="0"/>
              </a:rPr>
              <a:t>Dynamically return any type of shape</a:t>
            </a:r>
            <a:r>
              <a:rPr lang="en-US" altLang="en-US" dirty="0">
                <a:solidFill>
                  <a:srgbClr val="383A42"/>
                </a:solidFill>
                <a:latin typeface="Palatino Linotype" panose="02040502050505030304" pitchFamily="18" charset="0"/>
              </a:rPr>
              <a:t> </a:t>
            </a:r>
          </a:p>
          <a:p>
            <a:pPr lvl="3" algn="just" eaLnBrk="0" fontAlgn="base" hangingPunct="0">
              <a:spcBef>
                <a:spcPct val="0"/>
              </a:spcBef>
              <a:spcAft>
                <a:spcPct val="0"/>
              </a:spcAft>
            </a:pPr>
            <a:r>
              <a:rPr lang="en-US" altLang="en-US" dirty="0">
                <a:solidFill>
                  <a:srgbClr val="383A42"/>
                </a:solidFill>
                <a:latin typeface="Palatino Linotype" panose="02040502050505030304" pitchFamily="18" charset="0"/>
              </a:rPr>
              <a:t>shape-&gt;</a:t>
            </a:r>
            <a:r>
              <a:rPr lang="en-US" altLang="en-US" dirty="0">
                <a:solidFill>
                  <a:srgbClr val="C18401"/>
                </a:solidFill>
                <a:latin typeface="Palatino Linotype" panose="02040502050505030304" pitchFamily="18" charset="0"/>
              </a:rPr>
              <a:t>draw</a:t>
            </a:r>
            <a:r>
              <a:rPr lang="en-US" altLang="en-US" dirty="0" smtClean="0">
                <a:solidFill>
                  <a:srgbClr val="383A42"/>
                </a:solidFill>
                <a:latin typeface="Palatino Linotype" panose="02040502050505030304" pitchFamily="18" charset="0"/>
              </a:rPr>
              <a:t>();                          </a:t>
            </a:r>
            <a:r>
              <a:rPr lang="en-US" altLang="en-US" i="1" dirty="0">
                <a:solidFill>
                  <a:srgbClr val="A0A1A7"/>
                </a:solidFill>
                <a:latin typeface="Palatino Linotype" panose="02040502050505030304" pitchFamily="18" charset="0"/>
              </a:rPr>
              <a:t>// Correct `draw` method is called (Circle, Rectangle, or Triangle)</a:t>
            </a:r>
            <a:r>
              <a:rPr lang="en-US" altLang="en-US" dirty="0">
                <a:solidFill>
                  <a:srgbClr val="383A42"/>
                </a:solidFill>
                <a:latin typeface="Palatino Linotype" panose="02040502050505030304" pitchFamily="18" charset="0"/>
              </a:rPr>
              <a:t> </a:t>
            </a:r>
            <a:endParaRPr lang="en-US" altLang="en-US" dirty="0">
              <a:solidFill>
                <a:srgbClr val="0D0D0D"/>
              </a:solidFill>
              <a:latin typeface="Palatino Linotype" panose="02040502050505030304" pitchFamily="18" charset="0"/>
            </a:endParaRPr>
          </a:p>
          <a:p>
            <a:pPr lvl="0" algn="just" eaLnBrk="0" fontAlgn="base" hangingPunct="0">
              <a:spcBef>
                <a:spcPct val="0"/>
              </a:spcBef>
              <a:spcAft>
                <a:spcPct val="0"/>
              </a:spcAft>
            </a:pPr>
            <a:r>
              <a:rPr lang="en-US" altLang="en-US" dirty="0">
                <a:solidFill>
                  <a:srgbClr val="0D0D0D"/>
                </a:solidFill>
                <a:latin typeface="Palatino Linotype" panose="02040502050505030304" pitchFamily="18" charset="0"/>
              </a:rPr>
              <a:t>       Without virtual functions, you would need to manually check the type of the object and call the </a:t>
            </a:r>
            <a:r>
              <a:rPr lang="en-US" altLang="en-US" dirty="0" smtClean="0">
                <a:solidFill>
                  <a:srgbClr val="0D0D0D"/>
                </a:solidFill>
                <a:latin typeface="Palatino Linotype" panose="02040502050505030304" pitchFamily="18" charset="0"/>
              </a:rPr>
              <a:t>  appropriate </a:t>
            </a:r>
            <a:r>
              <a:rPr lang="en-US" altLang="en-US" dirty="0">
                <a:solidFill>
                  <a:srgbClr val="0D0D0D"/>
                </a:solidFill>
                <a:latin typeface="Palatino Linotype" panose="02040502050505030304" pitchFamily="18" charset="0"/>
              </a:rPr>
              <a:t>method.</a:t>
            </a:r>
          </a:p>
          <a:p>
            <a:pPr marL="285750" lvl="0" indent="-285750" algn="just" eaLnBrk="0" fontAlgn="base" hangingPunct="0">
              <a:spcBef>
                <a:spcPct val="0"/>
              </a:spcBef>
              <a:spcAft>
                <a:spcPct val="0"/>
              </a:spcAft>
              <a:buFont typeface="Arial" panose="020B0604020202020204" pitchFamily="34" charset="0"/>
              <a:buChar char="•"/>
            </a:pPr>
            <a:endParaRPr lang="en-US" altLang="en-US" dirty="0">
              <a:solidFill>
                <a:srgbClr val="0D0D0D"/>
              </a:solidFill>
              <a:latin typeface="Palatino Linotype" panose="02040502050505030304" pitchFamily="18" charset="0"/>
            </a:endParaRPr>
          </a:p>
          <a:p>
            <a:pPr marL="285750" indent="-285750" algn="just">
              <a:buFont typeface="Arial" panose="020B0604020202020204" pitchFamily="34" charset="0"/>
              <a:buChar char="•"/>
            </a:pPr>
            <a:r>
              <a:rPr lang="en-US" dirty="0">
                <a:latin typeface="Palatino Linotype" panose="02040502050505030304" pitchFamily="18" charset="0"/>
              </a:rPr>
              <a:t>Virtual functions allow you to use the same interface for multiple derived classes. You don’t need to rewrite or duplicate code for each derived class. You can write code once in terms of the base class and let the derived classes implement specific behaviors.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1669907" y="35586"/>
            <a:ext cx="8872728" cy="1450759"/>
          </a:xfrm>
          <a:prstGeom prst="rect">
            <a:avLst/>
          </a:prstGeom>
          <a:noFill/>
          <a:ln>
            <a:noFill/>
          </a:ln>
        </p:spPr>
        <p:txBody>
          <a:bodyPr vert="horz" wrap="square" lIns="91440" tIns="45720" rIns="91440" bIns="45720" anchor="b" anchorCtr="0" compatLnSpc="1">
            <a:normAutofit fontScale="90000"/>
          </a:bodyPr>
          <a:lstStyle/>
          <a:p>
            <a:pPr lvl="0"/>
            <a:r>
              <a:rPr lang="en-US" sz="4000" b="1" dirty="0" smtClean="0">
                <a:solidFill>
                  <a:srgbClr val="1482AC"/>
                </a:solidFill>
                <a:latin typeface="Palatino Linotype" panose="02040502050505030304" pitchFamily="18" charset="0"/>
                <a:cs typeface="Calibri Light" panose="020F0302020204030204"/>
              </a:rPr>
              <a:t>Pure Virtual Function &amp; Abstract Class</a:t>
            </a:r>
            <a:r>
              <a:rPr lang="en-US" sz="4400" dirty="0" smtClean="0">
                <a:solidFill>
                  <a:srgbClr val="1482AC"/>
                </a:solidFill>
                <a:cs typeface="Calibri Light" panose="020F0302020204030204"/>
              </a:rPr>
              <a:t/>
            </a:r>
            <a:br>
              <a:rPr lang="en-US" sz="4400" dirty="0" smtClean="0">
                <a:solidFill>
                  <a:srgbClr val="1482AC"/>
                </a:solidFill>
                <a:cs typeface="Calibri Light" panose="020F0302020204030204"/>
              </a:rPr>
            </a:br>
            <a:endParaRPr lang="en-US" sz="4000" b="1" dirty="0">
              <a:solidFill>
                <a:srgbClr val="1482AC"/>
              </a:solidFill>
              <a:latin typeface="Palatino Linotype" panose="02040502050505030304" pitchFamily="18"/>
            </a:endParaRPr>
          </a:p>
        </p:txBody>
      </p:sp>
      <p:sp>
        <p:nvSpPr>
          <p:cNvPr id="3" name="Rectangle 2"/>
          <p:cNvSpPr/>
          <p:nvPr/>
        </p:nvSpPr>
        <p:spPr>
          <a:xfrm flipV="1">
            <a:off x="1945549" y="5165229"/>
            <a:ext cx="8685641" cy="1692771"/>
          </a:xfrm>
          <a:prstGeom prst="rect">
            <a:avLst/>
          </a:prstGeom>
          <a:noFill/>
          <a:ln cap="flat">
            <a:noFill/>
            <a:prstDash val="solid"/>
          </a:ln>
        </p:spPr>
        <p:txBody>
          <a:bodyPr vert="horz" wrap="square" lIns="91440" tIns="45720" rIns="91440" bIns="45720" anchor="t" anchorCtr="0" compatLnSpc="1">
            <a:spAutoFit/>
          </a:bodyPr>
          <a:lstStyle/>
          <a:p>
            <a:pPr marL="457200" indent="-457200" algn="just">
              <a:buFont typeface="Arial" panose="020B0604020202020204" pitchFamily="34" charset="0"/>
              <a:buChar char="•"/>
            </a:pPr>
            <a:endParaRPr lang="en-US" sz="24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4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800" dirty="0" smtClean="0">
              <a:solidFill>
                <a:srgbClr val="000000"/>
              </a:solidFill>
              <a:latin typeface="Palatino Linotype" panose="02040502050505030304" pitchFamily="18" charset="0"/>
              <a:ea typeface="Calibri" panose="020F0502020204030204"/>
              <a:cs typeface="Calibri" panose="020F0502020204030204"/>
            </a:endParaRPr>
          </a:p>
          <a:p>
            <a:pPr marL="457200" indent="-457200" algn="just">
              <a:buFont typeface="Arial" panose="020B0604020202020204" pitchFamily="34" charset="0"/>
              <a:buChar char="•"/>
            </a:pPr>
            <a:endParaRPr lang="en-US" sz="2800" b="0" i="0" u="none" strike="noStrike" kern="1200" cap="none" spc="0" baseline="0" dirty="0">
              <a:solidFill>
                <a:srgbClr val="000000"/>
              </a:solidFill>
              <a:uFillTx/>
              <a:latin typeface="Palatino Linotype" panose="02040502050505030304" pitchFamily="18" charset="0"/>
              <a:ea typeface="Calibri" panose="020F0502020204030204"/>
              <a:cs typeface="Calibri" panose="020F0502020204030204"/>
            </a:endParaRPr>
          </a:p>
        </p:txBody>
      </p:sp>
      <p:sp>
        <p:nvSpPr>
          <p:cNvPr id="4" name="Rectangle 1"/>
          <p:cNvSpPr>
            <a:spLocks noChangeArrowheads="1"/>
          </p:cNvSpPr>
          <p:nvPr/>
        </p:nvSpPr>
        <p:spPr bwMode="auto">
          <a:xfrm>
            <a:off x="1945549" y="6843932"/>
            <a:ext cx="1088839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lvl="8" eaLnBrk="0" fontAlgn="base" hangingPunct="0">
              <a:spcBef>
                <a:spcPct val="0"/>
              </a:spcBef>
              <a:spcAft>
                <a:spcPct val="0"/>
              </a:spcAft>
            </a:pPr>
            <a:endParaRPr lang="en-US" altLang="en-US" sz="2000" dirty="0">
              <a:latin typeface="Palatino Linotype" panose="02040502050505030304" pitchFamily="18" charset="0"/>
            </a:endParaRPr>
          </a:p>
        </p:txBody>
      </p:sp>
      <p:sp>
        <p:nvSpPr>
          <p:cNvPr id="5" name="Rectangle 4"/>
          <p:cNvSpPr/>
          <p:nvPr/>
        </p:nvSpPr>
        <p:spPr>
          <a:xfrm>
            <a:off x="633046" y="1486345"/>
            <a:ext cx="10946450" cy="47399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lgn="just" eaLnBrk="0" fontAlgn="base" hangingPunct="0">
              <a:spcBef>
                <a:spcPct val="0"/>
              </a:spcBef>
              <a:spcAft>
                <a:spcPct val="0"/>
              </a:spcAft>
              <a:buFont typeface="Arial" panose="020B0604020202020204" pitchFamily="34" charset="0"/>
              <a:buChar char="•"/>
            </a:pPr>
            <a:r>
              <a:rPr lang="en-US" sz="2200" dirty="0">
                <a:solidFill>
                  <a:schemeClr val="tx1"/>
                </a:solidFill>
                <a:latin typeface="Palatino Linotype" panose="02040502050505030304" pitchFamily="18" charset="0"/>
              </a:rPr>
              <a:t>A pure virtual function (or abstract function) in C++ is a virtual function for which we can have an implementation, But we must override that function in the derived class, otherwise, the derived class will also become an abstract class. </a:t>
            </a:r>
          </a:p>
          <a:p>
            <a:pPr marL="285750" lvl="0" indent="-285750" algn="just" eaLnBrk="0" fontAlgn="base" hangingPunct="0">
              <a:spcBef>
                <a:spcPct val="0"/>
              </a:spcBef>
              <a:spcAft>
                <a:spcPct val="0"/>
              </a:spcAft>
              <a:buFont typeface="Arial" panose="020B0604020202020204" pitchFamily="34" charset="0"/>
              <a:buChar char="•"/>
            </a:pPr>
            <a:endParaRPr lang="en-US" sz="2200" dirty="0">
              <a:solidFill>
                <a:schemeClr val="tx1"/>
              </a:solidFill>
              <a:latin typeface="Palatino Linotype" panose="0204050205050503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sz="2200" dirty="0">
                <a:solidFill>
                  <a:schemeClr val="tx1"/>
                </a:solidFill>
                <a:latin typeface="Palatino Linotype" panose="02040502050505030304" pitchFamily="18" charset="0"/>
              </a:rPr>
              <a:t>A pure virtual function is declared by assigning 0 in the declaration.</a:t>
            </a:r>
          </a:p>
          <a:p>
            <a:pPr marL="285750" lvl="0" indent="-285750" algn="just" eaLnBrk="0" fontAlgn="base" hangingPunct="0">
              <a:spcBef>
                <a:spcPct val="0"/>
              </a:spcBef>
              <a:spcAft>
                <a:spcPct val="0"/>
              </a:spcAft>
              <a:buFont typeface="Arial" panose="020B0604020202020204" pitchFamily="34" charset="0"/>
              <a:buChar char="•"/>
            </a:pPr>
            <a:endParaRPr lang="en-US" sz="2200" dirty="0">
              <a:solidFill>
                <a:schemeClr val="tx1"/>
              </a:solidFill>
              <a:latin typeface="Palatino Linotype" panose="0204050205050503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sz="2200" dirty="0">
                <a:solidFill>
                  <a:schemeClr val="tx1"/>
                </a:solidFill>
                <a:latin typeface="Palatino Linotype" panose="02040502050505030304" pitchFamily="18" charset="0"/>
              </a:rPr>
              <a:t>Sometimes implementation of all functions cannot be provided in a base class because we don’t know the implementation. Such a class is called an abstract class.</a:t>
            </a:r>
          </a:p>
          <a:p>
            <a:pPr marL="285750" lvl="0" indent="-285750" algn="just" eaLnBrk="0" fontAlgn="base" hangingPunct="0">
              <a:spcBef>
                <a:spcPct val="0"/>
              </a:spcBef>
              <a:spcAft>
                <a:spcPct val="0"/>
              </a:spcAft>
              <a:buFont typeface="Arial" panose="020B0604020202020204" pitchFamily="34" charset="0"/>
              <a:buChar char="•"/>
            </a:pPr>
            <a:endParaRPr lang="en-US" sz="2200" dirty="0">
              <a:solidFill>
                <a:schemeClr val="tx1"/>
              </a:solidFill>
              <a:latin typeface="Palatino Linotype" panose="02040502050505030304" pitchFamily="18" charset="0"/>
            </a:endParaRPr>
          </a:p>
          <a:p>
            <a:pPr marL="285750" lvl="0" indent="-285750" algn="just" eaLnBrk="0" fontAlgn="base" hangingPunct="0">
              <a:spcBef>
                <a:spcPct val="0"/>
              </a:spcBef>
              <a:spcAft>
                <a:spcPct val="0"/>
              </a:spcAft>
              <a:buFont typeface="Arial" panose="020B0604020202020204" pitchFamily="34" charset="0"/>
              <a:buChar char="•"/>
            </a:pPr>
            <a:r>
              <a:rPr lang="en-US" sz="2200" dirty="0">
                <a:solidFill>
                  <a:schemeClr val="tx1"/>
                </a:solidFill>
                <a:latin typeface="Palatino Linotype" panose="02040502050505030304" pitchFamily="18" charset="0"/>
              </a:rPr>
              <a:t>For example, let Shape be a base class. We cannot provide the implementation of function draw() in Shape, but we know every derived class must have an implementation of draw(). Similarly, an Animal class doesn’t have the implementation of move() (assuming that all animals move), but all animals must know how to move. We cannot create objects of abstract classes.</a:t>
            </a:r>
          </a:p>
          <a:p>
            <a:pPr lvl="0" algn="just" eaLnBrk="0" fontAlgn="base" hangingPunct="0">
              <a:spcBef>
                <a:spcPct val="0"/>
              </a:spcBef>
              <a:spcAft>
                <a:spcPct val="0"/>
              </a:spcAft>
              <a:buFontTx/>
              <a:buChar char="•"/>
            </a:pPr>
            <a:endParaRPr lang="en-US" altLang="en-US" sz="2200" dirty="0">
              <a:solidFill>
                <a:schemeClr val="tx1"/>
              </a:solidFill>
              <a:latin typeface="Palatino Linotype" panose="0204050205050503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7072" y="2045239"/>
            <a:ext cx="6109253" cy="2554545"/>
          </a:xfrm>
          <a:prstGeom prst="rect">
            <a:avLst/>
          </a:prstGeom>
        </p:spPr>
        <p:txBody>
          <a:bodyPr wrap="square">
            <a:spAutoFit/>
          </a:bodyPr>
          <a:lstStyle/>
          <a:p>
            <a:pPr algn="ctr"/>
            <a:r>
              <a:rPr lang="en-US" sz="4000" b="1" dirty="0" smtClean="0">
                <a:solidFill>
                  <a:schemeClr val="accent1">
                    <a:lumMod val="75000"/>
                  </a:schemeClr>
                </a:solidFill>
                <a:latin typeface="Palatino Linotype" panose="02040502050505030304" pitchFamily="18" charset="0"/>
              </a:rPr>
              <a:t>Pure</a:t>
            </a:r>
          </a:p>
          <a:p>
            <a:pPr algn="ctr"/>
            <a:r>
              <a:rPr lang="en-US" sz="4000" b="1" dirty="0" smtClean="0">
                <a:solidFill>
                  <a:schemeClr val="accent1">
                    <a:lumMod val="75000"/>
                  </a:schemeClr>
                </a:solidFill>
                <a:latin typeface="Palatino Linotype" panose="02040502050505030304" pitchFamily="18" charset="0"/>
              </a:rPr>
              <a:t>Virtual </a:t>
            </a:r>
          </a:p>
          <a:p>
            <a:pPr algn="ctr"/>
            <a:r>
              <a:rPr lang="en-US" sz="4000" b="1" dirty="0" smtClean="0">
                <a:solidFill>
                  <a:schemeClr val="accent1">
                    <a:lumMod val="75000"/>
                  </a:schemeClr>
                </a:solidFill>
                <a:latin typeface="Palatino Linotype" panose="02040502050505030304" pitchFamily="18" charset="0"/>
              </a:rPr>
              <a:t>Functions</a:t>
            </a:r>
            <a:r>
              <a:rPr lang="en-US" sz="4000" b="1" dirty="0">
                <a:solidFill>
                  <a:schemeClr val="accent1">
                    <a:lumMod val="75000"/>
                  </a:schemeClr>
                </a:solidFill>
                <a:latin typeface="Palatino Linotype" panose="02040502050505030304" pitchFamily="18" charset="0"/>
              </a:rPr>
              <a:t/>
            </a:r>
            <a:br>
              <a:rPr lang="en-US" sz="4000" b="1" dirty="0">
                <a:solidFill>
                  <a:schemeClr val="accent1">
                    <a:lumMod val="75000"/>
                  </a:schemeClr>
                </a:solidFill>
                <a:latin typeface="Palatino Linotype" panose="02040502050505030304" pitchFamily="18" charset="0"/>
              </a:rPr>
            </a:br>
            <a:endParaRPr lang="en-US" sz="4000" dirty="0"/>
          </a:p>
        </p:txBody>
      </p:sp>
      <p:pic>
        <p:nvPicPr>
          <p:cNvPr id="2" name="Picture 1"/>
          <p:cNvPicPr>
            <a:picLocks noChangeAspect="1"/>
          </p:cNvPicPr>
          <p:nvPr/>
        </p:nvPicPr>
        <p:blipFill>
          <a:blip r:embed="rId2"/>
          <a:stretch>
            <a:fillRect/>
          </a:stretch>
        </p:blipFill>
        <p:spPr>
          <a:xfrm>
            <a:off x="3907061" y="-13447"/>
            <a:ext cx="5976527" cy="6871447"/>
          </a:xfrm>
          <a:prstGeom prst="rect">
            <a:avLst/>
          </a:prstGeom>
        </p:spPr>
      </p:pic>
      <p:pic>
        <p:nvPicPr>
          <p:cNvPr id="5" name="Picture 4"/>
          <p:cNvPicPr>
            <a:picLocks noChangeAspect="1"/>
          </p:cNvPicPr>
          <p:nvPr/>
        </p:nvPicPr>
        <p:blipFill>
          <a:blip r:embed="rId3"/>
          <a:stretch>
            <a:fillRect/>
          </a:stretch>
        </p:blipFill>
        <p:spPr>
          <a:xfrm>
            <a:off x="9421625" y="1208273"/>
            <a:ext cx="2143125" cy="11334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234" y="0"/>
            <a:ext cx="10733766" cy="1261884"/>
          </a:xfrm>
          <a:prstGeom prst="rect">
            <a:avLst/>
          </a:prstGeom>
        </p:spPr>
        <p:txBody>
          <a:bodyPr wrap="square">
            <a:spAutoFit/>
          </a:bodyPr>
          <a:lstStyle/>
          <a:p>
            <a:pPr algn="ctr"/>
            <a:r>
              <a:rPr lang="en-US" sz="3600" b="1" dirty="0" smtClean="0">
                <a:solidFill>
                  <a:schemeClr val="accent1">
                    <a:lumMod val="75000"/>
                  </a:schemeClr>
                </a:solidFill>
                <a:latin typeface="Palatino Linotype" panose="02040502050505030304" pitchFamily="18" charset="0"/>
              </a:rPr>
              <a:t>Facts on Pure Virtual Functions &amp; Abstract Class</a:t>
            </a:r>
            <a:r>
              <a:rPr lang="en-US" sz="4000" b="1" dirty="0">
                <a:solidFill>
                  <a:schemeClr val="accent1">
                    <a:lumMod val="75000"/>
                  </a:schemeClr>
                </a:solidFill>
                <a:latin typeface="Palatino Linotype" panose="02040502050505030304" pitchFamily="18" charset="0"/>
              </a:rPr>
              <a:t/>
            </a:r>
            <a:br>
              <a:rPr lang="en-US" sz="4000" b="1" dirty="0">
                <a:solidFill>
                  <a:schemeClr val="accent1">
                    <a:lumMod val="75000"/>
                  </a:schemeClr>
                </a:solidFill>
                <a:latin typeface="Palatino Linotype" panose="02040502050505030304" pitchFamily="18" charset="0"/>
              </a:rPr>
            </a:br>
            <a:endParaRPr lang="en-US" sz="4000" dirty="0"/>
          </a:p>
        </p:txBody>
      </p:sp>
      <p:pic>
        <p:nvPicPr>
          <p:cNvPr id="3" name="Picture 2"/>
          <p:cNvPicPr>
            <a:picLocks noChangeAspect="1"/>
          </p:cNvPicPr>
          <p:nvPr/>
        </p:nvPicPr>
        <p:blipFill>
          <a:blip r:embed="rId2"/>
          <a:stretch>
            <a:fillRect/>
          </a:stretch>
        </p:blipFill>
        <p:spPr>
          <a:xfrm>
            <a:off x="954741" y="1506070"/>
            <a:ext cx="5319993" cy="5351930"/>
          </a:xfrm>
          <a:prstGeom prst="rect">
            <a:avLst/>
          </a:prstGeom>
        </p:spPr>
      </p:pic>
      <p:pic>
        <p:nvPicPr>
          <p:cNvPr id="6" name="Picture 5"/>
          <p:cNvPicPr>
            <a:picLocks noChangeAspect="1"/>
          </p:cNvPicPr>
          <p:nvPr/>
        </p:nvPicPr>
        <p:blipFill>
          <a:blip r:embed="rId3"/>
          <a:stretch>
            <a:fillRect/>
          </a:stretch>
        </p:blipFill>
        <p:spPr>
          <a:xfrm>
            <a:off x="6640046" y="2668681"/>
            <a:ext cx="5067860" cy="962025"/>
          </a:xfrm>
          <a:prstGeom prst="rect">
            <a:avLst/>
          </a:prstGeom>
        </p:spPr>
      </p:pic>
      <p:sp>
        <p:nvSpPr>
          <p:cNvPr id="8" name="Rectangle 7"/>
          <p:cNvSpPr/>
          <p:nvPr/>
        </p:nvSpPr>
        <p:spPr>
          <a:xfrm>
            <a:off x="2341990" y="800219"/>
            <a:ext cx="8546379" cy="461665"/>
          </a:xfrm>
          <a:prstGeom prst="rect">
            <a:avLst/>
          </a:prstGeom>
        </p:spPr>
        <p:txBody>
          <a:bodyPr wrap="none">
            <a:spAutoFit/>
          </a:bodyPr>
          <a:lstStyle/>
          <a:p>
            <a:r>
              <a:rPr lang="en-US" sz="2400" dirty="0">
                <a:solidFill>
                  <a:srgbClr val="C00000"/>
                </a:solidFill>
                <a:latin typeface="Palatino Linotype" panose="02040502050505030304" pitchFamily="18" charset="0"/>
              </a:rPr>
              <a:t>1. A class is abstract if it has at least one pure virtual function.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234" y="0"/>
            <a:ext cx="10733766" cy="1261884"/>
          </a:xfrm>
          <a:prstGeom prst="rect">
            <a:avLst/>
          </a:prstGeom>
        </p:spPr>
        <p:txBody>
          <a:bodyPr wrap="square">
            <a:spAutoFit/>
          </a:bodyPr>
          <a:lstStyle/>
          <a:p>
            <a:pPr algn="ctr"/>
            <a:r>
              <a:rPr lang="en-US" sz="3600" b="1" dirty="0" smtClean="0">
                <a:solidFill>
                  <a:schemeClr val="accent1">
                    <a:lumMod val="75000"/>
                  </a:schemeClr>
                </a:solidFill>
                <a:latin typeface="Palatino Linotype" panose="02040502050505030304" pitchFamily="18" charset="0"/>
              </a:rPr>
              <a:t>Facts on Pure Virtual Functions &amp; Abstract Class</a:t>
            </a:r>
            <a:r>
              <a:rPr lang="en-US" sz="4000" b="1" dirty="0">
                <a:solidFill>
                  <a:schemeClr val="accent1">
                    <a:lumMod val="75000"/>
                  </a:schemeClr>
                </a:solidFill>
                <a:latin typeface="Palatino Linotype" panose="02040502050505030304" pitchFamily="18" charset="0"/>
              </a:rPr>
              <a:t/>
            </a:r>
            <a:br>
              <a:rPr lang="en-US" sz="4000" b="1" dirty="0">
                <a:solidFill>
                  <a:schemeClr val="accent1">
                    <a:lumMod val="75000"/>
                  </a:schemeClr>
                </a:solidFill>
                <a:latin typeface="Palatino Linotype" panose="02040502050505030304" pitchFamily="18" charset="0"/>
              </a:rPr>
            </a:br>
            <a:endParaRPr lang="en-US" sz="4000" dirty="0"/>
          </a:p>
        </p:txBody>
      </p:sp>
      <p:sp>
        <p:nvSpPr>
          <p:cNvPr id="8" name="Rectangle 7"/>
          <p:cNvSpPr/>
          <p:nvPr/>
        </p:nvSpPr>
        <p:spPr>
          <a:xfrm>
            <a:off x="2341990" y="800219"/>
            <a:ext cx="8422627" cy="461665"/>
          </a:xfrm>
          <a:prstGeom prst="rect">
            <a:avLst/>
          </a:prstGeom>
        </p:spPr>
        <p:txBody>
          <a:bodyPr wrap="none">
            <a:spAutoFit/>
          </a:bodyPr>
          <a:lstStyle/>
          <a:p>
            <a:r>
              <a:rPr lang="en-US" sz="2400" dirty="0" smtClean="0">
                <a:solidFill>
                  <a:srgbClr val="C00000"/>
                </a:solidFill>
                <a:latin typeface="Palatino Linotype" panose="02040502050505030304" pitchFamily="18" charset="0"/>
              </a:rPr>
              <a:t>2. We </a:t>
            </a:r>
            <a:r>
              <a:rPr lang="en-US" sz="2400" dirty="0">
                <a:solidFill>
                  <a:srgbClr val="C00000"/>
                </a:solidFill>
                <a:latin typeface="Palatino Linotype" panose="02040502050505030304" pitchFamily="18" charset="0"/>
              </a:rPr>
              <a:t>can have pointers and references of abstract class type.</a:t>
            </a:r>
          </a:p>
        </p:txBody>
      </p:sp>
      <p:pic>
        <p:nvPicPr>
          <p:cNvPr id="2" name="Picture 1"/>
          <p:cNvPicPr>
            <a:picLocks noChangeAspect="1"/>
          </p:cNvPicPr>
          <p:nvPr/>
        </p:nvPicPr>
        <p:blipFill>
          <a:blip r:embed="rId2"/>
          <a:stretch>
            <a:fillRect/>
          </a:stretch>
        </p:blipFill>
        <p:spPr>
          <a:xfrm>
            <a:off x="588869" y="1438836"/>
            <a:ext cx="6430496" cy="5419164"/>
          </a:xfrm>
          <a:prstGeom prst="rect">
            <a:avLst/>
          </a:prstGeom>
        </p:spPr>
      </p:pic>
      <p:pic>
        <p:nvPicPr>
          <p:cNvPr id="5" name="Picture 4"/>
          <p:cNvPicPr>
            <a:picLocks noChangeAspect="1"/>
          </p:cNvPicPr>
          <p:nvPr/>
        </p:nvPicPr>
        <p:blipFill>
          <a:blip r:embed="rId3"/>
          <a:stretch>
            <a:fillRect/>
          </a:stretch>
        </p:blipFill>
        <p:spPr>
          <a:xfrm>
            <a:off x="8094009" y="2429715"/>
            <a:ext cx="2892238" cy="156406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234" y="0"/>
            <a:ext cx="10733766" cy="1261884"/>
          </a:xfrm>
          <a:prstGeom prst="rect">
            <a:avLst/>
          </a:prstGeom>
        </p:spPr>
        <p:txBody>
          <a:bodyPr wrap="square">
            <a:spAutoFit/>
          </a:bodyPr>
          <a:lstStyle/>
          <a:p>
            <a:pPr algn="ctr"/>
            <a:r>
              <a:rPr lang="en-US" sz="3600" b="1" dirty="0" smtClean="0">
                <a:solidFill>
                  <a:schemeClr val="accent1">
                    <a:lumMod val="75000"/>
                  </a:schemeClr>
                </a:solidFill>
                <a:latin typeface="Palatino Linotype" panose="02040502050505030304" pitchFamily="18" charset="0"/>
              </a:rPr>
              <a:t>Facts on Pure Virtual Functions &amp; Abstract Class</a:t>
            </a:r>
            <a:r>
              <a:rPr lang="en-US" sz="4000" b="1" dirty="0">
                <a:solidFill>
                  <a:schemeClr val="accent1">
                    <a:lumMod val="75000"/>
                  </a:schemeClr>
                </a:solidFill>
                <a:latin typeface="Palatino Linotype" panose="02040502050505030304" pitchFamily="18" charset="0"/>
              </a:rPr>
              <a:t/>
            </a:r>
            <a:br>
              <a:rPr lang="en-US" sz="4000" b="1" dirty="0">
                <a:solidFill>
                  <a:schemeClr val="accent1">
                    <a:lumMod val="75000"/>
                  </a:schemeClr>
                </a:solidFill>
                <a:latin typeface="Palatino Linotype" panose="02040502050505030304" pitchFamily="18" charset="0"/>
              </a:rPr>
            </a:br>
            <a:endParaRPr lang="en-US" sz="4000" dirty="0"/>
          </a:p>
        </p:txBody>
      </p:sp>
      <p:sp>
        <p:nvSpPr>
          <p:cNvPr id="8" name="Rectangle 7"/>
          <p:cNvSpPr/>
          <p:nvPr/>
        </p:nvSpPr>
        <p:spPr>
          <a:xfrm>
            <a:off x="1035424" y="877163"/>
            <a:ext cx="10636623" cy="769441"/>
          </a:xfrm>
          <a:prstGeom prst="rect">
            <a:avLst/>
          </a:prstGeom>
        </p:spPr>
        <p:txBody>
          <a:bodyPr wrap="square">
            <a:spAutoFit/>
          </a:bodyPr>
          <a:lstStyle/>
          <a:p>
            <a:r>
              <a:rPr lang="en-US" sz="2200" dirty="0" smtClean="0">
                <a:solidFill>
                  <a:srgbClr val="C00000"/>
                </a:solidFill>
                <a:latin typeface="Palatino Linotype" panose="02040502050505030304" pitchFamily="18" charset="0"/>
              </a:rPr>
              <a:t>3. If </a:t>
            </a:r>
            <a:r>
              <a:rPr lang="en-US" sz="2200" dirty="0">
                <a:solidFill>
                  <a:srgbClr val="C00000"/>
                </a:solidFill>
                <a:latin typeface="Palatino Linotype" panose="02040502050505030304" pitchFamily="18" charset="0"/>
              </a:rPr>
              <a:t>we do not override the pure virtual function in the derived class, then the derived class also becomes an abstract class.</a:t>
            </a:r>
          </a:p>
        </p:txBody>
      </p:sp>
      <p:pic>
        <p:nvPicPr>
          <p:cNvPr id="3" name="Picture 2"/>
          <p:cNvPicPr>
            <a:picLocks noChangeAspect="1"/>
          </p:cNvPicPr>
          <p:nvPr/>
        </p:nvPicPr>
        <p:blipFill>
          <a:blip r:embed="rId2"/>
          <a:stretch>
            <a:fillRect/>
          </a:stretch>
        </p:blipFill>
        <p:spPr>
          <a:xfrm>
            <a:off x="1656332" y="1838744"/>
            <a:ext cx="4896971" cy="4494821"/>
          </a:xfrm>
          <a:prstGeom prst="rect">
            <a:avLst/>
          </a:prstGeom>
        </p:spPr>
      </p:pic>
      <p:pic>
        <p:nvPicPr>
          <p:cNvPr id="6" name="Picture 5"/>
          <p:cNvPicPr>
            <a:picLocks noChangeAspect="1"/>
          </p:cNvPicPr>
          <p:nvPr/>
        </p:nvPicPr>
        <p:blipFill>
          <a:blip r:embed="rId3"/>
          <a:stretch>
            <a:fillRect/>
          </a:stretch>
        </p:blipFill>
        <p:spPr>
          <a:xfrm>
            <a:off x="6063117" y="2407512"/>
            <a:ext cx="5962650" cy="201657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9624" y="328699"/>
            <a:ext cx="4491318" cy="2369880"/>
          </a:xfrm>
          <a:prstGeom prst="rect">
            <a:avLst/>
          </a:prstGeom>
        </p:spPr>
        <p:txBody>
          <a:bodyPr wrap="square">
            <a:spAutoFit/>
          </a:bodyPr>
          <a:lstStyle/>
          <a:p>
            <a:pPr algn="ctr"/>
            <a:r>
              <a:rPr lang="en-US" sz="3600" b="1" dirty="0" smtClean="0">
                <a:solidFill>
                  <a:schemeClr val="accent1">
                    <a:lumMod val="75000"/>
                  </a:schemeClr>
                </a:solidFill>
                <a:latin typeface="Palatino Linotype" panose="02040502050505030304" pitchFamily="18" charset="0"/>
              </a:rPr>
              <a:t>Facts on Pure Virtual Functions &amp; Abstract Class</a:t>
            </a:r>
            <a:r>
              <a:rPr lang="en-US" sz="4000" b="1" dirty="0">
                <a:solidFill>
                  <a:schemeClr val="accent1">
                    <a:lumMod val="75000"/>
                  </a:schemeClr>
                </a:solidFill>
                <a:latin typeface="Palatino Linotype" panose="02040502050505030304" pitchFamily="18" charset="0"/>
              </a:rPr>
              <a:t/>
            </a:r>
            <a:br>
              <a:rPr lang="en-US" sz="4000" b="1" dirty="0">
                <a:solidFill>
                  <a:schemeClr val="accent1">
                    <a:lumMod val="75000"/>
                  </a:schemeClr>
                </a:solidFill>
                <a:latin typeface="Palatino Linotype" panose="02040502050505030304" pitchFamily="18" charset="0"/>
              </a:rPr>
            </a:br>
            <a:endParaRPr lang="en-US" sz="4000" dirty="0"/>
          </a:p>
        </p:txBody>
      </p:sp>
      <p:sp>
        <p:nvSpPr>
          <p:cNvPr id="8" name="Rectangle 7"/>
          <p:cNvSpPr/>
          <p:nvPr/>
        </p:nvSpPr>
        <p:spPr>
          <a:xfrm>
            <a:off x="769845" y="2490348"/>
            <a:ext cx="4595532" cy="769441"/>
          </a:xfrm>
          <a:prstGeom prst="rect">
            <a:avLst/>
          </a:prstGeom>
        </p:spPr>
        <p:txBody>
          <a:bodyPr wrap="square">
            <a:spAutoFit/>
          </a:bodyPr>
          <a:lstStyle/>
          <a:p>
            <a:r>
              <a:rPr lang="en-US" sz="2200" dirty="0">
                <a:solidFill>
                  <a:srgbClr val="C00000"/>
                </a:solidFill>
                <a:latin typeface="Palatino Linotype" panose="02040502050505030304" pitchFamily="18" charset="0"/>
              </a:rPr>
              <a:t>4</a:t>
            </a:r>
            <a:r>
              <a:rPr lang="en-US" sz="2200" dirty="0" smtClean="0">
                <a:solidFill>
                  <a:srgbClr val="C00000"/>
                </a:solidFill>
                <a:latin typeface="Palatino Linotype" panose="02040502050505030304" pitchFamily="18" charset="0"/>
              </a:rPr>
              <a:t>. </a:t>
            </a:r>
            <a:r>
              <a:rPr lang="en-US" sz="2200" dirty="0">
                <a:solidFill>
                  <a:srgbClr val="C00000"/>
                </a:solidFill>
                <a:latin typeface="Palatino Linotype" panose="02040502050505030304" pitchFamily="18" charset="0"/>
              </a:rPr>
              <a:t>An abstract class can have constructors. </a:t>
            </a:r>
          </a:p>
        </p:txBody>
      </p:sp>
      <p:pic>
        <p:nvPicPr>
          <p:cNvPr id="5" name="Picture 4"/>
          <p:cNvPicPr>
            <a:picLocks noChangeAspect="1"/>
          </p:cNvPicPr>
          <p:nvPr/>
        </p:nvPicPr>
        <p:blipFill>
          <a:blip r:embed="rId2"/>
          <a:stretch>
            <a:fillRect/>
          </a:stretch>
        </p:blipFill>
        <p:spPr>
          <a:xfrm>
            <a:off x="5261163" y="0"/>
            <a:ext cx="6826623" cy="6858000"/>
          </a:xfrm>
          <a:prstGeom prst="rect">
            <a:avLst/>
          </a:prstGeom>
        </p:spPr>
      </p:pic>
      <p:pic>
        <p:nvPicPr>
          <p:cNvPr id="7" name="Picture 6"/>
          <p:cNvPicPr>
            <a:picLocks noChangeAspect="1"/>
          </p:cNvPicPr>
          <p:nvPr/>
        </p:nvPicPr>
        <p:blipFill>
          <a:blip r:embed="rId3"/>
          <a:stretch>
            <a:fillRect/>
          </a:stretch>
        </p:blipFill>
        <p:spPr>
          <a:xfrm>
            <a:off x="433669" y="3574911"/>
            <a:ext cx="4407273" cy="184652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03811" y="677108"/>
            <a:ext cx="10733766" cy="1261884"/>
          </a:xfrm>
          <a:prstGeom prst="rect">
            <a:avLst/>
          </a:prstGeom>
        </p:spPr>
        <p:txBody>
          <a:bodyPr wrap="square">
            <a:spAutoFit/>
          </a:bodyPr>
          <a:lstStyle/>
          <a:p>
            <a:pPr algn="ctr"/>
            <a:r>
              <a:rPr lang="en-US" sz="3600" b="1" dirty="0" smtClean="0">
                <a:solidFill>
                  <a:schemeClr val="accent1">
                    <a:lumMod val="75000"/>
                  </a:schemeClr>
                </a:solidFill>
                <a:latin typeface="Palatino Linotype" panose="02040502050505030304" pitchFamily="18" charset="0"/>
              </a:rPr>
              <a:t>Facts on Pure Virtual Functions &amp; Abstract Class</a:t>
            </a:r>
            <a:r>
              <a:rPr lang="en-US" sz="4000" b="1" dirty="0">
                <a:solidFill>
                  <a:schemeClr val="accent1">
                    <a:lumMod val="75000"/>
                  </a:schemeClr>
                </a:solidFill>
                <a:latin typeface="Palatino Linotype" panose="02040502050505030304" pitchFamily="18" charset="0"/>
              </a:rPr>
              <a:t/>
            </a:r>
            <a:br>
              <a:rPr lang="en-US" sz="4000" b="1" dirty="0">
                <a:solidFill>
                  <a:schemeClr val="accent1">
                    <a:lumMod val="75000"/>
                  </a:schemeClr>
                </a:solidFill>
                <a:latin typeface="Palatino Linotype" panose="02040502050505030304" pitchFamily="18" charset="0"/>
              </a:rPr>
            </a:br>
            <a:endParaRPr lang="en-US" sz="4000" dirty="0"/>
          </a:p>
        </p:txBody>
      </p:sp>
      <p:sp>
        <p:nvSpPr>
          <p:cNvPr id="2" name="Rectangle 1"/>
          <p:cNvSpPr>
            <a:spLocks noChangeArrowheads="1"/>
          </p:cNvSpPr>
          <p:nvPr/>
        </p:nvSpPr>
        <p:spPr bwMode="auto">
          <a:xfrm>
            <a:off x="1559857" y="1938992"/>
            <a:ext cx="9762565" cy="3044395"/>
          </a:xfrm>
          <a:prstGeom prst="rect">
            <a:avLst/>
          </a:prstGeom>
          <a:solidFill>
            <a:schemeClr val="bg1"/>
          </a:solidFill>
          <a:ln>
            <a:noFill/>
          </a:ln>
          <a:effectLst/>
        </p:spPr>
        <p:txBody>
          <a:bodyPr vert="horz" wrap="square" lIns="0" tIns="0"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smtClean="0">
                <a:ln>
                  <a:noFill/>
                </a:ln>
                <a:solidFill>
                  <a:srgbClr val="C00000"/>
                </a:solidFill>
                <a:effectLst/>
                <a:latin typeface="Palatino Linotype" panose="02040502050505030304" pitchFamily="18" charset="0"/>
              </a:rPr>
              <a:t>5. An abstract class in C++ can also be defined using </a:t>
            </a:r>
            <a:r>
              <a:rPr kumimoji="0" lang="en-US" altLang="en-US" sz="2400" b="1" i="0" u="none" strike="noStrike" cap="none" normalizeH="0" baseline="0" dirty="0" err="1" smtClean="0">
                <a:ln>
                  <a:noFill/>
                </a:ln>
                <a:solidFill>
                  <a:srgbClr val="C00000"/>
                </a:solidFill>
                <a:effectLst/>
                <a:latin typeface="Palatino Linotype" panose="02040502050505030304" pitchFamily="18" charset="0"/>
              </a:rPr>
              <a:t>struct</a:t>
            </a:r>
            <a:r>
              <a:rPr kumimoji="0" lang="en-US" altLang="en-US" sz="2400" b="1" i="0" u="none" strike="noStrike" cap="none" normalizeH="0" baseline="0" dirty="0" smtClean="0">
                <a:ln>
                  <a:noFill/>
                </a:ln>
                <a:solidFill>
                  <a:srgbClr val="C00000"/>
                </a:solidFill>
                <a:effectLst/>
                <a:latin typeface="Palatino Linotype" panose="02040502050505030304" pitchFamily="18" charset="0"/>
              </a:rPr>
              <a:t> keyword</a:t>
            </a:r>
            <a:r>
              <a:rPr kumimoji="0" lang="en-US" altLang="en-US" sz="2400" b="1" i="0" u="none" strike="noStrike" cap="none" normalizeH="0" baseline="0" dirty="0" smtClean="0">
                <a:ln>
                  <a:noFill/>
                </a:ln>
                <a:solidFill>
                  <a:srgbClr val="273239"/>
                </a:solidFill>
                <a:effectLst/>
                <a:latin typeface="Palatino Linotype" panose="02040502050505030304" pitchFamily="18" charset="0"/>
              </a:rPr>
              <a:t>.</a:t>
            </a:r>
          </a:p>
          <a:p>
            <a:pPr marL="0" marR="0" lvl="0" indent="0" algn="l" defTabSz="914400" rtl="0" eaLnBrk="0" fontAlgn="base" latinLnBrk="0" hangingPunct="0">
              <a:lnSpc>
                <a:spcPct val="100000"/>
              </a:lnSpc>
              <a:spcBef>
                <a:spcPct val="0"/>
              </a:spcBef>
              <a:spcAft>
                <a:spcPct val="0"/>
              </a:spcAft>
              <a:buClrTx/>
              <a:buSzTx/>
              <a:buFontTx/>
              <a:buNone/>
            </a:pPr>
            <a:endParaRPr lang="en-US" altLang="en-US" sz="2400" b="1" dirty="0">
              <a:solidFill>
                <a:srgbClr val="273239"/>
              </a:solidFill>
              <a:latin typeface="Palatino Linotype" panose="0204050205050503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smtClean="0">
              <a:ln>
                <a:noFill/>
              </a:ln>
              <a:solidFill>
                <a:schemeClr val="tx1"/>
              </a:solidFill>
              <a:effectLst/>
              <a:latin typeface="Palatino Linotype" panose="02040502050505030304" pitchFamily="18" charset="0"/>
            </a:endParaRPr>
          </a:p>
          <a:p>
            <a:pPr lvl="3"/>
            <a:r>
              <a:rPr kumimoji="0" lang="en-US" altLang="en-US" sz="2400" b="1" i="0" u="none" strike="noStrike" cap="none" normalizeH="0" baseline="0" dirty="0" smtClean="0">
                <a:ln>
                  <a:noFill/>
                </a:ln>
                <a:solidFill>
                  <a:srgbClr val="273239"/>
                </a:solidFill>
                <a:effectLst/>
                <a:latin typeface="Palatino Linotype" panose="02040502050505030304" pitchFamily="18" charset="0"/>
              </a:rPr>
              <a:t>Example</a:t>
            </a:r>
            <a:endParaRPr kumimoji="0" lang="en-US" altLang="en-US" sz="2400" b="0" i="0" u="none" strike="noStrike" cap="none" normalizeH="0" baseline="0" dirty="0" smtClean="0">
              <a:ln>
                <a:noFill/>
              </a:ln>
              <a:solidFill>
                <a:schemeClr val="tx1"/>
              </a:solidFill>
              <a:effectLst/>
              <a:latin typeface="Palatino Linotype" panose="02040502050505030304" pitchFamily="18" charset="0"/>
            </a:endParaRPr>
          </a:p>
          <a:p>
            <a:pPr lvl="3"/>
            <a:r>
              <a:rPr kumimoji="0" lang="en-US" altLang="en-US" sz="2400" b="0" i="0" u="none" strike="noStrike" cap="none" normalizeH="0" baseline="0" dirty="0" err="1" smtClean="0">
                <a:ln>
                  <a:noFill/>
                </a:ln>
                <a:solidFill>
                  <a:schemeClr val="tx1"/>
                </a:solidFill>
                <a:effectLst/>
                <a:latin typeface="Palatino Linotype" panose="02040502050505030304" pitchFamily="18" charset="0"/>
              </a:rPr>
              <a:t>struct</a:t>
            </a:r>
            <a:r>
              <a:rPr kumimoji="0" lang="en-US" altLang="en-US" sz="2400" b="0" i="0" u="none" strike="noStrike" cap="none" normalizeH="0" baseline="0" dirty="0" smtClean="0">
                <a:ln>
                  <a:noFill/>
                </a:ln>
                <a:solidFill>
                  <a:schemeClr val="tx1"/>
                </a:solidFill>
                <a:effectLst/>
                <a:latin typeface="Palatino Linotype" panose="02040502050505030304" pitchFamily="18" charset="0"/>
              </a:rPr>
              <a:t> </a:t>
            </a:r>
            <a:r>
              <a:rPr kumimoji="0" lang="en-US" altLang="en-US" sz="2400" b="0" i="0" u="none" strike="noStrike" cap="none" normalizeH="0" baseline="0" dirty="0" err="1" smtClean="0">
                <a:ln>
                  <a:noFill/>
                </a:ln>
                <a:solidFill>
                  <a:schemeClr val="tx1"/>
                </a:solidFill>
                <a:effectLst/>
                <a:latin typeface="Palatino Linotype" panose="02040502050505030304" pitchFamily="18" charset="0"/>
              </a:rPr>
              <a:t>shapeClass</a:t>
            </a:r>
            <a:r>
              <a:rPr kumimoji="0" lang="en-US" altLang="en-US" sz="2400" b="0" i="0" u="none" strike="noStrike" cap="none" normalizeH="0" baseline="0" dirty="0" smtClean="0">
                <a:ln>
                  <a:noFill/>
                </a:ln>
                <a:solidFill>
                  <a:schemeClr val="tx1"/>
                </a:solidFill>
                <a:effectLst/>
                <a:latin typeface="Palatino Linotype" panose="02040502050505030304" pitchFamily="18" charset="0"/>
              </a:rPr>
              <a:t/>
            </a:r>
            <a:br>
              <a:rPr kumimoji="0" lang="en-US" altLang="en-US" sz="2400" b="0" i="0" u="none" strike="noStrike" cap="none" normalizeH="0" baseline="0" dirty="0" smtClean="0">
                <a:ln>
                  <a:noFill/>
                </a:ln>
                <a:solidFill>
                  <a:schemeClr val="tx1"/>
                </a:solidFill>
                <a:effectLst/>
                <a:latin typeface="Palatino Linotype" panose="02040502050505030304" pitchFamily="18" charset="0"/>
              </a:rPr>
            </a:br>
            <a:r>
              <a:rPr kumimoji="0" lang="en-US" altLang="en-US" sz="2400" b="0" i="0" u="none" strike="noStrike" cap="none" normalizeH="0" baseline="0" dirty="0" smtClean="0">
                <a:ln>
                  <a:noFill/>
                </a:ln>
                <a:solidFill>
                  <a:schemeClr val="tx1"/>
                </a:solidFill>
                <a:effectLst/>
                <a:latin typeface="Palatino Linotype" panose="02040502050505030304" pitchFamily="18" charset="0"/>
              </a:rPr>
              <a:t>{</a:t>
            </a:r>
            <a:br>
              <a:rPr kumimoji="0" lang="en-US" altLang="en-US" sz="2400" b="0" i="0" u="none" strike="noStrike" cap="none" normalizeH="0" baseline="0" dirty="0" smtClean="0">
                <a:ln>
                  <a:noFill/>
                </a:ln>
                <a:solidFill>
                  <a:schemeClr val="tx1"/>
                </a:solidFill>
                <a:effectLst/>
                <a:latin typeface="Palatino Linotype" panose="02040502050505030304" pitchFamily="18" charset="0"/>
              </a:rPr>
            </a:br>
            <a:r>
              <a:rPr kumimoji="0" lang="en-US" altLang="en-US" sz="2400" b="0" i="0" u="none" strike="noStrike" cap="none" normalizeH="0" baseline="0" dirty="0" smtClean="0">
                <a:ln>
                  <a:noFill/>
                </a:ln>
                <a:solidFill>
                  <a:schemeClr val="tx1"/>
                </a:solidFill>
                <a:effectLst/>
                <a:latin typeface="Palatino Linotype" panose="02040502050505030304" pitchFamily="18" charset="0"/>
              </a:rPr>
              <a:t>virtual void Draw()=0;</a:t>
            </a:r>
            <a:br>
              <a:rPr kumimoji="0" lang="en-US" altLang="en-US" sz="2400" b="0" i="0" u="none" strike="noStrike" cap="none" normalizeH="0" baseline="0" dirty="0" smtClean="0">
                <a:ln>
                  <a:noFill/>
                </a:ln>
                <a:solidFill>
                  <a:schemeClr val="tx1"/>
                </a:solidFill>
                <a:effectLst/>
                <a:latin typeface="Palatino Linotype" panose="02040502050505030304" pitchFamily="18" charset="0"/>
              </a:rPr>
            </a:br>
            <a:r>
              <a:rPr kumimoji="0" lang="en-US" altLang="en-US" sz="2400" b="0" i="0" u="none" strike="noStrike" cap="none" normalizeH="0" baseline="0" dirty="0" smtClean="0">
                <a:ln>
                  <a:noFill/>
                </a:ln>
                <a:solidFill>
                  <a:schemeClr val="tx1"/>
                </a:solidFill>
                <a:effectLst/>
                <a:latin typeface="Palatino Linotype" panose="02040502050505030304" pitchFamily="18"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4256" y="148380"/>
            <a:ext cx="10733766" cy="1323439"/>
          </a:xfrm>
          <a:prstGeom prst="rect">
            <a:avLst/>
          </a:prstGeom>
        </p:spPr>
        <p:txBody>
          <a:bodyPr wrap="square">
            <a:spAutoFit/>
          </a:bodyPr>
          <a:lstStyle/>
          <a:p>
            <a:pPr algn="ctr"/>
            <a:r>
              <a:rPr lang="en-US" sz="3600" b="1" dirty="0" smtClean="0">
                <a:solidFill>
                  <a:schemeClr val="accent1">
                    <a:lumMod val="75000"/>
                  </a:schemeClr>
                </a:solidFill>
                <a:latin typeface="Palatino Linotype" panose="02040502050505030304" pitchFamily="18" charset="0"/>
              </a:rPr>
              <a:t>Virtual Functions vs Pure </a:t>
            </a:r>
            <a:r>
              <a:rPr lang="en-US" sz="4000" b="1" dirty="0" smtClean="0">
                <a:solidFill>
                  <a:schemeClr val="accent1">
                    <a:lumMod val="75000"/>
                  </a:schemeClr>
                </a:solidFill>
                <a:latin typeface="Palatino Linotype" panose="02040502050505030304" pitchFamily="18" charset="0"/>
              </a:rPr>
              <a:t>Virtual </a:t>
            </a:r>
            <a:r>
              <a:rPr lang="en-US" sz="4000" b="1" dirty="0">
                <a:solidFill>
                  <a:schemeClr val="accent1">
                    <a:lumMod val="75000"/>
                  </a:schemeClr>
                </a:solidFill>
                <a:latin typeface="Palatino Linotype" panose="02040502050505030304" pitchFamily="18" charset="0"/>
              </a:rPr>
              <a:t>Functions </a:t>
            </a:r>
            <a:br>
              <a:rPr lang="en-US" sz="4000" b="1" dirty="0">
                <a:solidFill>
                  <a:schemeClr val="accent1">
                    <a:lumMod val="75000"/>
                  </a:schemeClr>
                </a:solidFill>
                <a:latin typeface="Palatino Linotype" panose="02040502050505030304" pitchFamily="18" charset="0"/>
              </a:rPr>
            </a:br>
            <a:endParaRPr lang="en-US" sz="4000" dirty="0"/>
          </a:p>
        </p:txBody>
      </p:sp>
      <p:sp>
        <p:nvSpPr>
          <p:cNvPr id="2" name="Rectangle 1"/>
          <p:cNvSpPr>
            <a:spLocks noChangeArrowheads="1"/>
          </p:cNvSpPr>
          <p:nvPr/>
        </p:nvSpPr>
        <p:spPr bwMode="auto">
          <a:xfrm>
            <a:off x="1559857" y="3231653"/>
            <a:ext cx="9762565" cy="459072"/>
          </a:xfrm>
          <a:prstGeom prst="rect">
            <a:avLst/>
          </a:prstGeom>
          <a:solidFill>
            <a:schemeClr val="bg1"/>
          </a:solidFill>
          <a:ln>
            <a:noFill/>
          </a:ln>
          <a:effectLst/>
        </p:spPr>
        <p:txBody>
          <a:bodyPr vert="horz" wrap="square" lIns="0" tIns="0"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smtClean="0">
              <a:ln>
                <a:noFill/>
              </a:ln>
              <a:solidFill>
                <a:schemeClr val="tx1"/>
              </a:solidFill>
              <a:effectLst/>
              <a:latin typeface="Palatino Linotype" panose="02040502050505030304" pitchFamily="18" charset="0"/>
            </a:endParaRPr>
          </a:p>
        </p:txBody>
      </p:sp>
      <p:graphicFrame>
        <p:nvGraphicFramePr>
          <p:cNvPr id="3" name="Table 2"/>
          <p:cNvGraphicFramePr>
            <a:graphicFrameLocks noGrp="1"/>
          </p:cNvGraphicFramePr>
          <p:nvPr/>
        </p:nvGraphicFramePr>
        <p:xfrm>
          <a:off x="605117" y="1035424"/>
          <a:ext cx="11053482" cy="5822576"/>
        </p:xfrm>
        <a:graphic>
          <a:graphicData uri="http://schemas.openxmlformats.org/drawingml/2006/table">
            <a:tbl>
              <a:tblPr/>
              <a:tblGrid>
                <a:gridCol w="5526741">
                  <a:extLst>
                    <a:ext uri="{9D8B030D-6E8A-4147-A177-3AD203B41FA5}">
                      <a16:colId xmlns:a16="http://schemas.microsoft.com/office/drawing/2014/main" val="20000"/>
                    </a:ext>
                  </a:extLst>
                </a:gridCol>
                <a:gridCol w="5526741">
                  <a:extLst>
                    <a:ext uri="{9D8B030D-6E8A-4147-A177-3AD203B41FA5}">
                      <a16:colId xmlns:a16="http://schemas.microsoft.com/office/drawing/2014/main" val="20001"/>
                    </a:ext>
                  </a:extLst>
                </a:gridCol>
              </a:tblGrid>
              <a:tr h="445131">
                <a:tc>
                  <a:txBody>
                    <a:bodyPr/>
                    <a:lstStyle/>
                    <a:p>
                      <a:pPr algn="ctr" fontAlgn="base"/>
                      <a:r>
                        <a:rPr lang="en-US" sz="1800" b="1" dirty="0">
                          <a:effectLst/>
                          <a:latin typeface="Palatino Linotype" panose="02040502050505030304" pitchFamily="18" charset="0"/>
                        </a:rPr>
                        <a:t>Virtual function</a:t>
                      </a:r>
                    </a:p>
                  </a:txBody>
                  <a:tcPr marL="31526" marR="31526" marT="78815" marB="7881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latin typeface="Palatino Linotype" panose="02040502050505030304" pitchFamily="18" charset="0"/>
                        </a:rPr>
                        <a:t>Pure virtual function</a:t>
                      </a:r>
                    </a:p>
                  </a:txBody>
                  <a:tcPr marL="78815" marR="78815" marT="78815" marB="78815"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358180">
                <a:tc>
                  <a:txBody>
                    <a:bodyPr/>
                    <a:lstStyle/>
                    <a:p>
                      <a:pPr algn="ctr" fontAlgn="ctr"/>
                      <a:r>
                        <a:rPr lang="en-US" sz="1800" b="0" dirty="0">
                          <a:effectLst/>
                          <a:latin typeface="Palatino Linotype" panose="02040502050505030304" pitchFamily="18" charset="0"/>
                        </a:rPr>
                        <a:t>A virtual function is a member function of base class which can be redefined by derived class.</a:t>
                      </a: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latin typeface="Palatino Linotype" panose="02040502050505030304" pitchFamily="18" charset="0"/>
                        </a:rPr>
                        <a:t>A pure virtual function is a member function of base class whose only declaration is provided in base class and should be defined in derived class otherwise derived class also becomes abstract.</a:t>
                      </a: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2798">
                <a:tc>
                  <a:txBody>
                    <a:bodyPr/>
                    <a:lstStyle/>
                    <a:p>
                      <a:pPr algn="ctr" fontAlgn="ctr"/>
                      <a:r>
                        <a:rPr lang="en-US" sz="1800" b="0" dirty="0">
                          <a:effectLst/>
                          <a:latin typeface="Palatino Linotype" panose="02040502050505030304" pitchFamily="18" charset="0"/>
                        </a:rPr>
                        <a:t>Classes having virtual functions are not abstract.</a:t>
                      </a: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a:effectLst/>
                          <a:latin typeface="Palatino Linotype" panose="02040502050505030304" pitchFamily="18" charset="0"/>
                        </a:rPr>
                        <a:t>Base class containing pure virtual function becomes abstract.</a:t>
                      </a: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92798">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800" b="0" dirty="0" smtClean="0">
                          <a:effectLst/>
                          <a:latin typeface="Palatino Linotype" panose="02040502050505030304" pitchFamily="18" charset="0"/>
                        </a:rPr>
                        <a:t>Definition is given in base class.</a:t>
                      </a:r>
                    </a:p>
                    <a:p>
                      <a:pPr algn="ctr" fontAlgn="ctr"/>
                      <a:endParaRPr lang="en-US" sz="1800" b="0" dirty="0">
                        <a:effectLst/>
                        <a:latin typeface="Palatino Linotype" panose="02040502050505030304" pitchFamily="18" charset="0"/>
                      </a:endParaRP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smtClean="0">
                          <a:effectLst/>
                          <a:latin typeface="Palatino Linotype" panose="02040502050505030304" pitchFamily="18" charset="0"/>
                        </a:rPr>
                        <a:t>No definition is given in base class.</a:t>
                      </a:r>
                      <a:endParaRPr lang="en-US" sz="1800" b="0" dirty="0">
                        <a:effectLst/>
                        <a:latin typeface="Palatino Linotype" panose="02040502050505030304" pitchFamily="18" charset="0"/>
                      </a:endParaRP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75489">
                <a:tc>
                  <a:txBody>
                    <a:bodyPr/>
                    <a:lstStyle/>
                    <a:p>
                      <a:pPr algn="ctr" fontAlgn="ctr"/>
                      <a:r>
                        <a:rPr lang="en-US" sz="1800" b="0" dirty="0" smtClean="0">
                          <a:effectLst/>
                          <a:latin typeface="Palatino Linotype" panose="02040502050505030304" pitchFamily="18" charset="0"/>
                        </a:rPr>
                        <a:t>Base class having virtual function can be instantiated i.e. its object can be made.</a:t>
                      </a:r>
                      <a:endParaRPr lang="en-US" sz="1800" b="0" dirty="0">
                        <a:effectLst/>
                        <a:latin typeface="Palatino Linotype" panose="02040502050505030304" pitchFamily="18" charset="0"/>
                      </a:endParaRP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800" b="0" dirty="0" smtClean="0">
                          <a:effectLst/>
                          <a:latin typeface="Palatino Linotype" panose="02040502050505030304" pitchFamily="18" charset="0"/>
                        </a:rPr>
                        <a:t>Base class having pure virtual function becomes abstract i.e. it cannot be instantiated.</a:t>
                      </a:r>
                    </a:p>
                    <a:p>
                      <a:pPr algn="ctr" fontAlgn="ctr"/>
                      <a:endParaRPr lang="en-US" sz="1800" b="0" dirty="0">
                        <a:effectLst/>
                        <a:latin typeface="Palatino Linotype" panose="02040502050505030304" pitchFamily="18" charset="0"/>
                      </a:endParaRP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358180">
                <a:tc>
                  <a:txBody>
                    <a:bodyPr/>
                    <a:lstStyle/>
                    <a:p>
                      <a:pPr algn="ctr" fontAlgn="ctr"/>
                      <a:r>
                        <a:rPr lang="en-US" sz="1800" b="0" dirty="0">
                          <a:effectLst/>
                          <a:latin typeface="Palatino Linotype" panose="02040502050505030304" pitchFamily="18" charset="0"/>
                        </a:rPr>
                        <a:t>If derived class does not redefine virtual function of the base class, then it does not affect compilation.</a:t>
                      </a: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800" b="0" dirty="0">
                          <a:effectLst/>
                          <a:latin typeface="Palatino Linotype" panose="02040502050505030304" pitchFamily="18" charset="0"/>
                        </a:rPr>
                        <a:t>If derived class does not redefine virtual function of the base class, then no compilation error is encountered, but like the base class, derived class also becomes abstract.</a:t>
                      </a:r>
                    </a:p>
                  </a:txBody>
                  <a:tcPr marL="78815" marR="78815" marT="110341" marB="11034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99723" y="1605798"/>
            <a:ext cx="8733320" cy="1569660"/>
          </a:xfrm>
          <a:prstGeom prst="rect">
            <a:avLst/>
          </a:prstGeom>
        </p:spPr>
        <p:txBody>
          <a:bodyPr wrap="square">
            <a:spAutoFit/>
          </a:bodyPr>
          <a:lstStyle/>
          <a:p>
            <a:r>
              <a:rPr lang="en-US" sz="2400" dirty="0"/>
              <a:t>(a) Create a simple ‘shape’ hierarchy: a base class called Shape and </a:t>
            </a:r>
            <a:r>
              <a:rPr lang="en-US" sz="2400" dirty="0" smtClean="0"/>
              <a:t>derived classes </a:t>
            </a:r>
            <a:r>
              <a:rPr lang="en-US" sz="2400" dirty="0"/>
              <a:t>called Circle, Square, and Triangle. In the base class, make </a:t>
            </a:r>
            <a:r>
              <a:rPr lang="en-US" sz="2400"/>
              <a:t>a </a:t>
            </a:r>
            <a:r>
              <a:rPr lang="en-US" sz="2400" smtClean="0"/>
              <a:t>virtual function </a:t>
            </a:r>
            <a:r>
              <a:rPr lang="en-US" sz="2400" dirty="0"/>
              <a:t>called draw( ), and override this in the derived classes.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0" y="889844"/>
            <a:ext cx="9925878" cy="5016758"/>
          </a:xfrm>
          <a:prstGeom prst="rect">
            <a:avLst/>
          </a:prstGeom>
        </p:spPr>
        <p:txBody>
          <a:bodyPr wrap="square">
            <a:spAutoFit/>
          </a:bodyPr>
          <a:lstStyle/>
          <a:p>
            <a:r>
              <a:rPr lang="en-US" sz="2000" dirty="0"/>
              <a:t>Design a C++ program to demonstrate the use of inheritance, pure virtual functions, and runtime polymorphism in a library system</a:t>
            </a:r>
            <a:r>
              <a:rPr lang="en-US" sz="2000" dirty="0" smtClean="0"/>
              <a:t>.</a:t>
            </a:r>
          </a:p>
          <a:p>
            <a:r>
              <a:rPr lang="en-US" sz="2000" dirty="0" smtClean="0"/>
              <a:t> </a:t>
            </a:r>
            <a:r>
              <a:rPr lang="en-US" sz="2000" dirty="0" err="1"/>
              <a:t>Requirements:Create</a:t>
            </a:r>
            <a:r>
              <a:rPr lang="en-US" sz="2000" dirty="0"/>
              <a:t> an abstract base class named </a:t>
            </a:r>
            <a:r>
              <a:rPr lang="en-US" sz="2000" dirty="0" err="1"/>
              <a:t>LibraryItem</a:t>
            </a:r>
            <a:r>
              <a:rPr lang="en-US" sz="2000" dirty="0"/>
              <a:t> that contains</a:t>
            </a:r>
            <a:r>
              <a:rPr lang="en-US" sz="2000" dirty="0" smtClean="0"/>
              <a:t>:</a:t>
            </a:r>
          </a:p>
          <a:p>
            <a:r>
              <a:rPr lang="en-US" sz="2000" dirty="0" smtClean="0"/>
              <a:t>Protected </a:t>
            </a:r>
            <a:r>
              <a:rPr lang="en-US" sz="2000" dirty="0"/>
              <a:t>data </a:t>
            </a:r>
            <a:r>
              <a:rPr lang="en-US" sz="2000" dirty="0" err="1"/>
              <a:t>members:string</a:t>
            </a:r>
            <a:r>
              <a:rPr lang="en-US" sz="2000" dirty="0"/>
              <a:t> </a:t>
            </a:r>
            <a:r>
              <a:rPr lang="en-US" sz="2000" dirty="0" smtClean="0"/>
              <a:t>title</a:t>
            </a:r>
          </a:p>
          <a:p>
            <a:r>
              <a:rPr lang="en-US" sz="2000" dirty="0" err="1" smtClean="0"/>
              <a:t>int</a:t>
            </a:r>
            <a:r>
              <a:rPr lang="en-US" sz="2000" dirty="0" smtClean="0"/>
              <a:t> </a:t>
            </a:r>
            <a:r>
              <a:rPr lang="en-US" sz="2000" dirty="0" err="1" smtClean="0"/>
              <a:t>itemID</a:t>
            </a:r>
            <a:endParaRPr lang="en-US" sz="2000" dirty="0" smtClean="0"/>
          </a:p>
          <a:p>
            <a:r>
              <a:rPr lang="en-US" sz="2000" dirty="0" smtClean="0"/>
              <a:t>A </a:t>
            </a:r>
            <a:r>
              <a:rPr lang="en-US" sz="2000" dirty="0"/>
              <a:t>function void </a:t>
            </a:r>
            <a:r>
              <a:rPr lang="en-US" sz="2000" dirty="0" err="1"/>
              <a:t>setData</a:t>
            </a:r>
            <a:r>
              <a:rPr lang="en-US" sz="2000" dirty="0"/>
              <a:t>(string t, </a:t>
            </a:r>
            <a:r>
              <a:rPr lang="en-US" sz="2000" dirty="0" err="1"/>
              <a:t>int</a:t>
            </a:r>
            <a:r>
              <a:rPr lang="en-US" sz="2000" dirty="0"/>
              <a:t> id) to set these values</a:t>
            </a:r>
            <a:r>
              <a:rPr lang="en-US" sz="2000" dirty="0" smtClean="0"/>
              <a:t>.</a:t>
            </a:r>
          </a:p>
          <a:p>
            <a:r>
              <a:rPr lang="en-US" sz="2000" dirty="0" smtClean="0"/>
              <a:t>A </a:t>
            </a:r>
            <a:r>
              <a:rPr lang="en-US" sz="2000" dirty="0"/>
              <a:t>pure virtual function </a:t>
            </a:r>
            <a:r>
              <a:rPr lang="en-US" sz="2000" dirty="0" err="1"/>
              <a:t>int</a:t>
            </a:r>
            <a:r>
              <a:rPr lang="en-US" sz="2000" dirty="0"/>
              <a:t> </a:t>
            </a:r>
            <a:r>
              <a:rPr lang="en-US" sz="2000" dirty="0" err="1"/>
              <a:t>getBorrowDays</a:t>
            </a:r>
            <a:r>
              <a:rPr lang="en-US" sz="2000" dirty="0"/>
              <a:t>() that returns the number of days an item can be borrowed</a:t>
            </a:r>
            <a:r>
              <a:rPr lang="en-US" sz="2000" dirty="0" smtClean="0"/>
              <a:t>.</a:t>
            </a:r>
          </a:p>
          <a:p>
            <a:r>
              <a:rPr lang="en-US" sz="2000" dirty="0" smtClean="0"/>
              <a:t>A </a:t>
            </a:r>
            <a:r>
              <a:rPr lang="en-US" sz="2000" dirty="0"/>
              <a:t>virtual function void display() to show basic information</a:t>
            </a:r>
            <a:r>
              <a:rPr lang="en-US" sz="2000" dirty="0" smtClean="0"/>
              <a:t>.</a:t>
            </a:r>
          </a:p>
          <a:p>
            <a:r>
              <a:rPr lang="en-US" sz="2000" dirty="0" smtClean="0"/>
              <a:t>Derive </a:t>
            </a:r>
            <a:r>
              <a:rPr lang="en-US" sz="2000" dirty="0"/>
              <a:t>the following classes from </a:t>
            </a:r>
            <a:r>
              <a:rPr lang="en-US" sz="2000" dirty="0" err="1"/>
              <a:t>LibraryItem:Book</a:t>
            </a:r>
            <a:r>
              <a:rPr lang="en-US" sz="2000" dirty="0"/>
              <a:t>: includes author name and number of </a:t>
            </a:r>
            <a:r>
              <a:rPr lang="en-US" sz="2000" dirty="0" err="1"/>
              <a:t>pages.Borrow</a:t>
            </a:r>
            <a:r>
              <a:rPr lang="en-US" sz="2000" dirty="0"/>
              <a:t> period = 14 </a:t>
            </a:r>
            <a:r>
              <a:rPr lang="en-US" sz="2000" dirty="0" smtClean="0"/>
              <a:t>days</a:t>
            </a:r>
          </a:p>
          <a:p>
            <a:r>
              <a:rPr lang="en-US" sz="2000" dirty="0" smtClean="0"/>
              <a:t>Magazine</a:t>
            </a:r>
            <a:r>
              <a:rPr lang="en-US" sz="2000" dirty="0"/>
              <a:t>: includes issue </a:t>
            </a:r>
            <a:r>
              <a:rPr lang="en-US" sz="2000" dirty="0" err="1"/>
              <a:t>number.Borrow</a:t>
            </a:r>
            <a:r>
              <a:rPr lang="en-US" sz="2000" dirty="0"/>
              <a:t> period = 7 </a:t>
            </a:r>
            <a:r>
              <a:rPr lang="en-US" sz="2000" dirty="0" smtClean="0"/>
              <a:t>days </a:t>
            </a:r>
          </a:p>
          <a:p>
            <a:r>
              <a:rPr lang="en-US" sz="2000" dirty="0" smtClean="0"/>
              <a:t>Override </a:t>
            </a:r>
            <a:r>
              <a:rPr lang="en-US" sz="2000" dirty="0"/>
              <a:t>the display() function to show detailed information</a:t>
            </a:r>
            <a:r>
              <a:rPr lang="en-US" sz="2000" dirty="0" smtClean="0"/>
              <a:t>. In </a:t>
            </a:r>
            <a:r>
              <a:rPr lang="en-US" sz="2000" dirty="0"/>
              <a:t>the main() </a:t>
            </a:r>
            <a:r>
              <a:rPr lang="en-US" sz="2000" dirty="0" err="1"/>
              <a:t>function:Create</a:t>
            </a:r>
            <a:r>
              <a:rPr lang="en-US" sz="2000" dirty="0"/>
              <a:t> individual objects for each derived </a:t>
            </a:r>
            <a:r>
              <a:rPr lang="en-US" sz="2000" dirty="0" err="1"/>
              <a:t>class.Use</a:t>
            </a:r>
            <a:r>
              <a:rPr lang="en-US" sz="2000" dirty="0"/>
              <a:t> a base class pointer (</a:t>
            </a:r>
            <a:r>
              <a:rPr lang="en-US" sz="2000" dirty="0" err="1"/>
              <a:t>LibraryItem</a:t>
            </a:r>
            <a:r>
              <a:rPr lang="en-US" sz="2000" dirty="0"/>
              <a:t>*) to refer to these objects one by </a:t>
            </a:r>
            <a:r>
              <a:rPr lang="en-US" sz="2000" dirty="0" err="1"/>
              <a:t>one.Call</a:t>
            </a:r>
            <a:r>
              <a:rPr lang="en-US" sz="2000" dirty="0"/>
              <a:t> display() through the base pointer to show runtime polymorphism in action.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080" y="1761565"/>
            <a:ext cx="10058400" cy="1414630"/>
          </a:xfrm>
        </p:spPr>
        <p:txBody>
          <a:bodyPr>
            <a:normAutofit/>
          </a:bodyPr>
          <a:lstStyle/>
          <a:p>
            <a:r>
              <a:rPr lang="en-US" sz="9600" b="1" dirty="0" smtClean="0">
                <a:latin typeface="Palatino Linotype" panose="02040502050505030304" pitchFamily="18" charset="0"/>
              </a:rPr>
              <a:t>Thank You</a:t>
            </a:r>
            <a:endParaRPr lang="en-US" sz="9600" b="1" dirty="0">
              <a:latin typeface="Palatino Linotype" panose="0204050205050503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0648" y="3433202"/>
            <a:ext cx="2143125" cy="2143125"/>
          </a:xfrm>
          <a:prstGeom prst="rect">
            <a:avLst/>
          </a:prstGeom>
        </p:spPr>
      </p:pic>
    </p:spTree>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2190</Words>
  <Application>Microsoft Office PowerPoint</Application>
  <PresentationFormat>Widescreen</PresentationFormat>
  <Paragraphs>185</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Palatino Linotype</vt:lpstr>
      <vt:lpstr>Retrospect</vt:lpstr>
      <vt:lpstr>  Virtual Functions</vt:lpstr>
      <vt:lpstr>Pointers To Derived Classes</vt:lpstr>
      <vt:lpstr>Pointers To Derived Classes</vt:lpstr>
      <vt:lpstr>PowerPoint Presentation</vt:lpstr>
      <vt:lpstr>PowerPoint Presentation</vt:lpstr>
      <vt:lpstr>PowerPoint Presentation</vt:lpstr>
      <vt:lpstr>Compile-time Polymorphism and Runtime Polymorphism</vt:lpstr>
      <vt:lpstr>Function Overloading vs  Function Overriding</vt:lpstr>
      <vt:lpstr>Virtual Function</vt:lpstr>
      <vt:lpstr>Rules for Virtual Functions </vt:lpstr>
      <vt:lpstr>Static Member Functions </vt:lpstr>
      <vt:lpstr>Non- Static Member Functions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of using Virtual Function</vt:lpstr>
      <vt:lpstr>Pure Virtual Function &amp; Abstract Class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BUBT</cp:lastModifiedBy>
  <cp:revision>82</cp:revision>
  <dcterms:created xsi:type="dcterms:W3CDTF">2024-08-09T06:52:00Z</dcterms:created>
  <dcterms:modified xsi:type="dcterms:W3CDTF">2026-03-30T05:21:34Z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6089F4F9849B463EB98BC92489E2F5E6_12</vt:lpwstr>
  </property>
  <property fmtid="{D5CDD505-2E9C-101B-9397-08002B2CF9AE}" pid="3" name="KSOProductBuildVer">
    <vt:lpwstr>1033-12.2.0.23155</vt:lpwstr>
  </property>
</Properties>
</file>