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y="6858000" cx="12192000"/>
  <p:notesSz cx="6858000" cy="9144000"/>
  <p:embeddedFontLst>
    <p:embeddedFont>
      <p:font typeface="Palatino Linotype"/>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52" roundtripDataSignature="AMtx7mhCyvNQTpbXW+2tGLFdbCLhnpWhc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PalatinoLinotype-regular.fntdata"/><Relationship Id="rId47" Type="http://schemas.openxmlformats.org/officeDocument/2006/relationships/slide" Target="slides/slide42.xml"/><Relationship Id="rId49" Type="http://schemas.openxmlformats.org/officeDocument/2006/relationships/font" Target="fonts/PalatinoLinotype-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PalatinoLinotype-boldItalic.fntdata"/><Relationship Id="rId50" Type="http://schemas.openxmlformats.org/officeDocument/2006/relationships/font" Target="fonts/PalatinoLinotype-italic.fntdata"/><Relationship Id="rId52"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8" name="Google Shape;328;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 name="Google Shape;342;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 name="Google Shape;359;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 name="Shape 27"/>
        <p:cNvGrpSpPr/>
        <p:nvPr/>
      </p:nvGrpSpPr>
      <p:grpSpPr>
        <a:xfrm>
          <a:off x="0" y="0"/>
          <a:ext cx="0" cy="0"/>
          <a:chOff x="0" y="0"/>
          <a:chExt cx="0" cy="0"/>
        </a:xfrm>
      </p:grpSpPr>
      <p:sp>
        <p:nvSpPr>
          <p:cNvPr id="28" name="Google Shape;28;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4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4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4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4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4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4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4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4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4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5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5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5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5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52"/>
          <p:cNvSpPr/>
          <p:nvPr>
            <p:ph idx="2" type="pic"/>
          </p:nvPr>
        </p:nvSpPr>
        <p:spPr>
          <a:xfrm>
            <a:off x="5183188" y="987425"/>
            <a:ext cx="6172200" cy="4873625"/>
          </a:xfrm>
          <a:prstGeom prst="rect">
            <a:avLst/>
          </a:prstGeom>
          <a:noFill/>
          <a:ln>
            <a:noFill/>
          </a:ln>
        </p:spPr>
      </p:sp>
      <p:sp>
        <p:nvSpPr>
          <p:cNvPr id="68" name="Google Shape;68;p5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5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5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5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4.png"/><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895350" y="742950"/>
            <a:ext cx="10401299" cy="5257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60950" lIns="121900" spcFirstLastPara="1" rIns="121900" wrap="square" tIns="45700">
            <a:noAutofit/>
          </a:bodyPr>
          <a:lstStyle/>
          <a:p>
            <a:pPr indent="0" lvl="0" marL="0" rtl="0" algn="ctr">
              <a:lnSpc>
                <a:spcPct val="90000"/>
              </a:lnSpc>
              <a:spcBef>
                <a:spcPts val="0"/>
              </a:spcBef>
              <a:spcAft>
                <a:spcPts val="0"/>
              </a:spcAft>
              <a:buClr>
                <a:schemeClr val="accent1"/>
              </a:buClr>
              <a:buSzPts val="4800"/>
              <a:buFont typeface="Rockwell"/>
              <a:buNone/>
            </a:pPr>
            <a:r>
              <a:rPr b="1" lang="en-US" sz="4800">
                <a:solidFill>
                  <a:schemeClr val="accent1"/>
                </a:solidFill>
                <a:latin typeface="Rockwell"/>
                <a:ea typeface="Rockwell"/>
                <a:cs typeface="Rockwell"/>
                <a:sym typeface="Rockwell"/>
              </a:rPr>
              <a:t>Lecture:5</a:t>
            </a:r>
            <a:br>
              <a:rPr b="1" lang="en-US" sz="5400">
                <a:solidFill>
                  <a:schemeClr val="accent1"/>
                </a:solidFill>
                <a:latin typeface="Rockwell"/>
                <a:ea typeface="Rockwell"/>
                <a:cs typeface="Rockwell"/>
                <a:sym typeface="Rockwell"/>
              </a:rPr>
            </a:br>
            <a:r>
              <a:rPr b="1" lang="en-US" sz="5400">
                <a:solidFill>
                  <a:schemeClr val="accent1"/>
                </a:solidFill>
                <a:latin typeface="Rockwell"/>
                <a:ea typeface="Rockwell"/>
                <a:cs typeface="Rockwell"/>
                <a:sym typeface="Rockwell"/>
              </a:rPr>
              <a:t>A Closer Look At Classes</a:t>
            </a:r>
            <a:br>
              <a:rPr b="1" lang="en-US" sz="5400">
                <a:solidFill>
                  <a:schemeClr val="accent1"/>
                </a:solidFill>
                <a:latin typeface="Rockwell"/>
                <a:ea typeface="Rockwell"/>
                <a:cs typeface="Rockwell"/>
                <a:sym typeface="Rockwell"/>
              </a:rPr>
            </a:br>
            <a:br>
              <a:rPr b="1" lang="en-US" sz="5400">
                <a:solidFill>
                  <a:schemeClr val="accent1"/>
                </a:solidFill>
                <a:latin typeface="Rockwell"/>
                <a:ea typeface="Rockwell"/>
                <a:cs typeface="Rockwell"/>
                <a:sym typeface="Rockwell"/>
              </a:rPr>
            </a:br>
            <a:r>
              <a:rPr b="1" lang="en-US" sz="2800">
                <a:solidFill>
                  <a:schemeClr val="accent1"/>
                </a:solidFill>
                <a:latin typeface="Rockwell"/>
                <a:ea typeface="Rockwell"/>
                <a:cs typeface="Rockwell"/>
                <a:sym typeface="Rockwell"/>
              </a:rPr>
              <a:t>Prepared By:</a:t>
            </a:r>
            <a:br>
              <a:rPr b="1" lang="en-US" sz="2800">
                <a:solidFill>
                  <a:schemeClr val="accent1"/>
                </a:solidFill>
                <a:latin typeface="Rockwell"/>
                <a:ea typeface="Rockwell"/>
                <a:cs typeface="Rockwell"/>
                <a:sym typeface="Rockwell"/>
              </a:rPr>
            </a:br>
            <a:br>
              <a:rPr b="1" lang="en-US" sz="2800">
                <a:solidFill>
                  <a:schemeClr val="accent1"/>
                </a:solidFill>
                <a:latin typeface="Rockwell"/>
                <a:ea typeface="Rockwell"/>
                <a:cs typeface="Rockwell"/>
                <a:sym typeface="Rockwell"/>
              </a:rPr>
            </a:br>
            <a:r>
              <a:rPr b="1" lang="en-US" sz="3200">
                <a:solidFill>
                  <a:schemeClr val="accent1"/>
                </a:solidFill>
                <a:latin typeface="Rockwell"/>
                <a:ea typeface="Rockwell"/>
                <a:cs typeface="Rockwell"/>
                <a:sym typeface="Rockwell"/>
              </a:rPr>
              <a:t>Sumaiya Binte Shahid</a:t>
            </a:r>
            <a:br>
              <a:rPr b="1" lang="en-US" sz="2800">
                <a:solidFill>
                  <a:schemeClr val="accent1"/>
                </a:solidFill>
                <a:latin typeface="Rockwell"/>
                <a:ea typeface="Rockwell"/>
                <a:cs typeface="Rockwell"/>
                <a:sym typeface="Rockwell"/>
              </a:rPr>
            </a:br>
            <a:r>
              <a:rPr b="1" lang="en-US" sz="2800">
                <a:solidFill>
                  <a:schemeClr val="accent1"/>
                </a:solidFill>
                <a:latin typeface="Rockwell"/>
                <a:ea typeface="Rockwell"/>
                <a:cs typeface="Rockwell"/>
                <a:sym typeface="Rockwell"/>
              </a:rPr>
              <a:t>Lecturer</a:t>
            </a:r>
            <a:br>
              <a:rPr b="1" lang="en-US" sz="2800">
                <a:solidFill>
                  <a:schemeClr val="accent1"/>
                </a:solidFill>
                <a:latin typeface="Rockwell"/>
                <a:ea typeface="Rockwell"/>
                <a:cs typeface="Rockwell"/>
                <a:sym typeface="Rockwell"/>
              </a:rPr>
            </a:br>
            <a:r>
              <a:rPr b="1" lang="en-US" sz="2800">
                <a:solidFill>
                  <a:schemeClr val="accent1"/>
                </a:solidFill>
                <a:latin typeface="Rockwell"/>
                <a:ea typeface="Rockwell"/>
                <a:cs typeface="Rockwell"/>
                <a:sym typeface="Rockwell"/>
              </a:rPr>
              <a:t>Department of CSE, BUBT</a:t>
            </a:r>
            <a:br>
              <a:rPr b="1" lang="en-US" sz="5400">
                <a:solidFill>
                  <a:schemeClr val="accent1"/>
                </a:solidFill>
                <a:latin typeface="Rockwell"/>
                <a:ea typeface="Rockwell"/>
                <a:cs typeface="Rockwell"/>
                <a:sym typeface="Rockwell"/>
              </a:rPr>
            </a:br>
            <a:endParaRPr b="1" sz="5400">
              <a:solidFill>
                <a:schemeClr val="accent1"/>
              </a:solidFill>
              <a:latin typeface="Rockwell"/>
              <a:ea typeface="Rockwell"/>
              <a:cs typeface="Rockwell"/>
              <a:sym typeface="Rockwell"/>
            </a:endParaRPr>
          </a:p>
        </p:txBody>
      </p:sp>
      <p:sp>
        <p:nvSpPr>
          <p:cNvPr id="89" name="Google Shape;89;p1"/>
          <p:cNvSpPr/>
          <p:nvPr/>
        </p:nvSpPr>
        <p:spPr>
          <a:xfrm>
            <a:off x="0" y="6529388"/>
            <a:ext cx="12192000" cy="357188"/>
          </a:xfrm>
          <a:prstGeom prst="rect">
            <a:avLst/>
          </a:prstGeom>
          <a:solidFill>
            <a:srgbClr val="1482AB"/>
          </a:solidFill>
          <a:ln cap="flat" cmpd="sng" w="12700">
            <a:solidFill>
              <a:srgbClr val="147EA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ph type="ctrTitle"/>
          </p:nvPr>
        </p:nvSpPr>
        <p:spPr>
          <a:xfrm>
            <a:off x="1088231" y="1885950"/>
            <a:ext cx="10015538" cy="2476514"/>
          </a:xfrm>
          <a:prstGeom prst="rect">
            <a:avLst/>
          </a:prstGeom>
          <a:solidFill>
            <a:srgbClr val="0D5672"/>
          </a:solidFill>
          <a:ln cap="flat" cmpd="sng" w="9525">
            <a:solidFill>
              <a:schemeClr val="accent1"/>
            </a:solidFill>
            <a:prstDash val="solid"/>
            <a:round/>
            <a:headEnd len="sm" w="sm" type="none"/>
            <a:tailEnd len="sm" w="sm" type="none"/>
          </a:ln>
        </p:spPr>
        <p:txBody>
          <a:bodyPr anchorCtr="0" anchor="ctr" bIns="60950" lIns="121900" spcFirstLastPara="1" rIns="121900" wrap="square" tIns="45700">
            <a:noAutofit/>
          </a:bodyPr>
          <a:lstStyle/>
          <a:p>
            <a:pPr indent="0" lvl="0" marL="0" rtl="0" algn="ctr">
              <a:lnSpc>
                <a:spcPct val="90000"/>
              </a:lnSpc>
              <a:spcBef>
                <a:spcPts val="0"/>
              </a:spcBef>
              <a:spcAft>
                <a:spcPts val="0"/>
              </a:spcAft>
              <a:buClr>
                <a:schemeClr val="lt1"/>
              </a:buClr>
              <a:buSzPts val="5400"/>
              <a:buFont typeface="Rockwell"/>
              <a:buNone/>
            </a:pPr>
            <a:r>
              <a:rPr b="1" lang="en-US" sz="5400">
                <a:solidFill>
                  <a:schemeClr val="lt1"/>
                </a:solidFill>
                <a:latin typeface="Rockwell"/>
                <a:ea typeface="Rockwell"/>
                <a:cs typeface="Rockwell"/>
                <a:sym typeface="Rockwell"/>
              </a:rPr>
              <a:t>Assigning Objects</a:t>
            </a:r>
            <a:endParaRPr b="1" sz="5400">
              <a:solidFill>
                <a:schemeClr val="lt1"/>
              </a:solidFill>
              <a:latin typeface="Rockwell"/>
              <a:ea typeface="Rockwell"/>
              <a:cs typeface="Rockwell"/>
              <a:sym typeface="Rockwe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3"/>
          <p:cNvSpPr txBox="1"/>
          <p:nvPr>
            <p:ph type="title"/>
          </p:nvPr>
        </p:nvSpPr>
        <p:spPr>
          <a:xfrm>
            <a:off x="0" y="3"/>
            <a:ext cx="12192000" cy="1085847"/>
          </a:xfrm>
          <a:prstGeom prst="rect">
            <a:avLst/>
          </a:prstGeom>
          <a:solidFill>
            <a:srgbClr val="0D5672"/>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Rockwell"/>
              <a:buNone/>
            </a:pPr>
            <a:r>
              <a:rPr b="1" lang="en-US" sz="4400">
                <a:solidFill>
                  <a:schemeClr val="lt1"/>
                </a:solidFill>
                <a:latin typeface="Rockwell"/>
                <a:ea typeface="Rockwell"/>
                <a:cs typeface="Rockwell"/>
                <a:sym typeface="Rockwell"/>
              </a:rPr>
              <a:t>Assigning Objects</a:t>
            </a:r>
            <a:endParaRPr b="1" sz="4400">
              <a:solidFill>
                <a:schemeClr val="lt1"/>
              </a:solidFill>
              <a:latin typeface="Rockwell"/>
              <a:ea typeface="Rockwell"/>
              <a:cs typeface="Rockwell"/>
              <a:sym typeface="Rockwell"/>
            </a:endParaRPr>
          </a:p>
        </p:txBody>
      </p:sp>
      <p:sp>
        <p:nvSpPr>
          <p:cNvPr id="100" name="Google Shape;100;p3"/>
          <p:cNvSpPr txBox="1"/>
          <p:nvPr/>
        </p:nvSpPr>
        <p:spPr>
          <a:xfrm>
            <a:off x="914392" y="1548247"/>
            <a:ext cx="10677539" cy="4716163"/>
          </a:xfrm>
          <a:prstGeom prst="rect">
            <a:avLst/>
          </a:prstGeom>
          <a:solidFill>
            <a:schemeClr val="lt1"/>
          </a:solidFill>
          <a:ln>
            <a:noFill/>
          </a:ln>
        </p:spPr>
        <p:txBody>
          <a:bodyPr anchorCtr="0" anchor="t" bIns="45700" lIns="91425" spcFirstLastPara="1" rIns="91425" wrap="square" tIns="45700">
            <a:spAutoFit/>
          </a:bodyPr>
          <a:lstStyle/>
          <a:p>
            <a:pPr indent="-342900" lvl="0" marL="342900" marR="0" rtl="0" algn="l">
              <a:lnSpc>
                <a:spcPct val="114000"/>
              </a:lnSpc>
              <a:spcBef>
                <a:spcPts val="0"/>
              </a:spcBef>
              <a:spcAft>
                <a:spcPts val="0"/>
              </a:spcAft>
              <a:buClr>
                <a:srgbClr val="FF0000"/>
              </a:buClr>
              <a:buSzPts val="2800"/>
              <a:buFont typeface="Arial"/>
              <a:buChar char="•"/>
            </a:pPr>
            <a:r>
              <a:rPr b="1" i="0" lang="en-US" sz="2800" u="none" cap="none" strike="noStrike">
                <a:solidFill>
                  <a:srgbClr val="FF0000"/>
                </a:solidFill>
                <a:latin typeface="Palatino Linotype"/>
                <a:ea typeface="Palatino Linotype"/>
                <a:cs typeface="Palatino Linotype"/>
                <a:sym typeface="Palatino Linotype"/>
              </a:rPr>
              <a:t>One object can be assigned to another provided that both objects are of the same type.</a:t>
            </a:r>
            <a:endParaRPr/>
          </a:p>
          <a:p>
            <a:pPr indent="-342900" lvl="0" marL="342900" marR="0" rtl="0" algn="l">
              <a:lnSpc>
                <a:spcPct val="114000"/>
              </a:lnSpc>
              <a:spcBef>
                <a:spcPts val="600"/>
              </a:spcBef>
              <a:spcAft>
                <a:spcPts val="0"/>
              </a:spcAft>
              <a:buClr>
                <a:schemeClr val="dk1"/>
              </a:buClr>
              <a:buSzPts val="2800"/>
              <a:buFont typeface="Arial"/>
              <a:buChar char="•"/>
            </a:pPr>
            <a:r>
              <a:rPr b="0" i="0" lang="en-US" sz="2800" u="none" cap="none" strike="noStrike">
                <a:solidFill>
                  <a:schemeClr val="dk1"/>
                </a:solidFill>
                <a:latin typeface="Palatino Linotype"/>
                <a:ea typeface="Palatino Linotype"/>
                <a:cs typeface="Palatino Linotype"/>
                <a:sym typeface="Palatino Linotype"/>
              </a:rPr>
              <a:t>By default when one object is assigned to another, a bitwise copy of all the data members is made.</a:t>
            </a:r>
            <a:endParaRPr/>
          </a:p>
          <a:p>
            <a:pPr indent="-342900" lvl="0" marL="342900" marR="0" rtl="0" algn="l">
              <a:lnSpc>
                <a:spcPct val="114000"/>
              </a:lnSpc>
              <a:spcBef>
                <a:spcPts val="600"/>
              </a:spcBef>
              <a:spcAft>
                <a:spcPts val="0"/>
              </a:spcAft>
              <a:buClr>
                <a:schemeClr val="dk1"/>
              </a:buClr>
              <a:buSzPts val="2800"/>
              <a:buFont typeface="Arial"/>
              <a:buChar char="•"/>
            </a:pPr>
            <a:r>
              <a:rPr b="0" i="0" lang="en-US" sz="2800" u="none" cap="none" strike="noStrike">
                <a:solidFill>
                  <a:schemeClr val="dk1"/>
                </a:solidFill>
                <a:latin typeface="Palatino Linotype"/>
                <a:ea typeface="Palatino Linotype"/>
                <a:cs typeface="Palatino Linotype"/>
                <a:sym typeface="Palatino Linotype"/>
              </a:rPr>
              <a:t>All data members (including array, string) of one object are assigned to another when an assignment is performed.</a:t>
            </a:r>
            <a:endParaRPr/>
          </a:p>
          <a:p>
            <a:pPr indent="-342900" lvl="0" marL="342900" marR="0" rtl="0" algn="l">
              <a:lnSpc>
                <a:spcPct val="114000"/>
              </a:lnSpc>
              <a:spcBef>
                <a:spcPts val="600"/>
              </a:spcBef>
              <a:spcAft>
                <a:spcPts val="0"/>
              </a:spcAft>
              <a:buClr>
                <a:schemeClr val="dk1"/>
              </a:buClr>
              <a:buSzPts val="2800"/>
              <a:buFont typeface="Arial"/>
              <a:buChar char="•"/>
            </a:pPr>
            <a:r>
              <a:rPr b="0" i="0" lang="en-US" sz="2800" u="none" cap="none" strike="noStrike">
                <a:solidFill>
                  <a:schemeClr val="dk1"/>
                </a:solidFill>
                <a:latin typeface="Palatino Linotype"/>
                <a:ea typeface="Palatino Linotype"/>
                <a:cs typeface="Palatino Linotype"/>
                <a:sym typeface="Palatino Linotype"/>
              </a:rPr>
              <a:t>For example when an object called ob1 is assigned to another object ob2 ,the content of all of ob1’s data are copied into equivalent member of  ob2.</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
                                        </p:tgtEl>
                                        <p:attrNameLst>
                                          <p:attrName>style.visibility</p:attrName>
                                        </p:attrNameLst>
                                      </p:cBhvr>
                                      <p:to>
                                        <p:strVal val="visible"/>
                                      </p:to>
                                    </p:set>
                                    <p:animEffect filter="fade" transition="in">
                                      <p:cBhvr>
                                        <p:cTn dur="1000"/>
                                        <p:tgtEl>
                                          <p:spTgt spid="1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
                                            <p:txEl>
                                              <p:pRg end="0" st="0"/>
                                            </p:txEl>
                                          </p:spTgt>
                                        </p:tgtEl>
                                        <p:attrNameLst>
                                          <p:attrName>style.visibility</p:attrName>
                                        </p:attrNameLst>
                                      </p:cBhvr>
                                      <p:to>
                                        <p:strVal val="visible"/>
                                      </p:to>
                                    </p:set>
                                    <p:anim calcmode="lin" valueType="num">
                                      <p:cBhvr additive="base">
                                        <p:cTn dur="500"/>
                                        <p:tgtEl>
                                          <p:spTgt spid="10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
                                            <p:txEl>
                                              <p:pRg end="1" st="1"/>
                                            </p:txEl>
                                          </p:spTgt>
                                        </p:tgtEl>
                                        <p:attrNameLst>
                                          <p:attrName>style.visibility</p:attrName>
                                        </p:attrNameLst>
                                      </p:cBhvr>
                                      <p:to>
                                        <p:strVal val="visible"/>
                                      </p:to>
                                    </p:set>
                                    <p:anim calcmode="lin" valueType="num">
                                      <p:cBhvr additive="base">
                                        <p:cTn dur="500"/>
                                        <p:tgtEl>
                                          <p:spTgt spid="10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
                                            <p:txEl>
                                              <p:pRg end="2" st="2"/>
                                            </p:txEl>
                                          </p:spTgt>
                                        </p:tgtEl>
                                        <p:attrNameLst>
                                          <p:attrName>style.visibility</p:attrName>
                                        </p:attrNameLst>
                                      </p:cBhvr>
                                      <p:to>
                                        <p:strVal val="visible"/>
                                      </p:to>
                                    </p:set>
                                    <p:anim calcmode="lin" valueType="num">
                                      <p:cBhvr additive="base">
                                        <p:cTn dur="500"/>
                                        <p:tgtEl>
                                          <p:spTgt spid="10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
                                            <p:txEl>
                                              <p:pRg end="3" st="3"/>
                                            </p:txEl>
                                          </p:spTgt>
                                        </p:tgtEl>
                                        <p:attrNameLst>
                                          <p:attrName>style.visibility</p:attrName>
                                        </p:attrNameLst>
                                      </p:cBhvr>
                                      <p:to>
                                        <p:strVal val="visible"/>
                                      </p:to>
                                    </p:set>
                                    <p:anim calcmode="lin" valueType="num">
                                      <p:cBhvr additive="base">
                                        <p:cTn dur="500"/>
                                        <p:tgtEl>
                                          <p:spTgt spid="10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4"/>
          <p:cNvSpPr txBox="1"/>
          <p:nvPr>
            <p:ph type="title"/>
          </p:nvPr>
        </p:nvSpPr>
        <p:spPr>
          <a:xfrm>
            <a:off x="0" y="-14283"/>
            <a:ext cx="12192000" cy="885822"/>
          </a:xfrm>
          <a:prstGeom prst="rect">
            <a:avLst/>
          </a:prstGeom>
          <a:solidFill>
            <a:srgbClr val="0D5672"/>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000"/>
              <a:buFont typeface="Rockwell"/>
              <a:buNone/>
            </a:pPr>
            <a:r>
              <a:rPr b="1" lang="en-US" sz="4000">
                <a:solidFill>
                  <a:schemeClr val="lt1"/>
                </a:solidFill>
                <a:latin typeface="Rockwell"/>
                <a:ea typeface="Rockwell"/>
                <a:cs typeface="Rockwell"/>
                <a:sym typeface="Rockwell"/>
              </a:rPr>
              <a:t>What will be the OUTPUT?</a:t>
            </a:r>
            <a:endParaRPr b="1" sz="4000">
              <a:solidFill>
                <a:schemeClr val="lt1"/>
              </a:solidFill>
              <a:latin typeface="Rockwell"/>
              <a:ea typeface="Rockwell"/>
              <a:cs typeface="Rockwell"/>
              <a:sym typeface="Rockwell"/>
            </a:endParaRPr>
          </a:p>
        </p:txBody>
      </p:sp>
      <p:pic>
        <p:nvPicPr>
          <p:cNvPr id="106" name="Google Shape;106;p4"/>
          <p:cNvPicPr preferRelativeResize="0"/>
          <p:nvPr/>
        </p:nvPicPr>
        <p:blipFill rotWithShape="1">
          <a:blip r:embed="rId3">
            <a:alphaModFix/>
          </a:blip>
          <a:srcRect b="0" l="0" r="0" t="0"/>
          <a:stretch/>
        </p:blipFill>
        <p:spPr>
          <a:xfrm>
            <a:off x="2155682" y="1064419"/>
            <a:ext cx="8229599" cy="5257801"/>
          </a:xfrm>
          <a:prstGeom prst="rect">
            <a:avLst/>
          </a:prstGeom>
          <a:noFill/>
          <a:ln cap="flat" cmpd="sng" w="9525">
            <a:solidFill>
              <a:schemeClr val="accent1"/>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5"/>
          <p:cNvSpPr txBox="1"/>
          <p:nvPr>
            <p:ph type="title"/>
          </p:nvPr>
        </p:nvSpPr>
        <p:spPr>
          <a:xfrm>
            <a:off x="0" y="4"/>
            <a:ext cx="12192000" cy="885822"/>
          </a:xfrm>
          <a:prstGeom prst="rect">
            <a:avLst/>
          </a:prstGeom>
          <a:solidFill>
            <a:srgbClr val="0D5672"/>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000"/>
              <a:buFont typeface="Rockwell"/>
              <a:buNone/>
            </a:pPr>
            <a:r>
              <a:rPr b="1" lang="en-US" sz="4000">
                <a:solidFill>
                  <a:schemeClr val="lt1"/>
                </a:solidFill>
                <a:latin typeface="Rockwell"/>
                <a:ea typeface="Rockwell"/>
                <a:cs typeface="Rockwell"/>
                <a:sym typeface="Rockwell"/>
              </a:rPr>
              <a:t>What will be the OUTPUT?</a:t>
            </a:r>
            <a:endParaRPr b="1" sz="4000">
              <a:solidFill>
                <a:schemeClr val="lt1"/>
              </a:solidFill>
              <a:latin typeface="Rockwell"/>
              <a:ea typeface="Rockwell"/>
              <a:cs typeface="Rockwell"/>
              <a:sym typeface="Rockwell"/>
            </a:endParaRPr>
          </a:p>
        </p:txBody>
      </p:sp>
      <p:pic>
        <p:nvPicPr>
          <p:cNvPr id="112" name="Google Shape;112;p5"/>
          <p:cNvPicPr preferRelativeResize="0"/>
          <p:nvPr/>
        </p:nvPicPr>
        <p:blipFill rotWithShape="1">
          <a:blip r:embed="rId3">
            <a:alphaModFix/>
          </a:blip>
          <a:srcRect b="0" l="0" r="0" t="0"/>
          <a:stretch/>
        </p:blipFill>
        <p:spPr>
          <a:xfrm>
            <a:off x="2161309" y="1717965"/>
            <a:ext cx="6303817" cy="2050471"/>
          </a:xfrm>
          <a:prstGeom prst="rect">
            <a:avLst/>
          </a:prstGeom>
          <a:noFill/>
          <a:ln cap="flat" cmpd="sng" w="9525">
            <a:solidFill>
              <a:schemeClr val="accent1"/>
            </a:solidFill>
            <a:prstDash val="solid"/>
            <a:round/>
            <a:headEnd len="sm" w="sm" type="none"/>
            <a:tailEnd len="sm" w="sm" type="none"/>
          </a:ln>
        </p:spPr>
      </p:pic>
      <p:sp>
        <p:nvSpPr>
          <p:cNvPr id="113" name="Google Shape;113;p5"/>
          <p:cNvSpPr txBox="1"/>
          <p:nvPr/>
        </p:nvSpPr>
        <p:spPr>
          <a:xfrm>
            <a:off x="1153551" y="4149969"/>
            <a:ext cx="10185009" cy="184665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2400" u="none" cap="none" strike="noStrike">
                <a:solidFill>
                  <a:schemeClr val="dk1"/>
                </a:solidFill>
                <a:latin typeface="Calibri"/>
                <a:ea typeface="Calibri"/>
                <a:cs typeface="Calibri"/>
                <a:sym typeface="Calibri"/>
              </a:rPr>
              <a:t>Here, object o1 has its member variables a and b set to the values 10 and 20, respectively. Next, o1 is assigned to o2. This causes the current value of o1.a to be assigned to o2.a and o1.b to be assigned to o2.b. Thus, when run, this program displays this output.</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gtEl>
                                        <p:attrNameLst>
                                          <p:attrName>style.visibility</p:attrName>
                                        </p:attrNameLst>
                                      </p:cBhvr>
                                      <p:to>
                                        <p:strVal val="visible"/>
                                      </p:to>
                                    </p:set>
                                    <p:animEffect filter="fade" transition="in">
                                      <p:cBhvr>
                                        <p:cTn dur="500"/>
                                        <p:tgtEl>
                                          <p:spTgt spid="1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6"/>
          <p:cNvSpPr txBox="1"/>
          <p:nvPr>
            <p:ph type="title"/>
          </p:nvPr>
        </p:nvSpPr>
        <p:spPr>
          <a:xfrm>
            <a:off x="0" y="3"/>
            <a:ext cx="12192000" cy="1228725"/>
          </a:xfrm>
          <a:prstGeom prst="rect">
            <a:avLst/>
          </a:prstGeom>
          <a:solidFill>
            <a:srgbClr val="0D5672"/>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000"/>
              <a:buFont typeface="Rockwell"/>
              <a:buNone/>
            </a:pPr>
            <a:r>
              <a:rPr b="1" lang="en-US" sz="4000">
                <a:solidFill>
                  <a:schemeClr val="lt1"/>
                </a:solidFill>
                <a:latin typeface="Rockwell"/>
                <a:ea typeface="Rockwell"/>
                <a:cs typeface="Rockwell"/>
                <a:sym typeface="Rockwell"/>
              </a:rPr>
              <a:t>Assigning Objects</a:t>
            </a:r>
            <a:endParaRPr b="1" sz="4000">
              <a:solidFill>
                <a:schemeClr val="lt1"/>
              </a:solidFill>
              <a:latin typeface="Rockwell"/>
              <a:ea typeface="Rockwell"/>
              <a:cs typeface="Rockwell"/>
              <a:sym typeface="Rockwell"/>
            </a:endParaRPr>
          </a:p>
        </p:txBody>
      </p:sp>
      <p:sp>
        <p:nvSpPr>
          <p:cNvPr id="119" name="Google Shape;119;p6"/>
          <p:cNvSpPr/>
          <p:nvPr/>
        </p:nvSpPr>
        <p:spPr>
          <a:xfrm>
            <a:off x="0" y="6500813"/>
            <a:ext cx="12192000" cy="357188"/>
          </a:xfrm>
          <a:prstGeom prst="rect">
            <a:avLst/>
          </a:prstGeom>
          <a:solidFill>
            <a:srgbClr val="0D5672"/>
          </a:solidFill>
          <a:ln cap="flat" cmpd="sng" w="12700">
            <a:solidFill>
              <a:srgbClr val="147EA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sp>
        <p:nvSpPr>
          <p:cNvPr id="120" name="Google Shape;120;p6"/>
          <p:cNvSpPr txBox="1"/>
          <p:nvPr/>
        </p:nvSpPr>
        <p:spPr>
          <a:xfrm>
            <a:off x="1041242" y="2071689"/>
            <a:ext cx="10129837" cy="3582519"/>
          </a:xfrm>
          <a:prstGeom prst="rect">
            <a:avLst/>
          </a:prstGeom>
          <a:noFill/>
          <a:ln>
            <a:noFill/>
          </a:ln>
        </p:spPr>
        <p:txBody>
          <a:bodyPr anchorCtr="0" anchor="t" bIns="45700" lIns="91425" spcFirstLastPara="1" rIns="91425" wrap="square" tIns="45700">
            <a:spAutoFit/>
          </a:bodyPr>
          <a:lstStyle/>
          <a:p>
            <a:pPr indent="-342900" lvl="0" marL="342900" marR="0" rtl="0" algn="l">
              <a:lnSpc>
                <a:spcPct val="114000"/>
              </a:lnSpc>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Only objects of same type can be used in an assignment statement</a:t>
            </a:r>
            <a:r>
              <a:rPr b="1" lang="en-US" sz="3200">
                <a:solidFill>
                  <a:schemeClr val="dk1"/>
                </a:solidFill>
                <a:latin typeface="Calibri"/>
                <a:ea typeface="Calibri"/>
                <a:cs typeface="Calibri"/>
                <a:sym typeface="Calibri"/>
              </a:rPr>
              <a:t>.</a:t>
            </a:r>
            <a:endParaRPr/>
          </a:p>
          <a:p>
            <a:pPr indent="-342900" lvl="0" marL="342900" marR="0" rtl="0" algn="l">
              <a:lnSpc>
                <a:spcPct val="114000"/>
              </a:lnSpc>
              <a:spcBef>
                <a:spcPts val="60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If the objects are not of same type then a compile time error is reported.</a:t>
            </a:r>
            <a:endParaRPr/>
          </a:p>
          <a:p>
            <a:pPr indent="-342900" lvl="0" marL="342900" marR="0" rtl="0" algn="l">
              <a:lnSpc>
                <a:spcPct val="114000"/>
              </a:lnSpc>
              <a:spcBef>
                <a:spcPts val="600"/>
              </a:spcBef>
              <a:spcAft>
                <a:spcPts val="0"/>
              </a:spcAft>
              <a:buClr>
                <a:srgbClr val="000000"/>
              </a:buClr>
              <a:buSzPts val="3200"/>
              <a:buFont typeface="Arial"/>
              <a:buChar char="•"/>
            </a:pPr>
            <a:r>
              <a:rPr lang="en-US" sz="3200">
                <a:solidFill>
                  <a:srgbClr val="000000"/>
                </a:solidFill>
                <a:latin typeface="Calibri"/>
                <a:ea typeface="Calibri"/>
                <a:cs typeface="Calibri"/>
                <a:sym typeface="Calibri"/>
              </a:rPr>
              <a:t>It is not sufficient that the types just be physically similar –their type name must be similar.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xEl>
                                              <p:pRg end="0" st="0"/>
                                            </p:txEl>
                                          </p:spTgt>
                                        </p:tgtEl>
                                        <p:attrNameLst>
                                          <p:attrName>style.visibility</p:attrName>
                                        </p:attrNameLst>
                                      </p:cBhvr>
                                      <p:to>
                                        <p:strVal val="visible"/>
                                      </p:to>
                                    </p:set>
                                    <p:animEffect filter="fade" transition="in">
                                      <p:cBhvr>
                                        <p:cTn dur="1000"/>
                                        <p:tgtEl>
                                          <p:spTgt spid="12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xEl>
                                              <p:pRg end="1" st="1"/>
                                            </p:txEl>
                                          </p:spTgt>
                                        </p:tgtEl>
                                        <p:attrNameLst>
                                          <p:attrName>style.visibility</p:attrName>
                                        </p:attrNameLst>
                                      </p:cBhvr>
                                      <p:to>
                                        <p:strVal val="visible"/>
                                      </p:to>
                                    </p:set>
                                    <p:animEffect filter="fade" transition="in">
                                      <p:cBhvr>
                                        <p:cTn dur="1000"/>
                                        <p:tgtEl>
                                          <p:spTgt spid="12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xEl>
                                              <p:pRg end="2" st="2"/>
                                            </p:txEl>
                                          </p:spTgt>
                                        </p:tgtEl>
                                        <p:attrNameLst>
                                          <p:attrName>style.visibility</p:attrName>
                                        </p:attrNameLst>
                                      </p:cBhvr>
                                      <p:to>
                                        <p:strVal val="visible"/>
                                      </p:to>
                                    </p:set>
                                    <p:animEffect filter="fade" transition="in">
                                      <p:cBhvr>
                                        <p:cTn dur="1000"/>
                                        <p:tgtEl>
                                          <p:spTgt spid="120">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7"/>
          <p:cNvSpPr txBox="1"/>
          <p:nvPr>
            <p:ph type="title"/>
          </p:nvPr>
        </p:nvSpPr>
        <p:spPr>
          <a:xfrm>
            <a:off x="0" y="4"/>
            <a:ext cx="12192000" cy="885822"/>
          </a:xfrm>
          <a:prstGeom prst="rect">
            <a:avLst/>
          </a:prstGeom>
          <a:solidFill>
            <a:srgbClr val="0D5672"/>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000"/>
              <a:buFont typeface="Rockwell"/>
              <a:buNone/>
            </a:pPr>
            <a:r>
              <a:rPr b="1" lang="en-US" sz="4000">
                <a:solidFill>
                  <a:schemeClr val="lt1"/>
                </a:solidFill>
                <a:latin typeface="Rockwell"/>
                <a:ea typeface="Rockwell"/>
                <a:cs typeface="Rockwell"/>
                <a:sym typeface="Rockwell"/>
              </a:rPr>
              <a:t>What will be the OUTPUT?</a:t>
            </a:r>
            <a:endParaRPr b="1" sz="4000">
              <a:solidFill>
                <a:schemeClr val="lt1"/>
              </a:solidFill>
              <a:latin typeface="Rockwell"/>
              <a:ea typeface="Rockwell"/>
              <a:cs typeface="Rockwell"/>
              <a:sym typeface="Rockwell"/>
            </a:endParaRPr>
          </a:p>
        </p:txBody>
      </p:sp>
      <p:sp>
        <p:nvSpPr>
          <p:cNvPr id="126" name="Google Shape;126;p7"/>
          <p:cNvSpPr/>
          <p:nvPr/>
        </p:nvSpPr>
        <p:spPr>
          <a:xfrm>
            <a:off x="0" y="6500813"/>
            <a:ext cx="12192000" cy="357188"/>
          </a:xfrm>
          <a:prstGeom prst="rect">
            <a:avLst/>
          </a:prstGeom>
          <a:solidFill>
            <a:srgbClr val="0D5672"/>
          </a:solidFill>
          <a:ln cap="flat" cmpd="sng" w="12700">
            <a:solidFill>
              <a:srgbClr val="147EA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id="127" name="Google Shape;127;p7"/>
          <p:cNvPicPr preferRelativeResize="0"/>
          <p:nvPr/>
        </p:nvPicPr>
        <p:blipFill rotWithShape="1">
          <a:blip r:embed="rId3">
            <a:alphaModFix/>
          </a:blip>
          <a:srcRect b="0" l="0" r="0" t="0"/>
          <a:stretch/>
        </p:blipFill>
        <p:spPr>
          <a:xfrm>
            <a:off x="57140" y="976308"/>
            <a:ext cx="7789617" cy="5424492"/>
          </a:xfrm>
          <a:prstGeom prst="rect">
            <a:avLst/>
          </a:prstGeom>
          <a:noFill/>
          <a:ln cap="flat" cmpd="sng" w="9525">
            <a:solidFill>
              <a:schemeClr val="accent1"/>
            </a:solidFill>
            <a:prstDash val="solid"/>
            <a:round/>
            <a:headEnd len="sm" w="sm" type="none"/>
            <a:tailEnd len="sm" w="sm" type="none"/>
          </a:ln>
        </p:spPr>
      </p:pic>
      <p:pic>
        <p:nvPicPr>
          <p:cNvPr id="128" name="Google Shape;128;p7"/>
          <p:cNvPicPr preferRelativeResize="0"/>
          <p:nvPr/>
        </p:nvPicPr>
        <p:blipFill rotWithShape="1">
          <a:blip r:embed="rId4">
            <a:alphaModFix/>
          </a:blip>
          <a:srcRect b="0" l="0" r="0" t="0"/>
          <a:stretch/>
        </p:blipFill>
        <p:spPr>
          <a:xfrm>
            <a:off x="8315325" y="1347787"/>
            <a:ext cx="3573824" cy="4610101"/>
          </a:xfrm>
          <a:prstGeom prst="rect">
            <a:avLst/>
          </a:prstGeom>
          <a:noFill/>
          <a:ln cap="flat" cmpd="sng" w="9525">
            <a:solidFill>
              <a:schemeClr val="accent1"/>
            </a:solidFill>
            <a:prstDash val="solid"/>
            <a:round/>
            <a:headEnd len="sm" w="sm" type="none"/>
            <a:tailEnd len="sm" w="sm" type="none"/>
          </a:ln>
        </p:spPr>
      </p:pic>
      <p:sp>
        <p:nvSpPr>
          <p:cNvPr id="129" name="Google Shape;129;p7"/>
          <p:cNvSpPr/>
          <p:nvPr/>
        </p:nvSpPr>
        <p:spPr>
          <a:xfrm>
            <a:off x="7215194" y="3200396"/>
            <a:ext cx="1657350" cy="928688"/>
          </a:xfrm>
          <a:prstGeom prst="rightArrow">
            <a:avLst>
              <a:gd fmla="val 50000" name="adj1"/>
              <a:gd fmla="val 50000" name="adj2"/>
            </a:avLst>
          </a:prstGeom>
          <a:solidFill>
            <a:srgbClr val="FF0000"/>
          </a:solid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800">
                <a:solidFill>
                  <a:schemeClr val="lt1"/>
                </a:solidFill>
                <a:latin typeface="Calibri"/>
                <a:ea typeface="Calibri"/>
                <a:cs typeface="Calibri"/>
                <a:sym typeface="Calibri"/>
              </a:rPr>
              <a:t>Error</a:t>
            </a:r>
            <a:endParaRPr b="1" sz="2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500"/>
                                        <p:tgtEl>
                                          <p:spTgt spid="1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8"/>
          <p:cNvSpPr txBox="1"/>
          <p:nvPr>
            <p:ph type="ctrTitle"/>
          </p:nvPr>
        </p:nvSpPr>
        <p:spPr>
          <a:xfrm>
            <a:off x="1185862" y="1385888"/>
            <a:ext cx="9958387" cy="3462351"/>
          </a:xfrm>
          <a:prstGeom prst="rect">
            <a:avLst/>
          </a:prstGeom>
          <a:solidFill>
            <a:srgbClr val="0D5672"/>
          </a:solidFill>
          <a:ln cap="flat" cmpd="sng" w="9525">
            <a:solidFill>
              <a:schemeClr val="accent1"/>
            </a:solidFill>
            <a:prstDash val="solid"/>
            <a:round/>
            <a:headEnd len="sm" w="sm" type="none"/>
            <a:tailEnd len="sm" w="sm" type="none"/>
          </a:ln>
        </p:spPr>
        <p:txBody>
          <a:bodyPr anchorCtr="0" anchor="ctr" bIns="60950" lIns="121900" spcFirstLastPara="1" rIns="121900" wrap="square" tIns="45700">
            <a:noAutofit/>
          </a:bodyPr>
          <a:lstStyle/>
          <a:p>
            <a:pPr indent="0" lvl="0" marL="0" rtl="0" algn="ctr">
              <a:lnSpc>
                <a:spcPct val="90000"/>
              </a:lnSpc>
              <a:spcBef>
                <a:spcPts val="0"/>
              </a:spcBef>
              <a:spcAft>
                <a:spcPts val="0"/>
              </a:spcAft>
              <a:buClr>
                <a:schemeClr val="lt1"/>
              </a:buClr>
              <a:buSzPts val="5400"/>
              <a:buFont typeface="Rockwell"/>
              <a:buNone/>
            </a:pPr>
            <a:r>
              <a:rPr b="1" lang="en-US" sz="5400">
                <a:solidFill>
                  <a:schemeClr val="lt1"/>
                </a:solidFill>
                <a:latin typeface="Rockwell"/>
                <a:ea typeface="Rockwell"/>
                <a:cs typeface="Rockwell"/>
                <a:sym typeface="Rockwell"/>
              </a:rPr>
              <a:t>Passing Object  To Function</a:t>
            </a:r>
            <a:endParaRPr b="1" sz="5400">
              <a:solidFill>
                <a:schemeClr val="lt1"/>
              </a:solidFill>
              <a:latin typeface="Rockwell"/>
              <a:ea typeface="Rockwell"/>
              <a:cs typeface="Rockwell"/>
              <a:sym typeface="Rockwell"/>
            </a:endParaRPr>
          </a:p>
        </p:txBody>
      </p:sp>
      <p:sp>
        <p:nvSpPr>
          <p:cNvPr id="135" name="Google Shape;135;p8"/>
          <p:cNvSpPr/>
          <p:nvPr/>
        </p:nvSpPr>
        <p:spPr>
          <a:xfrm>
            <a:off x="0" y="6500813"/>
            <a:ext cx="12192000" cy="357188"/>
          </a:xfrm>
          <a:prstGeom prst="rect">
            <a:avLst/>
          </a:prstGeom>
          <a:solidFill>
            <a:srgbClr val="1482AB"/>
          </a:solidFill>
          <a:ln cap="flat" cmpd="sng" w="12700">
            <a:solidFill>
              <a:srgbClr val="147EA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9"/>
          <p:cNvSpPr txBox="1"/>
          <p:nvPr>
            <p:ph type="title"/>
          </p:nvPr>
        </p:nvSpPr>
        <p:spPr>
          <a:xfrm>
            <a:off x="0" y="3"/>
            <a:ext cx="12192000" cy="1228725"/>
          </a:xfrm>
          <a:prstGeom prst="rect">
            <a:avLst/>
          </a:prstGeom>
          <a:solidFill>
            <a:srgbClr val="0D5672"/>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000"/>
              <a:buFont typeface="Rockwell"/>
              <a:buNone/>
            </a:pPr>
            <a:r>
              <a:rPr b="1" lang="en-US" sz="4000">
                <a:solidFill>
                  <a:schemeClr val="lt1"/>
                </a:solidFill>
                <a:latin typeface="Rockwell"/>
                <a:ea typeface="Rockwell"/>
                <a:cs typeface="Rockwell"/>
                <a:sym typeface="Rockwell"/>
              </a:rPr>
              <a:t>Passing Object  To Function</a:t>
            </a:r>
            <a:endParaRPr/>
          </a:p>
        </p:txBody>
      </p:sp>
      <p:sp>
        <p:nvSpPr>
          <p:cNvPr id="141" name="Google Shape;141;p9"/>
          <p:cNvSpPr/>
          <p:nvPr/>
        </p:nvSpPr>
        <p:spPr>
          <a:xfrm>
            <a:off x="0" y="6500813"/>
            <a:ext cx="12192000" cy="357188"/>
          </a:xfrm>
          <a:prstGeom prst="rect">
            <a:avLst/>
          </a:prstGeom>
          <a:solidFill>
            <a:srgbClr val="0D5672"/>
          </a:solidFill>
          <a:ln cap="flat" cmpd="sng" w="12700">
            <a:solidFill>
              <a:srgbClr val="147EA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2" name="Google Shape;142;p9"/>
          <p:cNvSpPr txBox="1"/>
          <p:nvPr/>
        </p:nvSpPr>
        <p:spPr>
          <a:xfrm>
            <a:off x="850740" y="1974708"/>
            <a:ext cx="10653296" cy="2568717"/>
          </a:xfrm>
          <a:prstGeom prst="rect">
            <a:avLst/>
          </a:prstGeom>
          <a:noFill/>
          <a:ln>
            <a:noFill/>
          </a:ln>
        </p:spPr>
        <p:txBody>
          <a:bodyPr anchorCtr="0" anchor="t" bIns="45700" lIns="91425" spcFirstLastPara="1" rIns="91425" wrap="square" tIns="45700">
            <a:noAutofit/>
          </a:bodyPr>
          <a:lstStyle/>
          <a:p>
            <a:pPr indent="-228600" lvl="0" marL="228600" marR="0" rtl="0" algn="l">
              <a:lnSpc>
                <a:spcPct val="114000"/>
              </a:lnSpc>
              <a:spcBef>
                <a:spcPts val="0"/>
              </a:spcBef>
              <a:spcAft>
                <a:spcPts val="0"/>
              </a:spcAft>
              <a:buClr>
                <a:srgbClr val="000000"/>
              </a:buClr>
              <a:buSzPts val="3200"/>
              <a:buFont typeface="Noto Sans Symbols"/>
              <a:buChar char="❑"/>
            </a:pPr>
            <a:r>
              <a:rPr lang="en-US" sz="3200">
                <a:solidFill>
                  <a:srgbClr val="000000"/>
                </a:solidFill>
                <a:latin typeface="Palatino Linotype"/>
                <a:ea typeface="Palatino Linotype"/>
                <a:cs typeface="Palatino Linotype"/>
                <a:sym typeface="Palatino Linotype"/>
              </a:rPr>
              <a:t>Objects can be passed to functions as arguments in just the same way that other types of data are passed.</a:t>
            </a:r>
            <a:endParaRPr/>
          </a:p>
          <a:p>
            <a:pPr indent="-25400" lvl="0" marL="228600" marR="0" rtl="0" algn="l">
              <a:lnSpc>
                <a:spcPct val="114000"/>
              </a:lnSpc>
              <a:spcBef>
                <a:spcPts val="0"/>
              </a:spcBef>
              <a:spcAft>
                <a:spcPts val="0"/>
              </a:spcAft>
              <a:buClr>
                <a:schemeClr val="dk1"/>
              </a:buClr>
              <a:buSzPts val="3200"/>
              <a:buFont typeface="Noto Sans Symbols"/>
              <a:buNone/>
            </a:pPr>
            <a:r>
              <a:t/>
            </a:r>
            <a:endParaRPr sz="3200">
              <a:solidFill>
                <a:srgbClr val="000000"/>
              </a:solidFill>
              <a:latin typeface="Palatino Linotype"/>
              <a:ea typeface="Palatino Linotype"/>
              <a:cs typeface="Palatino Linotype"/>
              <a:sym typeface="Palatino Linotype"/>
            </a:endParaRPr>
          </a:p>
          <a:p>
            <a:pPr indent="-228600" lvl="0" marL="228600" marR="0" rtl="0" algn="l">
              <a:lnSpc>
                <a:spcPct val="114000"/>
              </a:lnSpc>
              <a:spcBef>
                <a:spcPts val="0"/>
              </a:spcBef>
              <a:spcAft>
                <a:spcPts val="0"/>
              </a:spcAft>
              <a:buClr>
                <a:srgbClr val="000000"/>
              </a:buClr>
              <a:buSzPts val="3200"/>
              <a:buFont typeface="Noto Sans Symbols"/>
              <a:buChar char="❑"/>
            </a:pPr>
            <a:r>
              <a:rPr lang="en-US" sz="3200">
                <a:solidFill>
                  <a:srgbClr val="000000"/>
                </a:solidFill>
                <a:latin typeface="Palatino Linotype"/>
                <a:ea typeface="Palatino Linotype"/>
                <a:cs typeface="Palatino Linotype"/>
                <a:sym typeface="Palatino Linotype"/>
              </a:rPr>
              <a:t>Simply declare the function’s parameter as a class type.</a:t>
            </a:r>
            <a:endParaRPr/>
          </a:p>
          <a:p>
            <a:pPr indent="-25400" lvl="0" marL="228600" marR="0" rtl="0" algn="l">
              <a:lnSpc>
                <a:spcPct val="114000"/>
              </a:lnSpc>
              <a:spcBef>
                <a:spcPts val="0"/>
              </a:spcBef>
              <a:spcAft>
                <a:spcPts val="0"/>
              </a:spcAft>
              <a:buClr>
                <a:schemeClr val="dk1"/>
              </a:buClr>
              <a:buSzPts val="3200"/>
              <a:buFont typeface="Noto Sans Symbols"/>
              <a:buNone/>
            </a:pPr>
            <a:r>
              <a:t/>
            </a:r>
            <a:endParaRPr sz="3200">
              <a:solidFill>
                <a:srgbClr val="000000"/>
              </a:solidFill>
              <a:latin typeface="Palatino Linotype"/>
              <a:ea typeface="Palatino Linotype"/>
              <a:cs typeface="Palatino Linotype"/>
              <a:sym typeface="Palatino Linotype"/>
            </a:endParaRPr>
          </a:p>
          <a:p>
            <a:pPr indent="-228600" lvl="0" marL="228600" marR="0" rtl="0" algn="l">
              <a:lnSpc>
                <a:spcPct val="114000"/>
              </a:lnSpc>
              <a:spcBef>
                <a:spcPts val="0"/>
              </a:spcBef>
              <a:spcAft>
                <a:spcPts val="0"/>
              </a:spcAft>
              <a:buClr>
                <a:srgbClr val="000000"/>
              </a:buClr>
              <a:buSzPts val="3200"/>
              <a:buFont typeface="Noto Sans Symbols"/>
              <a:buChar char="❑"/>
            </a:pPr>
            <a:r>
              <a:rPr lang="en-US" sz="3200">
                <a:solidFill>
                  <a:srgbClr val="000000"/>
                </a:solidFill>
                <a:latin typeface="Palatino Linotype"/>
                <a:ea typeface="Palatino Linotype"/>
                <a:cs typeface="Palatino Linotype"/>
                <a:sym typeface="Palatino Linotype"/>
              </a:rPr>
              <a:t>Then use an object of that class as an argument when calling the function.</a:t>
            </a:r>
            <a:endParaRPr/>
          </a:p>
          <a:p>
            <a:pPr indent="-76200" lvl="0" marL="228600" marR="0" rtl="0" algn="l">
              <a:lnSpc>
                <a:spcPct val="114000"/>
              </a:lnSpc>
              <a:spcBef>
                <a:spcPts val="0"/>
              </a:spcBef>
              <a:spcAft>
                <a:spcPts val="0"/>
              </a:spcAft>
              <a:buClr>
                <a:schemeClr val="dk1"/>
              </a:buClr>
              <a:buSzPts val="2400"/>
              <a:buFont typeface="Noto Sans Symbols"/>
              <a:buNone/>
            </a:pPr>
            <a:r>
              <a:t/>
            </a:r>
            <a:endParaRPr sz="2400">
              <a:solidFill>
                <a:srgbClr val="00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0"/>
          <p:cNvSpPr txBox="1"/>
          <p:nvPr>
            <p:ph type="title"/>
          </p:nvPr>
        </p:nvSpPr>
        <p:spPr>
          <a:xfrm>
            <a:off x="0" y="3"/>
            <a:ext cx="12192000" cy="700085"/>
          </a:xfrm>
          <a:prstGeom prst="rect">
            <a:avLst/>
          </a:prstGeom>
          <a:solidFill>
            <a:srgbClr val="0D5672"/>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000"/>
              <a:buFont typeface="Rockwell"/>
              <a:buNone/>
            </a:pPr>
            <a:r>
              <a:rPr b="1" lang="en-US" sz="4000">
                <a:solidFill>
                  <a:schemeClr val="lt1"/>
                </a:solidFill>
                <a:latin typeface="Rockwell"/>
                <a:ea typeface="Rockwell"/>
                <a:cs typeface="Rockwell"/>
                <a:sym typeface="Rockwell"/>
              </a:rPr>
              <a:t>Example</a:t>
            </a:r>
            <a:endParaRPr b="1" sz="4000">
              <a:solidFill>
                <a:schemeClr val="lt1"/>
              </a:solidFill>
              <a:latin typeface="Rockwell"/>
              <a:ea typeface="Rockwell"/>
              <a:cs typeface="Rockwell"/>
              <a:sym typeface="Rockwell"/>
            </a:endParaRPr>
          </a:p>
        </p:txBody>
      </p:sp>
      <p:pic>
        <p:nvPicPr>
          <p:cNvPr id="148" name="Google Shape;148;p10"/>
          <p:cNvPicPr preferRelativeResize="0"/>
          <p:nvPr/>
        </p:nvPicPr>
        <p:blipFill rotWithShape="1">
          <a:blip r:embed="rId3">
            <a:alphaModFix/>
          </a:blip>
          <a:srcRect b="0" l="0" r="0" t="0"/>
          <a:stretch/>
        </p:blipFill>
        <p:spPr>
          <a:xfrm>
            <a:off x="2884330" y="700088"/>
            <a:ext cx="6925542" cy="6000751"/>
          </a:xfrm>
          <a:prstGeom prst="rect">
            <a:avLst/>
          </a:prstGeom>
          <a:noFill/>
          <a:ln cap="flat" cmpd="sng" w="9525">
            <a:solidFill>
              <a:schemeClr val="accent1"/>
            </a:solidFill>
            <a:prstDash val="solid"/>
            <a:round/>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1"/>
          <p:cNvSpPr txBox="1"/>
          <p:nvPr>
            <p:ph type="title"/>
          </p:nvPr>
        </p:nvSpPr>
        <p:spPr>
          <a:xfrm>
            <a:off x="0" y="3"/>
            <a:ext cx="12192000" cy="700085"/>
          </a:xfrm>
          <a:prstGeom prst="rect">
            <a:avLst/>
          </a:prstGeom>
          <a:solidFill>
            <a:srgbClr val="0D5672"/>
          </a:solid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lt1"/>
              </a:buClr>
              <a:buSzPct val="100000"/>
              <a:buFont typeface="Rockwell"/>
              <a:buNone/>
            </a:pPr>
            <a:r>
              <a:rPr b="1" lang="en-US" sz="4800">
                <a:solidFill>
                  <a:schemeClr val="lt1"/>
                </a:solidFill>
                <a:latin typeface="Rockwell"/>
                <a:ea typeface="Rockwell"/>
                <a:cs typeface="Rockwell"/>
                <a:sym typeface="Rockwell"/>
              </a:rPr>
              <a:t>Output !!</a:t>
            </a:r>
            <a:endParaRPr b="1" sz="4800">
              <a:solidFill>
                <a:schemeClr val="lt1"/>
              </a:solidFill>
              <a:latin typeface="Rockwell"/>
              <a:ea typeface="Rockwell"/>
              <a:cs typeface="Rockwell"/>
              <a:sym typeface="Rockwell"/>
            </a:endParaRPr>
          </a:p>
        </p:txBody>
      </p:sp>
      <p:pic>
        <p:nvPicPr>
          <p:cNvPr id="154" name="Google Shape;154;p11"/>
          <p:cNvPicPr preferRelativeResize="0"/>
          <p:nvPr/>
        </p:nvPicPr>
        <p:blipFill rotWithShape="1">
          <a:blip r:embed="rId3">
            <a:alphaModFix/>
          </a:blip>
          <a:srcRect b="0" l="0" r="0" t="0"/>
          <a:stretch/>
        </p:blipFill>
        <p:spPr>
          <a:xfrm>
            <a:off x="3079397" y="894363"/>
            <a:ext cx="6033205" cy="2579799"/>
          </a:xfrm>
          <a:prstGeom prst="rect">
            <a:avLst/>
          </a:prstGeom>
          <a:noFill/>
          <a:ln>
            <a:noFill/>
          </a:ln>
        </p:spPr>
      </p:pic>
      <p:sp>
        <p:nvSpPr>
          <p:cNvPr id="155" name="Google Shape;155;p11"/>
          <p:cNvSpPr txBox="1"/>
          <p:nvPr/>
        </p:nvSpPr>
        <p:spPr>
          <a:xfrm>
            <a:off x="1139483" y="3882683"/>
            <a:ext cx="10227212" cy="120032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400">
                <a:solidFill>
                  <a:schemeClr val="dk1"/>
                </a:solidFill>
                <a:latin typeface="Calibri"/>
                <a:ea typeface="Calibri"/>
                <a:cs typeface="Calibri"/>
                <a:sym typeface="Calibri"/>
              </a:rPr>
              <a:t>This program creates a class called samp that contains one integer variable called i. The function sqr it() takes an argument of type samp and returns the square of that object’ I value. The output from this program is  100 followed by 25.</a:t>
            </a:r>
            <a:endParaRPr sz="24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
                                        </p:tgtEl>
                                        <p:attrNameLst>
                                          <p:attrName>style.visibility</p:attrName>
                                        </p:attrNameLst>
                                      </p:cBhvr>
                                      <p:to>
                                        <p:strVal val="visible"/>
                                      </p:to>
                                    </p:set>
                                    <p:animEffect filter="fade" transition="in">
                                      <p:cBhvr>
                                        <p:cTn dur="500"/>
                                        <p:tgtEl>
                                          <p:spTgt spid="1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2"/>
          <p:cNvSpPr txBox="1"/>
          <p:nvPr>
            <p:ph type="title"/>
          </p:nvPr>
        </p:nvSpPr>
        <p:spPr>
          <a:xfrm>
            <a:off x="0" y="3"/>
            <a:ext cx="12192000" cy="700085"/>
          </a:xfrm>
          <a:prstGeom prst="rect">
            <a:avLst/>
          </a:prstGeom>
          <a:solidFill>
            <a:srgbClr val="0D5672"/>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000"/>
              <a:buFont typeface="Rockwell"/>
              <a:buNone/>
            </a:pPr>
            <a:r>
              <a:rPr b="1" lang="en-US" sz="4000">
                <a:solidFill>
                  <a:schemeClr val="lt1"/>
                </a:solidFill>
                <a:latin typeface="Rockwell"/>
                <a:ea typeface="Rockwell"/>
                <a:cs typeface="Rockwell"/>
                <a:sym typeface="Rockwell"/>
              </a:rPr>
              <a:t>Example</a:t>
            </a:r>
            <a:endParaRPr b="1" sz="4000">
              <a:solidFill>
                <a:schemeClr val="lt1"/>
              </a:solidFill>
              <a:latin typeface="Rockwell"/>
              <a:ea typeface="Rockwell"/>
              <a:cs typeface="Rockwell"/>
              <a:sym typeface="Rockwell"/>
            </a:endParaRPr>
          </a:p>
        </p:txBody>
      </p:sp>
      <p:pic>
        <p:nvPicPr>
          <p:cNvPr id="161" name="Google Shape;161;p12"/>
          <p:cNvPicPr preferRelativeResize="0"/>
          <p:nvPr/>
        </p:nvPicPr>
        <p:blipFill rotWithShape="1">
          <a:blip r:embed="rId3">
            <a:alphaModFix/>
          </a:blip>
          <a:srcRect b="0" l="0" r="0" t="0"/>
          <a:stretch/>
        </p:blipFill>
        <p:spPr>
          <a:xfrm>
            <a:off x="1434906" y="956603"/>
            <a:ext cx="8215514" cy="5134708"/>
          </a:xfrm>
          <a:prstGeom prst="rect">
            <a:avLst/>
          </a:prstGeom>
          <a:noFill/>
          <a:ln>
            <a:noFill/>
          </a:ln>
        </p:spPr>
      </p:pic>
      <p:pic>
        <p:nvPicPr>
          <p:cNvPr id="162" name="Google Shape;162;p12"/>
          <p:cNvPicPr preferRelativeResize="0"/>
          <p:nvPr/>
        </p:nvPicPr>
        <p:blipFill rotWithShape="1">
          <a:blip r:embed="rId4">
            <a:alphaModFix/>
          </a:blip>
          <a:srcRect b="0" l="0" r="0" t="0"/>
          <a:stretch/>
        </p:blipFill>
        <p:spPr>
          <a:xfrm>
            <a:off x="6386732" y="1610211"/>
            <a:ext cx="5575318" cy="191374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3"/>
          <p:cNvSpPr txBox="1"/>
          <p:nvPr>
            <p:ph type="ctrTitle"/>
          </p:nvPr>
        </p:nvSpPr>
        <p:spPr>
          <a:xfrm>
            <a:off x="1185862" y="1385888"/>
            <a:ext cx="9958387" cy="3462351"/>
          </a:xfrm>
          <a:prstGeom prst="rect">
            <a:avLst/>
          </a:prstGeom>
          <a:solidFill>
            <a:srgbClr val="0D5672"/>
          </a:solidFill>
          <a:ln cap="flat" cmpd="sng" w="9525">
            <a:solidFill>
              <a:schemeClr val="accent1"/>
            </a:solidFill>
            <a:prstDash val="solid"/>
            <a:round/>
            <a:headEnd len="sm" w="sm" type="none"/>
            <a:tailEnd len="sm" w="sm" type="none"/>
          </a:ln>
        </p:spPr>
        <p:txBody>
          <a:bodyPr anchorCtr="0" anchor="ctr" bIns="60950" lIns="121900" spcFirstLastPara="1" rIns="121900" wrap="square" tIns="45700">
            <a:noAutofit/>
          </a:bodyPr>
          <a:lstStyle/>
          <a:p>
            <a:pPr indent="0" lvl="0" marL="0" rtl="0" algn="ctr">
              <a:lnSpc>
                <a:spcPct val="90000"/>
              </a:lnSpc>
              <a:spcBef>
                <a:spcPts val="0"/>
              </a:spcBef>
              <a:spcAft>
                <a:spcPts val="0"/>
              </a:spcAft>
              <a:buClr>
                <a:schemeClr val="lt1"/>
              </a:buClr>
              <a:buSzPts val="5400"/>
              <a:buFont typeface="Rockwell"/>
              <a:buNone/>
            </a:pPr>
            <a:r>
              <a:rPr b="1" lang="en-US" sz="5400">
                <a:solidFill>
                  <a:schemeClr val="lt1"/>
                </a:solidFill>
                <a:latin typeface="Rockwell"/>
                <a:ea typeface="Rockwell"/>
                <a:cs typeface="Rockwell"/>
                <a:sym typeface="Rockwell"/>
              </a:rPr>
              <a:t>Ways of Passing Arguments  to Function</a:t>
            </a:r>
            <a:br>
              <a:rPr b="1" lang="en-US" sz="5400">
                <a:solidFill>
                  <a:schemeClr val="lt1"/>
                </a:solidFill>
                <a:latin typeface="Rockwell"/>
                <a:ea typeface="Rockwell"/>
                <a:cs typeface="Rockwell"/>
                <a:sym typeface="Rockwell"/>
              </a:rPr>
            </a:br>
            <a:r>
              <a:rPr lang="en-US" sz="4000">
                <a:solidFill>
                  <a:srgbClr val="A2DEF4"/>
                </a:solidFill>
                <a:latin typeface="Rockwell"/>
                <a:ea typeface="Rockwell"/>
                <a:cs typeface="Rockwell"/>
                <a:sym typeface="Rockwell"/>
              </a:rPr>
              <a:t>(Call by Value and Call by Reference)</a:t>
            </a:r>
            <a:endParaRPr sz="4000">
              <a:solidFill>
                <a:srgbClr val="A2DEF4"/>
              </a:solidFill>
              <a:latin typeface="Rockwell"/>
              <a:ea typeface="Rockwell"/>
              <a:cs typeface="Rockwell"/>
              <a:sym typeface="Rockwell"/>
            </a:endParaRPr>
          </a:p>
        </p:txBody>
      </p:sp>
      <p:sp>
        <p:nvSpPr>
          <p:cNvPr id="168" name="Google Shape;168;p13"/>
          <p:cNvSpPr/>
          <p:nvPr/>
        </p:nvSpPr>
        <p:spPr>
          <a:xfrm>
            <a:off x="0" y="6500813"/>
            <a:ext cx="12192000" cy="357188"/>
          </a:xfrm>
          <a:prstGeom prst="rect">
            <a:avLst/>
          </a:prstGeom>
          <a:solidFill>
            <a:srgbClr val="1482AB"/>
          </a:solidFill>
          <a:ln cap="flat" cmpd="sng" w="12700">
            <a:solidFill>
              <a:srgbClr val="147EA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4"/>
          <p:cNvSpPr txBox="1"/>
          <p:nvPr>
            <p:ph type="title"/>
          </p:nvPr>
        </p:nvSpPr>
        <p:spPr>
          <a:xfrm>
            <a:off x="0" y="3"/>
            <a:ext cx="12192000" cy="1228725"/>
          </a:xfrm>
          <a:prstGeom prst="rect">
            <a:avLst/>
          </a:prstGeom>
          <a:solidFill>
            <a:srgbClr val="0D5672"/>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000"/>
              <a:buFont typeface="Rockwell"/>
              <a:buNone/>
            </a:pPr>
            <a:r>
              <a:rPr b="1" lang="en-US" sz="4000">
                <a:solidFill>
                  <a:schemeClr val="lt1"/>
                </a:solidFill>
                <a:latin typeface="Rockwell"/>
                <a:ea typeface="Rockwell"/>
                <a:cs typeface="Rockwell"/>
                <a:sym typeface="Rockwell"/>
              </a:rPr>
              <a:t>Call by Value</a:t>
            </a:r>
            <a:endParaRPr b="1" sz="4000">
              <a:solidFill>
                <a:schemeClr val="lt1"/>
              </a:solidFill>
              <a:latin typeface="Rockwell"/>
              <a:ea typeface="Rockwell"/>
              <a:cs typeface="Rockwell"/>
              <a:sym typeface="Rockwell"/>
            </a:endParaRPr>
          </a:p>
        </p:txBody>
      </p:sp>
      <p:sp>
        <p:nvSpPr>
          <p:cNvPr id="174" name="Google Shape;174;p14"/>
          <p:cNvSpPr/>
          <p:nvPr/>
        </p:nvSpPr>
        <p:spPr>
          <a:xfrm>
            <a:off x="0" y="6500813"/>
            <a:ext cx="12192000" cy="357188"/>
          </a:xfrm>
          <a:prstGeom prst="rect">
            <a:avLst/>
          </a:prstGeom>
          <a:solidFill>
            <a:srgbClr val="0D5672"/>
          </a:solidFill>
          <a:ln cap="flat" cmpd="sng" w="12700">
            <a:solidFill>
              <a:srgbClr val="147EA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sp>
        <p:nvSpPr>
          <p:cNvPr id="175" name="Google Shape;175;p14"/>
          <p:cNvSpPr txBox="1"/>
          <p:nvPr/>
        </p:nvSpPr>
        <p:spPr>
          <a:xfrm>
            <a:off x="876937" y="1671643"/>
            <a:ext cx="10653296" cy="3097412"/>
          </a:xfrm>
          <a:prstGeom prst="rect">
            <a:avLst/>
          </a:prstGeom>
          <a:noFill/>
          <a:ln>
            <a:noFill/>
          </a:ln>
        </p:spPr>
        <p:txBody>
          <a:bodyPr anchorCtr="0" anchor="t" bIns="45700" lIns="91425" spcFirstLastPara="1" rIns="91425" wrap="square" tIns="45700">
            <a:noAutofit/>
          </a:bodyPr>
          <a:lstStyle/>
          <a:p>
            <a:pPr indent="-228600" lvl="0" marL="228600" marR="0" rtl="0" algn="just">
              <a:lnSpc>
                <a:spcPct val="114000"/>
              </a:lnSpc>
              <a:spcBef>
                <a:spcPts val="0"/>
              </a:spcBef>
              <a:spcAft>
                <a:spcPts val="0"/>
              </a:spcAft>
              <a:buClr>
                <a:srgbClr val="000000"/>
              </a:buClr>
              <a:buSzPts val="2800"/>
              <a:buFont typeface="Noto Sans Symbols"/>
              <a:buChar char="❑"/>
            </a:pPr>
            <a:r>
              <a:rPr lang="en-US" sz="2800">
                <a:solidFill>
                  <a:srgbClr val="000000"/>
                </a:solidFill>
                <a:latin typeface="Palatino Linotype"/>
                <a:ea typeface="Palatino Linotype"/>
                <a:cs typeface="Palatino Linotype"/>
                <a:sym typeface="Palatino Linotype"/>
              </a:rPr>
              <a:t>The default method of parameter passing in C++ including objects is by value.</a:t>
            </a:r>
            <a:endParaRPr/>
          </a:p>
          <a:p>
            <a:pPr indent="-228600" lvl="0" marL="228600" marR="0" rtl="0" algn="just">
              <a:lnSpc>
                <a:spcPct val="114000"/>
              </a:lnSpc>
              <a:spcBef>
                <a:spcPts val="0"/>
              </a:spcBef>
              <a:spcAft>
                <a:spcPts val="0"/>
              </a:spcAft>
              <a:buClr>
                <a:srgbClr val="000000"/>
              </a:buClr>
              <a:buSzPts val="2800"/>
              <a:buFont typeface="Noto Sans Symbols"/>
              <a:buChar char="❑"/>
            </a:pPr>
            <a:r>
              <a:rPr lang="en-US" sz="2800">
                <a:solidFill>
                  <a:srgbClr val="000000"/>
                </a:solidFill>
                <a:latin typeface="Palatino Linotype"/>
                <a:ea typeface="Palatino Linotype"/>
                <a:cs typeface="Palatino Linotype"/>
                <a:sym typeface="Palatino Linotype"/>
              </a:rPr>
              <a:t>This means that a bitwise copy of the argument is made and it is this copy that is used by the function.</a:t>
            </a:r>
            <a:endParaRPr/>
          </a:p>
          <a:p>
            <a:pPr indent="-228600" lvl="0" marL="228600" marR="0" rtl="0" algn="just">
              <a:lnSpc>
                <a:spcPct val="114000"/>
              </a:lnSpc>
              <a:spcBef>
                <a:spcPts val="0"/>
              </a:spcBef>
              <a:spcAft>
                <a:spcPts val="0"/>
              </a:spcAft>
              <a:buClr>
                <a:srgbClr val="000000"/>
              </a:buClr>
              <a:buSzPts val="2800"/>
              <a:buFont typeface="Noto Sans Symbols"/>
              <a:buChar char="❑"/>
            </a:pPr>
            <a:r>
              <a:rPr lang="en-US" sz="2800">
                <a:solidFill>
                  <a:srgbClr val="000000"/>
                </a:solidFill>
                <a:latin typeface="Palatino Linotype"/>
                <a:ea typeface="Palatino Linotype"/>
                <a:cs typeface="Palatino Linotype"/>
                <a:sym typeface="Palatino Linotype"/>
              </a:rPr>
              <a:t>Any changes made to the parameters within the function do not change the original values outside the function.</a:t>
            </a:r>
            <a:endParaRPr/>
          </a:p>
          <a:p>
            <a:pPr indent="-228600" lvl="0" marL="228600" marR="0" rtl="0" algn="just">
              <a:lnSpc>
                <a:spcPct val="114000"/>
              </a:lnSpc>
              <a:spcBef>
                <a:spcPts val="0"/>
              </a:spcBef>
              <a:spcAft>
                <a:spcPts val="0"/>
              </a:spcAft>
              <a:buClr>
                <a:srgbClr val="000000"/>
              </a:buClr>
              <a:buSzPts val="2800"/>
              <a:buFont typeface="Noto Sans Symbols"/>
              <a:buChar char="❑"/>
            </a:pPr>
            <a:r>
              <a:rPr lang="en-US" sz="2800">
                <a:solidFill>
                  <a:srgbClr val="000000"/>
                </a:solidFill>
                <a:latin typeface="Palatino Linotype"/>
                <a:ea typeface="Palatino Linotype"/>
                <a:cs typeface="Palatino Linotype"/>
                <a:sym typeface="Palatino Linotype"/>
              </a:rPr>
              <a:t>As with other types of data, by default all objects are passed by value to a function.</a:t>
            </a:r>
            <a:endParaRPr/>
          </a:p>
          <a:p>
            <a:pPr indent="-25400" lvl="0" marL="228600" marR="0" rtl="0" algn="l">
              <a:lnSpc>
                <a:spcPct val="114000"/>
              </a:lnSpc>
              <a:spcBef>
                <a:spcPts val="0"/>
              </a:spcBef>
              <a:spcAft>
                <a:spcPts val="0"/>
              </a:spcAft>
              <a:buClr>
                <a:schemeClr val="dk1"/>
              </a:buClr>
              <a:buSzPts val="3200"/>
              <a:buFont typeface="Noto Sans Symbols"/>
              <a:buNone/>
            </a:pPr>
            <a:r>
              <a:t/>
            </a:r>
            <a:endParaRPr sz="3200">
              <a:solidFill>
                <a:srgbClr val="000000"/>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5"/>
          <p:cNvSpPr txBox="1"/>
          <p:nvPr>
            <p:ph type="title"/>
          </p:nvPr>
        </p:nvSpPr>
        <p:spPr>
          <a:xfrm>
            <a:off x="0" y="3"/>
            <a:ext cx="12192000" cy="700085"/>
          </a:xfrm>
          <a:prstGeom prst="rect">
            <a:avLst/>
          </a:prstGeom>
          <a:solidFill>
            <a:srgbClr val="0D5672"/>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000"/>
              <a:buFont typeface="Rockwell"/>
              <a:buNone/>
            </a:pPr>
            <a:r>
              <a:rPr b="1" lang="en-US" sz="4000">
                <a:solidFill>
                  <a:schemeClr val="lt1"/>
                </a:solidFill>
                <a:latin typeface="Rockwell"/>
                <a:ea typeface="Rockwell"/>
                <a:cs typeface="Rockwell"/>
                <a:sym typeface="Rockwell"/>
              </a:rPr>
              <a:t>Example</a:t>
            </a:r>
            <a:endParaRPr b="1" sz="4000">
              <a:solidFill>
                <a:schemeClr val="lt1"/>
              </a:solidFill>
              <a:latin typeface="Rockwell"/>
              <a:ea typeface="Rockwell"/>
              <a:cs typeface="Rockwell"/>
              <a:sym typeface="Rockwell"/>
            </a:endParaRPr>
          </a:p>
        </p:txBody>
      </p:sp>
      <p:pic>
        <p:nvPicPr>
          <p:cNvPr id="181" name="Google Shape;181;p15"/>
          <p:cNvPicPr preferRelativeResize="0"/>
          <p:nvPr/>
        </p:nvPicPr>
        <p:blipFill rotWithShape="1">
          <a:blip r:embed="rId3">
            <a:alphaModFix/>
          </a:blip>
          <a:srcRect b="0" l="0" r="0" t="0"/>
          <a:stretch/>
        </p:blipFill>
        <p:spPr>
          <a:xfrm>
            <a:off x="3217180" y="998805"/>
            <a:ext cx="5983091" cy="507843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6"/>
          <p:cNvSpPr txBox="1"/>
          <p:nvPr>
            <p:ph type="title"/>
          </p:nvPr>
        </p:nvSpPr>
        <p:spPr>
          <a:xfrm>
            <a:off x="0" y="3"/>
            <a:ext cx="12192000" cy="700085"/>
          </a:xfrm>
          <a:prstGeom prst="rect">
            <a:avLst/>
          </a:prstGeom>
          <a:solidFill>
            <a:srgbClr val="0D5672"/>
          </a:solid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lt1"/>
              </a:buClr>
              <a:buSzPct val="100000"/>
              <a:buFont typeface="Rockwell"/>
              <a:buNone/>
            </a:pPr>
            <a:r>
              <a:rPr b="1" lang="en-US" sz="4800">
                <a:solidFill>
                  <a:schemeClr val="lt1"/>
                </a:solidFill>
                <a:latin typeface="Rockwell"/>
                <a:ea typeface="Rockwell"/>
                <a:cs typeface="Rockwell"/>
                <a:sym typeface="Rockwell"/>
              </a:rPr>
              <a:t>Output !!</a:t>
            </a:r>
            <a:endParaRPr b="1" sz="4800">
              <a:solidFill>
                <a:schemeClr val="lt1"/>
              </a:solidFill>
              <a:latin typeface="Rockwell"/>
              <a:ea typeface="Rockwell"/>
              <a:cs typeface="Rockwell"/>
              <a:sym typeface="Rockwell"/>
            </a:endParaRPr>
          </a:p>
        </p:txBody>
      </p:sp>
      <p:sp>
        <p:nvSpPr>
          <p:cNvPr id="187" name="Google Shape;187;p16"/>
          <p:cNvSpPr txBox="1"/>
          <p:nvPr/>
        </p:nvSpPr>
        <p:spPr>
          <a:xfrm>
            <a:off x="1139483" y="3882683"/>
            <a:ext cx="10227212" cy="193899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400">
                <a:solidFill>
                  <a:schemeClr val="dk1"/>
                </a:solidFill>
                <a:latin typeface="Palatino Linotype"/>
                <a:ea typeface="Palatino Linotype"/>
                <a:cs typeface="Palatino Linotype"/>
                <a:sym typeface="Palatino Linotype"/>
              </a:rPr>
              <a:t>Explanation: </a:t>
            </a:r>
            <a:r>
              <a:rPr lang="en-US" sz="2400">
                <a:solidFill>
                  <a:schemeClr val="dk1"/>
                </a:solidFill>
                <a:latin typeface="Palatino Linotype"/>
                <a:ea typeface="Palatino Linotype"/>
                <a:cs typeface="Palatino Linotype"/>
                <a:sym typeface="Palatino Linotype"/>
              </a:rPr>
              <a:t>In the above program the “number” is passed as an actual parameter to the function increment and in the function as a formal parameter “num” that stores the value of “number”. In the function, the value of “num” is incremented but there is no change in the value of “number”. This is what we say “call by value”.</a:t>
            </a:r>
            <a:endParaRPr/>
          </a:p>
        </p:txBody>
      </p:sp>
      <p:pic>
        <p:nvPicPr>
          <p:cNvPr id="188" name="Google Shape;188;p16"/>
          <p:cNvPicPr preferRelativeResize="0"/>
          <p:nvPr/>
        </p:nvPicPr>
        <p:blipFill rotWithShape="1">
          <a:blip r:embed="rId3">
            <a:alphaModFix/>
          </a:blip>
          <a:srcRect b="0" l="0" r="0" t="0"/>
          <a:stretch/>
        </p:blipFill>
        <p:spPr>
          <a:xfrm>
            <a:off x="3390313" y="1090932"/>
            <a:ext cx="5725552" cy="222904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7"/>
          <p:cNvSpPr txBox="1"/>
          <p:nvPr>
            <p:ph type="title"/>
          </p:nvPr>
        </p:nvSpPr>
        <p:spPr>
          <a:xfrm>
            <a:off x="0" y="3"/>
            <a:ext cx="12192000" cy="1228725"/>
          </a:xfrm>
          <a:prstGeom prst="rect">
            <a:avLst/>
          </a:prstGeom>
          <a:solidFill>
            <a:srgbClr val="0D5672"/>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000"/>
              <a:buFont typeface="Rockwell"/>
              <a:buNone/>
            </a:pPr>
            <a:r>
              <a:rPr b="1" lang="en-US" sz="4000">
                <a:solidFill>
                  <a:schemeClr val="lt1"/>
                </a:solidFill>
                <a:latin typeface="Rockwell"/>
                <a:ea typeface="Rockwell"/>
                <a:cs typeface="Rockwell"/>
                <a:sym typeface="Rockwell"/>
              </a:rPr>
              <a:t>Call by Reference</a:t>
            </a:r>
            <a:endParaRPr b="1" sz="4000">
              <a:solidFill>
                <a:schemeClr val="lt1"/>
              </a:solidFill>
              <a:latin typeface="Rockwell"/>
              <a:ea typeface="Rockwell"/>
              <a:cs typeface="Rockwell"/>
              <a:sym typeface="Rockwell"/>
            </a:endParaRPr>
          </a:p>
        </p:txBody>
      </p:sp>
      <p:sp>
        <p:nvSpPr>
          <p:cNvPr id="194" name="Google Shape;194;p17"/>
          <p:cNvSpPr/>
          <p:nvPr/>
        </p:nvSpPr>
        <p:spPr>
          <a:xfrm>
            <a:off x="0" y="6500813"/>
            <a:ext cx="12192000" cy="357188"/>
          </a:xfrm>
          <a:prstGeom prst="rect">
            <a:avLst/>
          </a:prstGeom>
          <a:solidFill>
            <a:srgbClr val="0D5672"/>
          </a:solidFill>
          <a:ln cap="flat" cmpd="sng" w="12700">
            <a:solidFill>
              <a:srgbClr val="147EA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sp>
        <p:nvSpPr>
          <p:cNvPr id="195" name="Google Shape;195;p17"/>
          <p:cNvSpPr txBox="1"/>
          <p:nvPr/>
        </p:nvSpPr>
        <p:spPr>
          <a:xfrm>
            <a:off x="991237" y="1761911"/>
            <a:ext cx="10653296" cy="3097412"/>
          </a:xfrm>
          <a:prstGeom prst="rect">
            <a:avLst/>
          </a:prstGeom>
          <a:noFill/>
          <a:ln>
            <a:noFill/>
          </a:ln>
        </p:spPr>
        <p:txBody>
          <a:bodyPr anchorCtr="0" anchor="t" bIns="45700" lIns="91425" spcFirstLastPara="1" rIns="91425" wrap="square" tIns="45700">
            <a:noAutofit/>
          </a:bodyPr>
          <a:lstStyle/>
          <a:p>
            <a:pPr indent="-228600" lvl="0" marL="228600" marR="0" rtl="0" algn="l">
              <a:lnSpc>
                <a:spcPct val="114000"/>
              </a:lnSpc>
              <a:spcBef>
                <a:spcPts val="0"/>
              </a:spcBef>
              <a:spcAft>
                <a:spcPts val="0"/>
              </a:spcAft>
              <a:buClr>
                <a:schemeClr val="dk1"/>
              </a:buClr>
              <a:buSzPts val="2800"/>
              <a:buFont typeface="Noto Sans Symbols"/>
              <a:buChar char="❑"/>
            </a:pPr>
            <a:r>
              <a:rPr lang="en-US" sz="2800">
                <a:solidFill>
                  <a:schemeClr val="dk1"/>
                </a:solidFill>
                <a:latin typeface="Palatino Linotype"/>
                <a:ea typeface="Palatino Linotype"/>
                <a:cs typeface="Palatino Linotype"/>
                <a:sym typeface="Palatino Linotype"/>
              </a:rPr>
              <a:t>In the call by reference method, the memory address (reference) of the actual parameter is passed to the function, allowing direct access and modification of the original values. </a:t>
            </a:r>
            <a:endParaRPr sz="2800">
              <a:solidFill>
                <a:schemeClr val="dk1"/>
              </a:solidFill>
              <a:latin typeface="Palatino Linotype"/>
              <a:ea typeface="Palatino Linotype"/>
              <a:cs typeface="Palatino Linotype"/>
              <a:sym typeface="Palatino Linotype"/>
            </a:endParaRPr>
          </a:p>
          <a:p>
            <a:pPr indent="-228600" lvl="0" marL="228600" marR="0" rtl="0" algn="l">
              <a:lnSpc>
                <a:spcPct val="114000"/>
              </a:lnSpc>
              <a:spcBef>
                <a:spcPts val="0"/>
              </a:spcBef>
              <a:spcAft>
                <a:spcPts val="0"/>
              </a:spcAft>
              <a:buClr>
                <a:schemeClr val="dk1"/>
              </a:buClr>
              <a:buSzPts val="2800"/>
              <a:buFont typeface="Noto Sans Symbols"/>
              <a:buChar char="❑"/>
            </a:pPr>
            <a:r>
              <a:rPr lang="en-US" sz="2800">
                <a:solidFill>
                  <a:schemeClr val="dk1"/>
                </a:solidFill>
                <a:latin typeface="Palatino Linotype"/>
                <a:ea typeface="Palatino Linotype"/>
                <a:cs typeface="Palatino Linotype"/>
                <a:sym typeface="Palatino Linotype"/>
              </a:rPr>
              <a:t>The actual and the formal parameters point to the same memory address. </a:t>
            </a:r>
            <a:endParaRPr sz="2800">
              <a:solidFill>
                <a:schemeClr val="dk1"/>
              </a:solidFill>
              <a:latin typeface="Palatino Linotype"/>
              <a:ea typeface="Palatino Linotype"/>
              <a:cs typeface="Palatino Linotype"/>
              <a:sym typeface="Palatino Linotype"/>
            </a:endParaRPr>
          </a:p>
          <a:p>
            <a:pPr indent="-228600" lvl="0" marL="228600" marR="0" rtl="0" algn="l">
              <a:lnSpc>
                <a:spcPct val="114000"/>
              </a:lnSpc>
              <a:spcBef>
                <a:spcPts val="0"/>
              </a:spcBef>
              <a:spcAft>
                <a:spcPts val="0"/>
              </a:spcAft>
              <a:buClr>
                <a:schemeClr val="dk1"/>
              </a:buClr>
              <a:buSzPts val="2800"/>
              <a:buFont typeface="Noto Sans Symbols"/>
              <a:buChar char="❑"/>
            </a:pPr>
            <a:r>
              <a:rPr lang="en-US" sz="2800">
                <a:solidFill>
                  <a:schemeClr val="dk1"/>
                </a:solidFill>
                <a:latin typeface="Palatino Linotype"/>
                <a:ea typeface="Palatino Linotype"/>
                <a:cs typeface="Palatino Linotype"/>
                <a:sym typeface="Palatino Linotype"/>
              </a:rPr>
              <a:t>Any changes made to the parameters within the function are directly reflected in the original values outside the function.</a:t>
            </a:r>
            <a:endParaRPr sz="3200">
              <a:solidFill>
                <a:srgbClr val="000000"/>
              </a:solidFill>
              <a:latin typeface="Palatino Linotype"/>
              <a:ea typeface="Palatino Linotype"/>
              <a:cs typeface="Palatino Linotype"/>
              <a:sym typeface="Palatino Linotype"/>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8"/>
          <p:cNvSpPr txBox="1"/>
          <p:nvPr>
            <p:ph type="title"/>
          </p:nvPr>
        </p:nvSpPr>
        <p:spPr>
          <a:xfrm>
            <a:off x="0" y="3"/>
            <a:ext cx="12192000" cy="700085"/>
          </a:xfrm>
          <a:prstGeom prst="rect">
            <a:avLst/>
          </a:prstGeom>
          <a:solidFill>
            <a:srgbClr val="0D5672"/>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000"/>
              <a:buFont typeface="Rockwell"/>
              <a:buNone/>
            </a:pPr>
            <a:r>
              <a:rPr b="1" lang="en-US" sz="4000">
                <a:solidFill>
                  <a:schemeClr val="lt1"/>
                </a:solidFill>
                <a:latin typeface="Rockwell"/>
                <a:ea typeface="Rockwell"/>
                <a:cs typeface="Rockwell"/>
                <a:sym typeface="Rockwell"/>
              </a:rPr>
              <a:t>Example</a:t>
            </a:r>
            <a:endParaRPr b="1" sz="4000">
              <a:solidFill>
                <a:schemeClr val="lt1"/>
              </a:solidFill>
              <a:latin typeface="Rockwell"/>
              <a:ea typeface="Rockwell"/>
              <a:cs typeface="Rockwell"/>
              <a:sym typeface="Rockwell"/>
            </a:endParaRPr>
          </a:p>
        </p:txBody>
      </p:sp>
      <p:pic>
        <p:nvPicPr>
          <p:cNvPr id="201" name="Google Shape;201;p18"/>
          <p:cNvPicPr preferRelativeResize="0"/>
          <p:nvPr/>
        </p:nvPicPr>
        <p:blipFill rotWithShape="1">
          <a:blip r:embed="rId3">
            <a:alphaModFix/>
          </a:blip>
          <a:srcRect b="0" l="0" r="0" t="0"/>
          <a:stretch/>
        </p:blipFill>
        <p:spPr>
          <a:xfrm>
            <a:off x="2869810" y="1322365"/>
            <a:ext cx="7624689" cy="464233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9"/>
          <p:cNvSpPr txBox="1"/>
          <p:nvPr>
            <p:ph type="title"/>
          </p:nvPr>
        </p:nvSpPr>
        <p:spPr>
          <a:xfrm>
            <a:off x="0" y="3"/>
            <a:ext cx="12192000" cy="700085"/>
          </a:xfrm>
          <a:prstGeom prst="rect">
            <a:avLst/>
          </a:prstGeom>
          <a:solidFill>
            <a:srgbClr val="0D5672"/>
          </a:solid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lt1"/>
              </a:buClr>
              <a:buSzPct val="100000"/>
              <a:buFont typeface="Rockwell"/>
              <a:buNone/>
            </a:pPr>
            <a:r>
              <a:rPr b="1" lang="en-US" sz="4800">
                <a:solidFill>
                  <a:schemeClr val="lt1"/>
                </a:solidFill>
                <a:latin typeface="Rockwell"/>
                <a:ea typeface="Rockwell"/>
                <a:cs typeface="Rockwell"/>
                <a:sym typeface="Rockwell"/>
              </a:rPr>
              <a:t>Output !!</a:t>
            </a:r>
            <a:endParaRPr b="1" sz="4800">
              <a:solidFill>
                <a:schemeClr val="lt1"/>
              </a:solidFill>
              <a:latin typeface="Rockwell"/>
              <a:ea typeface="Rockwell"/>
              <a:cs typeface="Rockwell"/>
              <a:sym typeface="Rockwell"/>
            </a:endParaRPr>
          </a:p>
        </p:txBody>
      </p:sp>
      <p:sp>
        <p:nvSpPr>
          <p:cNvPr id="207" name="Google Shape;207;p19"/>
          <p:cNvSpPr txBox="1"/>
          <p:nvPr/>
        </p:nvSpPr>
        <p:spPr>
          <a:xfrm>
            <a:off x="1139483" y="3882683"/>
            <a:ext cx="10227212" cy="193899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400">
                <a:solidFill>
                  <a:schemeClr val="dk1"/>
                </a:solidFill>
                <a:latin typeface="Calibri"/>
                <a:ea typeface="Calibri"/>
                <a:cs typeface="Calibri"/>
                <a:sym typeface="Calibri"/>
              </a:rPr>
              <a:t>Explanation: </a:t>
            </a:r>
            <a:r>
              <a:rPr lang="en-US" sz="2400">
                <a:solidFill>
                  <a:schemeClr val="dk1"/>
                </a:solidFill>
                <a:latin typeface="Calibri"/>
                <a:ea typeface="Calibri"/>
                <a:cs typeface="Calibri"/>
                <a:sym typeface="Calibri"/>
              </a:rPr>
              <a:t>In the above code the variable “number” is passed to function increment. A formal parameter “num” points to the same address as “number”. When the function increments the value of the parameter, the changes made in “num” is reflected in “number” as we can see from the output. This is what we say “call by reference”.</a:t>
            </a:r>
            <a:endParaRPr/>
          </a:p>
        </p:txBody>
      </p:sp>
      <p:pic>
        <p:nvPicPr>
          <p:cNvPr id="208" name="Google Shape;208;p19"/>
          <p:cNvPicPr preferRelativeResize="0"/>
          <p:nvPr/>
        </p:nvPicPr>
        <p:blipFill rotWithShape="1">
          <a:blip r:embed="rId3">
            <a:alphaModFix/>
          </a:blip>
          <a:srcRect b="0" l="0" r="0" t="0"/>
          <a:stretch/>
        </p:blipFill>
        <p:spPr>
          <a:xfrm>
            <a:off x="3654271" y="1266222"/>
            <a:ext cx="5574136" cy="229290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0"/>
          <p:cNvSpPr txBox="1"/>
          <p:nvPr>
            <p:ph type="title"/>
          </p:nvPr>
        </p:nvSpPr>
        <p:spPr>
          <a:xfrm>
            <a:off x="0" y="3"/>
            <a:ext cx="12192000" cy="700085"/>
          </a:xfrm>
          <a:prstGeom prst="rect">
            <a:avLst/>
          </a:prstGeom>
          <a:solidFill>
            <a:srgbClr val="0D5672"/>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Rockwell"/>
              <a:buNone/>
            </a:pPr>
            <a:r>
              <a:rPr b="1" lang="en-US" sz="4000">
                <a:solidFill>
                  <a:schemeClr val="lt1"/>
                </a:solidFill>
                <a:latin typeface="Rockwell"/>
                <a:ea typeface="Rockwell"/>
                <a:cs typeface="Rockwell"/>
                <a:sym typeface="Rockwell"/>
              </a:rPr>
              <a:t>Example</a:t>
            </a:r>
            <a:endParaRPr b="1" sz="4000">
              <a:solidFill>
                <a:schemeClr val="lt1"/>
              </a:solidFill>
              <a:latin typeface="Rockwell"/>
              <a:ea typeface="Rockwell"/>
              <a:cs typeface="Rockwell"/>
              <a:sym typeface="Rockwell"/>
            </a:endParaRPr>
          </a:p>
        </p:txBody>
      </p:sp>
      <p:pic>
        <p:nvPicPr>
          <p:cNvPr id="214" name="Google Shape;214;p20"/>
          <p:cNvPicPr preferRelativeResize="0"/>
          <p:nvPr/>
        </p:nvPicPr>
        <p:blipFill rotWithShape="1">
          <a:blip r:embed="rId3">
            <a:alphaModFix/>
          </a:blip>
          <a:srcRect b="0" l="0" r="0" t="0"/>
          <a:stretch/>
        </p:blipFill>
        <p:spPr>
          <a:xfrm>
            <a:off x="2478761" y="2"/>
            <a:ext cx="9267762" cy="685799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1"/>
          <p:cNvSpPr txBox="1"/>
          <p:nvPr>
            <p:ph type="title"/>
          </p:nvPr>
        </p:nvSpPr>
        <p:spPr>
          <a:xfrm>
            <a:off x="0" y="3"/>
            <a:ext cx="12192000" cy="700085"/>
          </a:xfrm>
          <a:prstGeom prst="rect">
            <a:avLst/>
          </a:prstGeom>
          <a:solidFill>
            <a:srgbClr val="0D5672"/>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Rockwell"/>
              <a:buNone/>
            </a:pPr>
            <a:r>
              <a:rPr b="1" lang="en-US" sz="4000">
                <a:solidFill>
                  <a:schemeClr val="lt1"/>
                </a:solidFill>
                <a:latin typeface="Rockwell"/>
                <a:ea typeface="Rockwell"/>
                <a:cs typeface="Rockwell"/>
                <a:sym typeface="Rockwell"/>
              </a:rPr>
              <a:t>Example</a:t>
            </a:r>
            <a:endParaRPr b="1" sz="4000">
              <a:solidFill>
                <a:schemeClr val="lt1"/>
              </a:solidFill>
              <a:latin typeface="Rockwell"/>
              <a:ea typeface="Rockwell"/>
              <a:cs typeface="Rockwell"/>
              <a:sym typeface="Rockwell"/>
            </a:endParaRPr>
          </a:p>
        </p:txBody>
      </p:sp>
      <p:pic>
        <p:nvPicPr>
          <p:cNvPr id="220" name="Google Shape;220;p21"/>
          <p:cNvPicPr preferRelativeResize="0"/>
          <p:nvPr/>
        </p:nvPicPr>
        <p:blipFill rotWithShape="1">
          <a:blip r:embed="rId3">
            <a:alphaModFix/>
          </a:blip>
          <a:srcRect b="0" l="0" r="0" t="0"/>
          <a:stretch/>
        </p:blipFill>
        <p:spPr>
          <a:xfrm>
            <a:off x="2667978" y="700088"/>
            <a:ext cx="7376353" cy="3009666"/>
          </a:xfrm>
          <a:prstGeom prst="rect">
            <a:avLst/>
          </a:prstGeom>
          <a:noFill/>
          <a:ln>
            <a:noFill/>
          </a:ln>
        </p:spPr>
      </p:pic>
      <p:pic>
        <p:nvPicPr>
          <p:cNvPr id="221" name="Google Shape;221;p21"/>
          <p:cNvPicPr preferRelativeResize="0"/>
          <p:nvPr/>
        </p:nvPicPr>
        <p:blipFill rotWithShape="1">
          <a:blip r:embed="rId4">
            <a:alphaModFix/>
          </a:blip>
          <a:srcRect b="0" l="0" r="0" t="0"/>
          <a:stretch/>
        </p:blipFill>
        <p:spPr>
          <a:xfrm>
            <a:off x="2667978" y="3709754"/>
            <a:ext cx="7151271" cy="262070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2"/>
          <p:cNvSpPr txBox="1"/>
          <p:nvPr>
            <p:ph type="ctrTitle"/>
          </p:nvPr>
        </p:nvSpPr>
        <p:spPr>
          <a:xfrm>
            <a:off x="1171575" y="1870076"/>
            <a:ext cx="9915525" cy="2587624"/>
          </a:xfrm>
          <a:prstGeom prst="rect">
            <a:avLst/>
          </a:prstGeom>
          <a:solidFill>
            <a:srgbClr val="0D5672"/>
          </a:solidFill>
          <a:ln cap="flat" cmpd="sng" w="9525">
            <a:solidFill>
              <a:schemeClr val="accent1"/>
            </a:solidFill>
            <a:prstDash val="solid"/>
            <a:round/>
            <a:headEnd len="sm" w="sm" type="none"/>
            <a:tailEnd len="sm" w="sm" type="none"/>
          </a:ln>
        </p:spPr>
        <p:txBody>
          <a:bodyPr anchorCtr="0" anchor="ctr" bIns="60950" lIns="121900" spcFirstLastPara="1" rIns="121900" wrap="square" tIns="45700">
            <a:noAutofit/>
          </a:bodyPr>
          <a:lstStyle/>
          <a:p>
            <a:pPr indent="0" lvl="0" marL="0" rtl="0" algn="ctr">
              <a:lnSpc>
                <a:spcPct val="90000"/>
              </a:lnSpc>
              <a:spcBef>
                <a:spcPts val="0"/>
              </a:spcBef>
              <a:spcAft>
                <a:spcPts val="0"/>
              </a:spcAft>
              <a:buClr>
                <a:schemeClr val="lt1"/>
              </a:buClr>
              <a:buSzPts val="4000"/>
              <a:buFont typeface="Rockwell"/>
              <a:buNone/>
            </a:pPr>
            <a:r>
              <a:rPr b="1" lang="en-US" sz="4000">
                <a:solidFill>
                  <a:schemeClr val="lt1"/>
                </a:solidFill>
                <a:latin typeface="Rockwell"/>
                <a:ea typeface="Rockwell"/>
                <a:cs typeface="Rockwell"/>
                <a:sym typeface="Rockwell"/>
              </a:rPr>
              <a:t>Returning Objects From Functions</a:t>
            </a:r>
            <a:endParaRPr b="1" sz="4000">
              <a:solidFill>
                <a:schemeClr val="lt1"/>
              </a:solidFill>
              <a:latin typeface="Rockwell"/>
              <a:ea typeface="Rockwell"/>
              <a:cs typeface="Rockwell"/>
              <a:sym typeface="Rockwell"/>
            </a:endParaRPr>
          </a:p>
        </p:txBody>
      </p:sp>
      <p:sp>
        <p:nvSpPr>
          <p:cNvPr id="227" name="Google Shape;227;p22"/>
          <p:cNvSpPr/>
          <p:nvPr/>
        </p:nvSpPr>
        <p:spPr>
          <a:xfrm>
            <a:off x="0" y="6500813"/>
            <a:ext cx="12192000" cy="357188"/>
          </a:xfrm>
          <a:prstGeom prst="rect">
            <a:avLst/>
          </a:prstGeom>
          <a:solidFill>
            <a:srgbClr val="1482AB"/>
          </a:solidFill>
          <a:ln cap="flat" cmpd="sng" w="12700">
            <a:solidFill>
              <a:srgbClr val="147EA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3"/>
          <p:cNvSpPr txBox="1"/>
          <p:nvPr>
            <p:ph type="title"/>
          </p:nvPr>
        </p:nvSpPr>
        <p:spPr>
          <a:xfrm>
            <a:off x="0" y="3"/>
            <a:ext cx="12192000" cy="1228725"/>
          </a:xfrm>
          <a:prstGeom prst="rect">
            <a:avLst/>
          </a:prstGeom>
          <a:solidFill>
            <a:srgbClr val="0D5672"/>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Rockwell"/>
              <a:buNone/>
            </a:pPr>
            <a:r>
              <a:rPr b="1" lang="en-US" sz="4800">
                <a:solidFill>
                  <a:schemeClr val="lt1"/>
                </a:solidFill>
                <a:latin typeface="Rockwell"/>
                <a:ea typeface="Rockwell"/>
                <a:cs typeface="Rockwell"/>
                <a:sym typeface="Rockwell"/>
              </a:rPr>
              <a:t>Retuning Objects</a:t>
            </a:r>
            <a:endParaRPr b="1" sz="4800">
              <a:solidFill>
                <a:schemeClr val="lt1"/>
              </a:solidFill>
              <a:latin typeface="Rockwell"/>
              <a:ea typeface="Rockwell"/>
              <a:cs typeface="Rockwell"/>
              <a:sym typeface="Rockwell"/>
            </a:endParaRPr>
          </a:p>
        </p:txBody>
      </p:sp>
      <p:sp>
        <p:nvSpPr>
          <p:cNvPr id="233" name="Google Shape;233;p23"/>
          <p:cNvSpPr/>
          <p:nvPr/>
        </p:nvSpPr>
        <p:spPr>
          <a:xfrm>
            <a:off x="0" y="6500813"/>
            <a:ext cx="12192000" cy="357188"/>
          </a:xfrm>
          <a:prstGeom prst="rect">
            <a:avLst/>
          </a:prstGeom>
          <a:solidFill>
            <a:srgbClr val="0D5672"/>
          </a:solidFill>
          <a:ln cap="flat" cmpd="sng" w="12700">
            <a:solidFill>
              <a:srgbClr val="147EA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23"/>
          <p:cNvSpPr txBox="1"/>
          <p:nvPr/>
        </p:nvSpPr>
        <p:spPr>
          <a:xfrm>
            <a:off x="995350" y="1862517"/>
            <a:ext cx="10653296" cy="635985"/>
          </a:xfrm>
          <a:prstGeom prst="rect">
            <a:avLst/>
          </a:prstGeom>
          <a:solidFill>
            <a:srgbClr val="D3EBD9"/>
          </a:solidFill>
          <a:ln>
            <a:noFill/>
          </a:ln>
        </p:spPr>
        <p:txBody>
          <a:bodyPr anchorCtr="0" anchor="t" bIns="45700" lIns="91425" spcFirstLastPara="1" rIns="91425" wrap="square" tIns="45700">
            <a:noAutofit/>
          </a:bodyPr>
          <a:lstStyle/>
          <a:p>
            <a:pPr indent="0" lvl="0" marL="0" marR="0" rtl="0" algn="l">
              <a:lnSpc>
                <a:spcPct val="114000"/>
              </a:lnSpc>
              <a:spcBef>
                <a:spcPts val="0"/>
              </a:spcBef>
              <a:spcAft>
                <a:spcPts val="0"/>
              </a:spcAft>
              <a:buClr>
                <a:srgbClr val="000000"/>
              </a:buClr>
              <a:buSzPts val="2800"/>
              <a:buFont typeface="Arial"/>
              <a:buNone/>
            </a:pPr>
            <a:r>
              <a:rPr lang="en-US" sz="2800">
                <a:solidFill>
                  <a:srgbClr val="000000"/>
                </a:solidFill>
                <a:latin typeface="Calibri"/>
                <a:ea typeface="Calibri"/>
                <a:cs typeface="Calibri"/>
                <a:sym typeface="Calibri"/>
              </a:rPr>
              <a:t>Functions can return objects.</a:t>
            </a:r>
            <a:endParaRPr sz="2800">
              <a:solidFill>
                <a:srgbClr val="000000"/>
              </a:solidFill>
              <a:latin typeface="Calibri"/>
              <a:ea typeface="Calibri"/>
              <a:cs typeface="Calibri"/>
              <a:sym typeface="Calibri"/>
            </a:endParaRPr>
          </a:p>
        </p:txBody>
      </p:sp>
      <p:sp>
        <p:nvSpPr>
          <p:cNvPr id="235" name="Google Shape;235;p23"/>
          <p:cNvSpPr txBox="1"/>
          <p:nvPr/>
        </p:nvSpPr>
        <p:spPr>
          <a:xfrm>
            <a:off x="1031081" y="3239407"/>
            <a:ext cx="10617565" cy="1011302"/>
          </a:xfrm>
          <a:prstGeom prst="rect">
            <a:avLst/>
          </a:prstGeom>
          <a:solidFill>
            <a:srgbClr val="A7D8B6"/>
          </a:solidFill>
          <a:ln cap="flat" cmpd="sng" w="9525">
            <a:solidFill>
              <a:srgbClr val="1482AB"/>
            </a:solidFill>
            <a:prstDash val="solid"/>
            <a:round/>
            <a:headEnd len="sm" w="sm" type="none"/>
            <a:tailEnd len="sm" w="sm" type="none"/>
          </a:ln>
        </p:spPr>
        <p:txBody>
          <a:bodyPr anchorCtr="0" anchor="t" bIns="45700" lIns="91425" spcFirstLastPara="1" rIns="91425" wrap="square" tIns="45700">
            <a:spAutoFit/>
          </a:bodyPr>
          <a:lstStyle/>
          <a:p>
            <a:pPr indent="-342900" lvl="0" marL="342900" marR="0" rtl="0" algn="l">
              <a:lnSpc>
                <a:spcPct val="114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Declare the function as </a:t>
            </a:r>
            <a:r>
              <a:rPr b="1" lang="en-US" sz="2400">
                <a:solidFill>
                  <a:srgbClr val="FF0000"/>
                </a:solidFill>
                <a:latin typeface="Calibri"/>
                <a:ea typeface="Calibri"/>
                <a:cs typeface="Calibri"/>
                <a:sym typeface="Calibri"/>
              </a:rPr>
              <a:t>returning a class type</a:t>
            </a:r>
            <a:r>
              <a:rPr lang="en-US" sz="2400">
                <a:solidFill>
                  <a:schemeClr val="dk1"/>
                </a:solidFill>
                <a:latin typeface="Calibri"/>
                <a:ea typeface="Calibri"/>
                <a:cs typeface="Calibri"/>
                <a:sym typeface="Calibri"/>
              </a:rPr>
              <a:t>.</a:t>
            </a:r>
            <a:endParaRPr/>
          </a:p>
          <a:p>
            <a:pPr indent="-342900" lvl="0" marL="342900" marR="0" rtl="0" algn="l">
              <a:lnSpc>
                <a:spcPct val="114000"/>
              </a:lnSpc>
              <a:spcBef>
                <a:spcPts val="60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Return an object of that type using the normal </a:t>
            </a:r>
            <a:r>
              <a:rPr b="1" lang="en-US" sz="2400">
                <a:solidFill>
                  <a:srgbClr val="FF0000"/>
                </a:solidFill>
                <a:latin typeface="Calibri"/>
                <a:ea typeface="Calibri"/>
                <a:cs typeface="Calibri"/>
                <a:sym typeface="Calibri"/>
              </a:rPr>
              <a:t>return</a:t>
            </a:r>
            <a:r>
              <a:rPr lang="en-US" sz="2400">
                <a:solidFill>
                  <a:schemeClr val="dk1"/>
                </a:solidFill>
                <a:latin typeface="Calibri"/>
                <a:ea typeface="Calibri"/>
                <a:cs typeface="Calibri"/>
                <a:sym typeface="Calibri"/>
              </a:rPr>
              <a:t> statement.</a:t>
            </a:r>
            <a:endParaRPr sz="24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gtEl>
                                        <p:attrNameLst>
                                          <p:attrName>style.visibility</p:attrName>
                                        </p:attrNameLst>
                                      </p:cBhvr>
                                      <p:to>
                                        <p:strVal val="visible"/>
                                      </p:to>
                                    </p:set>
                                    <p:animEffect filter="fade" transition="in">
                                      <p:cBhvr>
                                        <p:cTn dur="1000"/>
                                        <p:tgtEl>
                                          <p:spTgt spid="2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1000"/>
                                        <p:tgtEl>
                                          <p:spTgt spid="2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4"/>
          <p:cNvSpPr txBox="1"/>
          <p:nvPr>
            <p:ph type="title"/>
          </p:nvPr>
        </p:nvSpPr>
        <p:spPr>
          <a:xfrm>
            <a:off x="0" y="3"/>
            <a:ext cx="12192000" cy="1228725"/>
          </a:xfrm>
          <a:prstGeom prst="rect">
            <a:avLst/>
          </a:prstGeom>
          <a:solidFill>
            <a:srgbClr val="0D5672"/>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Rockwell"/>
              <a:buNone/>
            </a:pPr>
            <a:r>
              <a:rPr b="1" lang="en-US" sz="4800">
                <a:solidFill>
                  <a:schemeClr val="lt1"/>
                </a:solidFill>
                <a:latin typeface="Rockwell"/>
                <a:ea typeface="Rockwell"/>
                <a:cs typeface="Rockwell"/>
                <a:sym typeface="Rockwell"/>
              </a:rPr>
              <a:t>Retuning Objects</a:t>
            </a:r>
            <a:endParaRPr b="1" sz="4800">
              <a:solidFill>
                <a:schemeClr val="lt1"/>
              </a:solidFill>
              <a:latin typeface="Rockwell"/>
              <a:ea typeface="Rockwell"/>
              <a:cs typeface="Rockwell"/>
              <a:sym typeface="Rockwell"/>
            </a:endParaRPr>
          </a:p>
        </p:txBody>
      </p:sp>
      <p:sp>
        <p:nvSpPr>
          <p:cNvPr id="241" name="Google Shape;241;p24"/>
          <p:cNvSpPr/>
          <p:nvPr/>
        </p:nvSpPr>
        <p:spPr>
          <a:xfrm>
            <a:off x="0" y="6500813"/>
            <a:ext cx="12192000" cy="357188"/>
          </a:xfrm>
          <a:prstGeom prst="rect">
            <a:avLst/>
          </a:prstGeom>
          <a:solidFill>
            <a:srgbClr val="0D5672"/>
          </a:solidFill>
          <a:ln cap="flat" cmpd="sng" w="12700">
            <a:solidFill>
              <a:srgbClr val="147EA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sp>
        <p:nvSpPr>
          <p:cNvPr id="242" name="Google Shape;242;p24"/>
          <p:cNvSpPr txBox="1"/>
          <p:nvPr/>
        </p:nvSpPr>
        <p:spPr>
          <a:xfrm>
            <a:off x="1031081" y="2371293"/>
            <a:ext cx="10129837" cy="2172454"/>
          </a:xfrm>
          <a:prstGeom prst="rect">
            <a:avLst/>
          </a:prstGeom>
          <a:solidFill>
            <a:srgbClr val="D0EEF9"/>
          </a:solidFill>
          <a:ln cap="flat" cmpd="sng" w="9525">
            <a:solidFill>
              <a:srgbClr val="1482AB"/>
            </a:solidFill>
            <a:prstDash val="solid"/>
            <a:round/>
            <a:headEnd len="sm" w="sm" type="none"/>
            <a:tailEnd len="sm" w="sm" type="none"/>
          </a:ln>
        </p:spPr>
        <p:txBody>
          <a:bodyPr anchorCtr="0" anchor="t" bIns="45700" lIns="91425" spcFirstLastPara="1" rIns="91425" wrap="square" tIns="45700">
            <a:spAutoFit/>
          </a:bodyPr>
          <a:lstStyle/>
          <a:p>
            <a:pPr indent="-342900" lvl="0" marL="342900" marR="0" rtl="0" algn="just">
              <a:lnSpc>
                <a:spcPct val="114000"/>
              </a:lnSpc>
              <a:spcBef>
                <a:spcPts val="0"/>
              </a:spcBef>
              <a:spcAft>
                <a:spcPts val="0"/>
              </a:spcAft>
              <a:buClr>
                <a:srgbClr val="000000"/>
              </a:buClr>
              <a:buSzPts val="2800"/>
              <a:buFont typeface="Arial"/>
              <a:buChar char="•"/>
            </a:pPr>
            <a:r>
              <a:rPr lang="en-US" sz="2800">
                <a:solidFill>
                  <a:srgbClr val="000000"/>
                </a:solidFill>
                <a:latin typeface="Calibri"/>
                <a:ea typeface="Calibri"/>
                <a:cs typeface="Calibri"/>
                <a:sym typeface="Calibri"/>
              </a:rPr>
              <a:t>When an object is returned by a function, a temporary object is automatically created which holds the return value.</a:t>
            </a:r>
            <a:endParaRPr/>
          </a:p>
          <a:p>
            <a:pPr indent="-342900" lvl="0" marL="342900" marR="0" rtl="0" algn="just">
              <a:lnSpc>
                <a:spcPct val="114000"/>
              </a:lnSpc>
              <a:spcBef>
                <a:spcPts val="600"/>
              </a:spcBef>
              <a:spcAft>
                <a:spcPts val="0"/>
              </a:spcAft>
              <a:buClr>
                <a:srgbClr val="000000"/>
              </a:buClr>
              <a:buSzPts val="2800"/>
              <a:buFont typeface="Arial"/>
              <a:buChar char="•"/>
            </a:pPr>
            <a:r>
              <a:rPr lang="en-US" sz="2800">
                <a:solidFill>
                  <a:srgbClr val="000000"/>
                </a:solidFill>
                <a:latin typeface="Calibri"/>
                <a:ea typeface="Calibri"/>
                <a:cs typeface="Calibri"/>
                <a:sym typeface="Calibri"/>
              </a:rPr>
              <a:t>It is this object that is actually returned by the function.</a:t>
            </a:r>
            <a:endParaRPr/>
          </a:p>
          <a:p>
            <a:pPr indent="-342900" lvl="0" marL="342900" marR="0" rtl="0" algn="just">
              <a:lnSpc>
                <a:spcPct val="114000"/>
              </a:lnSpc>
              <a:spcBef>
                <a:spcPts val="600"/>
              </a:spcBef>
              <a:spcAft>
                <a:spcPts val="0"/>
              </a:spcAft>
              <a:buClr>
                <a:srgbClr val="000000"/>
              </a:buClr>
              <a:buSzPts val="2800"/>
              <a:buFont typeface="Arial"/>
              <a:buChar char="•"/>
            </a:pPr>
            <a:r>
              <a:rPr lang="en-US" sz="2800">
                <a:solidFill>
                  <a:srgbClr val="000000"/>
                </a:solidFill>
                <a:latin typeface="Calibri"/>
                <a:ea typeface="Calibri"/>
                <a:cs typeface="Calibri"/>
                <a:sym typeface="Calibri"/>
              </a:rPr>
              <a:t>After the value has been returned the object is destroyed.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xEl>
                                              <p:pRg end="0" st="0"/>
                                            </p:txEl>
                                          </p:spTgt>
                                        </p:tgtEl>
                                        <p:attrNameLst>
                                          <p:attrName>style.visibility</p:attrName>
                                        </p:attrNameLst>
                                      </p:cBhvr>
                                      <p:to>
                                        <p:strVal val="visible"/>
                                      </p:to>
                                    </p:set>
                                    <p:animEffect filter="fade" transition="in">
                                      <p:cBhvr>
                                        <p:cTn dur="1000"/>
                                        <p:tgtEl>
                                          <p:spTgt spid="24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xEl>
                                              <p:pRg end="1" st="1"/>
                                            </p:txEl>
                                          </p:spTgt>
                                        </p:tgtEl>
                                        <p:attrNameLst>
                                          <p:attrName>style.visibility</p:attrName>
                                        </p:attrNameLst>
                                      </p:cBhvr>
                                      <p:to>
                                        <p:strVal val="visible"/>
                                      </p:to>
                                    </p:set>
                                    <p:animEffect filter="fade" transition="in">
                                      <p:cBhvr>
                                        <p:cTn dur="1000"/>
                                        <p:tgtEl>
                                          <p:spTgt spid="24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xEl>
                                              <p:pRg end="2" st="2"/>
                                            </p:txEl>
                                          </p:spTgt>
                                        </p:tgtEl>
                                        <p:attrNameLst>
                                          <p:attrName>style.visibility</p:attrName>
                                        </p:attrNameLst>
                                      </p:cBhvr>
                                      <p:to>
                                        <p:strVal val="visible"/>
                                      </p:to>
                                    </p:set>
                                    <p:animEffect filter="fade" transition="in">
                                      <p:cBhvr>
                                        <p:cTn dur="1000"/>
                                        <p:tgtEl>
                                          <p:spTgt spid="242">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5"/>
          <p:cNvSpPr/>
          <p:nvPr/>
        </p:nvSpPr>
        <p:spPr>
          <a:xfrm>
            <a:off x="0" y="6500813"/>
            <a:ext cx="12192000" cy="357188"/>
          </a:xfrm>
          <a:prstGeom prst="rect">
            <a:avLst/>
          </a:prstGeom>
          <a:solidFill>
            <a:srgbClr val="0D5672"/>
          </a:solidFill>
          <a:ln cap="flat" cmpd="sng" w="12700">
            <a:solidFill>
              <a:srgbClr val="147EA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8" name="Google Shape;248;p25"/>
          <p:cNvSpPr/>
          <p:nvPr/>
        </p:nvSpPr>
        <p:spPr>
          <a:xfrm>
            <a:off x="2808848" y="171286"/>
            <a:ext cx="8839201" cy="65556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215D4B"/>
                </a:solidFill>
                <a:latin typeface="Calibri"/>
                <a:ea typeface="Calibri"/>
                <a:cs typeface="Calibri"/>
                <a:sym typeface="Calibri"/>
              </a:rPr>
              <a:t>class MyClass {</a:t>
            </a:r>
            <a:endParaRPr/>
          </a:p>
          <a:p>
            <a:pPr indent="0" lvl="0" marL="0" marR="0" rtl="0" algn="l">
              <a:spcBef>
                <a:spcPts val="0"/>
              </a:spcBef>
              <a:spcAft>
                <a:spcPts val="0"/>
              </a:spcAft>
              <a:buNone/>
            </a:pPr>
            <a:r>
              <a:rPr lang="en-US" sz="2000">
                <a:solidFill>
                  <a:srgbClr val="215D4B"/>
                </a:solidFill>
                <a:latin typeface="Calibri"/>
                <a:ea typeface="Calibri"/>
                <a:cs typeface="Calibri"/>
                <a:sym typeface="Calibri"/>
              </a:rPr>
              <a:t>    int a;</a:t>
            </a:r>
            <a:endParaRPr sz="2000">
              <a:solidFill>
                <a:srgbClr val="215D4B"/>
              </a:solidFill>
              <a:latin typeface="Calibri"/>
              <a:ea typeface="Calibri"/>
              <a:cs typeface="Calibri"/>
              <a:sym typeface="Calibri"/>
            </a:endParaRPr>
          </a:p>
          <a:p>
            <a:pPr indent="0" lvl="0" marL="0" marR="0" rtl="0" algn="l">
              <a:spcBef>
                <a:spcPts val="0"/>
              </a:spcBef>
              <a:spcAft>
                <a:spcPts val="0"/>
              </a:spcAft>
              <a:buNone/>
            </a:pPr>
            <a:r>
              <a:rPr lang="en-US" sz="2000">
                <a:solidFill>
                  <a:srgbClr val="215D4B"/>
                </a:solidFill>
                <a:latin typeface="Calibri"/>
                <a:ea typeface="Calibri"/>
                <a:cs typeface="Calibri"/>
                <a:sym typeface="Calibri"/>
              </a:rPr>
              <a:t>public:</a:t>
            </a:r>
            <a:endParaRPr/>
          </a:p>
          <a:p>
            <a:pPr indent="0" lvl="0" marL="0" marR="0" rtl="0" algn="l">
              <a:spcBef>
                <a:spcPts val="0"/>
              </a:spcBef>
              <a:spcAft>
                <a:spcPts val="0"/>
              </a:spcAft>
              <a:buNone/>
            </a:pPr>
            <a:r>
              <a:rPr lang="en-US" sz="2000">
                <a:solidFill>
                  <a:srgbClr val="215D4B"/>
                </a:solidFill>
                <a:latin typeface="Calibri"/>
                <a:ea typeface="Calibri"/>
                <a:cs typeface="Calibri"/>
                <a:sym typeface="Calibri"/>
              </a:rPr>
              <a:t>    void set_a(int n) { a = n; }            // Member function</a:t>
            </a:r>
            <a:endParaRPr/>
          </a:p>
          <a:p>
            <a:pPr indent="0" lvl="0" marL="0" marR="0" rtl="0" algn="l">
              <a:spcBef>
                <a:spcPts val="0"/>
              </a:spcBef>
              <a:spcAft>
                <a:spcPts val="0"/>
              </a:spcAft>
              <a:buNone/>
            </a:pPr>
            <a:r>
              <a:rPr lang="en-US" sz="2000">
                <a:solidFill>
                  <a:srgbClr val="215D4B"/>
                </a:solidFill>
                <a:latin typeface="Calibri"/>
                <a:ea typeface="Calibri"/>
                <a:cs typeface="Calibri"/>
                <a:sym typeface="Calibri"/>
              </a:rPr>
              <a:t>    void show_a() { cout &lt;&lt; "a = " &lt;&lt; a &lt;&lt; endl; }          // Member function</a:t>
            </a:r>
            <a:endParaRPr/>
          </a:p>
          <a:p>
            <a:pPr indent="0" lvl="0" marL="0" marR="0" rtl="0" algn="l">
              <a:spcBef>
                <a:spcPts val="0"/>
              </a:spcBef>
              <a:spcAft>
                <a:spcPts val="0"/>
              </a:spcAft>
              <a:buNone/>
            </a:pPr>
            <a:r>
              <a:rPr lang="en-US" sz="2000">
                <a:solidFill>
                  <a:srgbClr val="215D4B"/>
                </a:solidFill>
                <a:latin typeface="Calibri"/>
                <a:ea typeface="Calibri"/>
                <a:cs typeface="Calibri"/>
                <a:sym typeface="Calibri"/>
              </a:rPr>
              <a:t>};</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a:solidFill>
                  <a:srgbClr val="FF0000"/>
                </a:solidFill>
                <a:latin typeface="Calibri"/>
                <a:ea typeface="Calibri"/>
                <a:cs typeface="Calibri"/>
                <a:sym typeface="Calibri"/>
              </a:rPr>
              <a:t>MyClass createObject() {                    </a:t>
            </a:r>
            <a:r>
              <a:rPr lang="en-US" sz="2000">
                <a:solidFill>
                  <a:schemeClr val="dk1"/>
                </a:solidFill>
                <a:latin typeface="Calibri"/>
                <a:ea typeface="Calibri"/>
                <a:cs typeface="Calibri"/>
                <a:sym typeface="Calibri"/>
              </a:rPr>
              <a:t>// MyClass is the return type here</a:t>
            </a:r>
            <a:endParaRPr/>
          </a:p>
          <a:p>
            <a:pPr indent="0" lvl="0" marL="0" marR="0" rtl="0" algn="l">
              <a:spcBef>
                <a:spcPts val="0"/>
              </a:spcBef>
              <a:spcAft>
                <a:spcPts val="0"/>
              </a:spcAft>
              <a:buNone/>
            </a:pPr>
            <a:r>
              <a:rPr lang="en-US" sz="2000">
                <a:solidFill>
                  <a:srgbClr val="FF0000"/>
                </a:solidFill>
                <a:latin typeface="Calibri"/>
                <a:ea typeface="Calibri"/>
                <a:cs typeface="Calibri"/>
                <a:sym typeface="Calibri"/>
              </a:rPr>
              <a:t>    MyClass obj;                                    </a:t>
            </a:r>
            <a:r>
              <a:rPr lang="en-US" sz="2000">
                <a:solidFill>
                  <a:schemeClr val="dk1"/>
                </a:solidFill>
                <a:latin typeface="Calibri"/>
                <a:ea typeface="Calibri"/>
                <a:cs typeface="Calibri"/>
                <a:sym typeface="Calibri"/>
              </a:rPr>
              <a:t>// Create an object of MyClass</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a:solidFill>
                  <a:srgbClr val="FF0000"/>
                </a:solidFill>
                <a:latin typeface="Calibri"/>
                <a:ea typeface="Calibri"/>
                <a:cs typeface="Calibri"/>
                <a:sym typeface="Calibri"/>
              </a:rPr>
              <a:t>    obj.set_a(42);                                 </a:t>
            </a:r>
            <a:r>
              <a:rPr lang="en-US" sz="2000">
                <a:solidFill>
                  <a:schemeClr val="dk1"/>
                </a:solidFill>
                <a:latin typeface="Calibri"/>
                <a:ea typeface="Calibri"/>
                <a:cs typeface="Calibri"/>
                <a:sym typeface="Calibri"/>
              </a:rPr>
              <a:t>// Set its member variable 'a'</a:t>
            </a:r>
            <a:endParaRPr/>
          </a:p>
          <a:p>
            <a:pPr indent="0" lvl="0" marL="0" marR="0" rtl="0" algn="l">
              <a:spcBef>
                <a:spcPts val="0"/>
              </a:spcBef>
              <a:spcAft>
                <a:spcPts val="0"/>
              </a:spcAft>
              <a:buNone/>
            </a:pPr>
            <a:r>
              <a:rPr lang="en-US" sz="2000">
                <a:solidFill>
                  <a:srgbClr val="FF0000"/>
                </a:solidFill>
                <a:latin typeface="Calibri"/>
                <a:ea typeface="Calibri"/>
                <a:cs typeface="Calibri"/>
                <a:sym typeface="Calibri"/>
              </a:rPr>
              <a:t>    return obj;                                      </a:t>
            </a:r>
            <a:r>
              <a:rPr lang="en-US" sz="2000">
                <a:solidFill>
                  <a:schemeClr val="dk1"/>
                </a:solidFill>
                <a:latin typeface="Calibri"/>
                <a:ea typeface="Calibri"/>
                <a:cs typeface="Calibri"/>
                <a:sym typeface="Calibri"/>
              </a:rPr>
              <a:t>// Return the object</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int main()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MyClass m = createObject();                   // Call the regular function</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m.show_a();                                             // Use the object returned by the function</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return 0;</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a:t>
            </a:r>
            <a:r>
              <a:rPr b="1" lang="en-US" sz="2000">
                <a:solidFill>
                  <a:srgbClr val="7030A0"/>
                </a:solidFill>
                <a:latin typeface="Calibri"/>
                <a:ea typeface="Calibri"/>
                <a:cs typeface="Calibri"/>
                <a:sym typeface="Calibri"/>
              </a:rPr>
              <a:t>Output: a=42</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49" name="Google Shape;249;p25"/>
          <p:cNvSpPr txBox="1"/>
          <p:nvPr>
            <p:ph type="title"/>
          </p:nvPr>
        </p:nvSpPr>
        <p:spPr>
          <a:xfrm>
            <a:off x="84406" y="2617049"/>
            <a:ext cx="2495843"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Example</a:t>
            </a:r>
            <a:endParaRPr b="1"/>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6"/>
          <p:cNvSpPr txBox="1"/>
          <p:nvPr>
            <p:ph type="title"/>
          </p:nvPr>
        </p:nvSpPr>
        <p:spPr>
          <a:xfrm>
            <a:off x="0" y="3"/>
            <a:ext cx="12192000" cy="1228725"/>
          </a:xfrm>
          <a:prstGeom prst="rect">
            <a:avLst/>
          </a:prstGeom>
          <a:solidFill>
            <a:srgbClr val="0D5672"/>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Rockwell"/>
              <a:buNone/>
            </a:pPr>
            <a:r>
              <a:rPr b="1" lang="en-US" sz="4800">
                <a:solidFill>
                  <a:schemeClr val="lt1"/>
                </a:solidFill>
                <a:latin typeface="Rockwell"/>
                <a:ea typeface="Rockwell"/>
                <a:cs typeface="Rockwell"/>
                <a:sym typeface="Rockwell"/>
              </a:rPr>
              <a:t>Friend Class</a:t>
            </a:r>
            <a:endParaRPr b="1" sz="4800">
              <a:solidFill>
                <a:schemeClr val="lt1"/>
              </a:solidFill>
              <a:latin typeface="Rockwell"/>
              <a:ea typeface="Rockwell"/>
              <a:cs typeface="Rockwell"/>
              <a:sym typeface="Rockwell"/>
            </a:endParaRPr>
          </a:p>
        </p:txBody>
      </p:sp>
      <p:sp>
        <p:nvSpPr>
          <p:cNvPr id="256" name="Google Shape;256;p26"/>
          <p:cNvSpPr/>
          <p:nvPr/>
        </p:nvSpPr>
        <p:spPr>
          <a:xfrm>
            <a:off x="0" y="6500813"/>
            <a:ext cx="12192000" cy="357188"/>
          </a:xfrm>
          <a:prstGeom prst="rect">
            <a:avLst/>
          </a:prstGeom>
          <a:solidFill>
            <a:srgbClr val="0D5672"/>
          </a:solidFill>
          <a:ln cap="flat" cmpd="sng" w="12700">
            <a:solidFill>
              <a:srgbClr val="147EA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7" name="Google Shape;257;p26"/>
          <p:cNvSpPr txBox="1"/>
          <p:nvPr/>
        </p:nvSpPr>
        <p:spPr>
          <a:xfrm>
            <a:off x="903788" y="1650613"/>
            <a:ext cx="10384423" cy="4428314"/>
          </a:xfrm>
          <a:prstGeom prst="rect">
            <a:avLst/>
          </a:prstGeom>
          <a:solidFill>
            <a:schemeClr val="lt1"/>
          </a:solidFill>
          <a:ln>
            <a:noFill/>
          </a:ln>
        </p:spPr>
        <p:txBody>
          <a:bodyPr anchorCtr="0" anchor="t" bIns="45700" lIns="91425" spcFirstLastPara="1" rIns="91425" wrap="square" tIns="45700">
            <a:noAutofit/>
          </a:bodyPr>
          <a:lstStyle/>
          <a:p>
            <a:pPr indent="-228600" lvl="0" marL="228600" marR="0" rtl="0" algn="just">
              <a:lnSpc>
                <a:spcPct val="90000"/>
              </a:lnSpc>
              <a:spcBef>
                <a:spcPts val="0"/>
              </a:spcBef>
              <a:spcAft>
                <a:spcPts val="0"/>
              </a:spcAft>
              <a:buClr>
                <a:schemeClr val="dk1"/>
              </a:buClr>
              <a:buSzPts val="2800"/>
              <a:buFont typeface="Arial"/>
              <a:buChar char="•"/>
            </a:pPr>
            <a:r>
              <a:rPr lang="en-US" sz="2800">
                <a:solidFill>
                  <a:schemeClr val="dk1"/>
                </a:solidFill>
                <a:latin typeface="Palatino Linotype"/>
                <a:ea typeface="Palatino Linotype"/>
                <a:cs typeface="Palatino Linotype"/>
                <a:sym typeface="Palatino Linotype"/>
              </a:rPr>
              <a:t>A friend class in C++ can access private and protected members of another class.</a:t>
            </a:r>
            <a:endParaRPr/>
          </a:p>
          <a:p>
            <a:pPr indent="-228600" lvl="0" marL="228600" marR="0" rtl="0" algn="just">
              <a:lnSpc>
                <a:spcPct val="90000"/>
              </a:lnSpc>
              <a:spcBef>
                <a:spcPts val="1000"/>
              </a:spcBef>
              <a:spcAft>
                <a:spcPts val="0"/>
              </a:spcAft>
              <a:buClr>
                <a:schemeClr val="dk1"/>
              </a:buClr>
              <a:buSzPts val="2800"/>
              <a:buFont typeface="Arial"/>
              <a:buChar char="•"/>
            </a:pPr>
            <a:r>
              <a:rPr lang="en-US" sz="2800">
                <a:solidFill>
                  <a:schemeClr val="dk1"/>
                </a:solidFill>
                <a:latin typeface="Palatino Linotype"/>
                <a:ea typeface="Palatino Linotype"/>
                <a:cs typeface="Palatino Linotype"/>
                <a:sym typeface="Palatino Linotype"/>
              </a:rPr>
              <a:t>It is declared using the friend keyword.</a:t>
            </a:r>
            <a:endParaRPr/>
          </a:p>
          <a:p>
            <a:pPr indent="-228600" lvl="0" marL="228600" marR="0" rtl="0" algn="just">
              <a:lnSpc>
                <a:spcPct val="90000"/>
              </a:lnSpc>
              <a:spcBef>
                <a:spcPts val="1000"/>
              </a:spcBef>
              <a:spcAft>
                <a:spcPts val="0"/>
              </a:spcAft>
              <a:buClr>
                <a:schemeClr val="dk1"/>
              </a:buClr>
              <a:buSzPts val="2800"/>
              <a:buFont typeface="Arial"/>
              <a:buChar char="•"/>
            </a:pPr>
            <a:r>
              <a:rPr lang="en-US" sz="2800">
                <a:solidFill>
                  <a:schemeClr val="dk1"/>
                </a:solidFill>
                <a:latin typeface="Palatino Linotype"/>
                <a:ea typeface="Palatino Linotype"/>
                <a:cs typeface="Palatino Linotype"/>
                <a:sym typeface="Palatino Linotype"/>
              </a:rPr>
              <a:t> Friendship is not mutual; it must be explicitly granted.</a:t>
            </a:r>
            <a:endParaRPr/>
          </a:p>
          <a:p>
            <a:pPr indent="-228600" lvl="0" marL="228600" marR="0" rtl="0" algn="just">
              <a:lnSpc>
                <a:spcPct val="90000"/>
              </a:lnSpc>
              <a:spcBef>
                <a:spcPts val="1000"/>
              </a:spcBef>
              <a:spcAft>
                <a:spcPts val="0"/>
              </a:spcAft>
              <a:buClr>
                <a:schemeClr val="dk1"/>
              </a:buClr>
              <a:buSzPts val="2800"/>
              <a:buFont typeface="Arial"/>
              <a:buChar char="•"/>
            </a:pPr>
            <a:r>
              <a:rPr lang="en-US" sz="2800">
                <a:solidFill>
                  <a:schemeClr val="dk1"/>
                </a:solidFill>
                <a:latin typeface="Palatino Linotype"/>
                <a:ea typeface="Palatino Linotype"/>
                <a:cs typeface="Palatino Linotype"/>
                <a:sym typeface="Palatino Linotype"/>
              </a:rPr>
              <a:t> A friend class declaration typically appears within the class definition but can also be declared separately.</a:t>
            </a:r>
            <a:endParaRPr/>
          </a:p>
          <a:p>
            <a:pPr indent="-228600" lvl="0" marL="228600" marR="0" rtl="0" algn="just">
              <a:lnSpc>
                <a:spcPct val="90000"/>
              </a:lnSpc>
              <a:spcBef>
                <a:spcPts val="1000"/>
              </a:spcBef>
              <a:spcAft>
                <a:spcPts val="0"/>
              </a:spcAft>
              <a:buClr>
                <a:schemeClr val="dk1"/>
              </a:buClr>
              <a:buSzPts val="2800"/>
              <a:buFont typeface="Arial"/>
              <a:buChar char="•"/>
            </a:pPr>
            <a:r>
              <a:rPr lang="en-US" sz="2800">
                <a:solidFill>
                  <a:schemeClr val="dk1"/>
                </a:solidFill>
                <a:latin typeface="Palatino Linotype"/>
                <a:ea typeface="Palatino Linotype"/>
                <a:cs typeface="Palatino Linotype"/>
                <a:sym typeface="Palatino Linotype"/>
              </a:rPr>
              <a:t> Useful when two classes need to access each other's private members without using member functions. For example, implementing operator overloading for arithmetic operations.</a:t>
            </a:r>
            <a:endParaRPr/>
          </a:p>
          <a:p>
            <a:pPr indent="0" lvl="0" marL="0" marR="0" rtl="0" algn="just">
              <a:lnSpc>
                <a:spcPct val="90000"/>
              </a:lnSpc>
              <a:spcBef>
                <a:spcPts val="1000"/>
              </a:spcBef>
              <a:spcAft>
                <a:spcPts val="0"/>
              </a:spcAft>
              <a:buClr>
                <a:schemeClr val="dk1"/>
              </a:buClr>
              <a:buSzPts val="2800"/>
              <a:buFont typeface="Arial"/>
              <a:buNone/>
            </a:pPr>
            <a:r>
              <a:rPr lang="en-US" sz="2800">
                <a:solidFill>
                  <a:schemeClr val="dk1"/>
                </a:solidFill>
                <a:latin typeface="Palatino Linotype"/>
                <a:ea typeface="Palatino Linotype"/>
                <a:cs typeface="Palatino Linotype"/>
                <a:sym typeface="Palatino Linotype"/>
              </a:rPr>
              <a:t> </a:t>
            </a:r>
            <a:endParaRPr sz="2800">
              <a:solidFill>
                <a:schemeClr val="dk1"/>
              </a:solidFill>
              <a:latin typeface="Palatino Linotype"/>
              <a:ea typeface="Palatino Linotype"/>
              <a:cs typeface="Palatino Linotype"/>
              <a:sym typeface="Palatino Linotype"/>
            </a:endParaRPr>
          </a:p>
          <a:p>
            <a:pPr indent="0" lvl="0" marL="0" marR="0" rtl="0" algn="l">
              <a:lnSpc>
                <a:spcPct val="114000"/>
              </a:lnSpc>
              <a:spcBef>
                <a:spcPts val="0"/>
              </a:spcBef>
              <a:spcAft>
                <a:spcPts val="0"/>
              </a:spcAft>
              <a:buClr>
                <a:schemeClr val="dk1"/>
              </a:buClr>
              <a:buSzPts val="2800"/>
              <a:buFont typeface="Arial"/>
              <a:buNone/>
            </a:pPr>
            <a:r>
              <a:t/>
            </a:r>
            <a:endParaRPr sz="2800">
              <a:solidFill>
                <a:srgbClr val="000000"/>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7"/>
          <p:cNvSpPr/>
          <p:nvPr/>
        </p:nvSpPr>
        <p:spPr>
          <a:xfrm>
            <a:off x="0" y="6500813"/>
            <a:ext cx="12192000" cy="357188"/>
          </a:xfrm>
          <a:prstGeom prst="rect">
            <a:avLst/>
          </a:prstGeom>
          <a:solidFill>
            <a:srgbClr val="0D5672"/>
          </a:solidFill>
          <a:ln cap="flat" cmpd="sng" w="12700">
            <a:solidFill>
              <a:srgbClr val="147EA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3" name="Google Shape;263;p27"/>
          <p:cNvSpPr/>
          <p:nvPr/>
        </p:nvSpPr>
        <p:spPr>
          <a:xfrm>
            <a:off x="2780273" y="0"/>
            <a:ext cx="8839201" cy="747897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class A {</a:t>
            </a:r>
            <a:endParaRPr/>
          </a:p>
          <a:p>
            <a:pPr indent="0" lvl="0" marL="0" marR="0" rtl="0" algn="l">
              <a:spcBef>
                <a:spcPts val="0"/>
              </a:spcBef>
              <a:spcAft>
                <a:spcPts val="0"/>
              </a:spcAft>
              <a:buNone/>
            </a:pPr>
            <a:r>
              <a:rPr lang="en-US" sz="2800">
                <a:solidFill>
                  <a:schemeClr val="dk1"/>
                </a:solidFill>
                <a:latin typeface="Calibri"/>
                <a:ea typeface="Calibri"/>
                <a:cs typeface="Calibri"/>
                <a:sym typeface="Calibri"/>
              </a:rPr>
              <a:t>private:</a:t>
            </a:r>
            <a:endParaRPr/>
          </a:p>
          <a:p>
            <a:pPr indent="0" lvl="0" marL="0" marR="0" rtl="0" algn="l">
              <a:spcBef>
                <a:spcPts val="0"/>
              </a:spcBef>
              <a:spcAft>
                <a:spcPts val="0"/>
              </a:spcAft>
              <a:buNone/>
            </a:pPr>
            <a:r>
              <a:rPr lang="en-US" sz="2800">
                <a:solidFill>
                  <a:schemeClr val="dk1"/>
                </a:solidFill>
                <a:latin typeface="Calibri"/>
                <a:ea typeface="Calibri"/>
                <a:cs typeface="Calibri"/>
                <a:sym typeface="Calibri"/>
              </a:rPr>
              <a:t>    int x;</a:t>
            </a:r>
            <a:endParaRPr/>
          </a:p>
          <a:p>
            <a:pPr indent="0" lvl="0" marL="0" marR="0" rtl="0" algn="l">
              <a:spcBef>
                <a:spcPts val="0"/>
              </a:spcBef>
              <a:spcAft>
                <a:spcPts val="0"/>
              </a:spcAft>
              <a:buNone/>
            </a:pPr>
            <a:r>
              <a:rPr lang="en-US" sz="2800">
                <a:solidFill>
                  <a:schemeClr val="dk1"/>
                </a:solidFill>
                <a:latin typeface="Calibri"/>
                <a:ea typeface="Calibri"/>
                <a:cs typeface="Calibri"/>
                <a:sym typeface="Calibri"/>
              </a:rPr>
              <a:t>public:</a:t>
            </a:r>
            <a:endParaRPr/>
          </a:p>
          <a:p>
            <a:pPr indent="0" lvl="0" marL="0" marR="0" rtl="0" algn="l">
              <a:spcBef>
                <a:spcPts val="0"/>
              </a:spcBef>
              <a:spcAft>
                <a:spcPts val="0"/>
              </a:spcAft>
              <a:buNone/>
            </a:pPr>
            <a:r>
              <a:rPr lang="en-US" sz="2800">
                <a:solidFill>
                  <a:schemeClr val="dk1"/>
                </a:solidFill>
                <a:latin typeface="Calibri"/>
                <a:ea typeface="Calibri"/>
                <a:cs typeface="Calibri"/>
                <a:sym typeface="Calibri"/>
              </a:rPr>
              <a:t>    friend class B;                                      // B is a friend of class A</a:t>
            </a:r>
            <a:endParaRPr/>
          </a:p>
          <a:p>
            <a:pPr indent="0" lvl="0" marL="0" marR="0" rtl="0" algn="l">
              <a:spcBef>
                <a:spcPts val="0"/>
              </a:spcBef>
              <a:spcAft>
                <a:spcPts val="0"/>
              </a:spcAft>
              <a:buNone/>
            </a:pPr>
            <a:r>
              <a:rPr lang="en-US" sz="2800">
                <a:solidFill>
                  <a:schemeClr val="dk1"/>
                </a:solidFill>
                <a:latin typeface="Calibri"/>
                <a:ea typeface="Calibri"/>
                <a:cs typeface="Calibri"/>
                <a:sym typeface="Calibri"/>
              </a:rPr>
              <a:t>};</a:t>
            </a:r>
            <a:endParaRPr/>
          </a:p>
          <a:p>
            <a:pPr indent="0" lvl="0" marL="0" marR="0" rtl="0" algn="l">
              <a:spcBef>
                <a:spcPts val="0"/>
              </a:spcBef>
              <a:spcAft>
                <a:spcPts val="0"/>
              </a:spcAft>
              <a:buNone/>
            </a:pPr>
            <a:r>
              <a:rPr lang="en-US" sz="28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2800">
                <a:solidFill>
                  <a:schemeClr val="dk1"/>
                </a:solidFill>
                <a:latin typeface="Calibri"/>
                <a:ea typeface="Calibri"/>
                <a:cs typeface="Calibri"/>
                <a:sym typeface="Calibri"/>
              </a:rPr>
              <a:t>class B {</a:t>
            </a:r>
            <a:endParaRPr/>
          </a:p>
          <a:p>
            <a:pPr indent="0" lvl="0" marL="0" marR="0" rtl="0" algn="l">
              <a:spcBef>
                <a:spcPts val="0"/>
              </a:spcBef>
              <a:spcAft>
                <a:spcPts val="0"/>
              </a:spcAft>
              <a:buNone/>
            </a:pPr>
            <a:r>
              <a:rPr lang="en-US" sz="2800">
                <a:solidFill>
                  <a:schemeClr val="dk1"/>
                </a:solidFill>
                <a:latin typeface="Calibri"/>
                <a:ea typeface="Calibri"/>
                <a:cs typeface="Calibri"/>
                <a:sym typeface="Calibri"/>
              </a:rPr>
              <a:t>public:</a:t>
            </a:r>
            <a:endParaRPr/>
          </a:p>
          <a:p>
            <a:pPr indent="0" lvl="0" marL="0" marR="0" rtl="0" algn="l">
              <a:spcBef>
                <a:spcPts val="0"/>
              </a:spcBef>
              <a:spcAft>
                <a:spcPts val="0"/>
              </a:spcAft>
              <a:buNone/>
            </a:pPr>
            <a:r>
              <a:rPr lang="en-US" sz="2800">
                <a:solidFill>
                  <a:schemeClr val="dk1"/>
                </a:solidFill>
                <a:latin typeface="Calibri"/>
                <a:ea typeface="Calibri"/>
                <a:cs typeface="Calibri"/>
                <a:sym typeface="Calibri"/>
              </a:rPr>
              <a:t>    void display(A obj) {</a:t>
            </a:r>
            <a:endParaRPr/>
          </a:p>
          <a:p>
            <a:pPr indent="0" lvl="0" marL="0" marR="0" rtl="0" algn="l">
              <a:spcBef>
                <a:spcPts val="0"/>
              </a:spcBef>
              <a:spcAft>
                <a:spcPts val="0"/>
              </a:spcAft>
              <a:buNone/>
            </a:pPr>
            <a:r>
              <a:rPr lang="en-US" sz="2800">
                <a:solidFill>
                  <a:schemeClr val="dk1"/>
                </a:solidFill>
                <a:latin typeface="Calibri"/>
                <a:ea typeface="Calibri"/>
                <a:cs typeface="Calibri"/>
                <a:sym typeface="Calibri"/>
              </a:rPr>
              <a:t>   // Can access private member x of class A</a:t>
            </a:r>
            <a:endParaRPr/>
          </a:p>
          <a:p>
            <a:pPr indent="0" lvl="0" marL="0" marR="0" rtl="0" algn="l">
              <a:spcBef>
                <a:spcPts val="0"/>
              </a:spcBef>
              <a:spcAft>
                <a:spcPts val="0"/>
              </a:spcAft>
              <a:buNone/>
            </a:pPr>
            <a:r>
              <a:rPr lang="en-US" sz="2800">
                <a:solidFill>
                  <a:schemeClr val="dk1"/>
                </a:solidFill>
                <a:latin typeface="Calibri"/>
                <a:ea typeface="Calibri"/>
                <a:cs typeface="Calibri"/>
                <a:sym typeface="Calibri"/>
              </a:rPr>
              <a:t>        cout &lt;&lt; "Value of x: " &lt;&lt; obj.x &lt;&lt; endl;</a:t>
            </a:r>
            <a:endParaRPr/>
          </a:p>
          <a:p>
            <a:pPr indent="0" lvl="0" marL="0" marR="0" rtl="0" algn="l">
              <a:spcBef>
                <a:spcPts val="0"/>
              </a:spcBef>
              <a:spcAft>
                <a:spcPts val="0"/>
              </a:spcAft>
              <a:buNone/>
            </a:pPr>
            <a:r>
              <a:rPr lang="en-US" sz="28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28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b="1" sz="2000">
              <a:solidFill>
                <a:srgbClr val="7030A0"/>
              </a:solidFill>
              <a:latin typeface="Calibri"/>
              <a:ea typeface="Calibri"/>
              <a:cs typeface="Calibri"/>
              <a:sym typeface="Calibri"/>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64" name="Google Shape;264;p27"/>
          <p:cNvSpPr txBox="1"/>
          <p:nvPr>
            <p:ph type="title"/>
          </p:nvPr>
        </p:nvSpPr>
        <p:spPr>
          <a:xfrm>
            <a:off x="84406" y="2617049"/>
            <a:ext cx="2495843"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Example</a:t>
            </a:r>
            <a:endParaRPr b="1"/>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8"/>
          <p:cNvSpPr txBox="1"/>
          <p:nvPr>
            <p:ph type="ctrTitle"/>
          </p:nvPr>
        </p:nvSpPr>
        <p:spPr>
          <a:xfrm>
            <a:off x="1523471" y="3041651"/>
            <a:ext cx="9144000" cy="1806588"/>
          </a:xfrm>
          <a:prstGeom prst="rect">
            <a:avLst/>
          </a:prstGeom>
          <a:solidFill>
            <a:srgbClr val="0D5672"/>
          </a:solidFill>
          <a:ln cap="flat" cmpd="sng" w="9525">
            <a:solidFill>
              <a:schemeClr val="accent1"/>
            </a:solidFill>
            <a:prstDash val="solid"/>
            <a:round/>
            <a:headEnd len="sm" w="sm" type="none"/>
            <a:tailEnd len="sm" w="sm" type="none"/>
          </a:ln>
        </p:spPr>
        <p:txBody>
          <a:bodyPr anchorCtr="0" anchor="ctr" bIns="60950" lIns="121900" spcFirstLastPara="1" rIns="121900" wrap="square" tIns="45700">
            <a:noAutofit/>
          </a:bodyPr>
          <a:lstStyle/>
          <a:p>
            <a:pPr indent="0" lvl="0" marL="0" rtl="0" algn="ctr">
              <a:lnSpc>
                <a:spcPct val="90000"/>
              </a:lnSpc>
              <a:spcBef>
                <a:spcPts val="0"/>
              </a:spcBef>
              <a:spcAft>
                <a:spcPts val="0"/>
              </a:spcAft>
              <a:buClr>
                <a:schemeClr val="lt1"/>
              </a:buClr>
              <a:buSzPts val="5400"/>
              <a:buFont typeface="Rockwell"/>
              <a:buNone/>
            </a:pPr>
            <a:r>
              <a:rPr b="1" lang="en-US" sz="5400">
                <a:solidFill>
                  <a:schemeClr val="lt1"/>
                </a:solidFill>
                <a:latin typeface="Rockwell"/>
                <a:ea typeface="Rockwell"/>
                <a:cs typeface="Rockwell"/>
                <a:sym typeface="Rockwell"/>
              </a:rPr>
              <a:t>Friend Functions</a:t>
            </a:r>
            <a:endParaRPr b="1" sz="5400">
              <a:solidFill>
                <a:schemeClr val="lt1"/>
              </a:solidFill>
              <a:latin typeface="Rockwell"/>
              <a:ea typeface="Rockwell"/>
              <a:cs typeface="Rockwell"/>
              <a:sym typeface="Rockwell"/>
            </a:endParaRPr>
          </a:p>
        </p:txBody>
      </p:sp>
      <p:sp>
        <p:nvSpPr>
          <p:cNvPr id="270" name="Google Shape;270;p28"/>
          <p:cNvSpPr/>
          <p:nvPr/>
        </p:nvSpPr>
        <p:spPr>
          <a:xfrm>
            <a:off x="0" y="6500813"/>
            <a:ext cx="12192000" cy="357188"/>
          </a:xfrm>
          <a:prstGeom prst="rect">
            <a:avLst/>
          </a:prstGeom>
          <a:solidFill>
            <a:srgbClr val="1482AB"/>
          </a:solidFill>
          <a:ln cap="flat" cmpd="sng" w="12700">
            <a:solidFill>
              <a:srgbClr val="147EA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pic>
        <p:nvPicPr>
          <p:cNvPr id="271" name="Google Shape;271;p28"/>
          <p:cNvPicPr preferRelativeResize="0"/>
          <p:nvPr/>
        </p:nvPicPr>
        <p:blipFill rotWithShape="1">
          <a:blip r:embed="rId3">
            <a:alphaModFix/>
          </a:blip>
          <a:srcRect b="0" l="0" r="0" t="0"/>
          <a:stretch/>
        </p:blipFill>
        <p:spPr>
          <a:xfrm>
            <a:off x="-1057" y="0"/>
            <a:ext cx="12193057" cy="1922475"/>
          </a:xfrm>
          <a:prstGeom prst="rect">
            <a:avLst/>
          </a:prstGeom>
          <a:noFill/>
          <a:ln cap="flat" cmpd="sng" w="9525">
            <a:solidFill>
              <a:schemeClr val="accent1"/>
            </a:solidFill>
            <a:prstDash val="solid"/>
            <a:round/>
            <a:headEnd len="sm" w="sm" type="none"/>
            <a:tailEnd len="sm" w="sm" type="none"/>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9"/>
          <p:cNvSpPr txBox="1"/>
          <p:nvPr>
            <p:ph type="title"/>
          </p:nvPr>
        </p:nvSpPr>
        <p:spPr>
          <a:xfrm>
            <a:off x="0" y="3"/>
            <a:ext cx="12192000" cy="1228725"/>
          </a:xfrm>
          <a:prstGeom prst="rect">
            <a:avLst/>
          </a:prstGeom>
          <a:solidFill>
            <a:srgbClr val="0D5672"/>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Rockwell"/>
              <a:buNone/>
            </a:pPr>
            <a:r>
              <a:rPr b="1" lang="en-US" sz="4800">
                <a:solidFill>
                  <a:schemeClr val="lt1"/>
                </a:solidFill>
                <a:latin typeface="Rockwell"/>
                <a:ea typeface="Rockwell"/>
                <a:cs typeface="Rockwell"/>
                <a:sym typeface="Rockwell"/>
              </a:rPr>
              <a:t>Friend Function</a:t>
            </a:r>
            <a:endParaRPr b="1" sz="4800">
              <a:solidFill>
                <a:schemeClr val="lt1"/>
              </a:solidFill>
              <a:latin typeface="Rockwell"/>
              <a:ea typeface="Rockwell"/>
              <a:cs typeface="Rockwell"/>
              <a:sym typeface="Rockwell"/>
            </a:endParaRPr>
          </a:p>
        </p:txBody>
      </p:sp>
      <p:sp>
        <p:nvSpPr>
          <p:cNvPr id="278" name="Google Shape;278;p29"/>
          <p:cNvSpPr/>
          <p:nvPr/>
        </p:nvSpPr>
        <p:spPr>
          <a:xfrm>
            <a:off x="0" y="6500813"/>
            <a:ext cx="12192000" cy="357188"/>
          </a:xfrm>
          <a:prstGeom prst="rect">
            <a:avLst/>
          </a:prstGeom>
          <a:solidFill>
            <a:srgbClr val="0D5672"/>
          </a:solidFill>
          <a:ln cap="flat" cmpd="sng" w="12700">
            <a:solidFill>
              <a:srgbClr val="147EA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9" name="Google Shape;279;p29"/>
          <p:cNvSpPr txBox="1"/>
          <p:nvPr/>
        </p:nvSpPr>
        <p:spPr>
          <a:xfrm>
            <a:off x="639469" y="1529574"/>
            <a:ext cx="10913061" cy="4428314"/>
          </a:xfrm>
          <a:prstGeom prst="rect">
            <a:avLst/>
          </a:prstGeom>
          <a:solidFill>
            <a:schemeClr val="lt1"/>
          </a:solidFill>
          <a:ln>
            <a:noFill/>
          </a:ln>
        </p:spPr>
        <p:txBody>
          <a:bodyPr anchorCtr="0" anchor="t" bIns="45700" lIns="91425" spcFirstLastPara="1" rIns="91425" wrap="square" tIns="45700">
            <a:noAutofit/>
          </a:bodyPr>
          <a:lstStyle/>
          <a:p>
            <a:pPr indent="-228600" lvl="0" marL="228600" marR="0" rtl="0" algn="just">
              <a:lnSpc>
                <a:spcPct val="114000"/>
              </a:lnSpc>
              <a:spcBef>
                <a:spcPts val="0"/>
              </a:spcBef>
              <a:spcAft>
                <a:spcPts val="0"/>
              </a:spcAft>
              <a:buClr>
                <a:srgbClr val="000000"/>
              </a:buClr>
              <a:buSzPts val="2800"/>
              <a:buFont typeface="Noto Sans Symbols"/>
              <a:buChar char="❑"/>
            </a:pPr>
            <a:r>
              <a:rPr lang="en-US" sz="2800">
                <a:solidFill>
                  <a:srgbClr val="000000"/>
                </a:solidFill>
                <a:latin typeface="Palatino Linotype"/>
                <a:ea typeface="Palatino Linotype"/>
                <a:cs typeface="Palatino Linotype"/>
                <a:sym typeface="Palatino Linotype"/>
              </a:rPr>
              <a:t>Sometimes we want to access the private members of a class without that function actually being a member of that class.</a:t>
            </a:r>
            <a:endParaRPr/>
          </a:p>
          <a:p>
            <a:pPr indent="0" lvl="0" marL="0" marR="0" rtl="0" algn="just">
              <a:lnSpc>
                <a:spcPct val="114000"/>
              </a:lnSpc>
              <a:spcBef>
                <a:spcPts val="0"/>
              </a:spcBef>
              <a:spcAft>
                <a:spcPts val="0"/>
              </a:spcAft>
              <a:buClr>
                <a:schemeClr val="dk1"/>
              </a:buClr>
              <a:buSzPts val="2800"/>
              <a:buFont typeface="Arial"/>
              <a:buNone/>
            </a:pPr>
            <a:r>
              <a:t/>
            </a:r>
            <a:endParaRPr sz="2800">
              <a:solidFill>
                <a:srgbClr val="000000"/>
              </a:solidFill>
              <a:latin typeface="Palatino Linotype"/>
              <a:ea typeface="Palatino Linotype"/>
              <a:cs typeface="Palatino Linotype"/>
              <a:sym typeface="Palatino Linotype"/>
            </a:endParaRPr>
          </a:p>
          <a:p>
            <a:pPr indent="-228600" lvl="0" marL="228600" marR="0" rtl="0" algn="just">
              <a:lnSpc>
                <a:spcPct val="114000"/>
              </a:lnSpc>
              <a:spcBef>
                <a:spcPts val="0"/>
              </a:spcBef>
              <a:spcAft>
                <a:spcPts val="0"/>
              </a:spcAft>
              <a:buClr>
                <a:srgbClr val="000000"/>
              </a:buClr>
              <a:buSzPts val="2800"/>
              <a:buFont typeface="Noto Sans Symbols"/>
              <a:buChar char="❑"/>
            </a:pPr>
            <a:r>
              <a:rPr lang="en-US" sz="2800">
                <a:solidFill>
                  <a:srgbClr val="000000"/>
                </a:solidFill>
                <a:latin typeface="Palatino Linotype"/>
                <a:ea typeface="Palatino Linotype"/>
                <a:cs typeface="Palatino Linotype"/>
                <a:sym typeface="Palatino Linotype"/>
              </a:rPr>
              <a:t>A friend function is not a member function of a class but still has access to its private </a:t>
            </a:r>
            <a:r>
              <a:rPr lang="en-US" sz="2800">
                <a:solidFill>
                  <a:schemeClr val="dk1"/>
                </a:solidFill>
                <a:latin typeface="Palatino Linotype"/>
                <a:ea typeface="Palatino Linotype"/>
                <a:cs typeface="Palatino Linotype"/>
                <a:sym typeface="Palatino Linotype"/>
              </a:rPr>
              <a:t>and protected members of that class for they are declared as friends. </a:t>
            </a:r>
            <a:r>
              <a:rPr lang="en-US" sz="2800">
                <a:solidFill>
                  <a:srgbClr val="000000"/>
                </a:solidFill>
                <a:latin typeface="Palatino Linotype"/>
                <a:ea typeface="Palatino Linotype"/>
                <a:cs typeface="Palatino Linotype"/>
                <a:sym typeface="Palatino Linotype"/>
              </a:rPr>
              <a:t>A friend function can be:</a:t>
            </a:r>
            <a:endParaRPr/>
          </a:p>
          <a:p>
            <a:pPr indent="-50800" lvl="0" marL="228600" marR="0" rtl="0" algn="just">
              <a:lnSpc>
                <a:spcPct val="114000"/>
              </a:lnSpc>
              <a:spcBef>
                <a:spcPts val="0"/>
              </a:spcBef>
              <a:spcAft>
                <a:spcPts val="0"/>
              </a:spcAft>
              <a:buClr>
                <a:schemeClr val="dk1"/>
              </a:buClr>
              <a:buSzPts val="2800"/>
              <a:buFont typeface="Noto Sans Symbols"/>
              <a:buNone/>
            </a:pPr>
            <a:r>
              <a:t/>
            </a:r>
            <a:endParaRPr sz="2800">
              <a:solidFill>
                <a:srgbClr val="000000"/>
              </a:solidFill>
              <a:latin typeface="Palatino Linotype"/>
              <a:ea typeface="Palatino Linotype"/>
              <a:cs typeface="Palatino Linotype"/>
              <a:sym typeface="Palatino Linotype"/>
            </a:endParaRPr>
          </a:p>
          <a:p>
            <a:pPr indent="-228600" lvl="2" marL="1143000" marR="0" rtl="0" algn="just">
              <a:lnSpc>
                <a:spcPct val="114000"/>
              </a:lnSpc>
              <a:spcBef>
                <a:spcPts val="0"/>
              </a:spcBef>
              <a:spcAft>
                <a:spcPts val="0"/>
              </a:spcAft>
              <a:buClr>
                <a:srgbClr val="000000"/>
              </a:buClr>
              <a:buSzPts val="2400"/>
              <a:buFont typeface="Arial"/>
              <a:buChar char="•"/>
            </a:pPr>
            <a:r>
              <a:rPr b="0" i="0" lang="en-US" sz="2400" u="none" cap="none" strike="noStrike">
                <a:solidFill>
                  <a:srgbClr val="000000"/>
                </a:solidFill>
                <a:latin typeface="Palatino Linotype"/>
                <a:ea typeface="Palatino Linotype"/>
                <a:cs typeface="Palatino Linotype"/>
                <a:sym typeface="Palatino Linotype"/>
              </a:rPr>
              <a:t>A global function [friend return_type function_name (arguments);]</a:t>
            </a:r>
            <a:endParaRPr/>
          </a:p>
          <a:p>
            <a:pPr indent="-228600" lvl="2" marL="1143000" marR="0" rtl="0" algn="just">
              <a:lnSpc>
                <a:spcPct val="114000"/>
              </a:lnSpc>
              <a:spcBef>
                <a:spcPts val="0"/>
              </a:spcBef>
              <a:spcAft>
                <a:spcPts val="0"/>
              </a:spcAft>
              <a:buClr>
                <a:srgbClr val="000000"/>
              </a:buClr>
              <a:buSzPts val="2400"/>
              <a:buFont typeface="Arial"/>
              <a:buChar char="•"/>
            </a:pPr>
            <a:r>
              <a:rPr b="0" i="0" lang="en-US" sz="2400" u="none" cap="none" strike="noStrike">
                <a:solidFill>
                  <a:srgbClr val="000000"/>
                </a:solidFill>
                <a:latin typeface="Palatino Linotype"/>
                <a:ea typeface="Palatino Linotype"/>
                <a:cs typeface="Palatino Linotype"/>
                <a:sym typeface="Palatino Linotype"/>
              </a:rPr>
              <a:t>A member function of another class[friend return_type class_name::function_name (arguments);]</a:t>
            </a:r>
            <a:endParaRPr/>
          </a:p>
          <a:p>
            <a:pPr indent="0" lvl="0" marL="0" marR="0" rtl="0" algn="l">
              <a:lnSpc>
                <a:spcPct val="114000"/>
              </a:lnSpc>
              <a:spcBef>
                <a:spcPts val="0"/>
              </a:spcBef>
              <a:spcAft>
                <a:spcPts val="0"/>
              </a:spcAft>
              <a:buClr>
                <a:schemeClr val="dk1"/>
              </a:buClr>
              <a:buSzPts val="2800"/>
              <a:buFont typeface="Arial"/>
              <a:buNone/>
            </a:pPr>
            <a:r>
              <a:t/>
            </a:r>
            <a:endParaRPr sz="2800">
              <a:solidFill>
                <a:srgbClr val="000000"/>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0"/>
          <p:cNvSpPr txBox="1"/>
          <p:nvPr>
            <p:ph type="title"/>
          </p:nvPr>
        </p:nvSpPr>
        <p:spPr>
          <a:xfrm>
            <a:off x="0" y="3"/>
            <a:ext cx="12192000" cy="1228725"/>
          </a:xfrm>
          <a:prstGeom prst="rect">
            <a:avLst/>
          </a:prstGeom>
          <a:solidFill>
            <a:srgbClr val="0D5672"/>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Rockwell"/>
              <a:buNone/>
            </a:pPr>
            <a:r>
              <a:rPr b="1" lang="en-US" sz="4800">
                <a:solidFill>
                  <a:schemeClr val="lt1"/>
                </a:solidFill>
                <a:latin typeface="Rockwell"/>
                <a:ea typeface="Rockwell"/>
                <a:cs typeface="Rockwell"/>
                <a:sym typeface="Rockwell"/>
              </a:rPr>
              <a:t>Friend Function Characteristics</a:t>
            </a:r>
            <a:endParaRPr b="1" sz="4800">
              <a:solidFill>
                <a:schemeClr val="lt1"/>
              </a:solidFill>
              <a:latin typeface="Rockwell"/>
              <a:ea typeface="Rockwell"/>
              <a:cs typeface="Rockwell"/>
              <a:sym typeface="Rockwell"/>
            </a:endParaRPr>
          </a:p>
        </p:txBody>
      </p:sp>
      <p:sp>
        <p:nvSpPr>
          <p:cNvPr id="286" name="Google Shape;286;p30"/>
          <p:cNvSpPr/>
          <p:nvPr/>
        </p:nvSpPr>
        <p:spPr>
          <a:xfrm>
            <a:off x="0" y="6500813"/>
            <a:ext cx="12192000" cy="357188"/>
          </a:xfrm>
          <a:prstGeom prst="rect">
            <a:avLst/>
          </a:prstGeom>
          <a:solidFill>
            <a:srgbClr val="0D5672"/>
          </a:solidFill>
          <a:ln cap="flat" cmpd="sng" w="12700">
            <a:solidFill>
              <a:srgbClr val="147EA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sp>
        <p:nvSpPr>
          <p:cNvPr id="287" name="Google Shape;287;p30"/>
          <p:cNvSpPr/>
          <p:nvPr/>
        </p:nvSpPr>
        <p:spPr>
          <a:xfrm>
            <a:off x="323850" y="1237834"/>
            <a:ext cx="11172825" cy="5262979"/>
          </a:xfrm>
          <a:prstGeom prst="rect">
            <a:avLst/>
          </a:prstGeom>
          <a:noFill/>
          <a:ln>
            <a:noFill/>
          </a:ln>
        </p:spPr>
        <p:txBody>
          <a:bodyPr anchorCtr="0" anchor="t" bIns="45700" lIns="91425" spcFirstLastPara="1" rIns="91425" wrap="square" tIns="45700">
            <a:spAutoFit/>
          </a:bodyPr>
          <a:lstStyle/>
          <a:p>
            <a:pPr indent="-342900" lvl="0" marL="342900" marR="0" rtl="0" algn="just">
              <a:spcBef>
                <a:spcPts val="0"/>
              </a:spcBef>
              <a:spcAft>
                <a:spcPts val="0"/>
              </a:spcAft>
              <a:buClr>
                <a:schemeClr val="dk1"/>
              </a:buClr>
              <a:buSzPts val="2400"/>
              <a:buFont typeface="Arial"/>
              <a:buChar char="•"/>
            </a:pPr>
            <a:r>
              <a:rPr lang="en-US" sz="2400">
                <a:solidFill>
                  <a:schemeClr val="dk1"/>
                </a:solidFill>
                <a:latin typeface="Palatino Linotype"/>
                <a:ea typeface="Palatino Linotype"/>
                <a:cs typeface="Palatino Linotype"/>
                <a:sym typeface="Palatino Linotype"/>
              </a:rPr>
              <a:t>A friend function is a special function in C++ that in spite of not being a member function of a class has the privilege to access the private and protected data of a class.</a:t>
            </a:r>
            <a:endParaRPr sz="2400">
              <a:solidFill>
                <a:schemeClr val="dk1"/>
              </a:solidFill>
              <a:latin typeface="Palatino Linotype"/>
              <a:ea typeface="Palatino Linotype"/>
              <a:cs typeface="Palatino Linotype"/>
              <a:sym typeface="Palatino Linotype"/>
            </a:endParaRPr>
          </a:p>
          <a:p>
            <a:pPr indent="-342900" lvl="0" marL="342900" marR="0" rtl="0" algn="just">
              <a:spcBef>
                <a:spcPts val="0"/>
              </a:spcBef>
              <a:spcAft>
                <a:spcPts val="0"/>
              </a:spcAft>
              <a:buClr>
                <a:schemeClr val="dk1"/>
              </a:buClr>
              <a:buSzPts val="2400"/>
              <a:buFont typeface="Arial"/>
              <a:buChar char="•"/>
            </a:pPr>
            <a:r>
              <a:rPr lang="en-US" sz="2400">
                <a:solidFill>
                  <a:schemeClr val="dk1"/>
                </a:solidFill>
                <a:latin typeface="Palatino Linotype"/>
                <a:ea typeface="Palatino Linotype"/>
                <a:cs typeface="Palatino Linotype"/>
                <a:sym typeface="Palatino Linotype"/>
              </a:rPr>
              <a:t>A friend function is a non-member function or ordinary function of a class, which is declared as a friend using the keyword “friend” inside the class. By declaring a function as a friend, all the access permissions are given to the function.</a:t>
            </a:r>
            <a:endParaRPr sz="2400">
              <a:solidFill>
                <a:schemeClr val="dk1"/>
              </a:solidFill>
              <a:latin typeface="Palatino Linotype"/>
              <a:ea typeface="Palatino Linotype"/>
              <a:cs typeface="Palatino Linotype"/>
              <a:sym typeface="Palatino Linotype"/>
            </a:endParaRPr>
          </a:p>
          <a:p>
            <a:pPr indent="-342900" lvl="0" marL="342900" marR="0" rtl="0" algn="just">
              <a:spcBef>
                <a:spcPts val="0"/>
              </a:spcBef>
              <a:spcAft>
                <a:spcPts val="0"/>
              </a:spcAft>
              <a:buClr>
                <a:schemeClr val="dk1"/>
              </a:buClr>
              <a:buSzPts val="2400"/>
              <a:buFont typeface="Arial"/>
              <a:buChar char="•"/>
            </a:pPr>
            <a:r>
              <a:rPr lang="en-US" sz="2400">
                <a:solidFill>
                  <a:schemeClr val="dk1"/>
                </a:solidFill>
                <a:latin typeface="Palatino Linotype"/>
                <a:ea typeface="Palatino Linotype"/>
                <a:cs typeface="Palatino Linotype"/>
                <a:sym typeface="Palatino Linotype"/>
              </a:rPr>
              <a:t>The keyword “friend” is placed only in the function declaration of the friend function and not in the function definition or call.</a:t>
            </a:r>
            <a:endParaRPr/>
          </a:p>
          <a:p>
            <a:pPr indent="-342900" lvl="0" marL="342900" marR="0" rtl="0" algn="just">
              <a:spcBef>
                <a:spcPts val="0"/>
              </a:spcBef>
              <a:spcAft>
                <a:spcPts val="0"/>
              </a:spcAft>
              <a:buClr>
                <a:schemeClr val="dk1"/>
              </a:buClr>
              <a:buSzPts val="2400"/>
              <a:buFont typeface="Arial"/>
              <a:buChar char="•"/>
            </a:pPr>
            <a:r>
              <a:rPr lang="en-US" sz="2400">
                <a:solidFill>
                  <a:schemeClr val="dk1"/>
                </a:solidFill>
                <a:latin typeface="Palatino Linotype"/>
                <a:ea typeface="Palatino Linotype"/>
                <a:cs typeface="Palatino Linotype"/>
                <a:sym typeface="Palatino Linotype"/>
              </a:rPr>
              <a:t>A friend function is called like an ordinary function. It cannot be called using the object name and dot operator. However, it may accept the object as an argument whose value it wants to access.</a:t>
            </a:r>
            <a:endParaRPr/>
          </a:p>
          <a:p>
            <a:pPr indent="-342900" lvl="0" marL="342900" marR="0" rtl="0" algn="just">
              <a:spcBef>
                <a:spcPts val="0"/>
              </a:spcBef>
              <a:spcAft>
                <a:spcPts val="0"/>
              </a:spcAft>
              <a:buClr>
                <a:schemeClr val="dk1"/>
              </a:buClr>
              <a:buSzPts val="2400"/>
              <a:buFont typeface="Arial"/>
              <a:buChar char="•"/>
            </a:pPr>
            <a:r>
              <a:rPr lang="en-US" sz="2400">
                <a:solidFill>
                  <a:schemeClr val="dk1"/>
                </a:solidFill>
                <a:latin typeface="Palatino Linotype"/>
                <a:ea typeface="Palatino Linotype"/>
                <a:cs typeface="Palatino Linotype"/>
                <a:sym typeface="Palatino Linotype"/>
              </a:rPr>
              <a:t>A friend function can be declared in any section of the class i.e. public or private or protected.</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pic>
        <p:nvPicPr>
          <p:cNvPr id="292" name="Google Shape;292;p31"/>
          <p:cNvPicPr preferRelativeResize="0"/>
          <p:nvPr/>
        </p:nvPicPr>
        <p:blipFill rotWithShape="1">
          <a:blip r:embed="rId3">
            <a:alphaModFix/>
          </a:blip>
          <a:srcRect b="0" l="0" r="0" t="0"/>
          <a:stretch/>
        </p:blipFill>
        <p:spPr>
          <a:xfrm>
            <a:off x="1927652" y="847523"/>
            <a:ext cx="7384770" cy="5451677"/>
          </a:xfrm>
          <a:prstGeom prst="rect">
            <a:avLst/>
          </a:prstGeom>
          <a:noFill/>
          <a:ln>
            <a:noFill/>
          </a:ln>
        </p:spPr>
      </p:pic>
      <p:pic>
        <p:nvPicPr>
          <p:cNvPr id="293" name="Google Shape;293;p31"/>
          <p:cNvPicPr preferRelativeResize="0"/>
          <p:nvPr/>
        </p:nvPicPr>
        <p:blipFill rotWithShape="1">
          <a:blip r:embed="rId4">
            <a:alphaModFix/>
          </a:blip>
          <a:srcRect b="0" l="0" r="0" t="0"/>
          <a:stretch/>
        </p:blipFill>
        <p:spPr>
          <a:xfrm>
            <a:off x="7207013" y="738832"/>
            <a:ext cx="4648849" cy="2303321"/>
          </a:xfrm>
          <a:prstGeom prst="rect">
            <a:avLst/>
          </a:prstGeom>
          <a:noFill/>
          <a:ln>
            <a:noFill/>
          </a:ln>
        </p:spPr>
      </p:pic>
      <p:sp>
        <p:nvSpPr>
          <p:cNvPr id="294" name="Google Shape;294;p31"/>
          <p:cNvSpPr/>
          <p:nvPr/>
        </p:nvSpPr>
        <p:spPr>
          <a:xfrm>
            <a:off x="4738265" y="274018"/>
            <a:ext cx="2654894" cy="14157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300">
                <a:solidFill>
                  <a:schemeClr val="dk1"/>
                </a:solidFill>
                <a:latin typeface="Rockwell"/>
                <a:ea typeface="Rockwell"/>
                <a:cs typeface="Rockwell"/>
                <a:sym typeface="Rockwell"/>
              </a:rPr>
              <a:t>Example</a:t>
            </a:r>
            <a:endParaRPr/>
          </a:p>
          <a:p>
            <a:pPr indent="0" lvl="0" marL="0" marR="0" rtl="0" algn="l">
              <a:spcBef>
                <a:spcPts val="0"/>
              </a:spcBef>
              <a:spcAft>
                <a:spcPts val="0"/>
              </a:spcAft>
              <a:buNone/>
            </a:pPr>
            <a:r>
              <a:t/>
            </a:r>
            <a:endParaRPr sz="43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2"/>
          <p:cNvSpPr txBox="1"/>
          <p:nvPr>
            <p:ph type="ctrTitle"/>
          </p:nvPr>
        </p:nvSpPr>
        <p:spPr>
          <a:xfrm>
            <a:off x="1523471" y="3041651"/>
            <a:ext cx="9144000" cy="1806588"/>
          </a:xfrm>
          <a:prstGeom prst="rect">
            <a:avLst/>
          </a:prstGeom>
          <a:solidFill>
            <a:srgbClr val="0D5672"/>
          </a:solidFill>
          <a:ln cap="flat" cmpd="sng" w="9525">
            <a:solidFill>
              <a:schemeClr val="accent1"/>
            </a:solidFill>
            <a:prstDash val="solid"/>
            <a:round/>
            <a:headEnd len="sm" w="sm" type="none"/>
            <a:tailEnd len="sm" w="sm" type="none"/>
          </a:ln>
        </p:spPr>
        <p:txBody>
          <a:bodyPr anchorCtr="0" anchor="ctr" bIns="60950" lIns="121900" spcFirstLastPara="1" rIns="121900" wrap="square" tIns="45700">
            <a:noAutofit/>
          </a:bodyPr>
          <a:lstStyle/>
          <a:p>
            <a:pPr indent="0" lvl="0" marL="0" rtl="0" algn="ctr">
              <a:lnSpc>
                <a:spcPct val="90000"/>
              </a:lnSpc>
              <a:spcBef>
                <a:spcPts val="0"/>
              </a:spcBef>
              <a:spcAft>
                <a:spcPts val="0"/>
              </a:spcAft>
              <a:buClr>
                <a:schemeClr val="lt1"/>
              </a:buClr>
              <a:buSzPts val="5400"/>
              <a:buFont typeface="Rockwell"/>
              <a:buNone/>
            </a:pPr>
            <a:r>
              <a:rPr b="1" lang="en-US" sz="5400">
                <a:solidFill>
                  <a:schemeClr val="lt1"/>
                </a:solidFill>
                <a:latin typeface="Rockwell"/>
                <a:ea typeface="Rockwell"/>
                <a:cs typeface="Rockwell"/>
                <a:sym typeface="Rockwell"/>
              </a:rPr>
              <a:t>Friend Functions</a:t>
            </a:r>
            <a:br>
              <a:rPr b="1" lang="en-US" sz="5400">
                <a:solidFill>
                  <a:schemeClr val="lt1"/>
                </a:solidFill>
                <a:latin typeface="Rockwell"/>
                <a:ea typeface="Rockwell"/>
                <a:cs typeface="Rockwell"/>
                <a:sym typeface="Rockwell"/>
              </a:rPr>
            </a:br>
            <a:r>
              <a:rPr lang="en-US" sz="4400">
                <a:solidFill>
                  <a:schemeClr val="lt1"/>
                </a:solidFill>
                <a:latin typeface="Rockwell"/>
                <a:ea typeface="Rockwell"/>
                <a:cs typeface="Rockwell"/>
                <a:sym typeface="Rockwell"/>
              </a:rPr>
              <a:t>(</a:t>
            </a:r>
            <a:r>
              <a:rPr lang="en-US" sz="4000">
                <a:solidFill>
                  <a:schemeClr val="lt1"/>
                </a:solidFill>
                <a:latin typeface="Rockwell"/>
                <a:ea typeface="Rockwell"/>
                <a:cs typeface="Rockwell"/>
                <a:sym typeface="Rockwell"/>
              </a:rPr>
              <a:t>For a global function) </a:t>
            </a:r>
            <a:endParaRPr sz="4000">
              <a:solidFill>
                <a:schemeClr val="lt1"/>
              </a:solidFill>
              <a:latin typeface="Rockwell"/>
              <a:ea typeface="Rockwell"/>
              <a:cs typeface="Rockwell"/>
              <a:sym typeface="Rockwell"/>
            </a:endParaRPr>
          </a:p>
        </p:txBody>
      </p:sp>
      <p:sp>
        <p:nvSpPr>
          <p:cNvPr id="300" name="Google Shape;300;p32"/>
          <p:cNvSpPr/>
          <p:nvPr/>
        </p:nvSpPr>
        <p:spPr>
          <a:xfrm>
            <a:off x="0" y="6500813"/>
            <a:ext cx="12192000" cy="357188"/>
          </a:xfrm>
          <a:prstGeom prst="rect">
            <a:avLst/>
          </a:prstGeom>
          <a:solidFill>
            <a:srgbClr val="1482AB"/>
          </a:solidFill>
          <a:ln cap="flat" cmpd="sng" w="12700">
            <a:solidFill>
              <a:srgbClr val="147EA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pic>
        <p:nvPicPr>
          <p:cNvPr id="301" name="Google Shape;301;p32"/>
          <p:cNvPicPr preferRelativeResize="0"/>
          <p:nvPr/>
        </p:nvPicPr>
        <p:blipFill rotWithShape="1">
          <a:blip r:embed="rId3">
            <a:alphaModFix/>
          </a:blip>
          <a:srcRect b="0" l="0" r="0" t="0"/>
          <a:stretch/>
        </p:blipFill>
        <p:spPr>
          <a:xfrm>
            <a:off x="-1057" y="0"/>
            <a:ext cx="12193057" cy="1922475"/>
          </a:xfrm>
          <a:prstGeom prst="rect">
            <a:avLst/>
          </a:prstGeom>
          <a:noFill/>
          <a:ln cap="flat" cmpd="sng" w="9525">
            <a:solidFill>
              <a:schemeClr val="accent1"/>
            </a:solidFill>
            <a:prstDash val="solid"/>
            <a:round/>
            <a:headEnd len="sm" w="sm" type="none"/>
            <a:tailEnd len="sm" w="sm" type="none"/>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pic>
        <p:nvPicPr>
          <p:cNvPr id="306" name="Google Shape;306;p33"/>
          <p:cNvPicPr preferRelativeResize="0"/>
          <p:nvPr/>
        </p:nvPicPr>
        <p:blipFill rotWithShape="1">
          <a:blip r:embed="rId3">
            <a:alphaModFix/>
          </a:blip>
          <a:srcRect b="0" l="0" r="0" t="0"/>
          <a:stretch/>
        </p:blipFill>
        <p:spPr>
          <a:xfrm>
            <a:off x="2269247" y="3"/>
            <a:ext cx="9172575" cy="6857997"/>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4"/>
          <p:cNvSpPr txBox="1"/>
          <p:nvPr>
            <p:ph type="title"/>
          </p:nvPr>
        </p:nvSpPr>
        <p:spPr>
          <a:xfrm>
            <a:off x="0" y="3"/>
            <a:ext cx="12192000" cy="700085"/>
          </a:xfrm>
          <a:prstGeom prst="rect">
            <a:avLst/>
          </a:prstGeom>
          <a:solidFill>
            <a:srgbClr val="0D5672"/>
          </a:solid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lt1"/>
              </a:buClr>
              <a:buSzPct val="100000"/>
              <a:buFont typeface="Rockwell"/>
              <a:buNone/>
            </a:pPr>
            <a:r>
              <a:rPr b="1" lang="en-US" sz="4800">
                <a:solidFill>
                  <a:schemeClr val="lt1"/>
                </a:solidFill>
                <a:latin typeface="Rockwell"/>
                <a:ea typeface="Rockwell"/>
                <a:cs typeface="Rockwell"/>
                <a:sym typeface="Rockwell"/>
              </a:rPr>
              <a:t>Output !!</a:t>
            </a:r>
            <a:endParaRPr b="1" sz="4800">
              <a:solidFill>
                <a:schemeClr val="lt1"/>
              </a:solidFill>
              <a:latin typeface="Rockwell"/>
              <a:ea typeface="Rockwell"/>
              <a:cs typeface="Rockwell"/>
              <a:sym typeface="Rockwell"/>
            </a:endParaRPr>
          </a:p>
        </p:txBody>
      </p:sp>
      <p:sp>
        <p:nvSpPr>
          <p:cNvPr id="312" name="Google Shape;312;p34"/>
          <p:cNvSpPr txBox="1"/>
          <p:nvPr/>
        </p:nvSpPr>
        <p:spPr>
          <a:xfrm>
            <a:off x="1139482" y="4382746"/>
            <a:ext cx="10227212" cy="120032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400">
                <a:solidFill>
                  <a:schemeClr val="dk1"/>
                </a:solidFill>
                <a:latin typeface="Palatino Linotype"/>
                <a:ea typeface="Palatino Linotype"/>
                <a:cs typeface="Palatino Linotype"/>
                <a:sym typeface="Palatino Linotype"/>
              </a:rPr>
              <a:t>Explanation: </a:t>
            </a:r>
            <a:r>
              <a:rPr lang="en-US" sz="2400">
                <a:solidFill>
                  <a:schemeClr val="dk1"/>
                </a:solidFill>
                <a:latin typeface="Palatino Linotype"/>
                <a:ea typeface="Palatino Linotype"/>
                <a:cs typeface="Palatino Linotype"/>
                <a:sym typeface="Palatino Linotype"/>
              </a:rPr>
              <a:t>In the above example, we have used a global function as a friend function. In the next example, we will use a member function of another class as a friend function.</a:t>
            </a:r>
            <a:endParaRPr/>
          </a:p>
        </p:txBody>
      </p:sp>
      <p:pic>
        <p:nvPicPr>
          <p:cNvPr id="313" name="Google Shape;313;p34"/>
          <p:cNvPicPr preferRelativeResize="0"/>
          <p:nvPr/>
        </p:nvPicPr>
        <p:blipFill rotWithShape="1">
          <a:blip r:embed="rId3">
            <a:alphaModFix/>
          </a:blip>
          <a:srcRect b="0" l="0" r="0" t="0"/>
          <a:stretch/>
        </p:blipFill>
        <p:spPr>
          <a:xfrm>
            <a:off x="2745367" y="1112625"/>
            <a:ext cx="7015441" cy="2857583"/>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5"/>
          <p:cNvSpPr txBox="1"/>
          <p:nvPr>
            <p:ph type="ctrTitle"/>
          </p:nvPr>
        </p:nvSpPr>
        <p:spPr>
          <a:xfrm>
            <a:off x="1523471" y="3041651"/>
            <a:ext cx="9144000" cy="1806588"/>
          </a:xfrm>
          <a:prstGeom prst="rect">
            <a:avLst/>
          </a:prstGeom>
          <a:solidFill>
            <a:srgbClr val="0D5672"/>
          </a:solidFill>
          <a:ln cap="flat" cmpd="sng" w="9525">
            <a:solidFill>
              <a:schemeClr val="accent1"/>
            </a:solidFill>
            <a:prstDash val="solid"/>
            <a:round/>
            <a:headEnd len="sm" w="sm" type="none"/>
            <a:tailEnd len="sm" w="sm" type="none"/>
          </a:ln>
        </p:spPr>
        <p:txBody>
          <a:bodyPr anchorCtr="0" anchor="ctr" bIns="60950" lIns="121900" spcFirstLastPara="1" rIns="121900" wrap="square" tIns="45700">
            <a:noAutofit/>
          </a:bodyPr>
          <a:lstStyle/>
          <a:p>
            <a:pPr indent="0" lvl="0" marL="0" rtl="0" algn="ctr">
              <a:lnSpc>
                <a:spcPct val="90000"/>
              </a:lnSpc>
              <a:spcBef>
                <a:spcPts val="0"/>
              </a:spcBef>
              <a:spcAft>
                <a:spcPts val="0"/>
              </a:spcAft>
              <a:buClr>
                <a:schemeClr val="lt1"/>
              </a:buClr>
              <a:buSzPts val="5400"/>
              <a:buFont typeface="Rockwell"/>
              <a:buNone/>
            </a:pPr>
            <a:r>
              <a:rPr b="1" lang="en-US" sz="5400">
                <a:solidFill>
                  <a:schemeClr val="lt1"/>
                </a:solidFill>
                <a:latin typeface="Rockwell"/>
                <a:ea typeface="Rockwell"/>
                <a:cs typeface="Rockwell"/>
                <a:sym typeface="Rockwell"/>
              </a:rPr>
              <a:t>Friend Functions </a:t>
            </a:r>
            <a:br>
              <a:rPr b="1" lang="en-US" sz="5400">
                <a:solidFill>
                  <a:schemeClr val="lt1"/>
                </a:solidFill>
                <a:latin typeface="Rockwell"/>
                <a:ea typeface="Rockwell"/>
                <a:cs typeface="Rockwell"/>
                <a:sym typeface="Rockwell"/>
              </a:rPr>
            </a:br>
            <a:r>
              <a:rPr lang="en-US" sz="4400">
                <a:solidFill>
                  <a:schemeClr val="lt1"/>
                </a:solidFill>
                <a:latin typeface="Rockwell"/>
                <a:ea typeface="Rockwell"/>
                <a:cs typeface="Rockwell"/>
                <a:sym typeface="Rockwell"/>
              </a:rPr>
              <a:t>(</a:t>
            </a:r>
            <a:r>
              <a:rPr lang="en-US" sz="4000">
                <a:solidFill>
                  <a:schemeClr val="lt1"/>
                </a:solidFill>
                <a:latin typeface="Rockwell"/>
                <a:ea typeface="Rockwell"/>
                <a:cs typeface="Rockwell"/>
                <a:sym typeface="Rockwell"/>
              </a:rPr>
              <a:t>A member function of another class)</a:t>
            </a:r>
            <a:endParaRPr sz="4000">
              <a:solidFill>
                <a:schemeClr val="lt1"/>
              </a:solidFill>
              <a:latin typeface="Rockwell"/>
              <a:ea typeface="Rockwell"/>
              <a:cs typeface="Rockwell"/>
              <a:sym typeface="Rockwell"/>
            </a:endParaRPr>
          </a:p>
        </p:txBody>
      </p:sp>
      <p:sp>
        <p:nvSpPr>
          <p:cNvPr id="319" name="Google Shape;319;p35"/>
          <p:cNvSpPr/>
          <p:nvPr/>
        </p:nvSpPr>
        <p:spPr>
          <a:xfrm>
            <a:off x="0" y="6500813"/>
            <a:ext cx="12192000" cy="357188"/>
          </a:xfrm>
          <a:prstGeom prst="rect">
            <a:avLst/>
          </a:prstGeom>
          <a:solidFill>
            <a:srgbClr val="1482AB"/>
          </a:solidFill>
          <a:ln cap="flat" cmpd="sng" w="12700">
            <a:solidFill>
              <a:srgbClr val="147EA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pic>
        <p:nvPicPr>
          <p:cNvPr id="320" name="Google Shape;320;p35"/>
          <p:cNvPicPr preferRelativeResize="0"/>
          <p:nvPr/>
        </p:nvPicPr>
        <p:blipFill rotWithShape="1">
          <a:blip r:embed="rId3">
            <a:alphaModFix/>
          </a:blip>
          <a:srcRect b="0" l="0" r="0" t="0"/>
          <a:stretch/>
        </p:blipFill>
        <p:spPr>
          <a:xfrm>
            <a:off x="-1057" y="0"/>
            <a:ext cx="12193057" cy="1922475"/>
          </a:xfrm>
          <a:prstGeom prst="rect">
            <a:avLst/>
          </a:prstGeom>
          <a:noFill/>
          <a:ln cap="flat" cmpd="sng" w="9525">
            <a:solidFill>
              <a:schemeClr val="accent1"/>
            </a:solidFill>
            <a:prstDash val="solid"/>
            <a:round/>
            <a:headEnd len="sm" w="sm" type="none"/>
            <a:tailEnd len="sm" w="sm" type="none"/>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pic>
        <p:nvPicPr>
          <p:cNvPr id="325" name="Google Shape;325;p36"/>
          <p:cNvPicPr preferRelativeResize="0"/>
          <p:nvPr/>
        </p:nvPicPr>
        <p:blipFill rotWithShape="1">
          <a:blip r:embed="rId3">
            <a:alphaModFix/>
          </a:blip>
          <a:srcRect b="0" l="0" r="0" t="0"/>
          <a:stretch/>
        </p:blipFill>
        <p:spPr>
          <a:xfrm>
            <a:off x="1700214" y="-100014"/>
            <a:ext cx="8858736" cy="6958013"/>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7"/>
          <p:cNvSpPr txBox="1"/>
          <p:nvPr>
            <p:ph type="title"/>
          </p:nvPr>
        </p:nvSpPr>
        <p:spPr>
          <a:xfrm>
            <a:off x="0" y="3"/>
            <a:ext cx="12192000" cy="700085"/>
          </a:xfrm>
          <a:prstGeom prst="rect">
            <a:avLst/>
          </a:prstGeom>
          <a:solidFill>
            <a:srgbClr val="0D5672"/>
          </a:solid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lt1"/>
              </a:buClr>
              <a:buSzPct val="100000"/>
              <a:buFont typeface="Rockwell"/>
              <a:buNone/>
            </a:pPr>
            <a:r>
              <a:rPr b="1" lang="en-US" sz="4800">
                <a:solidFill>
                  <a:schemeClr val="lt1"/>
                </a:solidFill>
                <a:latin typeface="Rockwell"/>
                <a:ea typeface="Rockwell"/>
                <a:cs typeface="Rockwell"/>
                <a:sym typeface="Rockwell"/>
              </a:rPr>
              <a:t>Output !!</a:t>
            </a:r>
            <a:endParaRPr b="1" sz="4800">
              <a:solidFill>
                <a:schemeClr val="lt1"/>
              </a:solidFill>
              <a:latin typeface="Rockwell"/>
              <a:ea typeface="Rockwell"/>
              <a:cs typeface="Rockwell"/>
              <a:sym typeface="Rockwell"/>
            </a:endParaRPr>
          </a:p>
        </p:txBody>
      </p:sp>
      <p:sp>
        <p:nvSpPr>
          <p:cNvPr id="331" name="Google Shape;331;p37"/>
          <p:cNvSpPr txBox="1"/>
          <p:nvPr/>
        </p:nvSpPr>
        <p:spPr>
          <a:xfrm>
            <a:off x="982394" y="3882682"/>
            <a:ext cx="10227212" cy="156966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400">
                <a:solidFill>
                  <a:schemeClr val="dk1"/>
                </a:solidFill>
                <a:latin typeface="Palatino Linotype"/>
                <a:ea typeface="Palatino Linotype"/>
                <a:cs typeface="Palatino Linotype"/>
                <a:sym typeface="Palatino Linotype"/>
              </a:rPr>
              <a:t>Explanation: </a:t>
            </a:r>
            <a:r>
              <a:rPr lang="en-US" sz="2400">
                <a:solidFill>
                  <a:schemeClr val="dk1"/>
                </a:solidFill>
                <a:latin typeface="Palatino Linotype"/>
                <a:ea typeface="Palatino Linotype"/>
                <a:cs typeface="Palatino Linotype"/>
                <a:sym typeface="Palatino Linotype"/>
              </a:rPr>
              <a:t>The order in which we define the friend function of another class is important and should be taken care of. We always have to define both the classes before the function definition. That’s why we have used out of class member function definition.</a:t>
            </a:r>
            <a:endParaRPr/>
          </a:p>
        </p:txBody>
      </p:sp>
      <p:pic>
        <p:nvPicPr>
          <p:cNvPr id="332" name="Google Shape;332;p37"/>
          <p:cNvPicPr preferRelativeResize="0"/>
          <p:nvPr/>
        </p:nvPicPr>
        <p:blipFill rotWithShape="1">
          <a:blip r:embed="rId3">
            <a:alphaModFix/>
          </a:blip>
          <a:srcRect b="0" l="0" r="0" t="0"/>
          <a:stretch/>
        </p:blipFill>
        <p:spPr>
          <a:xfrm>
            <a:off x="3457282" y="993563"/>
            <a:ext cx="5886743" cy="259564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8"/>
          <p:cNvSpPr txBox="1"/>
          <p:nvPr>
            <p:ph type="title"/>
          </p:nvPr>
        </p:nvSpPr>
        <p:spPr>
          <a:xfrm>
            <a:off x="0" y="3"/>
            <a:ext cx="12192000" cy="1228725"/>
          </a:xfrm>
          <a:prstGeom prst="rect">
            <a:avLst/>
          </a:prstGeom>
          <a:solidFill>
            <a:srgbClr val="0D5672"/>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Rockwell"/>
              <a:buNone/>
            </a:pPr>
            <a:r>
              <a:rPr b="1" lang="en-US" sz="4800">
                <a:solidFill>
                  <a:schemeClr val="lt1"/>
                </a:solidFill>
                <a:latin typeface="Rockwell"/>
                <a:ea typeface="Rockwell"/>
                <a:cs typeface="Rockwell"/>
                <a:sym typeface="Rockwell"/>
              </a:rPr>
              <a:t>Friend Function</a:t>
            </a:r>
            <a:endParaRPr b="1" sz="4800">
              <a:solidFill>
                <a:schemeClr val="lt1"/>
              </a:solidFill>
              <a:latin typeface="Rockwell"/>
              <a:ea typeface="Rockwell"/>
              <a:cs typeface="Rockwell"/>
              <a:sym typeface="Rockwell"/>
            </a:endParaRPr>
          </a:p>
        </p:txBody>
      </p:sp>
      <p:sp>
        <p:nvSpPr>
          <p:cNvPr id="338" name="Google Shape;338;p38"/>
          <p:cNvSpPr/>
          <p:nvPr/>
        </p:nvSpPr>
        <p:spPr>
          <a:xfrm>
            <a:off x="0" y="6500813"/>
            <a:ext cx="12192000" cy="357188"/>
          </a:xfrm>
          <a:prstGeom prst="rect">
            <a:avLst/>
          </a:prstGeom>
          <a:solidFill>
            <a:srgbClr val="0D5672"/>
          </a:solidFill>
          <a:ln cap="flat" cmpd="sng" w="12700">
            <a:solidFill>
              <a:srgbClr val="147EA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39" name="Google Shape;339;p38"/>
          <p:cNvSpPr txBox="1"/>
          <p:nvPr/>
        </p:nvSpPr>
        <p:spPr>
          <a:xfrm>
            <a:off x="1031081" y="2514601"/>
            <a:ext cx="10129837" cy="1930272"/>
          </a:xfrm>
          <a:prstGeom prst="rect">
            <a:avLst/>
          </a:prstGeom>
          <a:solidFill>
            <a:srgbClr val="A7D8B6"/>
          </a:solidFill>
          <a:ln cap="flat" cmpd="sng" w="9525">
            <a:solidFill>
              <a:srgbClr val="1482AB"/>
            </a:solidFill>
            <a:prstDash val="solid"/>
            <a:round/>
            <a:headEnd len="sm" w="sm" type="none"/>
            <a:tailEnd len="sm" w="sm" type="none"/>
          </a:ln>
        </p:spPr>
        <p:txBody>
          <a:bodyPr anchorCtr="0" anchor="t" bIns="45700" lIns="91425" spcFirstLastPara="1" rIns="91425" wrap="square" tIns="45700">
            <a:spAutoFit/>
          </a:bodyPr>
          <a:lstStyle/>
          <a:p>
            <a:pPr indent="-342900" lvl="0" marL="342900" marR="0" rtl="0" algn="l">
              <a:lnSpc>
                <a:spcPct val="114000"/>
              </a:lnSpc>
              <a:spcBef>
                <a:spcPts val="0"/>
              </a:spcBef>
              <a:spcAft>
                <a:spcPts val="0"/>
              </a:spcAft>
              <a:buClr>
                <a:schemeClr val="dk1"/>
              </a:buClr>
              <a:buSzPts val="2400"/>
              <a:buFont typeface="Arial"/>
              <a:buChar char="•"/>
            </a:pPr>
            <a:r>
              <a:rPr lang="en-US" sz="2400">
                <a:solidFill>
                  <a:schemeClr val="dk1"/>
                </a:solidFill>
                <a:latin typeface="Palatino Linotype"/>
                <a:ea typeface="Palatino Linotype"/>
                <a:cs typeface="Palatino Linotype"/>
                <a:sym typeface="Palatino Linotype"/>
              </a:rPr>
              <a:t>A friend function is defined as a regular nonmember function.</a:t>
            </a:r>
            <a:endParaRPr/>
          </a:p>
          <a:p>
            <a:pPr indent="-342900" lvl="0" marL="342900" marR="0" rtl="0" algn="l">
              <a:lnSpc>
                <a:spcPct val="114000"/>
              </a:lnSpc>
              <a:spcBef>
                <a:spcPts val="600"/>
              </a:spcBef>
              <a:spcAft>
                <a:spcPts val="0"/>
              </a:spcAft>
              <a:buClr>
                <a:schemeClr val="dk1"/>
              </a:buClr>
              <a:buSzPts val="2400"/>
              <a:buFont typeface="Arial"/>
              <a:buChar char="•"/>
            </a:pPr>
            <a:r>
              <a:rPr lang="en-US" sz="2400">
                <a:solidFill>
                  <a:schemeClr val="dk1"/>
                </a:solidFill>
                <a:latin typeface="Palatino Linotype"/>
                <a:ea typeface="Palatino Linotype"/>
                <a:cs typeface="Palatino Linotype"/>
                <a:sym typeface="Palatino Linotype"/>
              </a:rPr>
              <a:t>However inside the class declaration for which it will be a friend its prototype is also included prefaced by the keyword friend.</a:t>
            </a:r>
            <a:endParaRPr/>
          </a:p>
          <a:p>
            <a:pPr indent="-342900" lvl="0" marL="342900" marR="0" rtl="0" algn="l">
              <a:lnSpc>
                <a:spcPct val="114000"/>
              </a:lnSpc>
              <a:spcBef>
                <a:spcPts val="600"/>
              </a:spcBef>
              <a:spcAft>
                <a:spcPts val="0"/>
              </a:spcAft>
              <a:buClr>
                <a:schemeClr val="dk1"/>
              </a:buClr>
              <a:buSzPts val="2400"/>
              <a:buFont typeface="Arial"/>
              <a:buChar char="•"/>
            </a:pPr>
            <a:r>
              <a:rPr lang="en-US" sz="2400">
                <a:solidFill>
                  <a:schemeClr val="dk1"/>
                </a:solidFill>
                <a:latin typeface="Palatino Linotype"/>
                <a:ea typeface="Palatino Linotype"/>
                <a:cs typeface="Palatino Linotype"/>
                <a:sym typeface="Palatino Linotype"/>
              </a:rPr>
              <a:t>But it is not member of that class.</a:t>
            </a:r>
            <a:endParaRPr sz="2400">
              <a:solidFill>
                <a:schemeClr val="dk1"/>
              </a:solidFill>
              <a:latin typeface="Palatino Linotype"/>
              <a:ea typeface="Palatino Linotype"/>
              <a:cs typeface="Palatino Linotype"/>
              <a:sym typeface="Palatino Linotyp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xEl>
                                              <p:pRg end="0" st="0"/>
                                            </p:txEl>
                                          </p:spTgt>
                                        </p:tgtEl>
                                        <p:attrNameLst>
                                          <p:attrName>style.visibility</p:attrName>
                                        </p:attrNameLst>
                                      </p:cBhvr>
                                      <p:to>
                                        <p:strVal val="visible"/>
                                      </p:to>
                                    </p:set>
                                    <p:animEffect filter="fade" transition="in">
                                      <p:cBhvr>
                                        <p:cTn dur="500"/>
                                        <p:tgtEl>
                                          <p:spTgt spid="33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xEl>
                                              <p:pRg end="1" st="1"/>
                                            </p:txEl>
                                          </p:spTgt>
                                        </p:tgtEl>
                                        <p:attrNameLst>
                                          <p:attrName>style.visibility</p:attrName>
                                        </p:attrNameLst>
                                      </p:cBhvr>
                                      <p:to>
                                        <p:strVal val="visible"/>
                                      </p:to>
                                    </p:set>
                                    <p:animEffect filter="fade" transition="in">
                                      <p:cBhvr>
                                        <p:cTn dur="500"/>
                                        <p:tgtEl>
                                          <p:spTgt spid="33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xEl>
                                              <p:pRg end="2" st="2"/>
                                            </p:txEl>
                                          </p:spTgt>
                                        </p:tgtEl>
                                        <p:attrNameLst>
                                          <p:attrName>style.visibility</p:attrName>
                                        </p:attrNameLst>
                                      </p:cBhvr>
                                      <p:to>
                                        <p:strVal val="visible"/>
                                      </p:to>
                                    </p:set>
                                    <p:animEffect filter="fade" transition="in">
                                      <p:cBhvr>
                                        <p:cTn dur="500"/>
                                        <p:tgtEl>
                                          <p:spTgt spid="339">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39"/>
          <p:cNvSpPr txBox="1"/>
          <p:nvPr>
            <p:ph type="title"/>
          </p:nvPr>
        </p:nvSpPr>
        <p:spPr>
          <a:xfrm>
            <a:off x="0" y="3"/>
            <a:ext cx="12192000" cy="1228725"/>
          </a:xfrm>
          <a:prstGeom prst="rect">
            <a:avLst/>
          </a:prstGeom>
          <a:solidFill>
            <a:srgbClr val="0D5672"/>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Rockwell"/>
              <a:buNone/>
            </a:pPr>
            <a:r>
              <a:rPr b="1" lang="en-US">
                <a:solidFill>
                  <a:schemeClr val="lt1"/>
                </a:solidFill>
                <a:latin typeface="Rockwell"/>
                <a:ea typeface="Rockwell"/>
                <a:cs typeface="Rockwell"/>
                <a:sym typeface="Rockwell"/>
              </a:rPr>
              <a:t>Advantages and Disadvantages</a:t>
            </a:r>
            <a:endParaRPr b="1" sz="4800">
              <a:solidFill>
                <a:schemeClr val="lt1"/>
              </a:solidFill>
              <a:latin typeface="Rockwell"/>
              <a:ea typeface="Rockwell"/>
              <a:cs typeface="Rockwell"/>
              <a:sym typeface="Rockwell"/>
            </a:endParaRPr>
          </a:p>
        </p:txBody>
      </p:sp>
      <p:sp>
        <p:nvSpPr>
          <p:cNvPr id="345" name="Google Shape;345;p39"/>
          <p:cNvSpPr/>
          <p:nvPr/>
        </p:nvSpPr>
        <p:spPr>
          <a:xfrm>
            <a:off x="0" y="6500813"/>
            <a:ext cx="12192000" cy="357188"/>
          </a:xfrm>
          <a:prstGeom prst="rect">
            <a:avLst/>
          </a:prstGeom>
          <a:solidFill>
            <a:srgbClr val="0D5672"/>
          </a:solidFill>
          <a:ln cap="flat" cmpd="sng" w="12700">
            <a:solidFill>
              <a:srgbClr val="147EA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sp>
        <p:nvSpPr>
          <p:cNvPr id="346" name="Google Shape;346;p39"/>
          <p:cNvSpPr/>
          <p:nvPr/>
        </p:nvSpPr>
        <p:spPr>
          <a:xfrm>
            <a:off x="509587" y="1707715"/>
            <a:ext cx="11172825" cy="489364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Palatino Linotype"/>
                <a:ea typeface="Palatino Linotype"/>
                <a:cs typeface="Palatino Linotype"/>
                <a:sym typeface="Palatino Linotype"/>
              </a:rPr>
              <a:t>Advantages of Friend Functions</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Palatino Linotype"/>
                <a:ea typeface="Palatino Linotype"/>
                <a:cs typeface="Palatino Linotype"/>
                <a:sym typeface="Palatino Linotype"/>
              </a:rPr>
              <a:t>A friend function is able to access members without the need of inheriting the class.</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Palatino Linotype"/>
                <a:ea typeface="Palatino Linotype"/>
                <a:cs typeface="Palatino Linotype"/>
                <a:sym typeface="Palatino Linotype"/>
              </a:rPr>
              <a:t>The friend function acts as a bridge between two classes by accessing their private data.</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Palatino Linotype"/>
                <a:ea typeface="Palatino Linotype"/>
                <a:cs typeface="Palatino Linotype"/>
                <a:sym typeface="Palatino Linotype"/>
              </a:rPr>
              <a:t>It can be used to increase the versatility of overloaded operators.</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Palatino Linotype"/>
                <a:ea typeface="Palatino Linotype"/>
                <a:cs typeface="Palatino Linotype"/>
                <a:sym typeface="Palatino Linotype"/>
              </a:rPr>
              <a:t>It can be declared either in the public or private or protected part of the class.</a:t>
            </a:r>
            <a:endParaRPr/>
          </a:p>
          <a:p>
            <a:pPr indent="0" lvl="0" marL="0" marR="0" rtl="0" algn="l">
              <a:spcBef>
                <a:spcPts val="0"/>
              </a:spcBef>
              <a:spcAft>
                <a:spcPts val="0"/>
              </a:spcAft>
              <a:buNone/>
            </a:pPr>
            <a:r>
              <a:t/>
            </a:r>
            <a:endParaRPr sz="2400">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rPr b="1" lang="en-US" sz="2400">
                <a:solidFill>
                  <a:schemeClr val="dk1"/>
                </a:solidFill>
                <a:latin typeface="Palatino Linotype"/>
                <a:ea typeface="Palatino Linotype"/>
                <a:cs typeface="Palatino Linotype"/>
                <a:sym typeface="Palatino Linotype"/>
              </a:rPr>
              <a:t>Disadvantages of Friend Functions</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Palatino Linotype"/>
                <a:ea typeface="Palatino Linotype"/>
                <a:cs typeface="Palatino Linotype"/>
                <a:sym typeface="Palatino Linotype"/>
              </a:rPr>
              <a:t>Friend functions have access to private members of a class from outside the class which violates the law of data hiding.</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Palatino Linotype"/>
                <a:ea typeface="Palatino Linotype"/>
                <a:cs typeface="Palatino Linotype"/>
                <a:sym typeface="Palatino Linotype"/>
              </a:rPr>
              <a:t>Friend functions cannot do any run-time polymorphism in their members.</a:t>
            </a:r>
            <a:endParaRPr/>
          </a:p>
          <a:p>
            <a:pPr indent="-190500" lvl="0" marL="342900" marR="0" rtl="0" algn="just">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0"/>
          <p:cNvSpPr/>
          <p:nvPr/>
        </p:nvSpPr>
        <p:spPr>
          <a:xfrm>
            <a:off x="238125" y="1012025"/>
            <a:ext cx="12129600" cy="4813500"/>
          </a:xfrm>
          <a:prstGeom prst="rect">
            <a:avLst/>
          </a:prstGeom>
          <a:noFill/>
          <a:ln>
            <a:noFill/>
          </a:ln>
        </p:spPr>
        <p:txBody>
          <a:bodyPr anchorCtr="0" anchor="t" bIns="45700" lIns="91425" spcFirstLastPara="1" rIns="91425" wrap="square" tIns="45700">
            <a:spAutoFit/>
          </a:bodyPr>
          <a:lstStyle/>
          <a:p>
            <a:pPr indent="-355600" lvl="0" marL="342900" marR="0" rtl="0" algn="just">
              <a:lnSpc>
                <a:spcPct val="107000"/>
              </a:lnSpc>
              <a:spcBef>
                <a:spcPts val="0"/>
              </a:spcBef>
              <a:spcAft>
                <a:spcPts val="0"/>
              </a:spcAft>
              <a:buClr>
                <a:schemeClr val="dk1"/>
              </a:buClr>
              <a:buSzPts val="3000"/>
              <a:buFont typeface="Calibri"/>
              <a:buAutoNum type="arabicPeriod"/>
            </a:pPr>
            <a:r>
              <a:rPr lang="en-US" sz="3000">
                <a:solidFill>
                  <a:schemeClr val="dk1"/>
                </a:solidFill>
                <a:latin typeface="Calibri"/>
                <a:ea typeface="Calibri"/>
                <a:cs typeface="Calibri"/>
                <a:sym typeface="Calibri"/>
              </a:rPr>
              <a:t>You are required to implement a class, </a:t>
            </a:r>
            <a:r>
              <a:rPr b="1" lang="en-US" sz="3000">
                <a:solidFill>
                  <a:schemeClr val="dk1"/>
                </a:solidFill>
                <a:latin typeface="Calibri"/>
                <a:ea typeface="Calibri"/>
                <a:cs typeface="Calibri"/>
                <a:sym typeface="Calibri"/>
              </a:rPr>
              <a:t>Point2D</a:t>
            </a:r>
            <a:r>
              <a:rPr lang="en-US" sz="3000">
                <a:solidFill>
                  <a:schemeClr val="dk1"/>
                </a:solidFill>
                <a:latin typeface="Calibri"/>
                <a:ea typeface="Calibri"/>
                <a:cs typeface="Calibri"/>
                <a:sym typeface="Calibri"/>
              </a:rPr>
              <a:t>. The Point2D class contains private member x. Implement a parameterized constructor to initialize the value. There is a global function calculateDistance(), which takes two Point2D objects as parameters and is declared as a friend of the Point2D class, allowing it to access the private member x. The calculateDistance() function calculates the distance.  In the main function, create two Point2D objects, display their x value, and use the calculateDistance() function to compute and output the distance between the x value of two objects.</a:t>
            </a:r>
            <a:endParaRPr sz="22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1"/>
          <p:cNvSpPr/>
          <p:nvPr/>
        </p:nvSpPr>
        <p:spPr>
          <a:xfrm>
            <a:off x="2205036" y="1451699"/>
            <a:ext cx="8696325" cy="353943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800">
                <a:solidFill>
                  <a:schemeClr val="dk1"/>
                </a:solidFill>
                <a:latin typeface="Calibri"/>
                <a:ea typeface="Calibri"/>
                <a:cs typeface="Calibri"/>
                <a:sym typeface="Calibri"/>
              </a:rPr>
              <a:t>Create a program that stores and compares the marks of two students. </a:t>
            </a:r>
            <a:endParaRPr/>
          </a:p>
          <a:p>
            <a:pPr indent="0" lvl="0" marL="0" marR="0" rtl="0" algn="just">
              <a:spcBef>
                <a:spcPts val="0"/>
              </a:spcBef>
              <a:spcAft>
                <a:spcPts val="0"/>
              </a:spcAft>
              <a:buNone/>
            </a:pPr>
            <a:r>
              <a:rPr lang="en-US" sz="2800">
                <a:solidFill>
                  <a:schemeClr val="dk1"/>
                </a:solidFill>
                <a:latin typeface="Calibri"/>
                <a:ea typeface="Calibri"/>
                <a:cs typeface="Calibri"/>
                <a:sym typeface="Calibri"/>
              </a:rPr>
              <a:t>Define a class </a:t>
            </a:r>
            <a:r>
              <a:rPr b="1" lang="en-US" sz="2800">
                <a:solidFill>
                  <a:schemeClr val="dk1"/>
                </a:solidFill>
                <a:latin typeface="Calibri"/>
                <a:ea typeface="Calibri"/>
                <a:cs typeface="Calibri"/>
                <a:sym typeface="Calibri"/>
              </a:rPr>
              <a:t>Student</a:t>
            </a:r>
            <a:r>
              <a:rPr lang="en-US" sz="2800">
                <a:solidFill>
                  <a:schemeClr val="dk1"/>
                </a:solidFill>
                <a:latin typeface="Calibri"/>
                <a:ea typeface="Calibri"/>
                <a:cs typeface="Calibri"/>
                <a:sym typeface="Calibri"/>
              </a:rPr>
              <a:t> that has: A private data member </a:t>
            </a:r>
            <a:r>
              <a:rPr b="1" lang="en-US" sz="2800">
                <a:solidFill>
                  <a:schemeClr val="dk1"/>
                </a:solidFill>
                <a:latin typeface="Calibri"/>
                <a:ea typeface="Calibri"/>
                <a:cs typeface="Calibri"/>
                <a:sym typeface="Calibri"/>
              </a:rPr>
              <a:t>marks</a:t>
            </a:r>
            <a:r>
              <a:rPr lang="en-US" sz="2800">
                <a:solidFill>
                  <a:schemeClr val="dk1"/>
                </a:solidFill>
                <a:latin typeface="Calibri"/>
                <a:ea typeface="Calibri"/>
                <a:cs typeface="Calibri"/>
                <a:sym typeface="Calibri"/>
              </a:rPr>
              <a:t> to store the student's marks. A constructor to initialize the marks.</a:t>
            </a:r>
            <a:endParaRPr/>
          </a:p>
          <a:p>
            <a:pPr indent="0" lvl="0" marL="0" marR="0" rtl="0" algn="just">
              <a:spcBef>
                <a:spcPts val="0"/>
              </a:spcBef>
              <a:spcAft>
                <a:spcPts val="0"/>
              </a:spcAft>
              <a:buNone/>
            </a:pPr>
            <a:r>
              <a:rPr lang="en-US" sz="2800">
                <a:solidFill>
                  <a:schemeClr val="dk1"/>
                </a:solidFill>
                <a:latin typeface="Calibri"/>
                <a:ea typeface="Calibri"/>
                <a:cs typeface="Calibri"/>
                <a:sym typeface="Calibri"/>
              </a:rPr>
              <a:t>Write a friend function </a:t>
            </a:r>
            <a:r>
              <a:rPr b="1" lang="en-US" sz="2800">
                <a:solidFill>
                  <a:schemeClr val="dk1"/>
                </a:solidFill>
                <a:latin typeface="Calibri"/>
                <a:ea typeface="Calibri"/>
                <a:cs typeface="Calibri"/>
                <a:sym typeface="Calibri"/>
              </a:rPr>
              <a:t>findTopper</a:t>
            </a:r>
            <a:r>
              <a:rPr lang="en-US" sz="2800">
                <a:solidFill>
                  <a:schemeClr val="dk1"/>
                </a:solidFill>
                <a:latin typeface="Calibri"/>
                <a:ea typeface="Calibri"/>
                <a:cs typeface="Calibri"/>
                <a:sym typeface="Calibri"/>
              </a:rPr>
              <a:t>(Student s1, Student s2) that: Compares the marks of the two students. Prints the name of the student with higher marks.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2"/>
          <p:cNvSpPr txBox="1"/>
          <p:nvPr>
            <p:ph type="title"/>
          </p:nvPr>
        </p:nvSpPr>
        <p:spPr>
          <a:xfrm>
            <a:off x="1050234" y="2446939"/>
            <a:ext cx="10515600" cy="1325563"/>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2060"/>
              </a:buClr>
              <a:buSzPts val="9600"/>
              <a:buFont typeface="Palatino Linotype"/>
              <a:buNone/>
            </a:pPr>
            <a:r>
              <a:rPr b="1" lang="en-US" sz="9600">
                <a:solidFill>
                  <a:srgbClr val="002060"/>
                </a:solidFill>
                <a:latin typeface="Palatino Linotype"/>
                <a:ea typeface="Palatino Linotype"/>
                <a:cs typeface="Palatino Linotype"/>
                <a:sym typeface="Palatino Linotype"/>
              </a:rPr>
              <a:t>Thank You</a:t>
            </a:r>
            <a:endParaRPr/>
          </a:p>
        </p:txBody>
      </p:sp>
      <p:sp>
        <p:nvSpPr>
          <p:cNvPr id="362" name="Google Shape;362;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2014-09-15T17:16:29Z</dcterms:created>
  <dc:creator>T-T</dc:creator>
</cp:coreProperties>
</file>