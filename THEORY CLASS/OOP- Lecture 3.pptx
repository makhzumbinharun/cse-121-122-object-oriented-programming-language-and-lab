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61" r:id="rId3"/>
    <p:sldId id="297" r:id="rId4"/>
    <p:sldId id="278" r:id="rId5"/>
    <p:sldId id="298" r:id="rId6"/>
    <p:sldId id="300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9" r:id="rId15"/>
    <p:sldId id="286" r:id="rId16"/>
    <p:sldId id="287" r:id="rId17"/>
    <p:sldId id="301" r:id="rId18"/>
    <p:sldId id="299" r:id="rId19"/>
    <p:sldId id="302" r:id="rId20"/>
    <p:sldId id="303" r:id="rId21"/>
    <p:sldId id="26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297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597E-5B9C-4223-A3DC-E2371CBFDE86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Nasrin Akter, Lecturer, Prime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7349-6B5D-4302-9559-F56B92BBB5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597E-5B9C-4223-A3DC-E2371CBFDE86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Nasrin Akter, Lecturer, Prime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7349-6B5D-4302-9559-F56B92BBB5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597E-5B9C-4223-A3DC-E2371CBFDE86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Nasrin Akter, Lecturer, Prime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7349-6B5D-4302-9559-F56B92BBB5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597E-5B9C-4223-A3DC-E2371CBFDE86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Nasrin Akter, Lecturer, Prime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7349-6B5D-4302-9559-F56B92BBB5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597E-5B9C-4223-A3DC-E2371CBFDE86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Nasrin Akter, Lecturer, Prime University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7349-6B5D-4302-9559-F56B92BBB5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597E-5B9C-4223-A3DC-E2371CBFDE86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Nasrin Akter, Lecturer, Prime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7349-6B5D-4302-9559-F56B92BBB5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597E-5B9C-4223-A3DC-E2371CBFDE86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Nasrin Akter, Lecturer, Prime University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7349-6B5D-4302-9559-F56B92BBB5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597E-5B9C-4223-A3DC-E2371CBFDE86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Nasrin Akter, Lecturer, Prime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7349-6B5D-4302-9559-F56B92BBB5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597E-5B9C-4223-A3DC-E2371CBFDE86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Nasrin Akter, Lecturer, Prime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7349-6B5D-4302-9559-F56B92BBB5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597E-5B9C-4223-A3DC-E2371CBFDE86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Nasrin Akter, Lecturer, Prime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7349-6B5D-4302-9559-F56B92BBB5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597E-5B9C-4223-A3DC-E2371CBFDE86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Nasrin Akter, Lecturer, Prime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7349-6B5D-4302-9559-F56B92BBB5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1025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EEE2597E-5B9C-4223-A3DC-E2371CBFDE86}" type="datetimeFigureOut">
              <a:rPr lang="en-US" smtClean="0"/>
              <a:t>2/6/2025</a:t>
            </a:fld>
            <a:endParaRPr lang="en-US" dirty="0"/>
          </a:p>
        </p:txBody>
      </p:sp>
      <p:sp>
        <p:nvSpPr>
          <p:cNvPr id="1029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r>
              <a:rPr lang="en-US" dirty="0" err="1"/>
              <a:t>Nasrin</a:t>
            </a:r>
            <a:r>
              <a:rPr lang="en-US" dirty="0"/>
              <a:t> </a:t>
            </a:r>
            <a:r>
              <a:rPr lang="en-US" dirty="0" err="1"/>
              <a:t>Akter</a:t>
            </a:r>
            <a:r>
              <a:rPr lang="en-US" dirty="0"/>
              <a:t>, Lecturer, Prime University</a:t>
            </a:r>
          </a:p>
        </p:txBody>
      </p:sp>
      <p:sp>
        <p:nvSpPr>
          <p:cNvPr id="1030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9DCE7349-6B5D-4302-9559-F56B92BBB5F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9992" y="1126435"/>
            <a:ext cx="10515600" cy="482379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Lecture: 3</a:t>
            </a:r>
            <a:r>
              <a:rPr lang="en-US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Constructor </a:t>
            </a:r>
            <a:r>
              <a:rPr lang="en-US" sz="4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4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Destructor</a:t>
            </a:r>
            <a:r>
              <a:rPr lang="en-US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  <a:r>
              <a:rPr 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 err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Sumaiya</a:t>
            </a:r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Binte</a:t>
            </a:r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Shahid</a:t>
            </a:r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b="1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  <a:br>
              <a:rPr lang="en-US" sz="22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BUBT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7349-6B5D-4302-9559-F56B92BBB5F1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759655" y="2085217"/>
            <a:ext cx="10607040" cy="272913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895" y="480629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Constructor?</a:t>
            </a:r>
            <a:endParaRPr lang="en-US" sz="36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3889" y="2910566"/>
            <a:ext cx="9678572" cy="4932984"/>
          </a:xfrm>
        </p:spPr>
        <p:txBody>
          <a:bodyPr>
            <a:normAutofit/>
          </a:bodyPr>
          <a:lstStyle/>
          <a:p>
            <a:pPr marL="0" indent="0" algn="ctr" fontAlgn="base">
              <a:lnSpc>
                <a:spcPct val="100000"/>
              </a:lnSpc>
              <a:buClr>
                <a:srgbClr val="002060"/>
              </a:buClr>
              <a:buNone/>
            </a:pP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+mj-lt"/>
                <a:cs typeface="+mj-lt"/>
              </a:rPr>
              <a:t>A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+mj-lt"/>
                <a:cs typeface="+mj-lt"/>
              </a:rPr>
              <a:t>constructor in C++ is a special member function (method) that is 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+mj-lt"/>
                <a:cs typeface="+mj-lt"/>
              </a:rPr>
              <a:t>automatically called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+mj-lt"/>
                <a:cs typeface="+mj-lt"/>
              </a:rPr>
              <a:t> when an object of a class is created.</a:t>
            </a:r>
          </a:p>
          <a:p>
            <a:pPr algn="just">
              <a:lnSpc>
                <a:spcPct val="100000"/>
              </a:lnSpc>
              <a:buClr>
                <a:srgbClr val="002060"/>
              </a:buClr>
              <a:buFont typeface="Wingdings" panose="05000000000000000000" pitchFamily="2" charset="2"/>
              <a:buChar char="Ø"/>
            </a:pPr>
            <a:endParaRPr lang="en-US" sz="2000" dirty="0">
              <a:latin typeface="+mj-lt"/>
              <a:cs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7349-6B5D-4302-9559-F56B92BBB5F1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Properties of Constructor</a:t>
            </a:r>
            <a:endParaRPr lang="en-US" sz="36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32984"/>
          </a:xfrm>
        </p:spPr>
        <p:txBody>
          <a:bodyPr>
            <a:normAutofit/>
          </a:bodyPr>
          <a:lstStyle/>
          <a:p>
            <a:pPr algn="just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cs typeface="+mj-lt"/>
              </a:rPr>
              <a:t>Constructors have the same name as the </a:t>
            </a:r>
            <a:r>
              <a:rPr lang="en-US" sz="2400" dirty="0" smtClean="0">
                <a:cs typeface="+mj-lt"/>
              </a:rPr>
              <a:t>class.</a:t>
            </a:r>
            <a:endParaRPr lang="en-US" sz="2400" dirty="0">
              <a:cs typeface="+mj-lt"/>
            </a:endParaRPr>
          </a:p>
          <a:p>
            <a:pPr algn="just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  <a:cs typeface="+mj-lt"/>
              </a:rPr>
              <a:t>Constructors don’t have return type as it does not return any </a:t>
            </a:r>
            <a:r>
              <a:rPr lang="en-US" sz="2400" b="1" dirty="0" smtClean="0">
                <a:solidFill>
                  <a:srgbClr val="FF0000"/>
                </a:solidFill>
                <a:cs typeface="+mj-lt"/>
              </a:rPr>
              <a:t>value, not even void.</a:t>
            </a:r>
            <a:endParaRPr lang="en-US" sz="2400" b="1" dirty="0">
              <a:solidFill>
                <a:srgbClr val="FF0000"/>
              </a:solidFill>
              <a:cs typeface="+mj-lt"/>
            </a:endParaRPr>
          </a:p>
          <a:p>
            <a:pPr algn="just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cs typeface="+mj-lt"/>
              </a:rPr>
              <a:t>If we do not specify a constructor, C++ compiler generates a default constructor for us</a:t>
            </a:r>
            <a:r>
              <a:rPr lang="en-US" sz="2400" dirty="0" smtClean="0">
                <a:cs typeface="+mj-lt"/>
              </a:rPr>
              <a:t>.</a:t>
            </a:r>
          </a:p>
          <a:p>
            <a:pPr algn="just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400" dirty="0" smtClean="0">
                <a:cs typeface="+mj-lt"/>
              </a:rPr>
              <a:t> </a:t>
            </a:r>
            <a:r>
              <a:rPr lang="en-US" sz="2400" b="1" dirty="0" smtClean="0">
                <a:solidFill>
                  <a:srgbClr val="FF0000"/>
                </a:solidFill>
                <a:cs typeface="+mj-lt"/>
              </a:rPr>
              <a:t>Constructors </a:t>
            </a:r>
            <a:r>
              <a:rPr lang="en-US" sz="2400" b="1" dirty="0">
                <a:solidFill>
                  <a:srgbClr val="FF0000"/>
                </a:solidFill>
                <a:cs typeface="+mj-lt"/>
              </a:rPr>
              <a:t>are used to initialize all class data members.</a:t>
            </a:r>
          </a:p>
          <a:p>
            <a:pPr algn="just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cs typeface="+mj-lt"/>
              </a:rPr>
              <a:t>There are 3 types of constructors:</a:t>
            </a:r>
          </a:p>
          <a:p>
            <a:pPr marL="457200" lvl="1" indent="0" algn="just">
              <a:buClr>
                <a:srgbClr val="002060"/>
              </a:buClr>
              <a:buNone/>
            </a:pPr>
            <a:r>
              <a:rPr lang="en-US" sz="2400" dirty="0">
                <a:cs typeface="+mj-lt"/>
              </a:rPr>
              <a:t>(</a:t>
            </a:r>
            <a:r>
              <a:rPr lang="en-US" sz="2400" dirty="0" err="1">
                <a:cs typeface="+mj-lt"/>
              </a:rPr>
              <a:t>i</a:t>
            </a:r>
            <a:r>
              <a:rPr lang="en-US" sz="2400" dirty="0">
                <a:cs typeface="+mj-lt"/>
              </a:rPr>
              <a:t>) Default constructors</a:t>
            </a:r>
          </a:p>
          <a:p>
            <a:pPr marL="457200" lvl="1" indent="0" algn="just">
              <a:buClr>
                <a:srgbClr val="002060"/>
              </a:buClr>
              <a:buNone/>
            </a:pPr>
            <a:r>
              <a:rPr lang="en-US" sz="2400" dirty="0">
                <a:cs typeface="+mj-lt"/>
              </a:rPr>
              <a:t>(ii) Parametrized constructors</a:t>
            </a:r>
          </a:p>
          <a:p>
            <a:pPr marL="457200" lvl="1" indent="0" algn="just">
              <a:buClr>
                <a:srgbClr val="002060"/>
              </a:buClr>
              <a:buNone/>
            </a:pPr>
            <a:r>
              <a:rPr lang="en-US" sz="2400" dirty="0">
                <a:cs typeface="+mj-lt"/>
              </a:rPr>
              <a:t>(iii) Copy constructors</a:t>
            </a:r>
          </a:p>
          <a:p>
            <a:pPr algn="just">
              <a:lnSpc>
                <a:spcPct val="100000"/>
              </a:lnSpc>
              <a:buClr>
                <a:srgbClr val="002060"/>
              </a:buClr>
              <a:buFont typeface="Wingdings" panose="05000000000000000000" pitchFamily="2" charset="2"/>
              <a:buChar char="Ø"/>
            </a:pPr>
            <a:endParaRPr lang="en-US" sz="2000" dirty="0">
              <a:latin typeface="+mj-lt"/>
              <a:cs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7349-6B5D-4302-9559-F56B92BBB5F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629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5824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of 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Constructors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63" y="1328738"/>
            <a:ext cx="5164136" cy="5314279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7349-6B5D-4302-9559-F56B92BBB5F1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4584" y="1328738"/>
            <a:ext cx="5136841" cy="53142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Constructors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2224"/>
            <a:ext cx="10744200" cy="4932984"/>
          </a:xfrm>
        </p:spPr>
        <p:txBody>
          <a:bodyPr>
            <a:normAutofit/>
          </a:bodyPr>
          <a:lstStyle/>
          <a:p>
            <a:pPr algn="just" fontAlgn="base">
              <a:lnSpc>
                <a:spcPct val="100000"/>
              </a:lnSpc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constructor is the constructor which doesn’t take any argument. It has no parameters.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7349-6B5D-4302-9559-F56B92BBB5F1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760" y="1731438"/>
            <a:ext cx="5466547" cy="48634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9860" y="2831979"/>
            <a:ext cx="4061140" cy="1998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738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</a:t>
            </a:r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Constructors</a:t>
            </a:r>
            <a:endParaRPr lang="en-US" sz="36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773" y="1417638"/>
            <a:ext cx="6462931" cy="530383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7349-6B5D-4302-9559-F56B92BBB5F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446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Parameterized Constructors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63250"/>
            <a:ext cx="10515600" cy="4932984"/>
          </a:xfrm>
        </p:spPr>
        <p:txBody>
          <a:bodyPr>
            <a:normAutofit/>
          </a:bodyPr>
          <a:lstStyle/>
          <a:p>
            <a:pPr algn="just" fontAlgn="base">
              <a:lnSpc>
                <a:spcPct val="100000"/>
              </a:lnSpc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possible to pass arguments to constructors. </a:t>
            </a:r>
          </a:p>
          <a:p>
            <a:pPr algn="just" fontAlgn="base">
              <a:lnSpc>
                <a:spcPct val="100000"/>
              </a:lnSpc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Typically, these arguments help initialize an object when it is created. </a:t>
            </a:r>
          </a:p>
          <a:p>
            <a:pPr algn="just" fontAlgn="base">
              <a:lnSpc>
                <a:spcPct val="100000"/>
              </a:lnSpc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parameterized constructor,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simply add parameters to it the way you would to any other function. </a:t>
            </a:r>
          </a:p>
          <a:p>
            <a:pPr algn="just" fontAlgn="base">
              <a:lnSpc>
                <a:spcPct val="100000"/>
              </a:lnSpc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define the constructor’s body, use the parameters to initialize the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7349-6B5D-4302-9559-F56B92BBB5F1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Parameterized Constructors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7349-6B5D-4302-9559-F56B92BBB5F1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0707" y="1223889"/>
            <a:ext cx="5356893" cy="54975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of Parameterized Constructors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3960" y="1925016"/>
            <a:ext cx="10515600" cy="4932984"/>
          </a:xfrm>
        </p:spPr>
        <p:txBody>
          <a:bodyPr>
            <a:normAutofit/>
          </a:bodyPr>
          <a:lstStyle/>
          <a:p>
            <a:pPr algn="just" fontAlgn="base">
              <a:lnSpc>
                <a:spcPct val="100000"/>
              </a:lnSpc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initialize the various data elements of different objects with different values when they are created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fontAlgn="base">
              <a:lnSpc>
                <a:spcPct val="100000"/>
              </a:lnSpc>
              <a:buClr>
                <a:srgbClr val="002060"/>
              </a:buCl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lnSpc>
                <a:spcPct val="100000"/>
              </a:lnSpc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overload constructors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fontAlgn="base">
              <a:lnSpc>
                <a:spcPct val="100000"/>
              </a:lnSpc>
              <a:buClr>
                <a:srgbClr val="002060"/>
              </a:buCl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lnSpc>
                <a:spcPct val="100000"/>
              </a:lnSpc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we have more than one constructors in a class?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Yes, It is called Constructor Overloading.</a:t>
            </a:r>
          </a:p>
          <a:p>
            <a:pPr fontAlgn="base">
              <a:lnSpc>
                <a:spcPct val="100000"/>
              </a:lnSpc>
              <a:buClr>
                <a:srgbClr val="002060"/>
              </a:buCl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7349-6B5D-4302-9559-F56B92BBB5F1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Constructor Overloading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32984"/>
          </a:xfrm>
        </p:spPr>
        <p:txBody>
          <a:bodyPr>
            <a:normAutofit/>
          </a:bodyPr>
          <a:lstStyle/>
          <a:p>
            <a:pPr algn="just" fontAlgn="base">
              <a:lnSpc>
                <a:spcPct val="100000"/>
              </a:lnSpc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C++, We can have more than one constructor in a class with same name, as long as each has a different list of arguments. This concept is known as Constructor Overloading.</a:t>
            </a:r>
          </a:p>
          <a:p>
            <a:pPr algn="just" fontAlgn="base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Overloaded constructors essentially have the same name (name of the class) and different number of arguments.</a:t>
            </a:r>
          </a:p>
          <a:p>
            <a:pPr algn="just" fontAlgn="base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constructor is called depending upon the number and type of arguments passed.</a:t>
            </a:r>
          </a:p>
          <a:p>
            <a:pPr algn="just" fontAlgn="base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creating the object, arguments must be passed to let compiler know, which constructor needs to be called.</a:t>
            </a:r>
          </a:p>
          <a:p>
            <a:pPr algn="just" fontAlgn="base">
              <a:lnSpc>
                <a:spcPct val="100000"/>
              </a:lnSpc>
              <a:buClr>
                <a:srgbClr val="002060"/>
              </a:buCl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7349-6B5D-4302-9559-F56B92BBB5F1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56870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Constructor Overloading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0991"/>
            <a:ext cx="10515600" cy="5287618"/>
          </a:xfrm>
        </p:spPr>
        <p:txBody>
          <a:bodyPr>
            <a:normAutofit/>
          </a:bodyPr>
          <a:lstStyle/>
          <a:p>
            <a:pPr marL="0" indent="0" algn="just" fontAlgn="base">
              <a:lnSpc>
                <a:spcPct val="100000"/>
              </a:lnSpc>
              <a:buClr>
                <a:srgbClr val="002060"/>
              </a:buCl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fontAlgn="base">
              <a:lnSpc>
                <a:spcPct val="100000"/>
              </a:lnSpc>
              <a:buClr>
                <a:srgbClr val="002060"/>
              </a:buCl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4215" y="1086130"/>
            <a:ext cx="6729148" cy="5672479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7349-6B5D-4302-9559-F56B92BBB5F1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177317"/>
            <a:ext cx="10515600" cy="4932984"/>
          </a:xfrm>
        </p:spPr>
        <p:txBody>
          <a:bodyPr>
            <a:normAutofit/>
          </a:bodyPr>
          <a:lstStyle/>
          <a:p>
            <a:pPr algn="just" fontAlgn="base">
              <a:lnSpc>
                <a:spcPct val="100000"/>
              </a:lnSpc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copy constructor is a member function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initializes an object using another object of the same class.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copy constructor has the following general function prototype: </a:t>
            </a:r>
          </a:p>
          <a:p>
            <a:pPr marL="0" indent="0" algn="ctr" fontAlgn="base">
              <a:lnSpc>
                <a:spcPct val="100000"/>
              </a:lnSpc>
              <a:buClr>
                <a:srgbClr val="002060"/>
              </a:buClr>
              <a:buNone/>
            </a:pPr>
            <a:r>
              <a:rPr lang="en-US" alt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alt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objName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endParaRPr lang="en-US" alt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lnSpc>
                <a:spcPct val="100000"/>
              </a:lnSpc>
              <a:buClr>
                <a:srgbClr val="002060"/>
              </a:buCl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45230"/>
            <a:ext cx="65" cy="366739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88872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7349-6B5D-4302-9559-F56B92BBB5F1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0889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0991"/>
            <a:ext cx="10515600" cy="5287618"/>
          </a:xfrm>
        </p:spPr>
        <p:txBody>
          <a:bodyPr>
            <a:normAutofit/>
          </a:bodyPr>
          <a:lstStyle/>
          <a:p>
            <a:pPr marL="0" indent="0" algn="just" fontAlgn="base">
              <a:lnSpc>
                <a:spcPct val="100000"/>
              </a:lnSpc>
              <a:buClr>
                <a:srgbClr val="002060"/>
              </a:buCl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fontAlgn="base">
              <a:lnSpc>
                <a:spcPct val="100000"/>
              </a:lnSpc>
              <a:buClr>
                <a:srgbClr val="002060"/>
              </a:buCl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4417" y="1223889"/>
            <a:ext cx="6726697" cy="553472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7349-6B5D-4302-9559-F56B92BBB5F1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2857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0991"/>
            <a:ext cx="10515600" cy="5287618"/>
          </a:xfrm>
        </p:spPr>
        <p:txBody>
          <a:bodyPr>
            <a:normAutofit/>
          </a:bodyPr>
          <a:lstStyle/>
          <a:p>
            <a:pPr marL="0" indent="0" algn="just" fontAlgn="base">
              <a:lnSpc>
                <a:spcPct val="100000"/>
              </a:lnSpc>
              <a:buClr>
                <a:srgbClr val="002060"/>
              </a:buCl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fontAlgn="base">
              <a:lnSpc>
                <a:spcPct val="100000"/>
              </a:lnSpc>
              <a:buClr>
                <a:srgbClr val="002060"/>
              </a:buCl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233" y="1071563"/>
            <a:ext cx="7275767" cy="578643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7349-6B5D-4302-9559-F56B92BBB5F1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is Copy Constructor Called!!!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585" y="2317994"/>
            <a:ext cx="10515600" cy="4932984"/>
          </a:xfrm>
        </p:spPr>
        <p:txBody>
          <a:bodyPr>
            <a:normAutofit/>
          </a:bodyPr>
          <a:lstStyle/>
          <a:p>
            <a:pPr algn="just" fontAlgn="base">
              <a:lnSpc>
                <a:spcPct val="100000"/>
              </a:lnSpc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an object of the class is returned by value.</a:t>
            </a:r>
          </a:p>
          <a:p>
            <a:pPr algn="just" fontAlgn="base">
              <a:lnSpc>
                <a:spcPct val="100000"/>
              </a:lnSpc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an object of the class is passed (to a function) by value as an argument.</a:t>
            </a:r>
          </a:p>
          <a:p>
            <a:pPr algn="just" fontAlgn="base">
              <a:lnSpc>
                <a:spcPct val="100000"/>
              </a:lnSpc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an object is constructed based on another object of the same class.</a:t>
            </a:r>
          </a:p>
          <a:p>
            <a:pPr algn="just" fontAlgn="base">
              <a:lnSpc>
                <a:spcPct val="100000"/>
              </a:lnSpc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compiler generates a temporary object.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45230"/>
            <a:ext cx="65" cy="366739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88872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7349-6B5D-4302-9559-F56B92BBB5F1}" type="slidenum">
              <a:rPr lang="en-US" smtClean="0"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56812"/>
            <a:ext cx="10515600" cy="4932984"/>
          </a:xfrm>
        </p:spPr>
        <p:txBody>
          <a:bodyPr>
            <a:normAutofit/>
          </a:bodyPr>
          <a:lstStyle/>
          <a:p>
            <a:pPr fontAlgn="base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destructor?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Destructor is a member function which destructs or deletes an object.</a:t>
            </a:r>
          </a:p>
          <a:p>
            <a:pPr fontAlgn="base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is destructor called?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destructor function is called automatically when the object goes out of scope:</a:t>
            </a:r>
          </a:p>
          <a:p>
            <a:pPr lvl="1" fontAlgn="base">
              <a:buClr>
                <a:srgbClr val="002060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function ends </a:t>
            </a:r>
          </a:p>
          <a:p>
            <a:pPr lvl="1" fontAlgn="base">
              <a:buClr>
                <a:srgbClr val="002060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program ends</a:t>
            </a:r>
          </a:p>
          <a:p>
            <a:pPr lvl="1" fontAlgn="base">
              <a:buClr>
                <a:srgbClr val="002060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block containing local variables ends</a:t>
            </a:r>
          </a:p>
          <a:p>
            <a:pPr lvl="1" fontAlgn="base">
              <a:buClr>
                <a:srgbClr val="002060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delete operator is called </a:t>
            </a:r>
          </a:p>
          <a:p>
            <a:pPr algn="just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destructors are different from a normal member function?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Destructors have same name as the class preceded by a tilde (~). Destructors don’t take any argument and don’t return anything</a:t>
            </a:r>
          </a:p>
          <a:p>
            <a:pPr algn="just" fontAlgn="base">
              <a:lnSpc>
                <a:spcPct val="100000"/>
              </a:lnSpc>
              <a:buClr>
                <a:srgbClr val="002060"/>
              </a:buCl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45230"/>
            <a:ext cx="65" cy="366739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88872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7349-6B5D-4302-9559-F56B92BBB5F1}" type="slidenum">
              <a:rPr lang="en-US" smtClean="0"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03774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of Destructors</a:t>
            </a:r>
            <a:endParaRPr lang="en-US" sz="36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45230"/>
            <a:ext cx="65" cy="366739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88872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7349-6B5D-4302-9559-F56B92BBB5F1}" type="slidenum">
              <a:rPr lang="en-US" smtClean="0"/>
              <a:t>17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677" y="1052177"/>
            <a:ext cx="5153323" cy="566929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6739" y="2157413"/>
            <a:ext cx="4805661" cy="240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261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03774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Constructors &amp; Destructors</a:t>
            </a:r>
            <a:endParaRPr lang="en-US" sz="36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78511"/>
            <a:ext cx="10515600" cy="4932984"/>
          </a:xfrm>
        </p:spPr>
        <p:txBody>
          <a:bodyPr>
            <a:normAutofit/>
          </a:bodyPr>
          <a:lstStyle/>
          <a:p>
            <a:pPr fontAlgn="base">
              <a:buClr>
                <a:srgbClr val="002060"/>
              </a:buClr>
              <a:buFont typeface="Wingdings" panose="05000000000000000000" pitchFamily="2" charset="2"/>
              <a:buChar char="Ø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buClr>
                <a:srgbClr val="002060"/>
              </a:buClr>
              <a:buFont typeface="Wingdings" panose="05000000000000000000" pitchFamily="2" charset="2"/>
              <a:buChar char="Ø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45230"/>
            <a:ext cx="65" cy="366739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88872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7349-6B5D-4302-9559-F56B92BBB5F1}" type="slidenum">
              <a:rPr lang="en-US" smtClean="0"/>
              <a:t>18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135" y="1380504"/>
            <a:ext cx="10069816" cy="473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161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7349-6B5D-4302-9559-F56B92BBB5F1}" type="slidenum">
              <a:rPr lang="en-US" smtClean="0"/>
              <a:t>19</a:t>
            </a:fld>
            <a:endParaRPr lang="en-US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404424" y="1559453"/>
            <a:ext cx="9906001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</a:rPr>
              <a:t>You are required to design a C++ class named Rectangle that represents a rectangle with a given length and width. The class should include the following: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  <a:p>
            <a:pPr lvl="2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</a:rPr>
              <a:t>A parameterized constructor to initialize the length and width when an object is created.</a:t>
            </a:r>
          </a:p>
          <a:p>
            <a:pPr lvl="2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</a:rPr>
              <a:t>A default constructor that initializes the length and width to 0.</a:t>
            </a:r>
          </a:p>
          <a:p>
            <a:pPr lvl="2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</a:rPr>
              <a:t>A function area() that returns the area of the rectangle.</a:t>
            </a:r>
          </a:p>
          <a:p>
            <a:pPr lvl="2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</a:rPr>
              <a:t>A function display() that prints the length, width, and area of the rectangle.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413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7349-6B5D-4302-9559-F56B92BBB5F1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627" y="0"/>
            <a:ext cx="95487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1221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0234" y="288303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9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E7349-6B5D-4302-9559-F56B92BBB5F1}" type="slidenum">
              <a:rPr lang="en-US" smtClean="0"/>
              <a:t>21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498</Words>
  <Application>Microsoft Office PowerPoint</Application>
  <PresentationFormat>Widescreen</PresentationFormat>
  <Paragraphs>83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Palatino Linotype</vt:lpstr>
      <vt:lpstr>Times New Roman</vt:lpstr>
      <vt:lpstr>Wingdings</vt:lpstr>
      <vt:lpstr>Default Design</vt:lpstr>
      <vt:lpstr>Lecture: 3 Constructor &amp; Destructor   Prepared By: Sumaiya Binte Shahid Lecturer Department of CSE, BUBT </vt:lpstr>
      <vt:lpstr>What is Constructor?</vt:lpstr>
      <vt:lpstr>Properties of Constructor</vt:lpstr>
      <vt:lpstr>Example of Constructors</vt:lpstr>
      <vt:lpstr>Default Constructors</vt:lpstr>
      <vt:lpstr>Default Constructors</vt:lpstr>
      <vt:lpstr>Parameterized Constructors</vt:lpstr>
      <vt:lpstr>Parameterized Constructors</vt:lpstr>
      <vt:lpstr>Uses of Parameterized Constructors</vt:lpstr>
      <vt:lpstr>Constructor Overloading</vt:lpstr>
      <vt:lpstr>Constructor Overloading</vt:lpstr>
      <vt:lpstr>Copy Constructor</vt:lpstr>
      <vt:lpstr>Copy Constructor</vt:lpstr>
      <vt:lpstr>Copy Constructor</vt:lpstr>
      <vt:lpstr>When is Copy Constructor Called!!!</vt:lpstr>
      <vt:lpstr>Destructors</vt:lpstr>
      <vt:lpstr>Example of Destructors</vt:lpstr>
      <vt:lpstr>Difference Between Constructors &amp; Destructors</vt:lpstr>
      <vt:lpstr>Practice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Techniques (Unstructured)</dc:title>
  <dc:creator>Alamgir Hossain</dc:creator>
  <cp:lastModifiedBy>Administrator</cp:lastModifiedBy>
  <cp:revision>65</cp:revision>
  <dcterms:created xsi:type="dcterms:W3CDTF">2020-01-12T05:21:00Z</dcterms:created>
  <dcterms:modified xsi:type="dcterms:W3CDTF">2025-02-06T08:42:24Z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CDB8AE8F06204E7B8E6971865C2472D6_13</vt:lpwstr>
  </property>
  <property fmtid="{D5CDD505-2E9C-101B-9397-08002B2CF9AE}" pid="3" name="KSOProductBuildVer">
    <vt:lpwstr>1033-12.2.0.13431</vt:lpwstr>
  </property>
</Properties>
</file>