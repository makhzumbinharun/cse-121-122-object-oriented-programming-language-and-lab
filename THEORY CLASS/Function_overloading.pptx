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76" r:id="rId2"/>
    <p:sldId id="258" r:id="rId3"/>
    <p:sldId id="294" r:id="rId4"/>
    <p:sldId id="295" r:id="rId5"/>
    <p:sldId id="322" r:id="rId6"/>
    <p:sldId id="324" r:id="rId7"/>
    <p:sldId id="323" r:id="rId8"/>
    <p:sldId id="327" r:id="rId9"/>
    <p:sldId id="329" r:id="rId10"/>
    <p:sldId id="326" r:id="rId11"/>
    <p:sldId id="328" r:id="rId12"/>
    <p:sldId id="337" r:id="rId13"/>
    <p:sldId id="330" r:id="rId14"/>
    <p:sldId id="331" r:id="rId15"/>
    <p:sldId id="332" r:id="rId16"/>
    <p:sldId id="333" r:id="rId17"/>
    <p:sldId id="334" r:id="rId18"/>
    <p:sldId id="335" r:id="rId19"/>
    <p:sldId id="336" r:id="rId20"/>
    <p:sldId id="338" r:id="rId21"/>
    <p:sldId id="339" r:id="rId22"/>
    <p:sldId id="340" r:id="rId23"/>
    <p:sldId id="341" r:id="rId24"/>
    <p:sldId id="342" r:id="rId25"/>
    <p:sldId id="344" r:id="rId26"/>
    <p:sldId id="343" r:id="rId27"/>
    <p:sldId id="345" r:id="rId28"/>
    <p:sldId id="346" r:id="rId29"/>
    <p:sldId id="347" r:id="rId30"/>
    <p:sldId id="348" r:id="rId31"/>
    <p:sldId id="349" r:id="rId32"/>
    <p:sldId id="350" r:id="rId33"/>
    <p:sldId id="351" r:id="rId34"/>
    <p:sldId id="281"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075" autoAdjust="0"/>
  </p:normalViewPr>
  <p:slideViewPr>
    <p:cSldViewPr snapToGrid="0">
      <p:cViewPr varScale="1">
        <p:scale>
          <a:sx n="68" d="100"/>
          <a:sy n="68" d="100"/>
        </p:scale>
        <p:origin x="81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88DDD80-0AFC-4262-834E-9279B06A19F7}"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B20483-73B1-471D-AA53-D1A5ED1446D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8351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88DDD80-0AFC-4262-834E-9279B06A19F7}"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B20483-73B1-471D-AA53-D1A5ED1446DF}" type="slidenum">
              <a:rPr lang="en-US" smtClean="0"/>
              <a:t>‹#›</a:t>
            </a:fld>
            <a:endParaRPr lang="en-US"/>
          </a:p>
        </p:txBody>
      </p:sp>
    </p:spTree>
    <p:extLst>
      <p:ext uri="{BB962C8B-B14F-4D97-AF65-F5344CB8AC3E}">
        <p14:creationId xmlns:p14="http://schemas.microsoft.com/office/powerpoint/2010/main" val="2106211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88DDD80-0AFC-4262-834E-9279B06A19F7}"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B20483-73B1-471D-AA53-D1A5ED1446D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4873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88DDD80-0AFC-4262-834E-9279B06A19F7}"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B20483-73B1-471D-AA53-D1A5ED1446DF}" type="slidenum">
              <a:rPr lang="en-US" smtClean="0"/>
              <a:t>‹#›</a:t>
            </a:fld>
            <a:endParaRPr lang="en-US"/>
          </a:p>
        </p:txBody>
      </p:sp>
    </p:spTree>
    <p:extLst>
      <p:ext uri="{BB962C8B-B14F-4D97-AF65-F5344CB8AC3E}">
        <p14:creationId xmlns:p14="http://schemas.microsoft.com/office/powerpoint/2010/main" val="1041122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88DDD80-0AFC-4262-834E-9279B06A19F7}" type="datetimeFigureOut">
              <a:rPr lang="en-US" smtClean="0"/>
              <a:t>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EB20483-73B1-471D-AA53-D1A5ED1446DF}" type="slidenum">
              <a:rPr lang="en-US" smtClean="0"/>
              <a:t>‹#›</a:t>
            </a:fld>
            <a:endParaRPr lang="en-US"/>
          </a:p>
        </p:txBody>
      </p:sp>
    </p:spTree>
    <p:extLst>
      <p:ext uri="{BB962C8B-B14F-4D97-AF65-F5344CB8AC3E}">
        <p14:creationId xmlns:p14="http://schemas.microsoft.com/office/powerpoint/2010/main" val="1695381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88DDD80-0AFC-4262-834E-9279B06A19F7}" type="datetimeFigureOut">
              <a:rPr lang="en-US" smtClean="0"/>
              <a:t>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EB20483-73B1-471D-AA53-D1A5ED1446DF}" type="slidenum">
              <a:rPr lang="en-US" smtClean="0"/>
              <a:t>‹#›</a:t>
            </a:fld>
            <a:endParaRPr lang="en-US"/>
          </a:p>
        </p:txBody>
      </p:sp>
    </p:spTree>
    <p:extLst>
      <p:ext uri="{BB962C8B-B14F-4D97-AF65-F5344CB8AC3E}">
        <p14:creationId xmlns:p14="http://schemas.microsoft.com/office/powerpoint/2010/main" val="36583479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88DDD80-0AFC-4262-834E-9279B06A19F7}" type="datetimeFigureOut">
              <a:rPr lang="en-US" smtClean="0"/>
              <a:t>2/2/2026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8EB20483-73B1-471D-AA53-D1A5ED1446DF}" type="slidenum">
              <a:rPr lang="en-US" smtClean="0"/>
              <a:t>‹#›</a:t>
            </a:fld>
            <a:endParaRPr lang="en-US"/>
          </a:p>
        </p:txBody>
      </p:sp>
    </p:spTree>
    <p:extLst>
      <p:ext uri="{BB962C8B-B14F-4D97-AF65-F5344CB8AC3E}">
        <p14:creationId xmlns:p14="http://schemas.microsoft.com/office/powerpoint/2010/main" val="1982138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88DDD80-0AFC-4262-834E-9279B06A19F7}" type="datetimeFigureOut">
              <a:rPr lang="en-US" smtClean="0"/>
              <a:t>2/2/2026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EB20483-73B1-471D-AA53-D1A5ED1446DF}" type="slidenum">
              <a:rPr lang="en-US" smtClean="0"/>
              <a:t>‹#›</a:t>
            </a:fld>
            <a:endParaRPr lang="en-US"/>
          </a:p>
        </p:txBody>
      </p:sp>
    </p:spTree>
    <p:extLst>
      <p:ext uri="{BB962C8B-B14F-4D97-AF65-F5344CB8AC3E}">
        <p14:creationId xmlns:p14="http://schemas.microsoft.com/office/powerpoint/2010/main" val="3525071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88DDD80-0AFC-4262-834E-9279B06A19F7}"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B20483-73B1-471D-AA53-D1A5ED1446DF}" type="slidenum">
              <a:rPr lang="en-US" smtClean="0"/>
              <a:t>‹#›</a:t>
            </a:fld>
            <a:endParaRPr lang="en-US"/>
          </a:p>
        </p:txBody>
      </p:sp>
    </p:spTree>
    <p:extLst>
      <p:ext uri="{BB962C8B-B14F-4D97-AF65-F5344CB8AC3E}">
        <p14:creationId xmlns:p14="http://schemas.microsoft.com/office/powerpoint/2010/main" val="2570608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88DDD80-0AFC-4262-834E-9279B06A19F7}"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B20483-73B1-471D-AA53-D1A5ED1446DF}" type="slidenum">
              <a:rPr lang="en-US" smtClean="0"/>
              <a:t>‹#›</a:t>
            </a:fld>
            <a:endParaRPr lang="en-US"/>
          </a:p>
        </p:txBody>
      </p:sp>
    </p:spTree>
    <p:extLst>
      <p:ext uri="{BB962C8B-B14F-4D97-AF65-F5344CB8AC3E}">
        <p14:creationId xmlns:p14="http://schemas.microsoft.com/office/powerpoint/2010/main" val="830768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88DDD80-0AFC-4262-834E-9279B06A19F7}"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B20483-73B1-471D-AA53-D1A5ED1446DF}" type="slidenum">
              <a:rPr lang="en-US" smtClean="0"/>
              <a:t>‹#›</a:t>
            </a:fld>
            <a:endParaRPr lang="en-US"/>
          </a:p>
        </p:txBody>
      </p:sp>
    </p:spTree>
    <p:extLst>
      <p:ext uri="{BB962C8B-B14F-4D97-AF65-F5344CB8AC3E}">
        <p14:creationId xmlns:p14="http://schemas.microsoft.com/office/powerpoint/2010/main" val="2758248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88DDD80-0AFC-4262-834E-9279B06A19F7}" type="datetimeFigureOut">
              <a:rPr lang="en-US" smtClean="0"/>
              <a:t>2/2/2026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EB20483-73B1-471D-AA53-D1A5ED1446D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202216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jfif"/><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26311" y="-159443"/>
            <a:ext cx="10058400" cy="3566160"/>
          </a:xfrm>
        </p:spPr>
        <p:txBody>
          <a:bodyPr>
            <a:normAutofit/>
          </a:bodyPr>
          <a:lstStyle/>
          <a:p>
            <a:pPr algn="ctr"/>
            <a:r>
              <a:rPr lang="en-US" sz="6600" b="1" dirty="0" smtClean="0">
                <a:solidFill>
                  <a:schemeClr val="accent1"/>
                </a:solidFill>
                <a:latin typeface="Palatino Linotype" panose="02040502050505030304" pitchFamily="18" charset="0"/>
              </a:rPr>
              <a:t>Lecture:9</a:t>
            </a:r>
            <a:r>
              <a:rPr lang="en-US" sz="5400" dirty="0" smtClean="0">
                <a:latin typeface="Palatino Linotype" panose="02040502050505030304" pitchFamily="18" charset="0"/>
              </a:rPr>
              <a:t/>
            </a:r>
            <a:br>
              <a:rPr lang="en-US" sz="5400" dirty="0" smtClean="0">
                <a:latin typeface="Palatino Linotype" panose="02040502050505030304" pitchFamily="18" charset="0"/>
              </a:rPr>
            </a:br>
            <a:r>
              <a:rPr lang="en-US" sz="4800" b="1" dirty="0" smtClean="0">
                <a:latin typeface="Palatino Linotype" panose="02040502050505030304" pitchFamily="18" charset="0"/>
              </a:rPr>
              <a:t/>
            </a:r>
            <a:br>
              <a:rPr lang="en-US" sz="4800" b="1" dirty="0" smtClean="0">
                <a:latin typeface="Palatino Linotype" panose="02040502050505030304" pitchFamily="18" charset="0"/>
              </a:rPr>
            </a:br>
            <a:r>
              <a:rPr lang="en-US" sz="4800" b="1" dirty="0" smtClean="0">
                <a:latin typeface="Palatino Linotype" panose="02040502050505030304" pitchFamily="18" charset="0"/>
              </a:rPr>
              <a:t>Function Overloading</a:t>
            </a:r>
            <a:endParaRPr lang="en-US" sz="4400" b="1" dirty="0">
              <a:solidFill>
                <a:schemeClr val="tx1">
                  <a:lumMod val="65000"/>
                  <a:lumOff val="35000"/>
                </a:schemeClr>
              </a:solidFill>
              <a:latin typeface="Palatino Linotype" panose="02040502050505030304" pitchFamily="18" charset="0"/>
            </a:endParaRPr>
          </a:p>
        </p:txBody>
      </p:sp>
      <p:sp>
        <p:nvSpPr>
          <p:cNvPr id="4" name="TextBox 3"/>
          <p:cNvSpPr txBox="1"/>
          <p:nvPr/>
        </p:nvSpPr>
        <p:spPr>
          <a:xfrm>
            <a:off x="2542839" y="4679577"/>
            <a:ext cx="7086600" cy="1261884"/>
          </a:xfrm>
          <a:prstGeom prst="rect">
            <a:avLst/>
          </a:prstGeom>
          <a:noFill/>
        </p:spPr>
        <p:txBody>
          <a:bodyPr wrap="square" rtlCol="0">
            <a:spAutoFit/>
          </a:bodyPr>
          <a:lstStyle/>
          <a:p>
            <a:pPr algn="ctr"/>
            <a:r>
              <a:rPr lang="en-US" sz="2800" dirty="0" smtClean="0">
                <a:solidFill>
                  <a:schemeClr val="accent1"/>
                </a:solidFill>
                <a:latin typeface="Palatino Linotype" panose="02040502050505030304" pitchFamily="18" charset="0"/>
              </a:rPr>
              <a:t>Prepared By: </a:t>
            </a:r>
            <a:r>
              <a:rPr lang="en-US" sz="2800" dirty="0" err="1" smtClean="0">
                <a:solidFill>
                  <a:schemeClr val="accent1"/>
                </a:solidFill>
                <a:latin typeface="Palatino Linotype" panose="02040502050505030304" pitchFamily="18" charset="0"/>
              </a:rPr>
              <a:t>Sumaiya</a:t>
            </a:r>
            <a:r>
              <a:rPr lang="en-US" sz="2800" dirty="0" smtClean="0">
                <a:solidFill>
                  <a:schemeClr val="accent1"/>
                </a:solidFill>
                <a:latin typeface="Palatino Linotype" panose="02040502050505030304" pitchFamily="18" charset="0"/>
              </a:rPr>
              <a:t> </a:t>
            </a:r>
            <a:r>
              <a:rPr lang="en-US" sz="2800" dirty="0" err="1" smtClean="0">
                <a:solidFill>
                  <a:schemeClr val="accent1"/>
                </a:solidFill>
                <a:latin typeface="Palatino Linotype" panose="02040502050505030304" pitchFamily="18" charset="0"/>
              </a:rPr>
              <a:t>Binte</a:t>
            </a:r>
            <a:r>
              <a:rPr lang="en-US" sz="2800" dirty="0" smtClean="0">
                <a:solidFill>
                  <a:schemeClr val="accent1"/>
                </a:solidFill>
                <a:latin typeface="Palatino Linotype" panose="02040502050505030304" pitchFamily="18" charset="0"/>
              </a:rPr>
              <a:t> </a:t>
            </a:r>
            <a:r>
              <a:rPr lang="en-US" sz="2800" dirty="0" err="1" smtClean="0">
                <a:solidFill>
                  <a:schemeClr val="accent1"/>
                </a:solidFill>
                <a:latin typeface="Palatino Linotype" panose="02040502050505030304" pitchFamily="18" charset="0"/>
              </a:rPr>
              <a:t>Shahid</a:t>
            </a:r>
            <a:endParaRPr lang="en-US" sz="2800" dirty="0" smtClean="0">
              <a:solidFill>
                <a:schemeClr val="accent1"/>
              </a:solidFill>
              <a:latin typeface="Palatino Linotype" panose="02040502050505030304" pitchFamily="18" charset="0"/>
            </a:endParaRPr>
          </a:p>
          <a:p>
            <a:pPr algn="ctr"/>
            <a:r>
              <a:rPr lang="en-US" sz="2400" dirty="0" smtClean="0">
                <a:latin typeface="Palatino Linotype" panose="02040502050505030304" pitchFamily="18" charset="0"/>
              </a:rPr>
              <a:t>Lecturer</a:t>
            </a:r>
          </a:p>
          <a:p>
            <a:pPr algn="ctr"/>
            <a:r>
              <a:rPr lang="en-US" sz="2400" dirty="0" smtClean="0">
                <a:latin typeface="Palatino Linotype" panose="02040502050505030304" pitchFamily="18" charset="0"/>
              </a:rPr>
              <a:t>Department of CSE, BUBT</a:t>
            </a:r>
            <a:endParaRPr lang="en-US" sz="2400" dirty="0">
              <a:latin typeface="Palatino Linotype" panose="02040502050505030304" pitchFamily="18" charset="0"/>
            </a:endParaRPr>
          </a:p>
        </p:txBody>
      </p:sp>
    </p:spTree>
    <p:extLst>
      <p:ext uri="{BB962C8B-B14F-4D97-AF65-F5344CB8AC3E}">
        <p14:creationId xmlns:p14="http://schemas.microsoft.com/office/powerpoint/2010/main" val="12874205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213981"/>
            <a:ext cx="12192000" cy="1228725"/>
          </a:xfrm>
          <a:solidFill>
            <a:schemeClr val="bg1"/>
          </a:solidFill>
        </p:spPr>
        <p:txBody>
          <a:bodyPr>
            <a:normAutofit/>
          </a:bodyPr>
          <a:lstStyle/>
          <a:p>
            <a:pPr algn="ctr"/>
            <a:r>
              <a:rPr lang="en-US" sz="4400" b="1" dirty="0" smtClean="0">
                <a:solidFill>
                  <a:schemeClr val="accent1">
                    <a:lumMod val="75000"/>
                  </a:schemeClr>
                </a:solidFill>
                <a:latin typeface="Palatino Linotype" panose="02040502050505030304" pitchFamily="18" charset="0"/>
              </a:rPr>
              <a:t>Overloading Constructor Functions</a:t>
            </a:r>
            <a:endParaRPr lang="en-US" sz="4400" b="1" dirty="0">
              <a:solidFill>
                <a:schemeClr val="accent1">
                  <a:lumMod val="75000"/>
                </a:schemeClr>
              </a:solidFill>
              <a:latin typeface="Palatino Linotype" panose="02040502050505030304" pitchFamily="18" charset="0"/>
            </a:endParaRPr>
          </a:p>
        </p:txBody>
      </p:sp>
      <p:sp>
        <p:nvSpPr>
          <p:cNvPr id="6" name="Rectangle 5"/>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latin typeface="Palatino Linotype" panose="02040502050505030304" pitchFamily="18" charset="0"/>
            </a:endParaRPr>
          </a:p>
        </p:txBody>
      </p:sp>
      <p:sp>
        <p:nvSpPr>
          <p:cNvPr id="4" name="Rectangle 3"/>
          <p:cNvSpPr/>
          <p:nvPr/>
        </p:nvSpPr>
        <p:spPr>
          <a:xfrm>
            <a:off x="974041" y="2091215"/>
            <a:ext cx="10497136" cy="4154984"/>
          </a:xfrm>
          <a:prstGeom prst="rect">
            <a:avLst/>
          </a:prstGeom>
        </p:spPr>
        <p:txBody>
          <a:bodyPr wrap="square">
            <a:spAutoFit/>
          </a:bodyPr>
          <a:lstStyle/>
          <a:p>
            <a:pPr algn="just"/>
            <a:r>
              <a:rPr lang="en-US" sz="2400" dirty="0">
                <a:latin typeface="Palatino Linotype" panose="02040502050505030304" pitchFamily="18" charset="0"/>
              </a:rPr>
              <a:t>There are three main reasons why you will want to </a:t>
            </a:r>
            <a:r>
              <a:rPr lang="en-US" sz="2400" dirty="0" smtClean="0">
                <a:latin typeface="Palatino Linotype" panose="02040502050505030304" pitchFamily="18" charset="0"/>
              </a:rPr>
              <a:t>overload a </a:t>
            </a:r>
            <a:r>
              <a:rPr lang="en-US" sz="2400" dirty="0">
                <a:latin typeface="Palatino Linotype" panose="02040502050505030304" pitchFamily="18" charset="0"/>
              </a:rPr>
              <a:t>constructor function: </a:t>
            </a:r>
          </a:p>
          <a:p>
            <a:pPr marL="2171700" lvl="4" indent="-342900" algn="just">
              <a:buFont typeface="Wingdings" panose="05000000000000000000" pitchFamily="2" charset="2"/>
              <a:buChar char="ü"/>
            </a:pPr>
            <a:r>
              <a:rPr lang="en-US" sz="2400" dirty="0">
                <a:latin typeface="Palatino Linotype" panose="02040502050505030304" pitchFamily="18" charset="0"/>
              </a:rPr>
              <a:t>to gain flexibility, </a:t>
            </a:r>
          </a:p>
          <a:p>
            <a:pPr marL="2171700" lvl="4" indent="-342900" algn="just">
              <a:buFont typeface="Wingdings" panose="05000000000000000000" pitchFamily="2" charset="2"/>
              <a:buChar char="ü"/>
            </a:pPr>
            <a:r>
              <a:rPr lang="en-US" sz="2400" dirty="0">
                <a:latin typeface="Palatino Linotype" panose="02040502050505030304" pitchFamily="18" charset="0"/>
              </a:rPr>
              <a:t>to support arrays, and </a:t>
            </a:r>
          </a:p>
          <a:p>
            <a:pPr marL="2171700" lvl="4" indent="-342900" algn="just">
              <a:buFont typeface="Wingdings" panose="05000000000000000000" pitchFamily="2" charset="2"/>
              <a:buChar char="ü"/>
            </a:pPr>
            <a:r>
              <a:rPr lang="en-US" sz="2400" dirty="0">
                <a:latin typeface="Palatino Linotype" panose="02040502050505030304" pitchFamily="18" charset="0"/>
              </a:rPr>
              <a:t>to create copy constructors.</a:t>
            </a:r>
          </a:p>
          <a:p>
            <a:pPr algn="just"/>
            <a:endParaRPr lang="en-US" sz="2400" dirty="0" smtClean="0">
              <a:latin typeface="Palatino Linotype" panose="02040502050505030304" pitchFamily="18" charset="0"/>
            </a:endParaRPr>
          </a:p>
          <a:p>
            <a:pPr algn="just"/>
            <a:r>
              <a:rPr lang="en-US" sz="2400" dirty="0">
                <a:latin typeface="Palatino Linotype" panose="02040502050505030304" pitchFamily="18" charset="0"/>
              </a:rPr>
              <a:t>T</a:t>
            </a:r>
            <a:r>
              <a:rPr lang="en-US" sz="2400" dirty="0" smtClean="0">
                <a:latin typeface="Palatino Linotype" panose="02040502050505030304" pitchFamily="18" charset="0"/>
              </a:rPr>
              <a:t>here </a:t>
            </a:r>
            <a:r>
              <a:rPr lang="en-US" sz="2400" dirty="0">
                <a:latin typeface="Palatino Linotype" panose="02040502050505030304" pitchFamily="18" charset="0"/>
              </a:rPr>
              <a:t>must be a constructor function for each way that an object of a class will be created. If a program attempts to create an object for which no matching constructor is found, a compile-time error occurs. This is </a:t>
            </a:r>
            <a:r>
              <a:rPr lang="en-US" sz="2400" dirty="0" smtClean="0">
                <a:latin typeface="Palatino Linotype" panose="02040502050505030304" pitchFamily="18" charset="0"/>
              </a:rPr>
              <a:t>why overloaded </a:t>
            </a:r>
            <a:r>
              <a:rPr lang="en-US" sz="2400" dirty="0">
                <a:latin typeface="Palatino Linotype" panose="02040502050505030304" pitchFamily="18" charset="0"/>
              </a:rPr>
              <a:t>constructor functions are so common to C++ programs.</a:t>
            </a:r>
          </a:p>
          <a:p>
            <a:pPr lvl="1" algn="just"/>
            <a:endParaRPr lang="en-US" sz="2400" dirty="0">
              <a:latin typeface="Palatino Linotype" panose="02040502050505030304" pitchFamily="18" charset="0"/>
            </a:endParaRPr>
          </a:p>
        </p:txBody>
      </p:sp>
    </p:spTree>
    <p:extLst>
      <p:ext uri="{BB962C8B-B14F-4D97-AF65-F5344CB8AC3E}">
        <p14:creationId xmlns:p14="http://schemas.microsoft.com/office/powerpoint/2010/main" val="27981080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645458" y="2662938"/>
            <a:ext cx="3106271" cy="1000124"/>
          </a:xfrm>
          <a:prstGeom prst="rect">
            <a:avLst/>
          </a:prstGeom>
          <a:solidFill>
            <a:schemeClr val="bg1"/>
          </a:solidFill>
        </p:spPr>
        <p:txBody>
          <a:bodyPr>
            <a:normAutofit fontScale="92500"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4000" b="1" dirty="0" smtClean="0">
                <a:solidFill>
                  <a:schemeClr val="accent1">
                    <a:lumMod val="75000"/>
                  </a:schemeClr>
                </a:solidFill>
                <a:latin typeface="Palatino Linotype" panose="02040502050505030304" pitchFamily="18" charset="0"/>
              </a:rPr>
              <a:t>Constructor </a:t>
            </a:r>
            <a:r>
              <a:rPr lang="en-US" sz="4000" b="1" dirty="0">
                <a:solidFill>
                  <a:schemeClr val="accent1">
                    <a:lumMod val="75000"/>
                  </a:schemeClr>
                </a:solidFill>
                <a:latin typeface="Palatino Linotype" panose="02040502050505030304" pitchFamily="18" charset="0"/>
              </a:rPr>
              <a:t>Overloading</a:t>
            </a:r>
            <a:endParaRPr lang="en-US" sz="4000" b="1" dirty="0" smtClean="0">
              <a:solidFill>
                <a:schemeClr val="accent1">
                  <a:lumMod val="75000"/>
                </a:schemeClr>
              </a:solidFill>
              <a:latin typeface="Palatino Linotype" panose="02040502050505030304" pitchFamily="18" charset="0"/>
            </a:endParaRPr>
          </a:p>
        </p:txBody>
      </p:sp>
      <p:sp>
        <p:nvSpPr>
          <p:cNvPr id="2" name="Rectangle 1"/>
          <p:cNvSpPr/>
          <p:nvPr/>
        </p:nvSpPr>
        <p:spPr>
          <a:xfrm>
            <a:off x="645458" y="179765"/>
            <a:ext cx="10963835" cy="769441"/>
          </a:xfrm>
          <a:prstGeom prst="rect">
            <a:avLst/>
          </a:prstGeom>
        </p:spPr>
        <p:txBody>
          <a:bodyPr wrap="square">
            <a:spAutoFit/>
          </a:bodyPr>
          <a:lstStyle/>
          <a:p>
            <a:r>
              <a:rPr lang="en-US" sz="2200" dirty="0">
                <a:latin typeface="Palatino Linotype" panose="02040502050505030304" pitchFamily="18" charset="0"/>
              </a:rPr>
              <a:t>Perhaps the most frequent use of overloaded constructor functions is to provide the </a:t>
            </a:r>
            <a:r>
              <a:rPr lang="en-US" sz="2200" dirty="0" smtClean="0">
                <a:latin typeface="Palatino Linotype" panose="02040502050505030304" pitchFamily="18" charset="0"/>
              </a:rPr>
              <a:t>option </a:t>
            </a:r>
            <a:r>
              <a:rPr lang="en-US" sz="2200" dirty="0">
                <a:latin typeface="Palatino Linotype" panose="02040502050505030304" pitchFamily="18" charset="0"/>
              </a:rPr>
              <a:t>of either giving an object an initialization or not giving it one.</a:t>
            </a:r>
          </a:p>
        </p:txBody>
      </p:sp>
      <p:pic>
        <p:nvPicPr>
          <p:cNvPr id="4" name="Picture 3"/>
          <p:cNvPicPr>
            <a:picLocks noChangeAspect="1"/>
          </p:cNvPicPr>
          <p:nvPr/>
        </p:nvPicPr>
        <p:blipFill>
          <a:blip r:embed="rId2"/>
          <a:stretch>
            <a:fillRect/>
          </a:stretch>
        </p:blipFill>
        <p:spPr>
          <a:xfrm>
            <a:off x="3138478" y="1355606"/>
            <a:ext cx="5977793" cy="5908793"/>
          </a:xfrm>
          <a:prstGeom prst="rect">
            <a:avLst/>
          </a:prstGeom>
        </p:spPr>
      </p:pic>
    </p:spTree>
    <p:extLst>
      <p:ext uri="{BB962C8B-B14F-4D97-AF65-F5344CB8AC3E}">
        <p14:creationId xmlns:p14="http://schemas.microsoft.com/office/powerpoint/2010/main" val="4227690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0" y="469477"/>
            <a:ext cx="12192000" cy="1000124"/>
          </a:xfrm>
          <a:prstGeom prst="rect">
            <a:avLst/>
          </a:prstGeom>
          <a:solidFill>
            <a:schemeClr val="bg1"/>
          </a:solidFill>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endParaRPr lang="en-US" sz="4000" b="1" dirty="0">
              <a:solidFill>
                <a:schemeClr val="accent1">
                  <a:lumMod val="75000"/>
                </a:schemeClr>
              </a:solidFill>
              <a:latin typeface="Palatino Linotype" panose="02040502050505030304" pitchFamily="18" charset="0"/>
            </a:endParaRPr>
          </a:p>
        </p:txBody>
      </p:sp>
      <p:sp>
        <p:nvSpPr>
          <p:cNvPr id="5" name="TextBox 4"/>
          <p:cNvSpPr txBox="1"/>
          <p:nvPr/>
        </p:nvSpPr>
        <p:spPr>
          <a:xfrm>
            <a:off x="752074" y="3679157"/>
            <a:ext cx="10596282" cy="2123658"/>
          </a:xfrm>
          <a:prstGeom prst="rect">
            <a:avLst/>
          </a:prstGeom>
          <a:noFill/>
        </p:spPr>
        <p:txBody>
          <a:bodyPr wrap="square" rtlCol="0">
            <a:spAutoFit/>
          </a:bodyPr>
          <a:lstStyle/>
          <a:p>
            <a:pPr algn="just"/>
            <a:r>
              <a:rPr lang="en-US" sz="2200" dirty="0" smtClean="0">
                <a:latin typeface="Palatino Linotype" panose="02040502050505030304" pitchFamily="18" charset="0"/>
              </a:rPr>
              <a:t>In the last </a:t>
            </a:r>
            <a:r>
              <a:rPr lang="en-US" sz="2200" dirty="0">
                <a:latin typeface="Palatino Linotype" panose="02040502050505030304" pitchFamily="18" charset="0"/>
              </a:rPr>
              <a:t>program, o1 is given an initial value, but o2 is not. If you remove thee </a:t>
            </a:r>
            <a:r>
              <a:rPr lang="en-US" sz="2200" dirty="0" smtClean="0">
                <a:latin typeface="Palatino Linotype" panose="02040502050505030304" pitchFamily="18" charset="0"/>
              </a:rPr>
              <a:t>constructor </a:t>
            </a:r>
            <a:r>
              <a:rPr lang="en-US" sz="2200" dirty="0">
                <a:latin typeface="Palatino Linotype" panose="02040502050505030304" pitchFamily="18" charset="0"/>
              </a:rPr>
              <a:t>that has the empty argument list, the program will not compile because there </a:t>
            </a:r>
            <a:r>
              <a:rPr lang="en-US" sz="2200" dirty="0" smtClean="0">
                <a:latin typeface="Palatino Linotype" panose="02040502050505030304" pitchFamily="18" charset="0"/>
              </a:rPr>
              <a:t>is no </a:t>
            </a:r>
            <a:r>
              <a:rPr lang="en-US" sz="2200" dirty="0">
                <a:latin typeface="Palatino Linotype" panose="02040502050505030304" pitchFamily="18" charset="0"/>
              </a:rPr>
              <a:t>constructor that matches a non-initialized object of type </a:t>
            </a:r>
            <a:r>
              <a:rPr lang="en-US" sz="2200" dirty="0" err="1">
                <a:latin typeface="Palatino Linotype" panose="02040502050505030304" pitchFamily="18" charset="0"/>
              </a:rPr>
              <a:t>myclass</a:t>
            </a:r>
            <a:r>
              <a:rPr lang="en-US" sz="2200" dirty="0">
                <a:latin typeface="Palatino Linotype" panose="02040502050505030304" pitchFamily="18" charset="0"/>
              </a:rPr>
              <a:t>. The reverse is </a:t>
            </a:r>
            <a:r>
              <a:rPr lang="en-US" sz="2200" dirty="0" smtClean="0">
                <a:latin typeface="Palatino Linotype" panose="02040502050505030304" pitchFamily="18" charset="0"/>
              </a:rPr>
              <a:t>also true</a:t>
            </a:r>
            <a:r>
              <a:rPr lang="en-US" sz="2200" dirty="0">
                <a:latin typeface="Palatino Linotype" panose="02040502050505030304" pitchFamily="18" charset="0"/>
              </a:rPr>
              <a:t>. If you remove the parameterized constructor, the program will not compile </a:t>
            </a:r>
            <a:r>
              <a:rPr lang="en-US" sz="2200" dirty="0" smtClean="0">
                <a:latin typeface="Palatino Linotype" panose="02040502050505030304" pitchFamily="18" charset="0"/>
              </a:rPr>
              <a:t>because there </a:t>
            </a:r>
            <a:r>
              <a:rPr lang="en-US" sz="2200" dirty="0">
                <a:latin typeface="Palatino Linotype" panose="02040502050505030304" pitchFamily="18" charset="0"/>
              </a:rPr>
              <a:t>is no match for an initialized object. Both are needed for this program to </a:t>
            </a:r>
            <a:r>
              <a:rPr lang="en-US" sz="2200" dirty="0" smtClean="0">
                <a:latin typeface="Palatino Linotype" panose="02040502050505030304" pitchFamily="18" charset="0"/>
              </a:rPr>
              <a:t>compile correctly</a:t>
            </a:r>
            <a:r>
              <a:rPr lang="en-US" sz="2200" dirty="0">
                <a:latin typeface="Palatino Linotype" panose="02040502050505030304" pitchFamily="18" charset="0"/>
              </a:rPr>
              <a:t>.</a:t>
            </a:r>
          </a:p>
        </p:txBody>
      </p:sp>
      <p:sp>
        <p:nvSpPr>
          <p:cNvPr id="6" name="Rectangle 5"/>
          <p:cNvSpPr/>
          <p:nvPr/>
        </p:nvSpPr>
        <p:spPr>
          <a:xfrm>
            <a:off x="3147358" y="361333"/>
            <a:ext cx="5897279" cy="707886"/>
          </a:xfrm>
          <a:prstGeom prst="rect">
            <a:avLst/>
          </a:prstGeom>
        </p:spPr>
        <p:txBody>
          <a:bodyPr wrap="square">
            <a:spAutoFit/>
          </a:bodyPr>
          <a:lstStyle/>
          <a:p>
            <a:pPr algn="ctr"/>
            <a:r>
              <a:rPr lang="en-US" sz="4000" b="1" smtClean="0">
                <a:solidFill>
                  <a:schemeClr val="accent1">
                    <a:lumMod val="75000"/>
                  </a:schemeClr>
                </a:solidFill>
                <a:latin typeface="Palatino Linotype" panose="02040502050505030304" pitchFamily="18" charset="0"/>
              </a:rPr>
              <a:t>Function </a:t>
            </a:r>
            <a:r>
              <a:rPr lang="en-US" sz="4000" b="1" dirty="0">
                <a:solidFill>
                  <a:schemeClr val="accent1">
                    <a:lumMod val="75000"/>
                  </a:schemeClr>
                </a:solidFill>
                <a:latin typeface="Palatino Linotype" panose="02040502050505030304" pitchFamily="18" charset="0"/>
              </a:rPr>
              <a:t>Overloading</a:t>
            </a:r>
          </a:p>
        </p:txBody>
      </p:sp>
      <p:pic>
        <p:nvPicPr>
          <p:cNvPr id="2" name="Picture 1"/>
          <p:cNvPicPr>
            <a:picLocks noChangeAspect="1"/>
          </p:cNvPicPr>
          <p:nvPr/>
        </p:nvPicPr>
        <p:blipFill>
          <a:blip r:embed="rId2"/>
          <a:stretch>
            <a:fillRect/>
          </a:stretch>
        </p:blipFill>
        <p:spPr>
          <a:xfrm>
            <a:off x="3147358" y="1388970"/>
            <a:ext cx="5805714" cy="1889805"/>
          </a:xfrm>
          <a:prstGeom prst="rect">
            <a:avLst/>
          </a:prstGeom>
        </p:spPr>
      </p:pic>
    </p:spTree>
    <p:extLst>
      <p:ext uri="{BB962C8B-B14F-4D97-AF65-F5344CB8AC3E}">
        <p14:creationId xmlns:p14="http://schemas.microsoft.com/office/powerpoint/2010/main" val="2325605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213981"/>
            <a:ext cx="12192000" cy="1228725"/>
          </a:xfrm>
          <a:solidFill>
            <a:schemeClr val="bg1"/>
          </a:solidFill>
        </p:spPr>
        <p:txBody>
          <a:bodyPr>
            <a:normAutofit/>
          </a:bodyPr>
          <a:lstStyle/>
          <a:p>
            <a:pPr algn="ctr"/>
            <a:r>
              <a:rPr lang="en-US" sz="4400" b="1" dirty="0" smtClean="0">
                <a:solidFill>
                  <a:schemeClr val="accent1">
                    <a:lumMod val="75000"/>
                  </a:schemeClr>
                </a:solidFill>
                <a:latin typeface="Palatino Linotype" panose="02040502050505030304" pitchFamily="18" charset="0"/>
              </a:rPr>
              <a:t>Overloading Constructor Functions</a:t>
            </a:r>
            <a:endParaRPr lang="en-US" sz="4400" b="1" dirty="0">
              <a:solidFill>
                <a:schemeClr val="accent1">
                  <a:lumMod val="75000"/>
                </a:schemeClr>
              </a:solidFill>
              <a:latin typeface="Palatino Linotype" panose="02040502050505030304" pitchFamily="18" charset="0"/>
            </a:endParaRPr>
          </a:p>
        </p:txBody>
      </p:sp>
      <p:sp>
        <p:nvSpPr>
          <p:cNvPr id="6" name="Rectangle 5"/>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latin typeface="Palatino Linotype" panose="02040502050505030304" pitchFamily="18" charset="0"/>
            </a:endParaRPr>
          </a:p>
        </p:txBody>
      </p:sp>
      <p:sp>
        <p:nvSpPr>
          <p:cNvPr id="4" name="Rectangle 3"/>
          <p:cNvSpPr/>
          <p:nvPr/>
        </p:nvSpPr>
        <p:spPr>
          <a:xfrm>
            <a:off x="322036" y="2232822"/>
            <a:ext cx="11144250" cy="3477875"/>
          </a:xfrm>
          <a:prstGeom prst="rect">
            <a:avLst/>
          </a:prstGeom>
        </p:spPr>
        <p:txBody>
          <a:bodyPr wrap="square">
            <a:spAutoFit/>
          </a:bodyPr>
          <a:lstStyle/>
          <a:p>
            <a:pPr marL="800100" lvl="1" indent="-342900" algn="just">
              <a:buFont typeface="Wingdings" panose="05000000000000000000" pitchFamily="2" charset="2"/>
              <a:buChar char="ü"/>
            </a:pPr>
            <a:r>
              <a:rPr lang="en-US" sz="2200" dirty="0">
                <a:latin typeface="Palatino Linotype" panose="02040502050505030304" pitchFamily="18" charset="0"/>
              </a:rPr>
              <a:t>Another common reason constructor functions are overloaded is to allow both </a:t>
            </a:r>
            <a:r>
              <a:rPr lang="en-US" sz="2200" dirty="0" smtClean="0">
                <a:latin typeface="Palatino Linotype" panose="02040502050505030304" pitchFamily="18" charset="0"/>
              </a:rPr>
              <a:t>individual objects </a:t>
            </a:r>
            <a:r>
              <a:rPr lang="en-US" sz="2200" dirty="0">
                <a:latin typeface="Palatino Linotype" panose="02040502050505030304" pitchFamily="18" charset="0"/>
              </a:rPr>
              <a:t>and arrays of objects to occur within a program. </a:t>
            </a:r>
            <a:endParaRPr lang="en-US" sz="2200" dirty="0" smtClean="0">
              <a:latin typeface="Palatino Linotype" panose="02040502050505030304" pitchFamily="18" charset="0"/>
            </a:endParaRPr>
          </a:p>
          <a:p>
            <a:pPr marL="800100" lvl="1" indent="-342900" algn="just">
              <a:buFont typeface="Wingdings" panose="05000000000000000000" pitchFamily="2" charset="2"/>
              <a:buChar char="ü"/>
            </a:pPr>
            <a:r>
              <a:rPr lang="en-US" sz="2200" dirty="0" smtClean="0">
                <a:latin typeface="Palatino Linotype" panose="02040502050505030304" pitchFamily="18" charset="0"/>
              </a:rPr>
              <a:t>It is </a:t>
            </a:r>
            <a:r>
              <a:rPr lang="en-US" sz="2200" dirty="0">
                <a:latin typeface="Palatino Linotype" panose="02040502050505030304" pitchFamily="18" charset="0"/>
              </a:rPr>
              <a:t>fairly common to initialize a single </a:t>
            </a:r>
            <a:r>
              <a:rPr lang="en-US" sz="2200" dirty="0" smtClean="0">
                <a:latin typeface="Palatino Linotype" panose="02040502050505030304" pitchFamily="18" charset="0"/>
              </a:rPr>
              <a:t>variable, but </a:t>
            </a:r>
            <a:r>
              <a:rPr lang="en-US" sz="2200" dirty="0">
                <a:latin typeface="Palatino Linotype" panose="02040502050505030304" pitchFamily="18" charset="0"/>
              </a:rPr>
              <a:t>it is not as common to initialize an array. </a:t>
            </a:r>
            <a:endParaRPr lang="en-US" sz="2200" dirty="0" smtClean="0">
              <a:latin typeface="Palatino Linotype" panose="02040502050505030304" pitchFamily="18" charset="0"/>
            </a:endParaRPr>
          </a:p>
          <a:p>
            <a:pPr marL="800100" lvl="1" indent="-342900" algn="just">
              <a:buFont typeface="Wingdings" panose="05000000000000000000" pitchFamily="2" charset="2"/>
              <a:buChar char="ü"/>
            </a:pPr>
            <a:r>
              <a:rPr lang="en-US" sz="2200" dirty="0" smtClean="0">
                <a:latin typeface="Palatino Linotype" panose="02040502050505030304" pitchFamily="18" charset="0"/>
              </a:rPr>
              <a:t>Thus</a:t>
            </a:r>
            <a:r>
              <a:rPr lang="en-US" sz="2200" dirty="0">
                <a:latin typeface="Palatino Linotype" panose="02040502050505030304" pitchFamily="18" charset="0"/>
              </a:rPr>
              <a:t>, to allow </a:t>
            </a:r>
            <a:r>
              <a:rPr lang="en-US" sz="2200" dirty="0" smtClean="0">
                <a:latin typeface="Palatino Linotype" panose="02040502050505030304" pitchFamily="18" charset="0"/>
              </a:rPr>
              <a:t>non-initialized </a:t>
            </a:r>
            <a:r>
              <a:rPr lang="en-US" sz="2200" dirty="0">
                <a:latin typeface="Palatino Linotype" panose="02040502050505030304" pitchFamily="18" charset="0"/>
              </a:rPr>
              <a:t>arrays of objects along with initialized objects, you must include a </a:t>
            </a:r>
            <a:r>
              <a:rPr lang="en-US" sz="2200" dirty="0" smtClean="0">
                <a:latin typeface="Palatino Linotype" panose="02040502050505030304" pitchFamily="18" charset="0"/>
              </a:rPr>
              <a:t>constructor that </a:t>
            </a:r>
            <a:r>
              <a:rPr lang="en-US" sz="2200" dirty="0">
                <a:latin typeface="Palatino Linotype" panose="02040502050505030304" pitchFamily="18" charset="0"/>
              </a:rPr>
              <a:t>supports initialization and one that does not</a:t>
            </a:r>
            <a:r>
              <a:rPr lang="en-US" sz="2200" dirty="0" smtClean="0">
                <a:latin typeface="Palatino Linotype" panose="02040502050505030304" pitchFamily="18" charset="0"/>
              </a:rPr>
              <a:t>.</a:t>
            </a:r>
          </a:p>
          <a:p>
            <a:pPr marL="800100" lvl="1" indent="-342900" algn="just">
              <a:buFont typeface="Wingdings" panose="05000000000000000000" pitchFamily="2" charset="2"/>
              <a:buChar char="ü"/>
            </a:pPr>
            <a:r>
              <a:rPr lang="en-US" sz="2200" dirty="0">
                <a:latin typeface="Palatino Linotype" panose="02040502050505030304" pitchFamily="18" charset="0"/>
              </a:rPr>
              <a:t>By providing both a parameterized and a </a:t>
            </a:r>
            <a:r>
              <a:rPr lang="en-US" sz="2200" dirty="0" err="1">
                <a:latin typeface="Palatino Linotype" panose="02040502050505030304" pitchFamily="18" charset="0"/>
              </a:rPr>
              <a:t>parameterless</a:t>
            </a:r>
            <a:r>
              <a:rPr lang="en-US" sz="2200" dirty="0">
                <a:latin typeface="Palatino Linotype" panose="02040502050505030304" pitchFamily="18" charset="0"/>
              </a:rPr>
              <a:t> constructor, your program </a:t>
            </a:r>
            <a:r>
              <a:rPr lang="en-US" sz="2200" dirty="0" smtClean="0">
                <a:latin typeface="Palatino Linotype" panose="02040502050505030304" pitchFamily="18" charset="0"/>
              </a:rPr>
              <a:t>allows the </a:t>
            </a:r>
            <a:r>
              <a:rPr lang="en-US" sz="2200" dirty="0">
                <a:latin typeface="Palatino Linotype" panose="02040502050505030304" pitchFamily="18" charset="0"/>
              </a:rPr>
              <a:t>creation of objects that are either initialized or not as </a:t>
            </a:r>
            <a:r>
              <a:rPr lang="en-US" sz="2200" dirty="0" smtClean="0">
                <a:latin typeface="Palatino Linotype" panose="02040502050505030304" pitchFamily="18" charset="0"/>
              </a:rPr>
              <a:t>needed.</a:t>
            </a:r>
          </a:p>
          <a:p>
            <a:pPr marL="800100" lvl="1" indent="-342900" algn="just">
              <a:buFont typeface="Wingdings" panose="05000000000000000000" pitchFamily="2" charset="2"/>
              <a:buChar char="ü"/>
            </a:pPr>
            <a:r>
              <a:rPr lang="en-US" sz="2200" dirty="0" smtClean="0">
                <a:latin typeface="Palatino Linotype" panose="02040502050505030304" pitchFamily="18" charset="0"/>
              </a:rPr>
              <a:t>Of </a:t>
            </a:r>
            <a:r>
              <a:rPr lang="en-US" sz="2200" dirty="0">
                <a:latin typeface="Palatino Linotype" panose="02040502050505030304" pitchFamily="18" charset="0"/>
              </a:rPr>
              <a:t>course, once you have </a:t>
            </a:r>
            <a:r>
              <a:rPr lang="en-US" sz="2200" dirty="0" smtClean="0">
                <a:latin typeface="Palatino Linotype" panose="02040502050505030304" pitchFamily="18" charset="0"/>
              </a:rPr>
              <a:t>defined </a:t>
            </a:r>
            <a:r>
              <a:rPr lang="en-US" sz="2200" dirty="0">
                <a:latin typeface="Palatino Linotype" panose="02040502050505030304" pitchFamily="18" charset="0"/>
              </a:rPr>
              <a:t>both parameterized and </a:t>
            </a:r>
            <a:r>
              <a:rPr lang="en-US" sz="2200" dirty="0" err="1">
                <a:latin typeface="Palatino Linotype" panose="02040502050505030304" pitchFamily="18" charset="0"/>
              </a:rPr>
              <a:t>parameterless</a:t>
            </a:r>
            <a:r>
              <a:rPr lang="en-US" sz="2200" dirty="0">
                <a:latin typeface="Palatino Linotype" panose="02040502050505030304" pitchFamily="18" charset="0"/>
              </a:rPr>
              <a:t> constructors </a:t>
            </a:r>
            <a:r>
              <a:rPr lang="en-US" sz="2200" dirty="0" smtClean="0">
                <a:latin typeface="Palatino Linotype" panose="02040502050505030304" pitchFamily="18" charset="0"/>
              </a:rPr>
              <a:t>you can </a:t>
            </a:r>
            <a:r>
              <a:rPr lang="en-US" sz="2200" dirty="0">
                <a:latin typeface="Palatino Linotype" panose="02040502050505030304" pitchFamily="18" charset="0"/>
              </a:rPr>
              <a:t>use them to create initialized and non-initialized arrays.</a:t>
            </a:r>
          </a:p>
        </p:txBody>
      </p:sp>
    </p:spTree>
    <p:extLst>
      <p:ext uri="{BB962C8B-B14F-4D97-AF65-F5344CB8AC3E}">
        <p14:creationId xmlns:p14="http://schemas.microsoft.com/office/powerpoint/2010/main" val="20713454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645458" y="2662938"/>
            <a:ext cx="3106271" cy="1000124"/>
          </a:xfrm>
          <a:prstGeom prst="rect">
            <a:avLst/>
          </a:prstGeom>
          <a:solidFill>
            <a:schemeClr val="bg1"/>
          </a:solidFill>
        </p:spPr>
        <p:txBody>
          <a:bodyPr>
            <a:normAutofit fontScale="92500"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4000" b="1" dirty="0" smtClean="0">
                <a:solidFill>
                  <a:schemeClr val="accent1">
                    <a:lumMod val="75000"/>
                  </a:schemeClr>
                </a:solidFill>
                <a:latin typeface="Palatino Linotype" panose="02040502050505030304" pitchFamily="18" charset="0"/>
              </a:rPr>
              <a:t>Constructor </a:t>
            </a:r>
            <a:r>
              <a:rPr lang="en-US" sz="4000" b="1" dirty="0">
                <a:solidFill>
                  <a:schemeClr val="accent1">
                    <a:lumMod val="75000"/>
                  </a:schemeClr>
                </a:solidFill>
                <a:latin typeface="Palatino Linotype" panose="02040502050505030304" pitchFamily="18" charset="0"/>
              </a:rPr>
              <a:t>Overloading</a:t>
            </a:r>
            <a:endParaRPr lang="en-US" sz="4000" b="1" dirty="0" smtClean="0">
              <a:solidFill>
                <a:schemeClr val="accent1">
                  <a:lumMod val="75000"/>
                </a:schemeClr>
              </a:solidFill>
              <a:latin typeface="Palatino Linotype" panose="02040502050505030304" pitchFamily="18" charset="0"/>
            </a:endParaRPr>
          </a:p>
        </p:txBody>
      </p:sp>
      <p:pic>
        <p:nvPicPr>
          <p:cNvPr id="5" name="Picture 4"/>
          <p:cNvPicPr>
            <a:picLocks noChangeAspect="1"/>
          </p:cNvPicPr>
          <p:nvPr/>
        </p:nvPicPr>
        <p:blipFill>
          <a:blip r:embed="rId2"/>
          <a:stretch>
            <a:fillRect/>
          </a:stretch>
        </p:blipFill>
        <p:spPr>
          <a:xfrm>
            <a:off x="4405549" y="332463"/>
            <a:ext cx="6180139" cy="6096000"/>
          </a:xfrm>
          <a:prstGeom prst="rect">
            <a:avLst/>
          </a:prstGeom>
        </p:spPr>
      </p:pic>
    </p:spTree>
    <p:extLst>
      <p:ext uri="{BB962C8B-B14F-4D97-AF65-F5344CB8AC3E}">
        <p14:creationId xmlns:p14="http://schemas.microsoft.com/office/powerpoint/2010/main" val="3261862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0" y="469477"/>
            <a:ext cx="12192000" cy="1000124"/>
          </a:xfrm>
          <a:prstGeom prst="rect">
            <a:avLst/>
          </a:prstGeom>
          <a:solidFill>
            <a:schemeClr val="bg1"/>
          </a:solidFill>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endParaRPr lang="en-US" sz="4000" b="1" dirty="0">
              <a:solidFill>
                <a:schemeClr val="accent1">
                  <a:lumMod val="75000"/>
                </a:schemeClr>
              </a:solidFill>
              <a:latin typeface="Palatino Linotype" panose="02040502050505030304" pitchFamily="18" charset="0"/>
            </a:endParaRPr>
          </a:p>
        </p:txBody>
      </p:sp>
      <p:sp>
        <p:nvSpPr>
          <p:cNvPr id="5" name="TextBox 4"/>
          <p:cNvSpPr txBox="1"/>
          <p:nvPr/>
        </p:nvSpPr>
        <p:spPr>
          <a:xfrm>
            <a:off x="797856" y="5217672"/>
            <a:ext cx="10596282" cy="769441"/>
          </a:xfrm>
          <a:prstGeom prst="rect">
            <a:avLst/>
          </a:prstGeom>
          <a:noFill/>
        </p:spPr>
        <p:txBody>
          <a:bodyPr wrap="square" rtlCol="0">
            <a:spAutoFit/>
          </a:bodyPr>
          <a:lstStyle/>
          <a:p>
            <a:pPr algn="just"/>
            <a:r>
              <a:rPr lang="en-US" sz="2200" dirty="0">
                <a:latin typeface="Palatino Linotype" panose="02040502050505030304" pitchFamily="18" charset="0"/>
              </a:rPr>
              <a:t>In this example, all elements of o1 are set to 0 by the constructor function. The </a:t>
            </a:r>
            <a:r>
              <a:rPr lang="en-US" sz="2200" dirty="0" smtClean="0">
                <a:latin typeface="Palatino Linotype" panose="02040502050505030304" pitchFamily="18" charset="0"/>
              </a:rPr>
              <a:t>elements of </a:t>
            </a:r>
            <a:r>
              <a:rPr lang="en-US" sz="2200" dirty="0">
                <a:latin typeface="Palatino Linotype" panose="02040502050505030304" pitchFamily="18" charset="0"/>
              </a:rPr>
              <a:t>o2 are initialized as shown in the program.</a:t>
            </a:r>
          </a:p>
        </p:txBody>
      </p:sp>
      <p:sp>
        <p:nvSpPr>
          <p:cNvPr id="6" name="Rectangle 5"/>
          <p:cNvSpPr/>
          <p:nvPr/>
        </p:nvSpPr>
        <p:spPr>
          <a:xfrm>
            <a:off x="2711930" y="261653"/>
            <a:ext cx="6490128" cy="707886"/>
          </a:xfrm>
          <a:prstGeom prst="rect">
            <a:avLst/>
          </a:prstGeom>
        </p:spPr>
        <p:txBody>
          <a:bodyPr wrap="square">
            <a:spAutoFit/>
          </a:bodyPr>
          <a:lstStyle/>
          <a:p>
            <a:pPr algn="ctr"/>
            <a:r>
              <a:rPr lang="en-US" sz="4000" b="1" dirty="0" smtClean="0">
                <a:solidFill>
                  <a:schemeClr val="accent1">
                    <a:lumMod val="75000"/>
                  </a:schemeClr>
                </a:solidFill>
                <a:latin typeface="Palatino Linotype" panose="02040502050505030304" pitchFamily="18" charset="0"/>
              </a:rPr>
              <a:t>Constructor </a:t>
            </a:r>
            <a:r>
              <a:rPr lang="en-US" sz="4000" b="1" dirty="0">
                <a:solidFill>
                  <a:schemeClr val="accent1">
                    <a:lumMod val="75000"/>
                  </a:schemeClr>
                </a:solidFill>
                <a:latin typeface="Palatino Linotype" panose="02040502050505030304" pitchFamily="18" charset="0"/>
              </a:rPr>
              <a:t>Overloading</a:t>
            </a:r>
          </a:p>
        </p:txBody>
      </p:sp>
      <p:pic>
        <p:nvPicPr>
          <p:cNvPr id="4" name="Picture 3"/>
          <p:cNvPicPr>
            <a:picLocks noChangeAspect="1"/>
          </p:cNvPicPr>
          <p:nvPr/>
        </p:nvPicPr>
        <p:blipFill>
          <a:blip r:embed="rId2"/>
          <a:stretch>
            <a:fillRect/>
          </a:stretch>
        </p:blipFill>
        <p:spPr>
          <a:xfrm>
            <a:off x="4451982" y="1344064"/>
            <a:ext cx="4248150" cy="3873608"/>
          </a:xfrm>
          <a:prstGeom prst="rect">
            <a:avLst/>
          </a:prstGeom>
        </p:spPr>
      </p:pic>
    </p:spTree>
    <p:extLst>
      <p:ext uri="{BB962C8B-B14F-4D97-AF65-F5344CB8AC3E}">
        <p14:creationId xmlns:p14="http://schemas.microsoft.com/office/powerpoint/2010/main" val="1350386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213981"/>
            <a:ext cx="12192000" cy="1228725"/>
          </a:xfrm>
          <a:solidFill>
            <a:schemeClr val="bg1"/>
          </a:solidFill>
        </p:spPr>
        <p:txBody>
          <a:bodyPr>
            <a:normAutofit/>
          </a:bodyPr>
          <a:lstStyle/>
          <a:p>
            <a:pPr algn="ctr"/>
            <a:r>
              <a:rPr lang="en-US" sz="4400" b="1" dirty="0" smtClean="0">
                <a:solidFill>
                  <a:schemeClr val="accent1">
                    <a:lumMod val="75000"/>
                  </a:schemeClr>
                </a:solidFill>
                <a:latin typeface="Palatino Linotype" panose="02040502050505030304" pitchFamily="18" charset="0"/>
              </a:rPr>
              <a:t>Overloading Constructor Functions</a:t>
            </a:r>
            <a:endParaRPr lang="en-US" sz="4400" b="1" dirty="0">
              <a:solidFill>
                <a:schemeClr val="accent1">
                  <a:lumMod val="75000"/>
                </a:schemeClr>
              </a:solidFill>
              <a:latin typeface="Palatino Linotype" panose="02040502050505030304" pitchFamily="18" charset="0"/>
            </a:endParaRPr>
          </a:p>
        </p:txBody>
      </p:sp>
      <p:sp>
        <p:nvSpPr>
          <p:cNvPr id="6" name="Rectangle 5"/>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latin typeface="Palatino Linotype" panose="02040502050505030304" pitchFamily="18" charset="0"/>
            </a:endParaRPr>
          </a:p>
        </p:txBody>
      </p:sp>
      <p:sp>
        <p:nvSpPr>
          <p:cNvPr id="4" name="Rectangle 3"/>
          <p:cNvSpPr/>
          <p:nvPr/>
        </p:nvSpPr>
        <p:spPr>
          <a:xfrm>
            <a:off x="307522" y="2079241"/>
            <a:ext cx="11144250" cy="3477875"/>
          </a:xfrm>
          <a:prstGeom prst="rect">
            <a:avLst/>
          </a:prstGeom>
        </p:spPr>
        <p:txBody>
          <a:bodyPr wrap="square">
            <a:spAutoFit/>
          </a:bodyPr>
          <a:lstStyle/>
          <a:p>
            <a:pPr marL="800100" lvl="1" indent="-342900" algn="just">
              <a:buFont typeface="Wingdings" panose="05000000000000000000" pitchFamily="2" charset="2"/>
              <a:buChar char="ü"/>
            </a:pPr>
            <a:r>
              <a:rPr lang="en-US" sz="2200" dirty="0">
                <a:latin typeface="Palatino Linotype" panose="02040502050505030304" pitchFamily="18" charset="0"/>
              </a:rPr>
              <a:t>Another reason for overloading constructor functions is to allow the programmer to </a:t>
            </a:r>
            <a:r>
              <a:rPr lang="en-US" sz="2200" dirty="0" smtClean="0">
                <a:latin typeface="Palatino Linotype" panose="02040502050505030304" pitchFamily="18" charset="0"/>
              </a:rPr>
              <a:t>select the </a:t>
            </a:r>
            <a:r>
              <a:rPr lang="en-US" sz="2200" dirty="0">
                <a:latin typeface="Palatino Linotype" panose="02040502050505030304" pitchFamily="18" charset="0"/>
              </a:rPr>
              <a:t>most convenient method of initializing an object. To see how, </a:t>
            </a:r>
            <a:r>
              <a:rPr lang="en-US" sz="2200" dirty="0" smtClean="0">
                <a:latin typeface="Palatino Linotype" panose="02040502050505030304" pitchFamily="18" charset="0"/>
              </a:rPr>
              <a:t>first </a:t>
            </a:r>
            <a:r>
              <a:rPr lang="en-US" sz="2200" dirty="0">
                <a:latin typeface="Palatino Linotype" panose="02040502050505030304" pitchFamily="18" charset="0"/>
              </a:rPr>
              <a:t>examine </a:t>
            </a:r>
            <a:r>
              <a:rPr lang="en-US" sz="2200" dirty="0" smtClean="0">
                <a:latin typeface="Palatino Linotype" panose="02040502050505030304" pitchFamily="18" charset="0"/>
              </a:rPr>
              <a:t>the next </a:t>
            </a:r>
            <a:r>
              <a:rPr lang="en-US" sz="2200" dirty="0">
                <a:latin typeface="Palatino Linotype" panose="02040502050505030304" pitchFamily="18" charset="0"/>
              </a:rPr>
              <a:t>example, which creates a class that holds a </a:t>
            </a:r>
            <a:r>
              <a:rPr lang="en-US" sz="2200" dirty="0" err="1">
                <a:latin typeface="Palatino Linotype" panose="02040502050505030304" pitchFamily="18" charset="0"/>
              </a:rPr>
              <a:t>calender</a:t>
            </a:r>
            <a:r>
              <a:rPr lang="en-US" sz="2200" dirty="0">
                <a:latin typeface="Palatino Linotype" panose="02040502050505030304" pitchFamily="18" charset="0"/>
              </a:rPr>
              <a:t> date. It overloads the date</a:t>
            </a:r>
            <a:r>
              <a:rPr lang="en-US" sz="2200" dirty="0" smtClean="0">
                <a:latin typeface="Palatino Linotype" panose="02040502050505030304" pitchFamily="18" charset="0"/>
              </a:rPr>
              <a:t>() constructor </a:t>
            </a:r>
            <a:r>
              <a:rPr lang="en-US" sz="2200" dirty="0">
                <a:latin typeface="Palatino Linotype" panose="02040502050505030304" pitchFamily="18" charset="0"/>
              </a:rPr>
              <a:t>two ways. One form accepts the date as a character string. In the other </a:t>
            </a:r>
            <a:r>
              <a:rPr lang="en-US" sz="2200" dirty="0" smtClean="0">
                <a:latin typeface="Palatino Linotype" panose="02040502050505030304" pitchFamily="18" charset="0"/>
              </a:rPr>
              <a:t>form, the </a:t>
            </a:r>
            <a:r>
              <a:rPr lang="en-US" sz="2200" dirty="0">
                <a:latin typeface="Palatino Linotype" panose="02040502050505030304" pitchFamily="18" charset="0"/>
              </a:rPr>
              <a:t>date is passed as three integers</a:t>
            </a:r>
            <a:r>
              <a:rPr lang="en-US" sz="2200" dirty="0" smtClean="0">
                <a:latin typeface="Palatino Linotype" panose="02040502050505030304" pitchFamily="18" charset="0"/>
              </a:rPr>
              <a:t>.</a:t>
            </a:r>
          </a:p>
          <a:p>
            <a:pPr marL="800100" lvl="1" indent="-342900" algn="just">
              <a:buFont typeface="Wingdings" panose="05000000000000000000" pitchFamily="2" charset="2"/>
              <a:buChar char="ü"/>
            </a:pPr>
            <a:endParaRPr lang="en-US" sz="2200" dirty="0" smtClean="0">
              <a:latin typeface="Palatino Linotype" panose="02040502050505030304" pitchFamily="18" charset="0"/>
            </a:endParaRPr>
          </a:p>
          <a:p>
            <a:pPr marL="800100" lvl="1" indent="-342900" algn="just">
              <a:buFont typeface="Wingdings" panose="05000000000000000000" pitchFamily="2" charset="2"/>
              <a:buChar char="ü"/>
            </a:pPr>
            <a:r>
              <a:rPr lang="en-US" sz="2200" dirty="0" smtClean="0">
                <a:latin typeface="Palatino Linotype" panose="02040502050505030304" pitchFamily="18" charset="0"/>
              </a:rPr>
              <a:t>Although </a:t>
            </a:r>
            <a:r>
              <a:rPr lang="en-US" sz="2200" dirty="0">
                <a:latin typeface="Palatino Linotype" panose="02040502050505030304" pitchFamily="18" charset="0"/>
              </a:rPr>
              <a:t>it is possible to overload a constructor as many times as you want, doing </a:t>
            </a:r>
            <a:r>
              <a:rPr lang="en-US" sz="2200" dirty="0" smtClean="0">
                <a:latin typeface="Palatino Linotype" panose="02040502050505030304" pitchFamily="18" charset="0"/>
              </a:rPr>
              <a:t>so excessively </a:t>
            </a:r>
            <a:r>
              <a:rPr lang="en-US" sz="2200" dirty="0">
                <a:latin typeface="Palatino Linotype" panose="02040502050505030304" pitchFamily="18" charset="0"/>
              </a:rPr>
              <a:t>has a </a:t>
            </a:r>
            <a:r>
              <a:rPr lang="en-US" sz="2200" dirty="0" err="1">
                <a:latin typeface="Palatino Linotype" panose="02040502050505030304" pitchFamily="18" charset="0"/>
              </a:rPr>
              <a:t>destructuring</a:t>
            </a:r>
            <a:r>
              <a:rPr lang="en-US" sz="2200" dirty="0">
                <a:latin typeface="Palatino Linotype" panose="02040502050505030304" pitchFamily="18" charset="0"/>
              </a:rPr>
              <a:t> </a:t>
            </a:r>
            <a:r>
              <a:rPr lang="en-US" sz="2200" dirty="0" smtClean="0">
                <a:latin typeface="Palatino Linotype" panose="02040502050505030304" pitchFamily="18" charset="0"/>
              </a:rPr>
              <a:t>effect </a:t>
            </a:r>
            <a:r>
              <a:rPr lang="en-US" sz="2200" dirty="0">
                <a:latin typeface="Palatino Linotype" panose="02040502050505030304" pitchFamily="18" charset="0"/>
              </a:rPr>
              <a:t>on the class. From a stylistic point of view, it is </a:t>
            </a:r>
            <a:r>
              <a:rPr lang="en-US" sz="2200" dirty="0" smtClean="0">
                <a:latin typeface="Palatino Linotype" panose="02040502050505030304" pitchFamily="18" charset="0"/>
              </a:rPr>
              <a:t>best to </a:t>
            </a:r>
            <a:r>
              <a:rPr lang="en-US" sz="2200" dirty="0">
                <a:latin typeface="Palatino Linotype" panose="02040502050505030304" pitchFamily="18" charset="0"/>
              </a:rPr>
              <a:t>overload a constructor to accommodate only those situations that are likely to </a:t>
            </a:r>
            <a:r>
              <a:rPr lang="en-US" sz="2200" dirty="0" smtClean="0">
                <a:latin typeface="Palatino Linotype" panose="02040502050505030304" pitchFamily="18" charset="0"/>
              </a:rPr>
              <a:t>occur frequently</a:t>
            </a:r>
            <a:r>
              <a:rPr lang="en-US" sz="2200" dirty="0">
                <a:latin typeface="Palatino Linotype" panose="02040502050505030304" pitchFamily="18" charset="0"/>
              </a:rPr>
              <a:t>.</a:t>
            </a:r>
          </a:p>
        </p:txBody>
      </p:sp>
    </p:spTree>
    <p:extLst>
      <p:ext uri="{BB962C8B-B14F-4D97-AF65-F5344CB8AC3E}">
        <p14:creationId xmlns:p14="http://schemas.microsoft.com/office/powerpoint/2010/main" val="8369398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645458" y="2662938"/>
            <a:ext cx="3106271" cy="1000124"/>
          </a:xfrm>
          <a:prstGeom prst="rect">
            <a:avLst/>
          </a:prstGeom>
          <a:solidFill>
            <a:schemeClr val="bg1"/>
          </a:solidFill>
        </p:spPr>
        <p:txBody>
          <a:bodyPr>
            <a:normAutofit fontScale="92500"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4000" b="1" dirty="0" smtClean="0">
                <a:solidFill>
                  <a:schemeClr val="accent1">
                    <a:lumMod val="75000"/>
                  </a:schemeClr>
                </a:solidFill>
                <a:latin typeface="Palatino Linotype" panose="02040502050505030304" pitchFamily="18" charset="0"/>
              </a:rPr>
              <a:t>Constructor </a:t>
            </a:r>
            <a:r>
              <a:rPr lang="en-US" sz="4000" b="1" dirty="0">
                <a:solidFill>
                  <a:schemeClr val="accent1">
                    <a:lumMod val="75000"/>
                  </a:schemeClr>
                </a:solidFill>
                <a:latin typeface="Palatino Linotype" panose="02040502050505030304" pitchFamily="18" charset="0"/>
              </a:rPr>
              <a:t>Overloading</a:t>
            </a:r>
            <a:endParaRPr lang="en-US" sz="4000" b="1" dirty="0" smtClean="0">
              <a:solidFill>
                <a:schemeClr val="accent1">
                  <a:lumMod val="75000"/>
                </a:schemeClr>
              </a:solidFill>
              <a:latin typeface="Palatino Linotype" panose="02040502050505030304" pitchFamily="18" charset="0"/>
            </a:endParaRPr>
          </a:p>
        </p:txBody>
      </p:sp>
      <p:pic>
        <p:nvPicPr>
          <p:cNvPr id="5" name="Picture 4"/>
          <p:cNvPicPr>
            <a:picLocks noChangeAspect="1"/>
          </p:cNvPicPr>
          <p:nvPr/>
        </p:nvPicPr>
        <p:blipFill>
          <a:blip r:embed="rId2"/>
          <a:stretch>
            <a:fillRect/>
          </a:stretch>
        </p:blipFill>
        <p:spPr>
          <a:xfrm>
            <a:off x="3487521" y="-9924"/>
            <a:ext cx="6933974" cy="6858000"/>
          </a:xfrm>
          <a:prstGeom prst="rect">
            <a:avLst/>
          </a:prstGeom>
        </p:spPr>
      </p:pic>
    </p:spTree>
    <p:extLst>
      <p:ext uri="{BB962C8B-B14F-4D97-AF65-F5344CB8AC3E}">
        <p14:creationId xmlns:p14="http://schemas.microsoft.com/office/powerpoint/2010/main" val="1983503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0" y="469477"/>
            <a:ext cx="12192000" cy="1000124"/>
          </a:xfrm>
          <a:prstGeom prst="rect">
            <a:avLst/>
          </a:prstGeom>
          <a:solidFill>
            <a:schemeClr val="bg1"/>
          </a:solidFill>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endParaRPr lang="en-US" sz="4000" b="1" dirty="0">
              <a:solidFill>
                <a:schemeClr val="accent1">
                  <a:lumMod val="75000"/>
                </a:schemeClr>
              </a:solidFill>
              <a:latin typeface="Palatino Linotype" panose="02040502050505030304" pitchFamily="18" charset="0"/>
            </a:endParaRPr>
          </a:p>
        </p:txBody>
      </p:sp>
      <p:sp>
        <p:nvSpPr>
          <p:cNvPr id="5" name="TextBox 4"/>
          <p:cNvSpPr txBox="1"/>
          <p:nvPr/>
        </p:nvSpPr>
        <p:spPr>
          <a:xfrm>
            <a:off x="658852" y="3475957"/>
            <a:ext cx="10596282" cy="2462213"/>
          </a:xfrm>
          <a:prstGeom prst="rect">
            <a:avLst/>
          </a:prstGeom>
          <a:noFill/>
        </p:spPr>
        <p:txBody>
          <a:bodyPr wrap="square" rtlCol="0">
            <a:spAutoFit/>
          </a:bodyPr>
          <a:lstStyle/>
          <a:p>
            <a:pPr algn="just"/>
            <a:r>
              <a:rPr lang="en-US" sz="2200" dirty="0">
                <a:latin typeface="Palatino Linotype" panose="02040502050505030304" pitchFamily="18" charset="0"/>
              </a:rPr>
              <a:t>The advantage of overloading the date() constructor, as shown in this program, is that you are free to use whichever version most conveniently </a:t>
            </a:r>
            <a:r>
              <a:rPr lang="en-US" sz="2200" dirty="0" smtClean="0">
                <a:latin typeface="Palatino Linotype" panose="02040502050505030304" pitchFamily="18" charset="0"/>
              </a:rPr>
              <a:t>fits </a:t>
            </a:r>
            <a:r>
              <a:rPr lang="en-US" sz="2200" dirty="0">
                <a:latin typeface="Palatino Linotype" panose="02040502050505030304" pitchFamily="18" charset="0"/>
              </a:rPr>
              <a:t>the situation in which it is being used. For example, if a date object is being created from user input, the string version is the easiest to use. However, if the date object is being constructed through some sort of internal computation, the three-integer parameter version probably makes more sense.</a:t>
            </a:r>
          </a:p>
          <a:p>
            <a:pPr algn="just"/>
            <a:endParaRPr lang="en-US" sz="2200" dirty="0">
              <a:latin typeface="Palatino Linotype" panose="02040502050505030304" pitchFamily="18" charset="0"/>
            </a:endParaRPr>
          </a:p>
        </p:txBody>
      </p:sp>
      <p:sp>
        <p:nvSpPr>
          <p:cNvPr id="6" name="Rectangle 5"/>
          <p:cNvSpPr/>
          <p:nvPr/>
        </p:nvSpPr>
        <p:spPr>
          <a:xfrm>
            <a:off x="2711930" y="261653"/>
            <a:ext cx="6490128" cy="707886"/>
          </a:xfrm>
          <a:prstGeom prst="rect">
            <a:avLst/>
          </a:prstGeom>
        </p:spPr>
        <p:txBody>
          <a:bodyPr wrap="square">
            <a:spAutoFit/>
          </a:bodyPr>
          <a:lstStyle/>
          <a:p>
            <a:pPr algn="ctr"/>
            <a:r>
              <a:rPr lang="en-US" sz="4000" b="1" dirty="0" smtClean="0">
                <a:solidFill>
                  <a:schemeClr val="accent1">
                    <a:lumMod val="75000"/>
                  </a:schemeClr>
                </a:solidFill>
                <a:latin typeface="Palatino Linotype" panose="02040502050505030304" pitchFamily="18" charset="0"/>
              </a:rPr>
              <a:t>Constructor </a:t>
            </a:r>
            <a:r>
              <a:rPr lang="en-US" sz="4000" b="1" dirty="0">
                <a:solidFill>
                  <a:schemeClr val="accent1">
                    <a:lumMod val="75000"/>
                  </a:schemeClr>
                </a:solidFill>
                <a:latin typeface="Palatino Linotype" panose="02040502050505030304" pitchFamily="18" charset="0"/>
              </a:rPr>
              <a:t>Overloading</a:t>
            </a:r>
          </a:p>
        </p:txBody>
      </p:sp>
      <p:pic>
        <p:nvPicPr>
          <p:cNvPr id="2" name="Picture 1"/>
          <p:cNvPicPr>
            <a:picLocks noChangeAspect="1"/>
          </p:cNvPicPr>
          <p:nvPr/>
        </p:nvPicPr>
        <p:blipFill>
          <a:blip r:embed="rId2"/>
          <a:stretch>
            <a:fillRect/>
          </a:stretch>
        </p:blipFill>
        <p:spPr>
          <a:xfrm>
            <a:off x="3338979" y="1177363"/>
            <a:ext cx="5236029" cy="1718582"/>
          </a:xfrm>
          <a:prstGeom prst="rect">
            <a:avLst/>
          </a:prstGeom>
        </p:spPr>
      </p:pic>
    </p:spTree>
    <p:extLst>
      <p:ext uri="{BB962C8B-B14F-4D97-AF65-F5344CB8AC3E}">
        <p14:creationId xmlns:p14="http://schemas.microsoft.com/office/powerpoint/2010/main" val="34762394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213981"/>
            <a:ext cx="12192000" cy="1228725"/>
          </a:xfrm>
          <a:solidFill>
            <a:schemeClr val="bg1"/>
          </a:solidFill>
        </p:spPr>
        <p:txBody>
          <a:bodyPr>
            <a:normAutofit/>
          </a:bodyPr>
          <a:lstStyle/>
          <a:p>
            <a:pPr algn="ctr"/>
            <a:r>
              <a:rPr lang="en-US" sz="4400" b="1" dirty="0" smtClean="0">
                <a:solidFill>
                  <a:schemeClr val="accent1">
                    <a:lumMod val="75000"/>
                  </a:schemeClr>
                </a:solidFill>
                <a:latin typeface="Palatino Linotype" panose="02040502050505030304" pitchFamily="18" charset="0"/>
              </a:rPr>
              <a:t>Overloading Constructor Functions</a:t>
            </a:r>
            <a:endParaRPr lang="en-US" sz="4400" b="1" dirty="0">
              <a:solidFill>
                <a:schemeClr val="accent1">
                  <a:lumMod val="75000"/>
                </a:schemeClr>
              </a:solidFill>
              <a:latin typeface="Palatino Linotype" panose="02040502050505030304" pitchFamily="18" charset="0"/>
            </a:endParaRPr>
          </a:p>
        </p:txBody>
      </p:sp>
      <p:sp>
        <p:nvSpPr>
          <p:cNvPr id="6" name="Rectangle 5"/>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latin typeface="Palatino Linotype" panose="02040502050505030304" pitchFamily="18" charset="0"/>
            </a:endParaRPr>
          </a:p>
        </p:txBody>
      </p:sp>
      <p:sp>
        <p:nvSpPr>
          <p:cNvPr id="4" name="Rectangle 3"/>
          <p:cNvSpPr/>
          <p:nvPr/>
        </p:nvSpPr>
        <p:spPr>
          <a:xfrm>
            <a:off x="365579" y="2500155"/>
            <a:ext cx="11144250" cy="1938992"/>
          </a:xfrm>
          <a:prstGeom prst="rect">
            <a:avLst/>
          </a:prstGeom>
        </p:spPr>
        <p:txBody>
          <a:bodyPr wrap="square">
            <a:spAutoFit/>
          </a:bodyPr>
          <a:lstStyle/>
          <a:p>
            <a:pPr lvl="1" algn="just"/>
            <a:r>
              <a:rPr lang="en-US" sz="2400" dirty="0">
                <a:latin typeface="Palatino Linotype" panose="02040502050505030304" pitchFamily="18" charset="0"/>
              </a:rPr>
              <a:t>There is one other situation in which you will need to overload a class's </a:t>
            </a:r>
            <a:r>
              <a:rPr lang="en-US" sz="2400" dirty="0" smtClean="0">
                <a:latin typeface="Palatino Linotype" panose="02040502050505030304" pitchFamily="18" charset="0"/>
              </a:rPr>
              <a:t>constructor function</a:t>
            </a:r>
            <a:r>
              <a:rPr lang="en-US" sz="2400" dirty="0">
                <a:latin typeface="Palatino Linotype" panose="02040502050505030304" pitchFamily="18" charset="0"/>
              </a:rPr>
              <a:t>: when a dynamic array of that class will be allocated. As you should recall </a:t>
            </a:r>
            <a:r>
              <a:rPr lang="en-US" sz="2400" dirty="0" smtClean="0">
                <a:latin typeface="Palatino Linotype" panose="02040502050505030304" pitchFamily="18" charset="0"/>
              </a:rPr>
              <a:t>from the </a:t>
            </a:r>
            <a:r>
              <a:rPr lang="en-US" sz="2400" dirty="0">
                <a:latin typeface="Palatino Linotype" panose="02040502050505030304" pitchFamily="18" charset="0"/>
              </a:rPr>
              <a:t>preceding chapter, a dynamic array cannot be initialized. Thus, if the class </a:t>
            </a:r>
            <a:r>
              <a:rPr lang="en-US" sz="2400" dirty="0" smtClean="0">
                <a:latin typeface="Palatino Linotype" panose="02040502050505030304" pitchFamily="18" charset="0"/>
              </a:rPr>
              <a:t>contains a </a:t>
            </a:r>
            <a:r>
              <a:rPr lang="en-US" sz="2400" dirty="0">
                <a:latin typeface="Palatino Linotype" panose="02040502050505030304" pitchFamily="18" charset="0"/>
              </a:rPr>
              <a:t>constructor that takes an initializer, you must include an overloaded version that </a:t>
            </a:r>
            <a:r>
              <a:rPr lang="en-US" sz="2400" dirty="0" smtClean="0">
                <a:latin typeface="Palatino Linotype" panose="02040502050505030304" pitchFamily="18" charset="0"/>
              </a:rPr>
              <a:t>takes no </a:t>
            </a:r>
            <a:r>
              <a:rPr lang="en-US" sz="2400" dirty="0">
                <a:latin typeface="Palatino Linotype" panose="02040502050505030304" pitchFamily="18" charset="0"/>
              </a:rPr>
              <a:t>initializer.</a:t>
            </a:r>
          </a:p>
        </p:txBody>
      </p:sp>
    </p:spTree>
    <p:extLst>
      <p:ext uri="{BB962C8B-B14F-4D97-AF65-F5344CB8AC3E}">
        <p14:creationId xmlns:p14="http://schemas.microsoft.com/office/powerpoint/2010/main" val="44348970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645458" y="2662938"/>
            <a:ext cx="3106271" cy="1000124"/>
          </a:xfrm>
          <a:prstGeom prst="rect">
            <a:avLst/>
          </a:prstGeom>
          <a:solidFill>
            <a:schemeClr val="bg1"/>
          </a:solidFill>
        </p:spPr>
        <p:txBody>
          <a:bodyPr>
            <a:normAutofit fontScale="92500"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4000" b="1" dirty="0" smtClean="0">
                <a:solidFill>
                  <a:schemeClr val="accent1">
                    <a:lumMod val="75000"/>
                  </a:schemeClr>
                </a:solidFill>
                <a:latin typeface="Palatino Linotype" panose="02040502050505030304" pitchFamily="18" charset="0"/>
              </a:rPr>
              <a:t>Constructor </a:t>
            </a:r>
            <a:r>
              <a:rPr lang="en-US" sz="4000" b="1" dirty="0">
                <a:solidFill>
                  <a:schemeClr val="accent1">
                    <a:lumMod val="75000"/>
                  </a:schemeClr>
                </a:solidFill>
                <a:latin typeface="Palatino Linotype" panose="02040502050505030304" pitchFamily="18" charset="0"/>
              </a:rPr>
              <a:t>Overloading</a:t>
            </a:r>
            <a:endParaRPr lang="en-US" sz="4000" b="1" dirty="0" smtClean="0">
              <a:solidFill>
                <a:schemeClr val="accent1">
                  <a:lumMod val="75000"/>
                </a:schemeClr>
              </a:solidFill>
              <a:latin typeface="Palatino Linotype" panose="02040502050505030304" pitchFamily="18" charset="0"/>
            </a:endParaRPr>
          </a:p>
        </p:txBody>
      </p:sp>
      <p:pic>
        <p:nvPicPr>
          <p:cNvPr id="4" name="Picture 3"/>
          <p:cNvPicPr>
            <a:picLocks noChangeAspect="1"/>
          </p:cNvPicPr>
          <p:nvPr/>
        </p:nvPicPr>
        <p:blipFill>
          <a:blip r:embed="rId2"/>
          <a:stretch>
            <a:fillRect/>
          </a:stretch>
        </p:blipFill>
        <p:spPr>
          <a:xfrm>
            <a:off x="4037429" y="-14068"/>
            <a:ext cx="6807096" cy="6858000"/>
          </a:xfrm>
          <a:prstGeom prst="rect">
            <a:avLst/>
          </a:prstGeom>
        </p:spPr>
      </p:pic>
    </p:spTree>
    <p:extLst>
      <p:ext uri="{BB962C8B-B14F-4D97-AF65-F5344CB8AC3E}">
        <p14:creationId xmlns:p14="http://schemas.microsoft.com/office/powerpoint/2010/main" val="42424120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0" y="469477"/>
            <a:ext cx="12192000" cy="1000124"/>
          </a:xfrm>
          <a:prstGeom prst="rect">
            <a:avLst/>
          </a:prstGeom>
          <a:solidFill>
            <a:schemeClr val="bg1"/>
          </a:solidFill>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endParaRPr lang="en-US" sz="4000" b="1" dirty="0">
              <a:solidFill>
                <a:schemeClr val="accent1">
                  <a:lumMod val="75000"/>
                </a:schemeClr>
              </a:solidFill>
              <a:latin typeface="Palatino Linotype" panose="02040502050505030304" pitchFamily="18" charset="0"/>
            </a:endParaRPr>
          </a:p>
        </p:txBody>
      </p:sp>
      <p:sp>
        <p:nvSpPr>
          <p:cNvPr id="5" name="TextBox 4"/>
          <p:cNvSpPr txBox="1"/>
          <p:nvPr/>
        </p:nvSpPr>
        <p:spPr>
          <a:xfrm>
            <a:off x="797859" y="3882357"/>
            <a:ext cx="10596282" cy="1107996"/>
          </a:xfrm>
          <a:prstGeom prst="rect">
            <a:avLst/>
          </a:prstGeom>
          <a:noFill/>
        </p:spPr>
        <p:txBody>
          <a:bodyPr wrap="square" rtlCol="0">
            <a:spAutoFit/>
          </a:bodyPr>
          <a:lstStyle/>
          <a:p>
            <a:pPr algn="just"/>
            <a:r>
              <a:rPr lang="en-US" sz="2200" dirty="0">
                <a:latin typeface="Palatino Linotype" panose="02040502050505030304" pitchFamily="18" charset="0"/>
              </a:rPr>
              <a:t>Without the overloaded version of </a:t>
            </a:r>
            <a:r>
              <a:rPr lang="en-US" sz="2200" dirty="0" err="1">
                <a:latin typeface="Palatino Linotype" panose="02040502050505030304" pitchFamily="18" charset="0"/>
              </a:rPr>
              <a:t>myclass</a:t>
            </a:r>
            <a:r>
              <a:rPr lang="en-US" sz="2200" dirty="0">
                <a:latin typeface="Palatino Linotype" panose="02040502050505030304" pitchFamily="18" charset="0"/>
              </a:rPr>
              <a:t>() that has no initializer, the new </a:t>
            </a:r>
            <a:r>
              <a:rPr lang="en-US" sz="2200" dirty="0" smtClean="0">
                <a:latin typeface="Palatino Linotype" panose="02040502050505030304" pitchFamily="18" charset="0"/>
              </a:rPr>
              <a:t>statement would </a:t>
            </a:r>
            <a:r>
              <a:rPr lang="en-US" sz="2200" dirty="0">
                <a:latin typeface="Palatino Linotype" panose="02040502050505030304" pitchFamily="18" charset="0"/>
              </a:rPr>
              <a:t>have generated a compile-time error and the program would not have been compiled.</a:t>
            </a:r>
          </a:p>
        </p:txBody>
      </p:sp>
      <p:sp>
        <p:nvSpPr>
          <p:cNvPr id="6" name="Rectangle 5"/>
          <p:cNvSpPr/>
          <p:nvPr/>
        </p:nvSpPr>
        <p:spPr>
          <a:xfrm>
            <a:off x="2711930" y="261653"/>
            <a:ext cx="6490128" cy="707886"/>
          </a:xfrm>
          <a:prstGeom prst="rect">
            <a:avLst/>
          </a:prstGeom>
        </p:spPr>
        <p:txBody>
          <a:bodyPr wrap="square">
            <a:spAutoFit/>
          </a:bodyPr>
          <a:lstStyle/>
          <a:p>
            <a:pPr algn="ctr"/>
            <a:r>
              <a:rPr lang="en-US" sz="4000" b="1" dirty="0" smtClean="0">
                <a:solidFill>
                  <a:schemeClr val="accent1">
                    <a:lumMod val="75000"/>
                  </a:schemeClr>
                </a:solidFill>
                <a:latin typeface="Palatino Linotype" panose="02040502050505030304" pitchFamily="18" charset="0"/>
              </a:rPr>
              <a:t>Constructor </a:t>
            </a:r>
            <a:r>
              <a:rPr lang="en-US" sz="4000" b="1" dirty="0">
                <a:solidFill>
                  <a:schemeClr val="accent1">
                    <a:lumMod val="75000"/>
                  </a:schemeClr>
                </a:solidFill>
                <a:latin typeface="Palatino Linotype" panose="02040502050505030304" pitchFamily="18" charset="0"/>
              </a:rPr>
              <a:t>Overloading</a:t>
            </a:r>
          </a:p>
        </p:txBody>
      </p:sp>
      <p:pic>
        <p:nvPicPr>
          <p:cNvPr id="4" name="Picture 3"/>
          <p:cNvPicPr>
            <a:picLocks noChangeAspect="1"/>
          </p:cNvPicPr>
          <p:nvPr/>
        </p:nvPicPr>
        <p:blipFill>
          <a:blip r:embed="rId2"/>
          <a:stretch>
            <a:fillRect/>
          </a:stretch>
        </p:blipFill>
        <p:spPr>
          <a:xfrm>
            <a:off x="3407909" y="1410755"/>
            <a:ext cx="5376182" cy="2143125"/>
          </a:xfrm>
          <a:prstGeom prst="rect">
            <a:avLst/>
          </a:prstGeom>
        </p:spPr>
      </p:pic>
    </p:spTree>
    <p:extLst>
      <p:ext uri="{BB962C8B-B14F-4D97-AF65-F5344CB8AC3E}">
        <p14:creationId xmlns:p14="http://schemas.microsoft.com/office/powerpoint/2010/main" val="59413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2749" y="1231849"/>
            <a:ext cx="12192000" cy="639154"/>
          </a:xfrm>
          <a:solidFill>
            <a:schemeClr val="bg1"/>
          </a:solidFill>
        </p:spPr>
        <p:txBody>
          <a:bodyPr>
            <a:normAutofit fontScale="90000"/>
          </a:bodyPr>
          <a:lstStyle/>
          <a:p>
            <a:pPr algn="ctr"/>
            <a:r>
              <a:rPr lang="en-US" sz="4400" b="1" dirty="0" smtClean="0">
                <a:solidFill>
                  <a:schemeClr val="accent1">
                    <a:lumMod val="75000"/>
                  </a:schemeClr>
                </a:solidFill>
                <a:latin typeface="Palatino Linotype" panose="02040502050505030304" pitchFamily="18" charset="0"/>
              </a:rPr>
              <a:t>The Overload Anachronism</a:t>
            </a:r>
            <a:r>
              <a:rPr lang="en-US" sz="4400" b="1" dirty="0">
                <a:solidFill>
                  <a:schemeClr val="accent1">
                    <a:lumMod val="75000"/>
                  </a:schemeClr>
                </a:solidFill>
                <a:latin typeface="Palatino Linotype" panose="02040502050505030304" pitchFamily="18" charset="0"/>
              </a:rPr>
              <a:t/>
            </a:r>
            <a:br>
              <a:rPr lang="en-US" sz="4400" b="1" dirty="0">
                <a:solidFill>
                  <a:schemeClr val="accent1">
                    <a:lumMod val="75000"/>
                  </a:schemeClr>
                </a:solidFill>
                <a:latin typeface="Palatino Linotype" panose="02040502050505030304" pitchFamily="18" charset="0"/>
              </a:rPr>
            </a:br>
            <a:endParaRPr lang="en-US" sz="4400" b="1" dirty="0">
              <a:solidFill>
                <a:schemeClr val="accent1">
                  <a:lumMod val="75000"/>
                </a:schemeClr>
              </a:solidFill>
              <a:latin typeface="Palatino Linotype" panose="02040502050505030304" pitchFamily="18" charset="0"/>
            </a:endParaRPr>
          </a:p>
        </p:txBody>
      </p:sp>
      <p:sp>
        <p:nvSpPr>
          <p:cNvPr id="6" name="Rectangle 5"/>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latin typeface="Palatino Linotype" panose="02040502050505030304" pitchFamily="18" charset="0"/>
            </a:endParaRPr>
          </a:p>
        </p:txBody>
      </p:sp>
      <p:sp>
        <p:nvSpPr>
          <p:cNvPr id="4" name="Rectangle 3"/>
          <p:cNvSpPr/>
          <p:nvPr/>
        </p:nvSpPr>
        <p:spPr>
          <a:xfrm>
            <a:off x="696058" y="1973505"/>
            <a:ext cx="10825382" cy="3785652"/>
          </a:xfrm>
          <a:prstGeom prst="rect">
            <a:avLst/>
          </a:prstGeom>
        </p:spPr>
        <p:txBody>
          <a:bodyPr wrap="square">
            <a:spAutoFit/>
          </a:bodyPr>
          <a:lstStyle/>
          <a:p>
            <a:pPr algn="just"/>
            <a:r>
              <a:rPr lang="en-US" sz="2400" dirty="0" smtClean="0">
                <a:latin typeface="Palatino Linotype" panose="02040502050505030304" pitchFamily="18" charset="0"/>
              </a:rPr>
              <a:t>When </a:t>
            </a:r>
            <a:r>
              <a:rPr lang="en-US" sz="2400" dirty="0">
                <a:latin typeface="Palatino Linotype" panose="02040502050505030304" pitchFamily="18" charset="0"/>
              </a:rPr>
              <a:t>C++ was </a:t>
            </a:r>
            <a:r>
              <a:rPr lang="en-US" sz="2400" dirty="0" smtClean="0">
                <a:latin typeface="Palatino Linotype" panose="02040502050505030304" pitchFamily="18" charset="0"/>
              </a:rPr>
              <a:t>first </a:t>
            </a:r>
            <a:r>
              <a:rPr lang="en-US" sz="2400" dirty="0">
                <a:latin typeface="Palatino Linotype" panose="02040502050505030304" pitchFamily="18" charset="0"/>
              </a:rPr>
              <a:t>invented, the keyword overload was required to create an </a:t>
            </a:r>
            <a:r>
              <a:rPr lang="en-US" sz="2400" dirty="0" smtClean="0">
                <a:latin typeface="Palatino Linotype" panose="02040502050505030304" pitchFamily="18" charset="0"/>
              </a:rPr>
              <a:t>overloaded function</a:t>
            </a:r>
            <a:r>
              <a:rPr lang="en-US" sz="2400" dirty="0">
                <a:latin typeface="Palatino Linotype" panose="02040502050505030304" pitchFamily="18" charset="0"/>
              </a:rPr>
              <a:t>. Although overload is now obsolete and no longer supported by modern C++ </a:t>
            </a:r>
            <a:r>
              <a:rPr lang="en-US" sz="2400" dirty="0" smtClean="0">
                <a:latin typeface="Palatino Linotype" panose="02040502050505030304" pitchFamily="18" charset="0"/>
              </a:rPr>
              <a:t>compilers</a:t>
            </a:r>
            <a:r>
              <a:rPr lang="en-US" sz="2400" dirty="0">
                <a:latin typeface="Palatino Linotype" panose="02040502050505030304" pitchFamily="18" charset="0"/>
              </a:rPr>
              <a:t>, you may still see overload used in old programs, so it is a good idea to understand </a:t>
            </a:r>
            <a:r>
              <a:rPr lang="en-US" sz="2400" dirty="0" smtClean="0">
                <a:latin typeface="Palatino Linotype" panose="02040502050505030304" pitchFamily="18" charset="0"/>
              </a:rPr>
              <a:t>how it </a:t>
            </a:r>
            <a:r>
              <a:rPr lang="en-US" sz="2400" dirty="0">
                <a:latin typeface="Palatino Linotype" panose="02040502050505030304" pitchFamily="18" charset="0"/>
              </a:rPr>
              <a:t>was </a:t>
            </a:r>
            <a:r>
              <a:rPr lang="en-US" sz="2400" dirty="0" smtClean="0">
                <a:latin typeface="Palatino Linotype" panose="02040502050505030304" pitchFamily="18" charset="0"/>
              </a:rPr>
              <a:t>applied. The </a:t>
            </a:r>
            <a:r>
              <a:rPr lang="en-US" sz="2400" dirty="0">
                <a:latin typeface="Palatino Linotype" panose="02040502050505030304" pitchFamily="18" charset="0"/>
              </a:rPr>
              <a:t>general form of overload is shown here</a:t>
            </a:r>
            <a:r>
              <a:rPr lang="en-US" sz="2400" dirty="0" smtClean="0">
                <a:latin typeface="Palatino Linotype" panose="02040502050505030304" pitchFamily="18" charset="0"/>
              </a:rPr>
              <a:t>,</a:t>
            </a:r>
          </a:p>
          <a:p>
            <a:pPr algn="just"/>
            <a:endParaRPr lang="en-US" sz="2400" dirty="0">
              <a:latin typeface="Palatino Linotype" panose="02040502050505030304" pitchFamily="18" charset="0"/>
            </a:endParaRPr>
          </a:p>
          <a:p>
            <a:pPr algn="ctr"/>
            <a:r>
              <a:rPr lang="en-US" sz="2400" dirty="0">
                <a:solidFill>
                  <a:srgbClr val="C00000"/>
                </a:solidFill>
                <a:latin typeface="Palatino Linotype" panose="02040502050505030304" pitchFamily="18" charset="0"/>
              </a:rPr>
              <a:t>overload </a:t>
            </a:r>
            <a:r>
              <a:rPr lang="en-US" sz="2400" dirty="0" err="1">
                <a:solidFill>
                  <a:srgbClr val="C00000"/>
                </a:solidFill>
                <a:latin typeface="Palatino Linotype" panose="02040502050505030304" pitchFamily="18" charset="0"/>
              </a:rPr>
              <a:t>func_name</a:t>
            </a:r>
            <a:r>
              <a:rPr lang="en-US" sz="2400" dirty="0">
                <a:solidFill>
                  <a:srgbClr val="C00000"/>
                </a:solidFill>
                <a:latin typeface="Palatino Linotype" panose="02040502050505030304" pitchFamily="18" charset="0"/>
              </a:rPr>
              <a:t> </a:t>
            </a:r>
            <a:r>
              <a:rPr lang="en-US" sz="2400" dirty="0" smtClean="0">
                <a:solidFill>
                  <a:srgbClr val="C00000"/>
                </a:solidFill>
                <a:latin typeface="Palatino Linotype" panose="02040502050505030304" pitchFamily="18" charset="0"/>
              </a:rPr>
              <a:t>;</a:t>
            </a:r>
          </a:p>
          <a:p>
            <a:pPr algn="just"/>
            <a:endParaRPr lang="en-US" sz="2400" dirty="0">
              <a:latin typeface="Palatino Linotype" panose="02040502050505030304" pitchFamily="18" charset="0"/>
            </a:endParaRPr>
          </a:p>
          <a:p>
            <a:pPr algn="just"/>
            <a:r>
              <a:rPr lang="en-US" sz="2400" dirty="0">
                <a:latin typeface="Palatino Linotype" panose="02040502050505030304" pitchFamily="18" charset="0"/>
              </a:rPr>
              <a:t>where </a:t>
            </a:r>
            <a:r>
              <a:rPr lang="en-US" sz="2400" dirty="0" err="1">
                <a:latin typeface="Palatino Linotype" panose="02040502050505030304" pitchFamily="18" charset="0"/>
              </a:rPr>
              <a:t>func</a:t>
            </a:r>
            <a:r>
              <a:rPr lang="en-US" sz="2400" dirty="0">
                <a:latin typeface="Palatino Linotype" panose="02040502050505030304" pitchFamily="18" charset="0"/>
              </a:rPr>
              <a:t>-name is the name of the function to be overloaded. This statement must </a:t>
            </a:r>
            <a:r>
              <a:rPr lang="en-US" sz="2400" dirty="0" smtClean="0">
                <a:latin typeface="Palatino Linotype" panose="02040502050505030304" pitchFamily="18" charset="0"/>
              </a:rPr>
              <a:t>precede the </a:t>
            </a:r>
            <a:r>
              <a:rPr lang="en-US" sz="2400" dirty="0">
                <a:latin typeface="Palatino Linotype" panose="02040502050505030304" pitchFamily="18" charset="0"/>
              </a:rPr>
              <a:t>overloaded function declarations.</a:t>
            </a:r>
            <a:endParaRPr lang="en-US" sz="4800" dirty="0">
              <a:latin typeface="Palatino Linotype" panose="02040502050505030304" pitchFamily="18" charset="0"/>
            </a:endParaRPr>
          </a:p>
        </p:txBody>
      </p:sp>
    </p:spTree>
    <p:extLst>
      <p:ext uri="{BB962C8B-B14F-4D97-AF65-F5344CB8AC3E}">
        <p14:creationId xmlns:p14="http://schemas.microsoft.com/office/powerpoint/2010/main" val="261853782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2749" y="1231849"/>
            <a:ext cx="12192000" cy="639154"/>
          </a:xfrm>
          <a:solidFill>
            <a:schemeClr val="bg1"/>
          </a:solidFill>
        </p:spPr>
        <p:txBody>
          <a:bodyPr>
            <a:normAutofit fontScale="90000"/>
          </a:bodyPr>
          <a:lstStyle/>
          <a:p>
            <a:pPr algn="ctr"/>
            <a:r>
              <a:rPr lang="en-US" sz="4400" b="1" dirty="0" smtClean="0">
                <a:solidFill>
                  <a:schemeClr val="accent1">
                    <a:lumMod val="75000"/>
                  </a:schemeClr>
                </a:solidFill>
                <a:latin typeface="Palatino Linotype" panose="02040502050505030304" pitchFamily="18" charset="0"/>
              </a:rPr>
              <a:t>Using Default Arguments</a:t>
            </a:r>
            <a:br>
              <a:rPr lang="en-US" sz="4400" b="1" dirty="0" smtClean="0">
                <a:solidFill>
                  <a:schemeClr val="accent1">
                    <a:lumMod val="75000"/>
                  </a:schemeClr>
                </a:solidFill>
                <a:latin typeface="Palatino Linotype" panose="02040502050505030304" pitchFamily="18" charset="0"/>
              </a:rPr>
            </a:br>
            <a:endParaRPr lang="en-US" sz="4400" b="1" dirty="0">
              <a:solidFill>
                <a:schemeClr val="accent1">
                  <a:lumMod val="75000"/>
                </a:schemeClr>
              </a:solidFill>
              <a:latin typeface="Palatino Linotype" panose="02040502050505030304" pitchFamily="18" charset="0"/>
            </a:endParaRPr>
          </a:p>
        </p:txBody>
      </p:sp>
      <p:sp>
        <p:nvSpPr>
          <p:cNvPr id="6" name="Rectangle 5"/>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latin typeface="Palatino Linotype" panose="02040502050505030304" pitchFamily="18" charset="0"/>
            </a:endParaRPr>
          </a:p>
        </p:txBody>
      </p:sp>
      <p:sp>
        <p:nvSpPr>
          <p:cNvPr id="4" name="Rectangle 3"/>
          <p:cNvSpPr/>
          <p:nvPr/>
        </p:nvSpPr>
        <p:spPr>
          <a:xfrm>
            <a:off x="683309" y="1551426"/>
            <a:ext cx="10405605" cy="4524315"/>
          </a:xfrm>
          <a:prstGeom prst="rect">
            <a:avLst/>
          </a:prstGeom>
        </p:spPr>
        <p:txBody>
          <a:bodyPr wrap="square">
            <a:spAutoFit/>
          </a:bodyPr>
          <a:lstStyle/>
          <a:p>
            <a:pPr algn="just"/>
            <a:r>
              <a:rPr lang="en-US" sz="2400" dirty="0">
                <a:latin typeface="Palatino Linotype" panose="02040502050505030304" pitchFamily="18" charset="0"/>
              </a:rPr>
              <a:t>There is a feature of C++ that is related to function overloading. This feature is called </a:t>
            </a:r>
            <a:r>
              <a:rPr lang="en-US" sz="2400" dirty="0" smtClean="0">
                <a:latin typeface="Palatino Linotype" panose="02040502050505030304" pitchFamily="18" charset="0"/>
              </a:rPr>
              <a:t>the default </a:t>
            </a:r>
            <a:r>
              <a:rPr lang="en-US" sz="2400" dirty="0">
                <a:latin typeface="Palatino Linotype" panose="02040502050505030304" pitchFamily="18" charset="0"/>
              </a:rPr>
              <a:t>argument, and it allows you to give a parameter a default value when no </a:t>
            </a:r>
            <a:r>
              <a:rPr lang="en-US" sz="2400" dirty="0" smtClean="0">
                <a:latin typeface="Palatino Linotype" panose="02040502050505030304" pitchFamily="18" charset="0"/>
              </a:rPr>
              <a:t>corresponding argument </a:t>
            </a:r>
            <a:r>
              <a:rPr lang="en-US" sz="2400" dirty="0">
                <a:latin typeface="Palatino Linotype" panose="02040502050505030304" pitchFamily="18" charset="0"/>
              </a:rPr>
              <a:t>is </a:t>
            </a:r>
            <a:r>
              <a:rPr lang="en-US" sz="2400" dirty="0" smtClean="0">
                <a:latin typeface="Palatino Linotype" panose="02040502050505030304" pitchFamily="18" charset="0"/>
              </a:rPr>
              <a:t>specified </a:t>
            </a:r>
            <a:r>
              <a:rPr lang="en-US" sz="2400" dirty="0">
                <a:latin typeface="Palatino Linotype" panose="02040502050505030304" pitchFamily="18" charset="0"/>
              </a:rPr>
              <a:t>when the function is called. For example, this function gives its two parameters default values of 0</a:t>
            </a:r>
            <a:r>
              <a:rPr lang="en-US" sz="2400" dirty="0" smtClean="0">
                <a:latin typeface="Palatino Linotype" panose="02040502050505030304" pitchFamily="18" charset="0"/>
              </a:rPr>
              <a:t>:</a:t>
            </a:r>
          </a:p>
          <a:p>
            <a:pPr algn="just"/>
            <a:endParaRPr lang="en-US" sz="2400" dirty="0" smtClean="0">
              <a:latin typeface="Palatino Linotype" panose="02040502050505030304" pitchFamily="18" charset="0"/>
            </a:endParaRPr>
          </a:p>
          <a:p>
            <a:pPr lvl="5" algn="just"/>
            <a:r>
              <a:rPr lang="en-US" sz="2400" dirty="0">
                <a:solidFill>
                  <a:srgbClr val="C00000"/>
                </a:solidFill>
                <a:latin typeface="Palatino Linotype" panose="02040502050505030304" pitchFamily="18" charset="0"/>
              </a:rPr>
              <a:t>void f(</a:t>
            </a:r>
            <a:r>
              <a:rPr lang="en-US" sz="2400" dirty="0" err="1">
                <a:solidFill>
                  <a:srgbClr val="C00000"/>
                </a:solidFill>
                <a:latin typeface="Palatino Linotype" panose="02040502050505030304" pitchFamily="18" charset="0"/>
              </a:rPr>
              <a:t>int</a:t>
            </a:r>
            <a:r>
              <a:rPr lang="en-US" sz="2400" dirty="0">
                <a:solidFill>
                  <a:srgbClr val="C00000"/>
                </a:solidFill>
                <a:latin typeface="Palatino Linotype" panose="02040502050505030304" pitchFamily="18" charset="0"/>
              </a:rPr>
              <a:t> a=0, </a:t>
            </a:r>
            <a:r>
              <a:rPr lang="en-US" sz="2400" dirty="0" err="1">
                <a:solidFill>
                  <a:srgbClr val="C00000"/>
                </a:solidFill>
                <a:latin typeface="Palatino Linotype" panose="02040502050505030304" pitchFamily="18" charset="0"/>
              </a:rPr>
              <a:t>int</a:t>
            </a:r>
            <a:r>
              <a:rPr lang="en-US" sz="2400" dirty="0">
                <a:solidFill>
                  <a:srgbClr val="C00000"/>
                </a:solidFill>
                <a:latin typeface="Palatino Linotype" panose="02040502050505030304" pitchFamily="18" charset="0"/>
              </a:rPr>
              <a:t> b=0) </a:t>
            </a:r>
            <a:r>
              <a:rPr lang="en-US" sz="2400" dirty="0" smtClean="0">
                <a:solidFill>
                  <a:srgbClr val="C00000"/>
                </a:solidFill>
                <a:latin typeface="Palatino Linotype" panose="02040502050505030304" pitchFamily="18" charset="0"/>
              </a:rPr>
              <a:t>;</a:t>
            </a:r>
          </a:p>
          <a:p>
            <a:pPr lvl="5" algn="just"/>
            <a:endParaRPr lang="en-US" sz="2400" dirty="0">
              <a:solidFill>
                <a:srgbClr val="C00000"/>
              </a:solidFill>
              <a:latin typeface="Palatino Linotype" panose="02040502050505030304" pitchFamily="18" charset="0"/>
            </a:endParaRPr>
          </a:p>
          <a:p>
            <a:r>
              <a:rPr lang="en-US" sz="2400" dirty="0">
                <a:latin typeface="Palatino Linotype" panose="02040502050505030304" pitchFamily="18" charset="0"/>
              </a:rPr>
              <a:t>Notice that this syntax is similar to variable initialization. This function can </a:t>
            </a:r>
            <a:r>
              <a:rPr lang="en-US" sz="2400" dirty="0" smtClean="0">
                <a:latin typeface="Palatino Linotype" panose="02040502050505030304" pitchFamily="18" charset="0"/>
              </a:rPr>
              <a:t>now be called three different </a:t>
            </a:r>
            <a:r>
              <a:rPr lang="en-US" sz="2400" dirty="0">
                <a:latin typeface="Palatino Linotype" panose="02040502050505030304" pitchFamily="18" charset="0"/>
              </a:rPr>
              <a:t>ways. </a:t>
            </a:r>
            <a:endParaRPr lang="en-US" sz="2400" dirty="0" smtClean="0">
              <a:latin typeface="Palatino Linotype" panose="02040502050505030304" pitchFamily="18" charset="0"/>
            </a:endParaRPr>
          </a:p>
          <a:p>
            <a:pPr marL="800100" lvl="1" indent="-342900" algn="just">
              <a:buFont typeface="Arial" panose="020B0604020202020204" pitchFamily="34" charset="0"/>
              <a:buChar char="•"/>
            </a:pPr>
            <a:r>
              <a:rPr lang="en-US" sz="2400" dirty="0" smtClean="0">
                <a:latin typeface="Palatino Linotype" panose="02040502050505030304" pitchFamily="18" charset="0"/>
              </a:rPr>
              <a:t>First</a:t>
            </a:r>
            <a:r>
              <a:rPr lang="en-US" sz="2400" dirty="0">
                <a:latin typeface="Palatino Linotype" panose="02040502050505030304" pitchFamily="18" charset="0"/>
              </a:rPr>
              <a:t>, it can be called with both arguments </a:t>
            </a:r>
            <a:r>
              <a:rPr lang="en-US" sz="2400" dirty="0" smtClean="0">
                <a:latin typeface="Palatino Linotype" panose="02040502050505030304" pitchFamily="18" charset="0"/>
              </a:rPr>
              <a:t>specified</a:t>
            </a:r>
            <a:r>
              <a:rPr lang="en-US" sz="2400" dirty="0">
                <a:latin typeface="Palatino Linotype" panose="02040502050505030304" pitchFamily="18" charset="0"/>
              </a:rPr>
              <a:t>. </a:t>
            </a:r>
            <a:endParaRPr lang="en-US" sz="2400" dirty="0" smtClean="0">
              <a:latin typeface="Palatino Linotype" panose="02040502050505030304" pitchFamily="18" charset="0"/>
            </a:endParaRPr>
          </a:p>
          <a:p>
            <a:pPr lvl="5" algn="just"/>
            <a:r>
              <a:rPr lang="en-US" sz="2400" dirty="0">
                <a:solidFill>
                  <a:srgbClr val="C00000"/>
                </a:solidFill>
                <a:latin typeface="Palatino Linotype" panose="02040502050505030304" pitchFamily="18" charset="0"/>
              </a:rPr>
              <a:t>f(10 , 99); </a:t>
            </a:r>
            <a:r>
              <a:rPr lang="en-US" sz="2400" dirty="0" smtClean="0">
                <a:solidFill>
                  <a:srgbClr val="C00000"/>
                </a:solidFill>
                <a:latin typeface="Palatino Linotype" panose="02040502050505030304" pitchFamily="18" charset="0"/>
              </a:rPr>
              <a:t>                               // </a:t>
            </a:r>
            <a:r>
              <a:rPr lang="en-US" sz="2400" dirty="0">
                <a:solidFill>
                  <a:srgbClr val="C00000"/>
                </a:solidFill>
                <a:latin typeface="Palatino Linotype" panose="02040502050505030304" pitchFamily="18" charset="0"/>
              </a:rPr>
              <a:t>a is 10, b is </a:t>
            </a:r>
            <a:r>
              <a:rPr lang="en-US" sz="2400" dirty="0" smtClean="0">
                <a:solidFill>
                  <a:srgbClr val="C00000"/>
                </a:solidFill>
                <a:latin typeface="Palatino Linotype" panose="02040502050505030304" pitchFamily="18" charset="0"/>
              </a:rPr>
              <a:t>99</a:t>
            </a:r>
          </a:p>
        </p:txBody>
      </p:sp>
    </p:spTree>
    <p:extLst>
      <p:ext uri="{BB962C8B-B14F-4D97-AF65-F5344CB8AC3E}">
        <p14:creationId xmlns:p14="http://schemas.microsoft.com/office/powerpoint/2010/main" val="345593981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26609" y="1580599"/>
            <a:ext cx="12192000" cy="639154"/>
          </a:xfrm>
          <a:solidFill>
            <a:schemeClr val="bg1"/>
          </a:solidFill>
        </p:spPr>
        <p:txBody>
          <a:bodyPr>
            <a:normAutofit fontScale="90000"/>
          </a:bodyPr>
          <a:lstStyle/>
          <a:p>
            <a:pPr algn="ctr"/>
            <a:r>
              <a:rPr lang="en-US" sz="4400" b="1" dirty="0">
                <a:solidFill>
                  <a:schemeClr val="accent1">
                    <a:lumMod val="75000"/>
                  </a:schemeClr>
                </a:solidFill>
                <a:latin typeface="Palatino Linotype" panose="02040502050505030304" pitchFamily="18" charset="0"/>
              </a:rPr>
              <a:t>Using Default Arguments</a:t>
            </a:r>
            <a:br>
              <a:rPr lang="en-US" sz="4400" b="1" dirty="0">
                <a:solidFill>
                  <a:schemeClr val="accent1">
                    <a:lumMod val="75000"/>
                  </a:schemeClr>
                </a:solidFill>
                <a:latin typeface="Palatino Linotype" panose="02040502050505030304" pitchFamily="18" charset="0"/>
              </a:rPr>
            </a:br>
            <a:r>
              <a:rPr lang="en-US" sz="4400" b="1" dirty="0">
                <a:solidFill>
                  <a:schemeClr val="accent1">
                    <a:lumMod val="75000"/>
                  </a:schemeClr>
                </a:solidFill>
                <a:latin typeface="Palatino Linotype" panose="02040502050505030304" pitchFamily="18" charset="0"/>
              </a:rPr>
              <a:t/>
            </a:r>
            <a:br>
              <a:rPr lang="en-US" sz="4400" b="1" dirty="0">
                <a:solidFill>
                  <a:schemeClr val="accent1">
                    <a:lumMod val="75000"/>
                  </a:schemeClr>
                </a:solidFill>
                <a:latin typeface="Palatino Linotype" panose="02040502050505030304" pitchFamily="18" charset="0"/>
              </a:rPr>
            </a:br>
            <a:endParaRPr lang="en-US" sz="4400" b="1" dirty="0">
              <a:solidFill>
                <a:schemeClr val="accent1">
                  <a:lumMod val="75000"/>
                </a:schemeClr>
              </a:solidFill>
              <a:latin typeface="Palatino Linotype" panose="02040502050505030304" pitchFamily="18" charset="0"/>
            </a:endParaRPr>
          </a:p>
        </p:txBody>
      </p:sp>
      <p:sp>
        <p:nvSpPr>
          <p:cNvPr id="6" name="Rectangle 5"/>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latin typeface="Palatino Linotype" panose="02040502050505030304" pitchFamily="18" charset="0"/>
            </a:endParaRPr>
          </a:p>
        </p:txBody>
      </p:sp>
      <p:sp>
        <p:nvSpPr>
          <p:cNvPr id="4" name="Rectangle 3"/>
          <p:cNvSpPr/>
          <p:nvPr/>
        </p:nvSpPr>
        <p:spPr>
          <a:xfrm>
            <a:off x="465595" y="1464078"/>
            <a:ext cx="10825382" cy="4893647"/>
          </a:xfrm>
          <a:prstGeom prst="rect">
            <a:avLst/>
          </a:prstGeom>
        </p:spPr>
        <p:txBody>
          <a:bodyPr wrap="square">
            <a:spAutoFit/>
          </a:bodyPr>
          <a:lstStyle/>
          <a:p>
            <a:pPr marL="800100" lvl="1" indent="-342900" algn="just">
              <a:buFont typeface="Arial" panose="020B0604020202020204" pitchFamily="34" charset="0"/>
              <a:buChar char="•"/>
            </a:pPr>
            <a:r>
              <a:rPr lang="en-US" sz="2400" dirty="0">
                <a:latin typeface="Palatino Linotype" panose="02040502050505030304" pitchFamily="18" charset="0"/>
              </a:rPr>
              <a:t>Second, it can be called with only the first argument specified. In this case, b will default to 0. </a:t>
            </a:r>
            <a:endParaRPr lang="en-US" sz="2400" dirty="0" smtClean="0">
              <a:latin typeface="Palatino Linotype" panose="02040502050505030304" pitchFamily="18" charset="0"/>
            </a:endParaRPr>
          </a:p>
          <a:p>
            <a:pPr lvl="7" algn="just"/>
            <a:r>
              <a:rPr lang="en-US" sz="2400" dirty="0">
                <a:solidFill>
                  <a:srgbClr val="C00000"/>
                </a:solidFill>
                <a:latin typeface="Palatino Linotype" panose="02040502050505030304" pitchFamily="18" charset="0"/>
              </a:rPr>
              <a:t>f (10) </a:t>
            </a:r>
            <a:r>
              <a:rPr lang="en-US" sz="2400" dirty="0" smtClean="0">
                <a:solidFill>
                  <a:srgbClr val="C00000"/>
                </a:solidFill>
                <a:latin typeface="Palatino Linotype" panose="02040502050505030304" pitchFamily="18" charset="0"/>
              </a:rPr>
              <a:t>;                         </a:t>
            </a:r>
            <a:r>
              <a:rPr lang="en-US" sz="2400" dirty="0">
                <a:solidFill>
                  <a:srgbClr val="C00000"/>
                </a:solidFill>
                <a:latin typeface="Palatino Linotype" panose="02040502050505030304" pitchFamily="18" charset="0"/>
              </a:rPr>
              <a:t>// a is 10, b defaults to </a:t>
            </a:r>
            <a:r>
              <a:rPr lang="en-US" sz="2400" dirty="0" smtClean="0">
                <a:solidFill>
                  <a:srgbClr val="C00000"/>
                </a:solidFill>
                <a:latin typeface="Palatino Linotype" panose="02040502050505030304" pitchFamily="18" charset="0"/>
              </a:rPr>
              <a:t>0</a:t>
            </a:r>
            <a:endParaRPr lang="en-US" sz="2400" dirty="0">
              <a:solidFill>
                <a:srgbClr val="C00000"/>
              </a:solidFill>
              <a:latin typeface="Palatino Linotype" panose="02040502050505030304" pitchFamily="18" charset="0"/>
            </a:endParaRPr>
          </a:p>
          <a:p>
            <a:pPr marL="800100" lvl="1" indent="-342900" algn="just">
              <a:buFont typeface="Arial" panose="020B0604020202020204" pitchFamily="34" charset="0"/>
              <a:buChar char="•"/>
            </a:pPr>
            <a:r>
              <a:rPr lang="en-US" sz="2400" dirty="0">
                <a:latin typeface="Palatino Linotype" panose="02040502050505030304" pitchFamily="18" charset="0"/>
              </a:rPr>
              <a:t>Finally, f()can be called with no arguments, causing both a and b to default to 0. </a:t>
            </a:r>
          </a:p>
          <a:p>
            <a:pPr lvl="7" algn="just"/>
            <a:r>
              <a:rPr lang="en-US" sz="2400" dirty="0" smtClean="0">
                <a:solidFill>
                  <a:srgbClr val="C00000"/>
                </a:solidFill>
                <a:latin typeface="Palatino Linotype" panose="02040502050505030304" pitchFamily="18" charset="0"/>
              </a:rPr>
              <a:t>f();                             // a and b default to 0</a:t>
            </a:r>
          </a:p>
          <a:p>
            <a:pPr lvl="7" algn="just"/>
            <a:endParaRPr lang="en-US" sz="2400" dirty="0" smtClean="0">
              <a:solidFill>
                <a:srgbClr val="C00000"/>
              </a:solidFill>
              <a:latin typeface="Palatino Linotype" panose="02040502050505030304" pitchFamily="18" charset="0"/>
            </a:endParaRPr>
          </a:p>
          <a:p>
            <a:pPr algn="just"/>
            <a:r>
              <a:rPr lang="en-US" sz="2400" dirty="0" smtClean="0">
                <a:latin typeface="Palatino Linotype" panose="02040502050505030304" pitchFamily="18" charset="0"/>
              </a:rPr>
              <a:t>All </a:t>
            </a:r>
            <a:r>
              <a:rPr lang="en-US" sz="2400" dirty="0">
                <a:latin typeface="Palatino Linotype" panose="02040502050505030304" pitchFamily="18" charset="0"/>
              </a:rPr>
              <a:t>default parameters must be to the right of any parameters </a:t>
            </a:r>
            <a:r>
              <a:rPr lang="en-US" sz="2400" dirty="0" smtClean="0">
                <a:latin typeface="Palatino Linotype" panose="02040502050505030304" pitchFamily="18" charset="0"/>
              </a:rPr>
              <a:t>that don't </a:t>
            </a:r>
            <a:r>
              <a:rPr lang="en-US" sz="2400" dirty="0">
                <a:latin typeface="Palatino Linotype" panose="02040502050505030304" pitchFamily="18" charset="0"/>
              </a:rPr>
              <a:t>have defaults. Once you start giving default values, all parameters to the right must also have defaults. For </a:t>
            </a:r>
            <a:r>
              <a:rPr lang="en-US" sz="2400" dirty="0" smtClean="0">
                <a:latin typeface="Palatino Linotype" panose="02040502050505030304" pitchFamily="18" charset="0"/>
              </a:rPr>
              <a:t>instance:</a:t>
            </a:r>
          </a:p>
          <a:p>
            <a:pPr algn="just"/>
            <a:endParaRPr lang="en-US" sz="2400" dirty="0" smtClean="0">
              <a:latin typeface="Palatino Linotype" panose="02040502050505030304" pitchFamily="18" charset="0"/>
            </a:endParaRPr>
          </a:p>
          <a:p>
            <a:pPr algn="ctr"/>
            <a:r>
              <a:rPr lang="en-US" sz="2400" dirty="0" smtClean="0">
                <a:latin typeface="Palatino Linotype" panose="02040502050505030304" pitchFamily="18" charset="0"/>
              </a:rPr>
              <a:t>            </a:t>
            </a:r>
            <a:r>
              <a:rPr lang="en-US" sz="2400" dirty="0" err="1" smtClean="0">
                <a:solidFill>
                  <a:srgbClr val="C00000"/>
                </a:solidFill>
                <a:latin typeface="Palatino Linotype" panose="02040502050505030304" pitchFamily="18" charset="0"/>
              </a:rPr>
              <a:t>voidf</a:t>
            </a:r>
            <a:r>
              <a:rPr lang="en-US" sz="2400" dirty="0" smtClean="0">
                <a:solidFill>
                  <a:srgbClr val="C00000"/>
                </a:solidFill>
                <a:latin typeface="Palatino Linotype" panose="02040502050505030304" pitchFamily="18" charset="0"/>
              </a:rPr>
              <a:t>(</a:t>
            </a:r>
            <a:r>
              <a:rPr lang="en-US" sz="2400" dirty="0" err="1" smtClean="0">
                <a:solidFill>
                  <a:srgbClr val="C00000"/>
                </a:solidFill>
                <a:latin typeface="Palatino Linotype" panose="02040502050505030304" pitchFamily="18" charset="0"/>
              </a:rPr>
              <a:t>int</a:t>
            </a:r>
            <a:r>
              <a:rPr lang="en-US" sz="2400" dirty="0" smtClean="0">
                <a:solidFill>
                  <a:srgbClr val="C00000"/>
                </a:solidFill>
                <a:latin typeface="Palatino Linotype" panose="02040502050505030304" pitchFamily="18" charset="0"/>
              </a:rPr>
              <a:t> </a:t>
            </a:r>
            <a:r>
              <a:rPr lang="en-US" sz="2400" dirty="0">
                <a:solidFill>
                  <a:srgbClr val="C00000"/>
                </a:solidFill>
                <a:latin typeface="Palatino Linotype" panose="02040502050505030304" pitchFamily="18" charset="0"/>
              </a:rPr>
              <a:t>a, </a:t>
            </a:r>
            <a:r>
              <a:rPr lang="en-US" sz="2400" dirty="0" err="1">
                <a:solidFill>
                  <a:srgbClr val="C00000"/>
                </a:solidFill>
                <a:latin typeface="Palatino Linotype" panose="02040502050505030304" pitchFamily="18" charset="0"/>
              </a:rPr>
              <a:t>int</a:t>
            </a:r>
            <a:r>
              <a:rPr lang="en-US" sz="2400" dirty="0">
                <a:solidFill>
                  <a:srgbClr val="C00000"/>
                </a:solidFill>
                <a:latin typeface="Palatino Linotype" panose="02040502050505030304" pitchFamily="18" charset="0"/>
              </a:rPr>
              <a:t> b = 10, </a:t>
            </a:r>
            <a:r>
              <a:rPr lang="en-US" sz="2400" dirty="0" err="1">
                <a:solidFill>
                  <a:srgbClr val="C00000"/>
                </a:solidFill>
                <a:latin typeface="Palatino Linotype" panose="02040502050505030304" pitchFamily="18" charset="0"/>
              </a:rPr>
              <a:t>int</a:t>
            </a:r>
            <a:r>
              <a:rPr lang="en-US" sz="2400" dirty="0">
                <a:solidFill>
                  <a:srgbClr val="C00000"/>
                </a:solidFill>
                <a:latin typeface="Palatino Linotype" panose="02040502050505030304" pitchFamily="18" charset="0"/>
              </a:rPr>
              <a:t> c); </a:t>
            </a:r>
            <a:r>
              <a:rPr lang="en-US" sz="2400" dirty="0" smtClean="0">
                <a:solidFill>
                  <a:srgbClr val="C00000"/>
                </a:solidFill>
                <a:latin typeface="Palatino Linotype" panose="02040502050505030304" pitchFamily="18" charset="0"/>
              </a:rPr>
              <a:t>                  // Invalid</a:t>
            </a:r>
          </a:p>
          <a:p>
            <a:pPr algn="ctr"/>
            <a:r>
              <a:rPr lang="en-US" sz="2400" dirty="0" smtClean="0">
                <a:solidFill>
                  <a:srgbClr val="C00000"/>
                </a:solidFill>
                <a:latin typeface="Palatino Linotype" panose="02040502050505030304" pitchFamily="18" charset="0"/>
              </a:rPr>
              <a:t>void </a:t>
            </a:r>
            <a:r>
              <a:rPr lang="en-US" sz="2400" dirty="0">
                <a:solidFill>
                  <a:srgbClr val="C00000"/>
                </a:solidFill>
                <a:latin typeface="Palatino Linotype" panose="02040502050505030304" pitchFamily="18" charset="0"/>
              </a:rPr>
              <a:t>f(</a:t>
            </a:r>
            <a:r>
              <a:rPr lang="en-US" sz="2400" dirty="0" err="1">
                <a:solidFill>
                  <a:srgbClr val="C00000"/>
                </a:solidFill>
                <a:latin typeface="Palatino Linotype" panose="02040502050505030304" pitchFamily="18" charset="0"/>
              </a:rPr>
              <a:t>int</a:t>
            </a:r>
            <a:r>
              <a:rPr lang="en-US" sz="2400" dirty="0">
                <a:solidFill>
                  <a:srgbClr val="C00000"/>
                </a:solidFill>
                <a:latin typeface="Palatino Linotype" panose="02040502050505030304" pitchFamily="18" charset="0"/>
              </a:rPr>
              <a:t> a, </a:t>
            </a:r>
            <a:r>
              <a:rPr lang="en-US" sz="2400" dirty="0" err="1">
                <a:solidFill>
                  <a:srgbClr val="C00000"/>
                </a:solidFill>
                <a:latin typeface="Palatino Linotype" panose="02040502050505030304" pitchFamily="18" charset="0"/>
              </a:rPr>
              <a:t>int</a:t>
            </a:r>
            <a:r>
              <a:rPr lang="en-US" sz="2400" dirty="0">
                <a:solidFill>
                  <a:srgbClr val="C00000"/>
                </a:solidFill>
                <a:latin typeface="Palatino Linotype" panose="02040502050505030304" pitchFamily="18" charset="0"/>
              </a:rPr>
              <a:t> b = 10, </a:t>
            </a:r>
            <a:r>
              <a:rPr lang="en-US" sz="2400" dirty="0" err="1">
                <a:solidFill>
                  <a:srgbClr val="C00000"/>
                </a:solidFill>
                <a:latin typeface="Palatino Linotype" panose="02040502050505030304" pitchFamily="18" charset="0"/>
              </a:rPr>
              <a:t>int</a:t>
            </a:r>
            <a:r>
              <a:rPr lang="en-US" sz="2400" dirty="0">
                <a:solidFill>
                  <a:srgbClr val="C00000"/>
                </a:solidFill>
                <a:latin typeface="Palatino Linotype" panose="02040502050505030304" pitchFamily="18" charset="0"/>
              </a:rPr>
              <a:t> c = 20); </a:t>
            </a:r>
            <a:r>
              <a:rPr lang="en-US" sz="2400" dirty="0" smtClean="0">
                <a:solidFill>
                  <a:srgbClr val="C00000"/>
                </a:solidFill>
                <a:latin typeface="Palatino Linotype" panose="02040502050505030304" pitchFamily="18" charset="0"/>
              </a:rPr>
              <a:t>               // </a:t>
            </a:r>
            <a:r>
              <a:rPr lang="en-US" sz="2400" dirty="0">
                <a:solidFill>
                  <a:srgbClr val="C00000"/>
                </a:solidFill>
                <a:latin typeface="Palatino Linotype" panose="02040502050505030304" pitchFamily="18" charset="0"/>
              </a:rPr>
              <a:t>Valid</a:t>
            </a:r>
          </a:p>
        </p:txBody>
      </p:sp>
    </p:spTree>
    <p:extLst>
      <p:ext uri="{BB962C8B-B14F-4D97-AF65-F5344CB8AC3E}">
        <p14:creationId xmlns:p14="http://schemas.microsoft.com/office/powerpoint/2010/main" val="217637328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1622803"/>
            <a:ext cx="12192000" cy="639154"/>
          </a:xfrm>
          <a:solidFill>
            <a:schemeClr val="bg1"/>
          </a:solidFill>
        </p:spPr>
        <p:txBody>
          <a:bodyPr>
            <a:normAutofit fontScale="90000"/>
          </a:bodyPr>
          <a:lstStyle/>
          <a:p>
            <a:pPr algn="ctr"/>
            <a:r>
              <a:rPr lang="en-US" sz="4400" b="1" dirty="0">
                <a:solidFill>
                  <a:schemeClr val="accent1">
                    <a:lumMod val="75000"/>
                  </a:schemeClr>
                </a:solidFill>
                <a:latin typeface="Palatino Linotype" panose="02040502050505030304" pitchFamily="18" charset="0"/>
              </a:rPr>
              <a:t>Using Default Arguments</a:t>
            </a:r>
            <a:br>
              <a:rPr lang="en-US" sz="4400" b="1" dirty="0">
                <a:solidFill>
                  <a:schemeClr val="accent1">
                    <a:lumMod val="75000"/>
                  </a:schemeClr>
                </a:solidFill>
                <a:latin typeface="Palatino Linotype" panose="02040502050505030304" pitchFamily="18" charset="0"/>
              </a:rPr>
            </a:br>
            <a:r>
              <a:rPr lang="en-US" sz="4400" b="1" dirty="0">
                <a:solidFill>
                  <a:schemeClr val="accent1">
                    <a:lumMod val="75000"/>
                  </a:schemeClr>
                </a:solidFill>
                <a:latin typeface="Palatino Linotype" panose="02040502050505030304" pitchFamily="18" charset="0"/>
              </a:rPr>
              <a:t/>
            </a:r>
            <a:br>
              <a:rPr lang="en-US" sz="4400" b="1" dirty="0">
                <a:solidFill>
                  <a:schemeClr val="accent1">
                    <a:lumMod val="75000"/>
                  </a:schemeClr>
                </a:solidFill>
                <a:latin typeface="Palatino Linotype" panose="02040502050505030304" pitchFamily="18" charset="0"/>
              </a:rPr>
            </a:br>
            <a:endParaRPr lang="en-US" sz="4400" b="1" dirty="0">
              <a:solidFill>
                <a:schemeClr val="accent1">
                  <a:lumMod val="75000"/>
                </a:schemeClr>
              </a:solidFill>
              <a:latin typeface="Palatino Linotype" panose="02040502050505030304" pitchFamily="18" charset="0"/>
            </a:endParaRPr>
          </a:p>
        </p:txBody>
      </p:sp>
      <p:sp>
        <p:nvSpPr>
          <p:cNvPr id="6" name="Rectangle 5"/>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latin typeface="Palatino Linotype" panose="02040502050505030304" pitchFamily="18" charset="0"/>
            </a:endParaRPr>
          </a:p>
        </p:txBody>
      </p:sp>
      <p:sp>
        <p:nvSpPr>
          <p:cNvPr id="4" name="Rectangle 3"/>
          <p:cNvSpPr/>
          <p:nvPr/>
        </p:nvSpPr>
        <p:spPr>
          <a:xfrm>
            <a:off x="758315" y="1622803"/>
            <a:ext cx="10420120" cy="4524315"/>
          </a:xfrm>
          <a:prstGeom prst="rect">
            <a:avLst/>
          </a:prstGeom>
        </p:spPr>
        <p:txBody>
          <a:bodyPr wrap="square">
            <a:spAutoFit/>
          </a:bodyPr>
          <a:lstStyle/>
          <a:p>
            <a:pPr lvl="1" algn="just"/>
            <a:r>
              <a:rPr lang="en-US" sz="2400" dirty="0">
                <a:latin typeface="Palatino Linotype" panose="02040502050505030304" pitchFamily="18" charset="0"/>
              </a:rPr>
              <a:t>If you want to specify b but leave a as default, it's not possible. You must provide values for parameters from left to right. For </a:t>
            </a:r>
            <a:r>
              <a:rPr lang="en-US" sz="2400" dirty="0" smtClean="0">
                <a:latin typeface="Palatino Linotype" panose="02040502050505030304" pitchFamily="18" charset="0"/>
              </a:rPr>
              <a:t>example:</a:t>
            </a:r>
          </a:p>
          <a:p>
            <a:pPr marL="1714500" lvl="3" indent="-342900" algn="just">
              <a:buFont typeface="Arial" panose="020B0604020202020204" pitchFamily="34" charset="0"/>
              <a:buChar char="•"/>
            </a:pPr>
            <a:r>
              <a:rPr lang="en-US" sz="2400" dirty="0">
                <a:latin typeface="Palatino Linotype" panose="02040502050505030304" pitchFamily="18" charset="0"/>
              </a:rPr>
              <a:t>Valid: f(10, 99) or f(10)</a:t>
            </a:r>
          </a:p>
          <a:p>
            <a:pPr marL="1714500" lvl="3" indent="-342900" algn="just">
              <a:buFont typeface="Arial" panose="020B0604020202020204" pitchFamily="34" charset="0"/>
              <a:buChar char="•"/>
            </a:pPr>
            <a:r>
              <a:rPr lang="en-US" sz="2400" dirty="0">
                <a:latin typeface="Palatino Linotype" panose="02040502050505030304" pitchFamily="18" charset="0"/>
              </a:rPr>
              <a:t>Invalid: There's no way to call f where b is set, but a uses its default.</a:t>
            </a:r>
          </a:p>
          <a:p>
            <a:pPr lvl="1" algn="just"/>
            <a:endParaRPr lang="en-US" sz="2400" dirty="0" smtClean="0">
              <a:latin typeface="Palatino Linotype" panose="02040502050505030304" pitchFamily="18" charset="0"/>
            </a:endParaRPr>
          </a:p>
          <a:p>
            <a:pPr lvl="1" algn="just"/>
            <a:r>
              <a:rPr lang="en-US" sz="2400" dirty="0">
                <a:latin typeface="Palatino Linotype" panose="02040502050505030304" pitchFamily="18" charset="0"/>
              </a:rPr>
              <a:t>One other point about default arguments: they must be constants or global variables. </a:t>
            </a:r>
            <a:r>
              <a:rPr lang="en-US" sz="2400" dirty="0" smtClean="0">
                <a:latin typeface="Palatino Linotype" panose="02040502050505030304" pitchFamily="18" charset="0"/>
              </a:rPr>
              <a:t>They cannot </a:t>
            </a:r>
            <a:r>
              <a:rPr lang="en-US" sz="2400" dirty="0">
                <a:latin typeface="Palatino Linotype" panose="02040502050505030304" pitchFamily="18" charset="0"/>
              </a:rPr>
              <a:t>be local variables or other parameters</a:t>
            </a:r>
            <a:r>
              <a:rPr lang="en-US" sz="2400" dirty="0" smtClean="0">
                <a:latin typeface="Palatino Linotype" panose="02040502050505030304" pitchFamily="18" charset="0"/>
              </a:rPr>
              <a:t>.</a:t>
            </a:r>
          </a:p>
          <a:p>
            <a:pPr marL="1714500" lvl="3" indent="-342900" algn="just">
              <a:buFont typeface="Arial" panose="020B0604020202020204" pitchFamily="34" charset="0"/>
              <a:buChar char="•"/>
            </a:pPr>
            <a:r>
              <a:rPr lang="en-US" sz="2400" dirty="0" smtClean="0">
                <a:latin typeface="Palatino Linotype" panose="02040502050505030304" pitchFamily="18" charset="0"/>
              </a:rPr>
              <a:t>Constants </a:t>
            </a:r>
            <a:r>
              <a:rPr lang="en-US" sz="2400" dirty="0">
                <a:latin typeface="Palatino Linotype" panose="02040502050505030304" pitchFamily="18" charset="0"/>
              </a:rPr>
              <a:t>(e.g., 0, 10</a:t>
            </a:r>
            <a:r>
              <a:rPr lang="en-US" sz="2400" dirty="0" smtClean="0">
                <a:latin typeface="Palatino Linotype" panose="02040502050505030304" pitchFamily="18" charset="0"/>
              </a:rPr>
              <a:t>)</a:t>
            </a:r>
          </a:p>
          <a:p>
            <a:pPr marL="1714500" lvl="3" indent="-342900" algn="just">
              <a:buFont typeface="Arial" panose="020B0604020202020204" pitchFamily="34" charset="0"/>
              <a:buChar char="•"/>
            </a:pPr>
            <a:r>
              <a:rPr lang="en-US" sz="2400" dirty="0" smtClean="0">
                <a:latin typeface="Palatino Linotype" panose="02040502050505030304" pitchFamily="18" charset="0"/>
              </a:rPr>
              <a:t>Global </a:t>
            </a:r>
            <a:r>
              <a:rPr lang="en-US" sz="2400" dirty="0">
                <a:latin typeface="Palatino Linotype" panose="02040502050505030304" pitchFamily="18" charset="0"/>
              </a:rPr>
              <a:t>variables (e.g., </a:t>
            </a:r>
            <a:r>
              <a:rPr lang="en-US" sz="2400" dirty="0" err="1">
                <a:latin typeface="Palatino Linotype" panose="02040502050505030304" pitchFamily="18" charset="0"/>
              </a:rPr>
              <a:t>int</a:t>
            </a:r>
            <a:r>
              <a:rPr lang="en-US" sz="2400" dirty="0">
                <a:latin typeface="Palatino Linotype" panose="02040502050505030304" pitchFamily="18" charset="0"/>
              </a:rPr>
              <a:t> x = 5; void f(</a:t>
            </a:r>
            <a:r>
              <a:rPr lang="en-US" sz="2400" dirty="0" err="1">
                <a:latin typeface="Palatino Linotype" panose="02040502050505030304" pitchFamily="18" charset="0"/>
              </a:rPr>
              <a:t>int</a:t>
            </a:r>
            <a:r>
              <a:rPr lang="en-US" sz="2400" dirty="0">
                <a:latin typeface="Palatino Linotype" panose="02040502050505030304" pitchFamily="18" charset="0"/>
              </a:rPr>
              <a:t> a = x</a:t>
            </a:r>
            <a:r>
              <a:rPr lang="en-US" sz="2400" dirty="0" smtClean="0">
                <a:latin typeface="Palatino Linotype" panose="02040502050505030304" pitchFamily="18" charset="0"/>
              </a:rPr>
              <a:t>);)</a:t>
            </a:r>
          </a:p>
          <a:p>
            <a:pPr marL="1714500" lvl="3" indent="-342900" algn="just">
              <a:buFont typeface="Arial" panose="020B0604020202020204" pitchFamily="34" charset="0"/>
              <a:buChar char="•"/>
            </a:pPr>
            <a:r>
              <a:rPr lang="en-US" sz="2400" dirty="0" smtClean="0">
                <a:latin typeface="Palatino Linotype" panose="02040502050505030304" pitchFamily="18" charset="0"/>
              </a:rPr>
              <a:t>Not </a:t>
            </a:r>
            <a:r>
              <a:rPr lang="en-US" sz="2400" dirty="0">
                <a:latin typeface="Palatino Linotype" panose="02040502050505030304" pitchFamily="18" charset="0"/>
              </a:rPr>
              <a:t>allowed: Local variables or other parameters.</a:t>
            </a:r>
          </a:p>
          <a:p>
            <a:pPr lvl="1" algn="just"/>
            <a:endParaRPr lang="en-US" sz="2400" dirty="0" smtClean="0">
              <a:latin typeface="Palatino Linotype" panose="02040502050505030304" pitchFamily="18" charset="0"/>
            </a:endParaRPr>
          </a:p>
        </p:txBody>
      </p:sp>
    </p:spTree>
    <p:extLst>
      <p:ext uri="{BB962C8B-B14F-4D97-AF65-F5344CB8AC3E}">
        <p14:creationId xmlns:p14="http://schemas.microsoft.com/office/powerpoint/2010/main" val="113823947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269872" y="2503281"/>
            <a:ext cx="3106271" cy="1000124"/>
          </a:xfrm>
          <a:prstGeom prst="rect">
            <a:avLst/>
          </a:prstGeom>
          <a:solidFill>
            <a:schemeClr val="bg1"/>
          </a:solidFill>
        </p:spPr>
        <p:txBody>
          <a:bodyPr>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3600" b="1" dirty="0">
                <a:solidFill>
                  <a:schemeClr val="accent1">
                    <a:lumMod val="75000"/>
                  </a:schemeClr>
                </a:solidFill>
                <a:latin typeface="Palatino Linotype" panose="02040502050505030304" pitchFamily="18" charset="0"/>
              </a:rPr>
              <a:t>Using Default Arguments</a:t>
            </a:r>
            <a:br>
              <a:rPr lang="en-US" sz="3600" b="1" dirty="0">
                <a:solidFill>
                  <a:schemeClr val="accent1">
                    <a:lumMod val="75000"/>
                  </a:schemeClr>
                </a:solidFill>
                <a:latin typeface="Palatino Linotype" panose="02040502050505030304" pitchFamily="18" charset="0"/>
              </a:rPr>
            </a:br>
            <a:endParaRPr lang="en-US" sz="3600" b="1" dirty="0" smtClean="0">
              <a:solidFill>
                <a:schemeClr val="accent1">
                  <a:lumMod val="75000"/>
                </a:schemeClr>
              </a:solidFill>
              <a:latin typeface="Palatino Linotype" panose="02040502050505030304" pitchFamily="18" charset="0"/>
            </a:endParaRPr>
          </a:p>
        </p:txBody>
      </p:sp>
      <p:pic>
        <p:nvPicPr>
          <p:cNvPr id="2" name="Picture 1"/>
          <p:cNvPicPr>
            <a:picLocks noChangeAspect="1"/>
          </p:cNvPicPr>
          <p:nvPr/>
        </p:nvPicPr>
        <p:blipFill>
          <a:blip r:embed="rId2"/>
          <a:stretch>
            <a:fillRect/>
          </a:stretch>
        </p:blipFill>
        <p:spPr>
          <a:xfrm>
            <a:off x="3608372" y="203200"/>
            <a:ext cx="5767857" cy="5965371"/>
          </a:xfrm>
          <a:prstGeom prst="rect">
            <a:avLst/>
          </a:prstGeom>
        </p:spPr>
      </p:pic>
      <p:sp>
        <p:nvSpPr>
          <p:cNvPr id="5" name="Rectangle 4"/>
          <p:cNvSpPr/>
          <p:nvPr/>
        </p:nvSpPr>
        <p:spPr>
          <a:xfrm>
            <a:off x="9506858" y="2662938"/>
            <a:ext cx="2801257" cy="1200329"/>
          </a:xfrm>
          <a:prstGeom prst="rect">
            <a:avLst/>
          </a:prstGeom>
        </p:spPr>
        <p:txBody>
          <a:bodyPr wrap="square">
            <a:spAutoFit/>
          </a:bodyPr>
          <a:lstStyle/>
          <a:p>
            <a:r>
              <a:rPr lang="en-US" sz="2400" dirty="0">
                <a:latin typeface="CMTT12"/>
              </a:rPr>
              <a:t>a: 0, b: 0</a:t>
            </a:r>
          </a:p>
          <a:p>
            <a:r>
              <a:rPr lang="en-US" sz="2400" dirty="0">
                <a:latin typeface="CMTT12"/>
              </a:rPr>
              <a:t>a: 10, b: 0</a:t>
            </a:r>
          </a:p>
          <a:p>
            <a:r>
              <a:rPr lang="en-US" sz="2400" dirty="0">
                <a:latin typeface="CMTT12"/>
              </a:rPr>
              <a:t>a: 10, b: 99</a:t>
            </a:r>
            <a:endParaRPr lang="en-US" sz="2400" dirty="0"/>
          </a:p>
        </p:txBody>
      </p:sp>
    </p:spTree>
    <p:extLst>
      <p:ext uri="{BB962C8B-B14F-4D97-AF65-F5344CB8AC3E}">
        <p14:creationId xmlns:p14="http://schemas.microsoft.com/office/powerpoint/2010/main" val="2728963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319314" y="2532310"/>
            <a:ext cx="3106271" cy="1000124"/>
          </a:xfrm>
          <a:prstGeom prst="rect">
            <a:avLst/>
          </a:prstGeom>
          <a:solidFill>
            <a:schemeClr val="bg1"/>
          </a:solidFill>
        </p:spPr>
        <p:txBody>
          <a:bodyPr>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3600" b="1" dirty="0">
                <a:solidFill>
                  <a:schemeClr val="accent1">
                    <a:lumMod val="75000"/>
                  </a:schemeClr>
                </a:solidFill>
                <a:latin typeface="Palatino Linotype" panose="02040502050505030304" pitchFamily="18" charset="0"/>
              </a:rPr>
              <a:t>Using Default Arguments</a:t>
            </a:r>
            <a:r>
              <a:rPr lang="en-US" sz="2000" b="1" dirty="0">
                <a:solidFill>
                  <a:schemeClr val="accent1">
                    <a:lumMod val="75000"/>
                  </a:schemeClr>
                </a:solidFill>
                <a:latin typeface="Palatino Linotype" panose="02040502050505030304" pitchFamily="18" charset="0"/>
              </a:rPr>
              <a:t/>
            </a:r>
            <a:br>
              <a:rPr lang="en-US" sz="2000" b="1" dirty="0">
                <a:solidFill>
                  <a:schemeClr val="accent1">
                    <a:lumMod val="75000"/>
                  </a:schemeClr>
                </a:solidFill>
                <a:latin typeface="Palatino Linotype" panose="02040502050505030304" pitchFamily="18" charset="0"/>
              </a:rPr>
            </a:br>
            <a:endParaRPr lang="en-US" sz="2000" b="1" dirty="0" smtClean="0">
              <a:solidFill>
                <a:schemeClr val="accent1">
                  <a:lumMod val="75000"/>
                </a:schemeClr>
              </a:solidFill>
              <a:latin typeface="Palatino Linotype" panose="02040502050505030304" pitchFamily="18" charset="0"/>
            </a:endParaRPr>
          </a:p>
        </p:txBody>
      </p:sp>
      <p:pic>
        <p:nvPicPr>
          <p:cNvPr id="4" name="Picture 3"/>
          <p:cNvPicPr>
            <a:picLocks noChangeAspect="1"/>
          </p:cNvPicPr>
          <p:nvPr/>
        </p:nvPicPr>
        <p:blipFill>
          <a:blip r:embed="rId2"/>
          <a:stretch>
            <a:fillRect/>
          </a:stretch>
        </p:blipFill>
        <p:spPr>
          <a:xfrm>
            <a:off x="3795712" y="312510"/>
            <a:ext cx="6627359" cy="6037943"/>
          </a:xfrm>
          <a:prstGeom prst="rect">
            <a:avLst/>
          </a:prstGeom>
        </p:spPr>
      </p:pic>
    </p:spTree>
    <p:extLst>
      <p:ext uri="{BB962C8B-B14F-4D97-AF65-F5344CB8AC3E}">
        <p14:creationId xmlns:p14="http://schemas.microsoft.com/office/powerpoint/2010/main" val="21447048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0" y="469477"/>
            <a:ext cx="12192000" cy="1000124"/>
          </a:xfrm>
          <a:prstGeom prst="rect">
            <a:avLst/>
          </a:prstGeom>
          <a:solidFill>
            <a:schemeClr val="bg1"/>
          </a:solidFill>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endParaRPr lang="en-US" sz="4000" b="1" dirty="0">
              <a:solidFill>
                <a:schemeClr val="accent1">
                  <a:lumMod val="75000"/>
                </a:schemeClr>
              </a:solidFill>
              <a:latin typeface="Palatino Linotype" panose="02040502050505030304" pitchFamily="18" charset="0"/>
            </a:endParaRPr>
          </a:p>
        </p:txBody>
      </p:sp>
      <p:sp>
        <p:nvSpPr>
          <p:cNvPr id="5" name="TextBox 4"/>
          <p:cNvSpPr txBox="1"/>
          <p:nvPr/>
        </p:nvSpPr>
        <p:spPr>
          <a:xfrm>
            <a:off x="658853" y="3995096"/>
            <a:ext cx="10596282" cy="1446550"/>
          </a:xfrm>
          <a:prstGeom prst="rect">
            <a:avLst/>
          </a:prstGeom>
          <a:noFill/>
        </p:spPr>
        <p:txBody>
          <a:bodyPr wrap="square" rtlCol="0">
            <a:spAutoFit/>
          </a:bodyPr>
          <a:lstStyle/>
          <a:p>
            <a:pPr algn="just"/>
            <a:r>
              <a:rPr lang="en-US" sz="2200" dirty="0" smtClean="0">
                <a:latin typeface="Palatino Linotype" panose="02040502050505030304" pitchFamily="18" charset="0"/>
              </a:rPr>
              <a:t>In this </a:t>
            </a:r>
            <a:r>
              <a:rPr lang="en-US" sz="2200" dirty="0">
                <a:latin typeface="Palatino Linotype" panose="02040502050505030304" pitchFamily="18" charset="0"/>
              </a:rPr>
              <a:t>program, </a:t>
            </a:r>
            <a:r>
              <a:rPr lang="en-US" sz="2200" dirty="0" err="1">
                <a:latin typeface="Palatino Linotype" panose="02040502050505030304" pitchFamily="18" charset="0"/>
              </a:rPr>
              <a:t>rect</a:t>
            </a:r>
            <a:r>
              <a:rPr lang="en-US" sz="2200" dirty="0">
                <a:latin typeface="Palatino Linotype" panose="02040502050505030304" pitchFamily="18" charset="0"/>
              </a:rPr>
              <a:t> area() is overloaded two ways. In the </a:t>
            </a:r>
            <a:r>
              <a:rPr lang="en-US" sz="2200" dirty="0" smtClean="0">
                <a:latin typeface="Palatino Linotype" panose="02040502050505030304" pitchFamily="18" charset="0"/>
              </a:rPr>
              <a:t>first </a:t>
            </a:r>
            <a:r>
              <a:rPr lang="en-US" sz="2200" dirty="0">
                <a:latin typeface="Palatino Linotype" panose="02040502050505030304" pitchFamily="18" charset="0"/>
              </a:rPr>
              <a:t>way, both </a:t>
            </a:r>
            <a:r>
              <a:rPr lang="en-US" sz="2200" dirty="0" smtClean="0">
                <a:latin typeface="Palatino Linotype" panose="02040502050505030304" pitchFamily="18" charset="0"/>
              </a:rPr>
              <a:t>dimensions of </a:t>
            </a:r>
            <a:r>
              <a:rPr lang="en-US" sz="2200" dirty="0">
                <a:latin typeface="Palatino Linotype" panose="02040502050505030304" pitchFamily="18" charset="0"/>
              </a:rPr>
              <a:t>a rectangle are passed to the function. This version is used when the rectangle is not </a:t>
            </a:r>
            <a:r>
              <a:rPr lang="en-US" sz="2200" dirty="0" smtClean="0">
                <a:latin typeface="Palatino Linotype" panose="02040502050505030304" pitchFamily="18" charset="0"/>
              </a:rPr>
              <a:t>a square</a:t>
            </a:r>
            <a:r>
              <a:rPr lang="en-US" sz="2200" dirty="0">
                <a:latin typeface="Palatino Linotype" panose="02040502050505030304" pitchFamily="18" charset="0"/>
              </a:rPr>
              <a:t>. However, when the rectangle is a square, only one argument need to be </a:t>
            </a:r>
            <a:r>
              <a:rPr lang="en-US" sz="2200" dirty="0" smtClean="0">
                <a:latin typeface="Palatino Linotype" panose="02040502050505030304" pitchFamily="18" charset="0"/>
              </a:rPr>
              <a:t>specified, and </a:t>
            </a:r>
            <a:r>
              <a:rPr lang="en-US" sz="2200" dirty="0">
                <a:latin typeface="Palatino Linotype" panose="02040502050505030304" pitchFamily="18" charset="0"/>
              </a:rPr>
              <a:t>the second version of </a:t>
            </a:r>
            <a:r>
              <a:rPr lang="en-US" sz="2200" dirty="0" err="1">
                <a:latin typeface="Palatino Linotype" panose="02040502050505030304" pitchFamily="18" charset="0"/>
              </a:rPr>
              <a:t>rect</a:t>
            </a:r>
            <a:r>
              <a:rPr lang="en-US" sz="2200" dirty="0">
                <a:latin typeface="Palatino Linotype" panose="02040502050505030304" pitchFamily="18" charset="0"/>
              </a:rPr>
              <a:t> area() is called.</a:t>
            </a:r>
          </a:p>
        </p:txBody>
      </p:sp>
      <p:sp>
        <p:nvSpPr>
          <p:cNvPr id="6" name="Rectangle 5"/>
          <p:cNvSpPr/>
          <p:nvPr/>
        </p:nvSpPr>
        <p:spPr>
          <a:xfrm>
            <a:off x="2850936" y="557851"/>
            <a:ext cx="6490128" cy="1323439"/>
          </a:xfrm>
          <a:prstGeom prst="rect">
            <a:avLst/>
          </a:prstGeom>
        </p:spPr>
        <p:txBody>
          <a:bodyPr wrap="square">
            <a:spAutoFit/>
          </a:bodyPr>
          <a:lstStyle/>
          <a:p>
            <a:pPr algn="ctr"/>
            <a:r>
              <a:rPr lang="en-US" sz="4000" b="1" dirty="0">
                <a:solidFill>
                  <a:schemeClr val="accent1">
                    <a:lumMod val="75000"/>
                  </a:schemeClr>
                </a:solidFill>
                <a:latin typeface="Palatino Linotype" panose="02040502050505030304" pitchFamily="18" charset="0"/>
              </a:rPr>
              <a:t>Using Default Arguments</a:t>
            </a:r>
            <a:br>
              <a:rPr lang="en-US" sz="4000" b="1" dirty="0">
                <a:solidFill>
                  <a:schemeClr val="accent1">
                    <a:lumMod val="75000"/>
                  </a:schemeClr>
                </a:solidFill>
                <a:latin typeface="Palatino Linotype" panose="02040502050505030304" pitchFamily="18" charset="0"/>
              </a:rPr>
            </a:br>
            <a:endParaRPr lang="en-US" sz="4000" b="1" dirty="0">
              <a:solidFill>
                <a:schemeClr val="accent1">
                  <a:lumMod val="75000"/>
                </a:schemeClr>
              </a:solidFill>
              <a:latin typeface="Palatino Linotype" panose="02040502050505030304" pitchFamily="18" charset="0"/>
            </a:endParaRPr>
          </a:p>
        </p:txBody>
      </p:sp>
      <p:pic>
        <p:nvPicPr>
          <p:cNvPr id="2" name="Picture 1"/>
          <p:cNvPicPr>
            <a:picLocks noChangeAspect="1"/>
          </p:cNvPicPr>
          <p:nvPr/>
        </p:nvPicPr>
        <p:blipFill>
          <a:blip r:embed="rId2"/>
          <a:stretch>
            <a:fillRect/>
          </a:stretch>
        </p:blipFill>
        <p:spPr>
          <a:xfrm>
            <a:off x="3689350" y="1469601"/>
            <a:ext cx="5135336" cy="2025433"/>
          </a:xfrm>
          <a:prstGeom prst="rect">
            <a:avLst/>
          </a:prstGeom>
        </p:spPr>
      </p:pic>
    </p:spTree>
    <p:extLst>
      <p:ext uri="{BB962C8B-B14F-4D97-AF65-F5344CB8AC3E}">
        <p14:creationId xmlns:p14="http://schemas.microsoft.com/office/powerpoint/2010/main" val="19925567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573926" y="229227"/>
            <a:ext cx="8048375" cy="1000124"/>
          </a:xfrm>
          <a:prstGeom prst="rect">
            <a:avLst/>
          </a:prstGeom>
          <a:solidFill>
            <a:schemeClr val="bg1"/>
          </a:solidFill>
        </p:spPr>
        <p:txBody>
          <a:bodyPr>
            <a:normAutofit fontScale="92500"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4000" b="1" dirty="0">
                <a:solidFill>
                  <a:schemeClr val="accent1">
                    <a:lumMod val="75000"/>
                  </a:schemeClr>
                </a:solidFill>
                <a:latin typeface="Palatino Linotype" panose="02040502050505030304" pitchFamily="18" charset="0"/>
              </a:rPr>
              <a:t>Using Default Arguments</a:t>
            </a:r>
            <a:br>
              <a:rPr lang="en-US" sz="4000" b="1" dirty="0">
                <a:solidFill>
                  <a:schemeClr val="accent1">
                    <a:lumMod val="75000"/>
                  </a:schemeClr>
                </a:solidFill>
                <a:latin typeface="Palatino Linotype" panose="02040502050505030304" pitchFamily="18" charset="0"/>
              </a:rPr>
            </a:br>
            <a:endParaRPr lang="en-US" sz="4000" b="1" dirty="0" smtClean="0">
              <a:solidFill>
                <a:schemeClr val="accent1">
                  <a:lumMod val="75000"/>
                </a:schemeClr>
              </a:solidFill>
              <a:latin typeface="Palatino Linotype" panose="02040502050505030304" pitchFamily="18" charset="0"/>
            </a:endParaRPr>
          </a:p>
        </p:txBody>
      </p:sp>
      <p:pic>
        <p:nvPicPr>
          <p:cNvPr id="2" name="Picture 1"/>
          <p:cNvPicPr>
            <a:picLocks noChangeAspect="1"/>
          </p:cNvPicPr>
          <p:nvPr/>
        </p:nvPicPr>
        <p:blipFill>
          <a:blip r:embed="rId2"/>
          <a:stretch>
            <a:fillRect/>
          </a:stretch>
        </p:blipFill>
        <p:spPr>
          <a:xfrm>
            <a:off x="5158154" y="1053709"/>
            <a:ext cx="5656041" cy="5816991"/>
          </a:xfrm>
          <a:prstGeom prst="rect">
            <a:avLst/>
          </a:prstGeom>
        </p:spPr>
      </p:pic>
      <p:sp>
        <p:nvSpPr>
          <p:cNvPr id="5" name="TextBox 4"/>
          <p:cNvSpPr txBox="1"/>
          <p:nvPr/>
        </p:nvSpPr>
        <p:spPr>
          <a:xfrm>
            <a:off x="900332" y="1538840"/>
            <a:ext cx="3953022" cy="3816429"/>
          </a:xfrm>
          <a:prstGeom prst="rect">
            <a:avLst/>
          </a:prstGeom>
          <a:noFill/>
        </p:spPr>
        <p:txBody>
          <a:bodyPr wrap="square" rtlCol="0">
            <a:spAutoFit/>
          </a:bodyPr>
          <a:lstStyle/>
          <a:p>
            <a:pPr algn="just"/>
            <a:r>
              <a:rPr lang="en-US" sz="2200" dirty="0">
                <a:latin typeface="Palatino Linotype" panose="02040502050505030304" pitchFamily="18" charset="0"/>
              </a:rPr>
              <a:t>If you think about it, it is clear that in this situation there is really no need to have </a:t>
            </a:r>
            <a:r>
              <a:rPr lang="en-US" sz="2200" dirty="0" smtClean="0">
                <a:latin typeface="Palatino Linotype" panose="02040502050505030304" pitchFamily="18" charset="0"/>
              </a:rPr>
              <a:t>two different </a:t>
            </a:r>
            <a:r>
              <a:rPr lang="en-US" sz="2200" dirty="0">
                <a:latin typeface="Palatino Linotype" panose="02040502050505030304" pitchFamily="18" charset="0"/>
              </a:rPr>
              <a:t>functions. Instead, the second parameter can be defaulted to some value </a:t>
            </a:r>
            <a:r>
              <a:rPr lang="en-US" sz="2200" dirty="0" smtClean="0">
                <a:latin typeface="Palatino Linotype" panose="02040502050505030304" pitchFamily="18" charset="0"/>
              </a:rPr>
              <a:t>that acts </a:t>
            </a:r>
            <a:r>
              <a:rPr lang="en-US" sz="2200" dirty="0">
                <a:latin typeface="Palatino Linotype" panose="02040502050505030304" pitchFamily="18" charset="0"/>
              </a:rPr>
              <a:t>as a </a:t>
            </a:r>
            <a:r>
              <a:rPr lang="en-US" sz="2200" dirty="0" smtClean="0">
                <a:latin typeface="Palatino Linotype" panose="02040502050505030304" pitchFamily="18" charset="0"/>
              </a:rPr>
              <a:t>flag </a:t>
            </a:r>
            <a:r>
              <a:rPr lang="en-US" sz="2200" dirty="0">
                <a:latin typeface="Palatino Linotype" panose="02040502050505030304" pitchFamily="18" charset="0"/>
              </a:rPr>
              <a:t>to </a:t>
            </a:r>
            <a:r>
              <a:rPr lang="en-US" sz="2200" dirty="0" err="1" smtClean="0">
                <a:latin typeface="Palatino Linotype" panose="02040502050505030304" pitchFamily="18" charset="0"/>
              </a:rPr>
              <a:t>rect</a:t>
            </a:r>
            <a:r>
              <a:rPr lang="en-US" sz="2200" dirty="0" err="1">
                <a:latin typeface="Palatino Linotype" panose="02040502050505030304" pitchFamily="18" charset="0"/>
              </a:rPr>
              <a:t>_</a:t>
            </a:r>
            <a:r>
              <a:rPr lang="en-US" sz="2200" dirty="0" err="1" smtClean="0">
                <a:latin typeface="Palatino Linotype" panose="02040502050505030304" pitchFamily="18" charset="0"/>
              </a:rPr>
              <a:t>area</a:t>
            </a:r>
            <a:r>
              <a:rPr lang="en-US" sz="2200" dirty="0">
                <a:latin typeface="Palatino Linotype" panose="02040502050505030304" pitchFamily="18" charset="0"/>
              </a:rPr>
              <a:t>(). When this value is seen by the function, it uses the </a:t>
            </a:r>
            <a:r>
              <a:rPr lang="en-US" sz="2200" dirty="0" smtClean="0">
                <a:latin typeface="Palatino Linotype" panose="02040502050505030304" pitchFamily="18" charset="0"/>
              </a:rPr>
              <a:t>length parameter </a:t>
            </a:r>
            <a:r>
              <a:rPr lang="en-US" sz="2200" dirty="0">
                <a:latin typeface="Palatino Linotype" panose="02040502050505030304" pitchFamily="18" charset="0"/>
              </a:rPr>
              <a:t>twice. Here is an example of this approach:</a:t>
            </a:r>
          </a:p>
        </p:txBody>
      </p:sp>
    </p:spTree>
    <p:extLst>
      <p:ext uri="{BB962C8B-B14F-4D97-AF65-F5344CB8AC3E}">
        <p14:creationId xmlns:p14="http://schemas.microsoft.com/office/powerpoint/2010/main" val="30016870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1777547"/>
            <a:ext cx="12192000" cy="639154"/>
          </a:xfrm>
          <a:solidFill>
            <a:schemeClr val="bg1"/>
          </a:solidFill>
        </p:spPr>
        <p:txBody>
          <a:bodyPr>
            <a:normAutofit fontScale="90000"/>
          </a:bodyPr>
          <a:lstStyle/>
          <a:p>
            <a:pPr algn="ctr"/>
            <a:r>
              <a:rPr lang="en-US" sz="4400" b="1" dirty="0">
                <a:solidFill>
                  <a:schemeClr val="accent1">
                    <a:lumMod val="75000"/>
                  </a:schemeClr>
                </a:solidFill>
                <a:latin typeface="Palatino Linotype" panose="02040502050505030304" pitchFamily="18" charset="0"/>
              </a:rPr>
              <a:t>Using Default Arguments</a:t>
            </a:r>
            <a:br>
              <a:rPr lang="en-US" sz="4400" b="1" dirty="0">
                <a:solidFill>
                  <a:schemeClr val="accent1">
                    <a:lumMod val="75000"/>
                  </a:schemeClr>
                </a:solidFill>
                <a:latin typeface="Palatino Linotype" panose="02040502050505030304" pitchFamily="18" charset="0"/>
              </a:rPr>
            </a:br>
            <a:r>
              <a:rPr lang="en-US" sz="4400" b="1" dirty="0">
                <a:solidFill>
                  <a:schemeClr val="accent1">
                    <a:lumMod val="75000"/>
                  </a:schemeClr>
                </a:solidFill>
                <a:latin typeface="Palatino Linotype" panose="02040502050505030304" pitchFamily="18" charset="0"/>
              </a:rPr>
              <a:t/>
            </a:r>
            <a:br>
              <a:rPr lang="en-US" sz="4400" b="1" dirty="0">
                <a:solidFill>
                  <a:schemeClr val="accent1">
                    <a:lumMod val="75000"/>
                  </a:schemeClr>
                </a:solidFill>
                <a:latin typeface="Palatino Linotype" panose="02040502050505030304" pitchFamily="18" charset="0"/>
              </a:rPr>
            </a:br>
            <a:endParaRPr lang="en-US" sz="4400" b="1" dirty="0">
              <a:solidFill>
                <a:schemeClr val="accent1">
                  <a:lumMod val="75000"/>
                </a:schemeClr>
              </a:solidFill>
              <a:latin typeface="Palatino Linotype" panose="02040502050505030304" pitchFamily="18" charset="0"/>
            </a:endParaRPr>
          </a:p>
        </p:txBody>
      </p:sp>
      <p:sp>
        <p:nvSpPr>
          <p:cNvPr id="6" name="Rectangle 5"/>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latin typeface="Palatino Linotype" panose="02040502050505030304" pitchFamily="18" charset="0"/>
            </a:endParaRPr>
          </a:p>
        </p:txBody>
      </p:sp>
      <p:sp>
        <p:nvSpPr>
          <p:cNvPr id="4" name="Rectangle 3"/>
          <p:cNvSpPr/>
          <p:nvPr/>
        </p:nvSpPr>
        <p:spPr>
          <a:xfrm>
            <a:off x="659842" y="4165075"/>
            <a:ext cx="10420120" cy="1938992"/>
          </a:xfrm>
          <a:prstGeom prst="rect">
            <a:avLst/>
          </a:prstGeom>
        </p:spPr>
        <p:txBody>
          <a:bodyPr wrap="square">
            <a:spAutoFit/>
          </a:bodyPr>
          <a:lstStyle/>
          <a:p>
            <a:pPr lvl="1" algn="just"/>
            <a:r>
              <a:rPr lang="en-US" sz="2400" dirty="0">
                <a:latin typeface="Palatino Linotype" panose="02040502050505030304" pitchFamily="18" charset="0"/>
              </a:rPr>
              <a:t>Here 0 is the default value of width. This value was chosen because no rectangle </a:t>
            </a:r>
            <a:r>
              <a:rPr lang="en-US" sz="2400" dirty="0" smtClean="0">
                <a:latin typeface="Palatino Linotype" panose="02040502050505030304" pitchFamily="18" charset="0"/>
              </a:rPr>
              <a:t>will have </a:t>
            </a:r>
            <a:r>
              <a:rPr lang="en-US" sz="2400" dirty="0">
                <a:latin typeface="Palatino Linotype" panose="02040502050505030304" pitchFamily="18" charset="0"/>
              </a:rPr>
              <a:t>a width of 0. </a:t>
            </a:r>
            <a:r>
              <a:rPr lang="en-US" sz="2400" dirty="0" smtClean="0">
                <a:latin typeface="Palatino Linotype" panose="02040502050505030304" pitchFamily="18" charset="0"/>
              </a:rPr>
              <a:t>Thus</a:t>
            </a:r>
            <a:r>
              <a:rPr lang="en-US" sz="2400" dirty="0">
                <a:latin typeface="Palatino Linotype" panose="02040502050505030304" pitchFamily="18" charset="0"/>
              </a:rPr>
              <a:t>, if this </a:t>
            </a:r>
            <a:r>
              <a:rPr lang="en-US" sz="2400" dirty="0" smtClean="0">
                <a:latin typeface="Palatino Linotype" panose="02040502050505030304" pitchFamily="18" charset="0"/>
              </a:rPr>
              <a:t>default value </a:t>
            </a:r>
            <a:r>
              <a:rPr lang="en-US" sz="2400" dirty="0">
                <a:latin typeface="Palatino Linotype" panose="02040502050505030304" pitchFamily="18" charset="0"/>
              </a:rPr>
              <a:t>is seen, </a:t>
            </a:r>
            <a:r>
              <a:rPr lang="en-US" sz="2400" dirty="0" err="1">
                <a:latin typeface="Palatino Linotype" panose="02040502050505030304" pitchFamily="18" charset="0"/>
              </a:rPr>
              <a:t>rect</a:t>
            </a:r>
            <a:r>
              <a:rPr lang="en-US" sz="2400" dirty="0">
                <a:latin typeface="Palatino Linotype" panose="02040502050505030304" pitchFamily="18" charset="0"/>
              </a:rPr>
              <a:t> area() automatically uses the value in length for the value of </a:t>
            </a:r>
            <a:r>
              <a:rPr lang="en-US" sz="2400" dirty="0" smtClean="0">
                <a:latin typeface="Palatino Linotype" panose="02040502050505030304" pitchFamily="18" charset="0"/>
              </a:rPr>
              <a:t>width. As </a:t>
            </a:r>
            <a:r>
              <a:rPr lang="en-US" sz="2400" dirty="0">
                <a:latin typeface="Palatino Linotype" panose="02040502050505030304" pitchFamily="18" charset="0"/>
              </a:rPr>
              <a:t>this example shows, default arguments often provide a simple alternative to </a:t>
            </a:r>
            <a:r>
              <a:rPr lang="en-US" sz="2400" dirty="0" smtClean="0">
                <a:latin typeface="Palatino Linotype" panose="02040502050505030304" pitchFamily="18" charset="0"/>
              </a:rPr>
              <a:t>function overloading</a:t>
            </a:r>
            <a:r>
              <a:rPr lang="en-US" sz="2400" dirty="0">
                <a:latin typeface="Palatino Linotype" panose="02040502050505030304" pitchFamily="18" charset="0"/>
              </a:rPr>
              <a:t>. </a:t>
            </a:r>
            <a:endParaRPr lang="en-US" sz="2400" dirty="0" smtClean="0">
              <a:latin typeface="Palatino Linotype" panose="02040502050505030304" pitchFamily="18" charset="0"/>
            </a:endParaRPr>
          </a:p>
        </p:txBody>
      </p:sp>
      <p:pic>
        <p:nvPicPr>
          <p:cNvPr id="7" name="Picture 6"/>
          <p:cNvPicPr>
            <a:picLocks noChangeAspect="1"/>
          </p:cNvPicPr>
          <p:nvPr/>
        </p:nvPicPr>
        <p:blipFill>
          <a:blip r:embed="rId2"/>
          <a:stretch>
            <a:fillRect/>
          </a:stretch>
        </p:blipFill>
        <p:spPr>
          <a:xfrm>
            <a:off x="3689350" y="1800730"/>
            <a:ext cx="5135336" cy="2025433"/>
          </a:xfrm>
          <a:prstGeom prst="rect">
            <a:avLst/>
          </a:prstGeom>
        </p:spPr>
      </p:pic>
    </p:spTree>
    <p:extLst>
      <p:ext uri="{BB962C8B-B14F-4D97-AF65-F5344CB8AC3E}">
        <p14:creationId xmlns:p14="http://schemas.microsoft.com/office/powerpoint/2010/main" val="150310892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362911" y="215160"/>
            <a:ext cx="8048375" cy="1000124"/>
          </a:xfrm>
          <a:prstGeom prst="rect">
            <a:avLst/>
          </a:prstGeom>
          <a:solidFill>
            <a:schemeClr val="bg1"/>
          </a:solidFill>
        </p:spPr>
        <p:txBody>
          <a:bodyPr>
            <a:normAutofit fontScale="92500"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4000" b="1" dirty="0">
                <a:solidFill>
                  <a:schemeClr val="accent1">
                    <a:lumMod val="75000"/>
                  </a:schemeClr>
                </a:solidFill>
                <a:latin typeface="Palatino Linotype" panose="02040502050505030304" pitchFamily="18" charset="0"/>
              </a:rPr>
              <a:t>Using Default Arguments</a:t>
            </a:r>
            <a:br>
              <a:rPr lang="en-US" sz="4000" b="1" dirty="0">
                <a:solidFill>
                  <a:schemeClr val="accent1">
                    <a:lumMod val="75000"/>
                  </a:schemeClr>
                </a:solidFill>
                <a:latin typeface="Palatino Linotype" panose="02040502050505030304" pitchFamily="18" charset="0"/>
              </a:rPr>
            </a:br>
            <a:endParaRPr lang="en-US" sz="4000" b="1" dirty="0" smtClean="0">
              <a:solidFill>
                <a:schemeClr val="accent1">
                  <a:lumMod val="75000"/>
                </a:schemeClr>
              </a:solidFill>
              <a:latin typeface="Palatino Linotype" panose="02040502050505030304" pitchFamily="18" charset="0"/>
            </a:endParaRPr>
          </a:p>
        </p:txBody>
      </p:sp>
      <p:sp>
        <p:nvSpPr>
          <p:cNvPr id="5" name="TextBox 4"/>
          <p:cNvSpPr txBox="1"/>
          <p:nvPr/>
        </p:nvSpPr>
        <p:spPr>
          <a:xfrm>
            <a:off x="464235" y="1524773"/>
            <a:ext cx="4346917" cy="4154984"/>
          </a:xfrm>
          <a:prstGeom prst="rect">
            <a:avLst/>
          </a:prstGeom>
          <a:noFill/>
        </p:spPr>
        <p:txBody>
          <a:bodyPr wrap="square" rtlCol="0">
            <a:spAutoFit/>
          </a:bodyPr>
          <a:lstStyle/>
          <a:p>
            <a:pPr algn="just"/>
            <a:r>
              <a:rPr lang="en-US" sz="2200" dirty="0">
                <a:latin typeface="Palatino Linotype" panose="02040502050505030304" pitchFamily="18" charset="0"/>
              </a:rPr>
              <a:t>It is not only legal to give constructor functions default arguments, it is also </a:t>
            </a:r>
            <a:r>
              <a:rPr lang="en-US" sz="2200" dirty="0" smtClean="0">
                <a:latin typeface="Palatino Linotype" panose="02040502050505030304" pitchFamily="18" charset="0"/>
              </a:rPr>
              <a:t>common. As </a:t>
            </a:r>
            <a:r>
              <a:rPr lang="en-US" sz="2200" dirty="0">
                <a:latin typeface="Palatino Linotype" panose="02040502050505030304" pitchFamily="18" charset="0"/>
              </a:rPr>
              <a:t>you saw earlier in this chapter, many times a constructor is overloaded simply </a:t>
            </a:r>
            <a:r>
              <a:rPr lang="en-US" sz="2200" dirty="0" smtClean="0">
                <a:latin typeface="Palatino Linotype" panose="02040502050505030304" pitchFamily="18" charset="0"/>
              </a:rPr>
              <a:t>to allow </a:t>
            </a:r>
            <a:r>
              <a:rPr lang="en-US" sz="2200" dirty="0">
                <a:latin typeface="Palatino Linotype" panose="02040502050505030304" pitchFamily="18" charset="0"/>
              </a:rPr>
              <a:t>both initialized and uninitialized objects to be created. In many cases, you </a:t>
            </a:r>
            <a:r>
              <a:rPr lang="en-US" sz="2200" dirty="0" smtClean="0">
                <a:latin typeface="Palatino Linotype" panose="02040502050505030304" pitchFamily="18" charset="0"/>
              </a:rPr>
              <a:t>can avoid </a:t>
            </a:r>
            <a:r>
              <a:rPr lang="en-US" sz="2200" dirty="0">
                <a:latin typeface="Palatino Linotype" panose="02040502050505030304" pitchFamily="18" charset="0"/>
              </a:rPr>
              <a:t>overloading a constructor by giving it one or more default arguments. For </a:t>
            </a:r>
            <a:r>
              <a:rPr lang="en-US" sz="2200" dirty="0" smtClean="0">
                <a:latin typeface="Palatino Linotype" panose="02040502050505030304" pitchFamily="18" charset="0"/>
              </a:rPr>
              <a:t>example, examine </a:t>
            </a:r>
            <a:r>
              <a:rPr lang="en-US" sz="2200" dirty="0">
                <a:latin typeface="Palatino Linotype" panose="02040502050505030304" pitchFamily="18" charset="0"/>
              </a:rPr>
              <a:t>this program:</a:t>
            </a:r>
          </a:p>
        </p:txBody>
      </p:sp>
      <p:pic>
        <p:nvPicPr>
          <p:cNvPr id="4" name="Picture 3"/>
          <p:cNvPicPr>
            <a:picLocks noChangeAspect="1"/>
          </p:cNvPicPr>
          <p:nvPr/>
        </p:nvPicPr>
        <p:blipFill>
          <a:blip r:embed="rId2"/>
          <a:stretch>
            <a:fillRect/>
          </a:stretch>
        </p:blipFill>
        <p:spPr>
          <a:xfrm>
            <a:off x="5501808" y="701154"/>
            <a:ext cx="5733018" cy="5391590"/>
          </a:xfrm>
          <a:prstGeom prst="rect">
            <a:avLst/>
          </a:prstGeom>
        </p:spPr>
      </p:pic>
    </p:spTree>
    <p:extLst>
      <p:ext uri="{BB962C8B-B14F-4D97-AF65-F5344CB8AC3E}">
        <p14:creationId xmlns:p14="http://schemas.microsoft.com/office/powerpoint/2010/main" val="5648606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1777547"/>
            <a:ext cx="12192000" cy="639154"/>
          </a:xfrm>
          <a:solidFill>
            <a:schemeClr val="bg1"/>
          </a:solidFill>
        </p:spPr>
        <p:txBody>
          <a:bodyPr>
            <a:normAutofit fontScale="90000"/>
          </a:bodyPr>
          <a:lstStyle/>
          <a:p>
            <a:pPr algn="ctr"/>
            <a:r>
              <a:rPr lang="en-US" sz="4400" b="1" dirty="0" smtClean="0">
                <a:solidFill>
                  <a:schemeClr val="accent1">
                    <a:lumMod val="75000"/>
                  </a:schemeClr>
                </a:solidFill>
                <a:latin typeface="Palatino Linotype" panose="02040502050505030304" pitchFamily="18" charset="0"/>
              </a:rPr>
              <a:t>Overloading and Ambiguity</a:t>
            </a:r>
            <a:r>
              <a:rPr lang="en-US" sz="4400" b="1" dirty="0">
                <a:solidFill>
                  <a:schemeClr val="accent1">
                    <a:lumMod val="75000"/>
                  </a:schemeClr>
                </a:solidFill>
                <a:latin typeface="Palatino Linotype" panose="02040502050505030304" pitchFamily="18" charset="0"/>
              </a:rPr>
              <a:t/>
            </a:r>
            <a:br>
              <a:rPr lang="en-US" sz="4400" b="1" dirty="0">
                <a:solidFill>
                  <a:schemeClr val="accent1">
                    <a:lumMod val="75000"/>
                  </a:schemeClr>
                </a:solidFill>
                <a:latin typeface="Palatino Linotype" panose="02040502050505030304" pitchFamily="18" charset="0"/>
              </a:rPr>
            </a:br>
            <a:r>
              <a:rPr lang="en-US" sz="4400" b="1" dirty="0">
                <a:solidFill>
                  <a:schemeClr val="accent1">
                    <a:lumMod val="75000"/>
                  </a:schemeClr>
                </a:solidFill>
                <a:latin typeface="Palatino Linotype" panose="02040502050505030304" pitchFamily="18" charset="0"/>
              </a:rPr>
              <a:t/>
            </a:r>
            <a:br>
              <a:rPr lang="en-US" sz="4400" b="1" dirty="0">
                <a:solidFill>
                  <a:schemeClr val="accent1">
                    <a:lumMod val="75000"/>
                  </a:schemeClr>
                </a:solidFill>
                <a:latin typeface="Palatino Linotype" panose="02040502050505030304" pitchFamily="18" charset="0"/>
              </a:rPr>
            </a:br>
            <a:endParaRPr lang="en-US" sz="4400" b="1" dirty="0">
              <a:solidFill>
                <a:schemeClr val="accent1">
                  <a:lumMod val="75000"/>
                </a:schemeClr>
              </a:solidFill>
              <a:latin typeface="Palatino Linotype" panose="02040502050505030304" pitchFamily="18" charset="0"/>
            </a:endParaRPr>
          </a:p>
        </p:txBody>
      </p:sp>
      <p:sp>
        <p:nvSpPr>
          <p:cNvPr id="6" name="Rectangle 5"/>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latin typeface="Palatino Linotype" panose="02040502050505030304" pitchFamily="18" charset="0"/>
            </a:endParaRPr>
          </a:p>
        </p:txBody>
      </p:sp>
      <p:sp>
        <p:nvSpPr>
          <p:cNvPr id="4" name="Rectangle 3"/>
          <p:cNvSpPr/>
          <p:nvPr/>
        </p:nvSpPr>
        <p:spPr>
          <a:xfrm>
            <a:off x="673910" y="2097124"/>
            <a:ext cx="10420120" cy="3785652"/>
          </a:xfrm>
          <a:prstGeom prst="rect">
            <a:avLst/>
          </a:prstGeom>
        </p:spPr>
        <p:txBody>
          <a:bodyPr wrap="square">
            <a:spAutoFit/>
          </a:bodyPr>
          <a:lstStyle/>
          <a:p>
            <a:pPr lvl="1" algn="just"/>
            <a:r>
              <a:rPr lang="en-US" sz="2400" dirty="0">
                <a:latin typeface="Palatino Linotype" panose="02040502050505030304" pitchFamily="18" charset="0"/>
              </a:rPr>
              <a:t>When you are overloading functions, it is possible to introduce ambiguity into your </a:t>
            </a:r>
            <a:r>
              <a:rPr lang="en-US" sz="2400" dirty="0" smtClean="0">
                <a:latin typeface="Palatino Linotype" panose="02040502050505030304" pitchFamily="18" charset="0"/>
              </a:rPr>
              <a:t>program. Overloading-caused </a:t>
            </a:r>
            <a:r>
              <a:rPr lang="en-US" sz="2400" dirty="0">
                <a:latin typeface="Palatino Linotype" panose="02040502050505030304" pitchFamily="18" charset="0"/>
              </a:rPr>
              <a:t>ambiguity can be introduced through </a:t>
            </a:r>
            <a:endParaRPr lang="en-US" sz="2400" dirty="0" smtClean="0">
              <a:latin typeface="Palatino Linotype" panose="02040502050505030304" pitchFamily="18" charset="0"/>
            </a:endParaRPr>
          </a:p>
          <a:p>
            <a:pPr marL="1714500" lvl="3" indent="-342900" algn="just">
              <a:buFont typeface="Arial" panose="020B0604020202020204" pitchFamily="34" charset="0"/>
              <a:buChar char="•"/>
            </a:pPr>
            <a:r>
              <a:rPr lang="en-US" sz="2400" dirty="0" smtClean="0">
                <a:latin typeface="Palatino Linotype" panose="02040502050505030304" pitchFamily="18" charset="0"/>
              </a:rPr>
              <a:t>type </a:t>
            </a:r>
            <a:r>
              <a:rPr lang="en-US" sz="2400" dirty="0">
                <a:latin typeface="Palatino Linotype" panose="02040502050505030304" pitchFamily="18" charset="0"/>
              </a:rPr>
              <a:t>conversions</a:t>
            </a:r>
            <a:r>
              <a:rPr lang="en-US" sz="2400" dirty="0" smtClean="0">
                <a:latin typeface="Palatino Linotype" panose="02040502050505030304" pitchFamily="18" charset="0"/>
              </a:rPr>
              <a:t>,</a:t>
            </a:r>
          </a:p>
          <a:p>
            <a:pPr marL="1714500" lvl="3" indent="-342900" algn="just">
              <a:buFont typeface="Arial" panose="020B0604020202020204" pitchFamily="34" charset="0"/>
              <a:buChar char="•"/>
            </a:pPr>
            <a:r>
              <a:rPr lang="en-US" sz="2400" dirty="0" smtClean="0">
                <a:latin typeface="Palatino Linotype" panose="02040502050505030304" pitchFamily="18" charset="0"/>
              </a:rPr>
              <a:t> </a:t>
            </a:r>
            <a:r>
              <a:rPr lang="en-US" sz="2400" dirty="0">
                <a:latin typeface="Palatino Linotype" panose="02040502050505030304" pitchFamily="18" charset="0"/>
              </a:rPr>
              <a:t>reference </a:t>
            </a:r>
            <a:r>
              <a:rPr lang="en-US" sz="2400" dirty="0" smtClean="0">
                <a:latin typeface="Palatino Linotype" panose="02040502050505030304" pitchFamily="18" charset="0"/>
              </a:rPr>
              <a:t>parameters</a:t>
            </a:r>
            <a:r>
              <a:rPr lang="en-US" sz="2400" dirty="0">
                <a:latin typeface="Palatino Linotype" panose="02040502050505030304" pitchFamily="18" charset="0"/>
              </a:rPr>
              <a:t>, and </a:t>
            </a:r>
            <a:endParaRPr lang="en-US" sz="2400" dirty="0" smtClean="0">
              <a:latin typeface="Palatino Linotype" panose="02040502050505030304" pitchFamily="18" charset="0"/>
            </a:endParaRPr>
          </a:p>
          <a:p>
            <a:pPr marL="1714500" lvl="3" indent="-342900" algn="just">
              <a:buFont typeface="Arial" panose="020B0604020202020204" pitchFamily="34" charset="0"/>
              <a:buChar char="•"/>
            </a:pPr>
            <a:r>
              <a:rPr lang="en-US" sz="2400" dirty="0" smtClean="0">
                <a:latin typeface="Palatino Linotype" panose="02040502050505030304" pitchFamily="18" charset="0"/>
              </a:rPr>
              <a:t>default </a:t>
            </a:r>
            <a:r>
              <a:rPr lang="en-US" sz="2400" dirty="0">
                <a:latin typeface="Palatino Linotype" panose="02040502050505030304" pitchFamily="18" charset="0"/>
              </a:rPr>
              <a:t>arguments. </a:t>
            </a:r>
            <a:endParaRPr lang="en-US" sz="2400" dirty="0" smtClean="0">
              <a:latin typeface="Palatino Linotype" panose="02040502050505030304" pitchFamily="18" charset="0"/>
            </a:endParaRPr>
          </a:p>
          <a:p>
            <a:pPr lvl="1" algn="just"/>
            <a:r>
              <a:rPr lang="en-US" sz="2400" dirty="0" smtClean="0">
                <a:latin typeface="Palatino Linotype" panose="02040502050505030304" pitchFamily="18" charset="0"/>
              </a:rPr>
              <a:t>Further</a:t>
            </a:r>
            <a:r>
              <a:rPr lang="en-US" sz="2400" dirty="0">
                <a:latin typeface="Palatino Linotype" panose="02040502050505030304" pitchFamily="18" charset="0"/>
              </a:rPr>
              <a:t>, some types of ambiguity are caused by the </a:t>
            </a:r>
            <a:r>
              <a:rPr lang="en-US" sz="2400" dirty="0" smtClean="0">
                <a:latin typeface="Palatino Linotype" panose="02040502050505030304" pitchFamily="18" charset="0"/>
              </a:rPr>
              <a:t>overloaded functions </a:t>
            </a:r>
            <a:r>
              <a:rPr lang="en-US" sz="2400" dirty="0">
                <a:latin typeface="Palatino Linotype" panose="02040502050505030304" pitchFamily="18" charset="0"/>
              </a:rPr>
              <a:t>themselves. Other types occur in the manner in which an overloaded function </a:t>
            </a:r>
            <a:r>
              <a:rPr lang="en-US" sz="2400" dirty="0" smtClean="0">
                <a:latin typeface="Palatino Linotype" panose="02040502050505030304" pitchFamily="18" charset="0"/>
              </a:rPr>
              <a:t>is called</a:t>
            </a:r>
            <a:r>
              <a:rPr lang="en-US" sz="2400" dirty="0">
                <a:latin typeface="Palatino Linotype" panose="02040502050505030304" pitchFamily="18" charset="0"/>
              </a:rPr>
              <a:t>. Ambiguity must be removed before your program will compile without error.</a:t>
            </a:r>
            <a:endParaRPr lang="en-US" sz="2400" dirty="0" smtClean="0">
              <a:latin typeface="Palatino Linotype" panose="02040502050505030304" pitchFamily="18" charset="0"/>
            </a:endParaRPr>
          </a:p>
        </p:txBody>
      </p:sp>
    </p:spTree>
    <p:extLst>
      <p:ext uri="{BB962C8B-B14F-4D97-AF65-F5344CB8AC3E}">
        <p14:creationId xmlns:p14="http://schemas.microsoft.com/office/powerpoint/2010/main" val="90371687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1777547"/>
            <a:ext cx="12192000" cy="639154"/>
          </a:xfrm>
          <a:solidFill>
            <a:schemeClr val="bg1"/>
          </a:solidFill>
        </p:spPr>
        <p:txBody>
          <a:bodyPr>
            <a:normAutofit fontScale="90000"/>
          </a:bodyPr>
          <a:lstStyle/>
          <a:p>
            <a:pPr algn="ctr"/>
            <a:r>
              <a:rPr lang="en-US" sz="4400" b="1" dirty="0" smtClean="0">
                <a:solidFill>
                  <a:schemeClr val="accent1">
                    <a:lumMod val="75000"/>
                  </a:schemeClr>
                </a:solidFill>
                <a:latin typeface="Palatino Linotype" panose="02040502050505030304" pitchFamily="18" charset="0"/>
              </a:rPr>
              <a:t>Overloading and Ambiguity</a:t>
            </a:r>
            <a:r>
              <a:rPr lang="en-US" sz="4400" b="1" dirty="0">
                <a:solidFill>
                  <a:schemeClr val="accent1">
                    <a:lumMod val="75000"/>
                  </a:schemeClr>
                </a:solidFill>
                <a:latin typeface="Palatino Linotype" panose="02040502050505030304" pitchFamily="18" charset="0"/>
              </a:rPr>
              <a:t/>
            </a:r>
            <a:br>
              <a:rPr lang="en-US" sz="4400" b="1" dirty="0">
                <a:solidFill>
                  <a:schemeClr val="accent1">
                    <a:lumMod val="75000"/>
                  </a:schemeClr>
                </a:solidFill>
                <a:latin typeface="Palatino Linotype" panose="02040502050505030304" pitchFamily="18" charset="0"/>
              </a:rPr>
            </a:br>
            <a:r>
              <a:rPr lang="en-US" sz="4400" b="1" dirty="0">
                <a:solidFill>
                  <a:schemeClr val="accent1">
                    <a:lumMod val="75000"/>
                  </a:schemeClr>
                </a:solidFill>
                <a:latin typeface="Palatino Linotype" panose="02040502050505030304" pitchFamily="18" charset="0"/>
              </a:rPr>
              <a:t/>
            </a:r>
            <a:br>
              <a:rPr lang="en-US" sz="4400" b="1" dirty="0">
                <a:solidFill>
                  <a:schemeClr val="accent1">
                    <a:lumMod val="75000"/>
                  </a:schemeClr>
                </a:solidFill>
                <a:latin typeface="Palatino Linotype" panose="02040502050505030304" pitchFamily="18" charset="0"/>
              </a:rPr>
            </a:br>
            <a:endParaRPr lang="en-US" sz="4400" b="1" dirty="0">
              <a:solidFill>
                <a:schemeClr val="accent1">
                  <a:lumMod val="75000"/>
                </a:schemeClr>
              </a:solidFill>
              <a:latin typeface="Palatino Linotype" panose="02040502050505030304" pitchFamily="18" charset="0"/>
            </a:endParaRPr>
          </a:p>
        </p:txBody>
      </p:sp>
      <p:sp>
        <p:nvSpPr>
          <p:cNvPr id="6" name="Rectangle 5"/>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latin typeface="Palatino Linotype" panose="02040502050505030304" pitchFamily="18" charset="0"/>
            </a:endParaRPr>
          </a:p>
        </p:txBody>
      </p:sp>
      <p:sp>
        <p:nvSpPr>
          <p:cNvPr id="4" name="Rectangle 3"/>
          <p:cNvSpPr/>
          <p:nvPr/>
        </p:nvSpPr>
        <p:spPr>
          <a:xfrm>
            <a:off x="673910" y="2097124"/>
            <a:ext cx="10420120" cy="4154984"/>
          </a:xfrm>
          <a:prstGeom prst="rect">
            <a:avLst/>
          </a:prstGeom>
        </p:spPr>
        <p:txBody>
          <a:bodyPr wrap="square">
            <a:spAutoFit/>
          </a:bodyPr>
          <a:lstStyle/>
          <a:p>
            <a:pPr marL="800100" lvl="1" indent="-342900" algn="just">
              <a:buFont typeface="Wingdings" panose="05000000000000000000" pitchFamily="2" charset="2"/>
              <a:buChar char="Ø"/>
            </a:pPr>
            <a:r>
              <a:rPr lang="en-US" sz="2400" dirty="0">
                <a:latin typeface="Palatino Linotype" panose="02040502050505030304" pitchFamily="18" charset="0"/>
              </a:rPr>
              <a:t>One of the most common types of ambiguity is caused by C++'s automatic type </a:t>
            </a:r>
            <a:r>
              <a:rPr lang="en-US" sz="2400" dirty="0" smtClean="0">
                <a:latin typeface="Palatino Linotype" panose="02040502050505030304" pitchFamily="18" charset="0"/>
              </a:rPr>
              <a:t>conversion rules. </a:t>
            </a:r>
          </a:p>
          <a:p>
            <a:pPr marL="800100" lvl="1" indent="-342900" algn="just">
              <a:buFont typeface="Wingdings" panose="05000000000000000000" pitchFamily="2" charset="2"/>
              <a:buChar char="Ø"/>
            </a:pPr>
            <a:r>
              <a:rPr lang="en-US" sz="2400" dirty="0">
                <a:latin typeface="Palatino Linotype" panose="02040502050505030304" pitchFamily="18" charset="0"/>
              </a:rPr>
              <a:t>In C++, when you call a function with an argument of a different, but compatible type, the compiler automatically converts the argument to the function's parameter type</a:t>
            </a:r>
            <a:r>
              <a:rPr lang="en-US" sz="2400" dirty="0" smtClean="0">
                <a:latin typeface="Palatino Linotype" panose="02040502050505030304" pitchFamily="18" charset="0"/>
              </a:rPr>
              <a:t>. </a:t>
            </a:r>
          </a:p>
          <a:p>
            <a:pPr marL="800100" lvl="1" indent="-342900" algn="just">
              <a:buFont typeface="Wingdings" panose="05000000000000000000" pitchFamily="2" charset="2"/>
              <a:buChar char="Ø"/>
            </a:pPr>
            <a:r>
              <a:rPr lang="en-US" sz="2400" dirty="0">
                <a:latin typeface="Palatino Linotype" panose="02040502050505030304" pitchFamily="18" charset="0"/>
              </a:rPr>
              <a:t>When you have overloaded functions (multiple functions with the same name but different parameter types), the compiler decides which function to call based on the argument type</a:t>
            </a:r>
            <a:r>
              <a:rPr lang="en-US" sz="2400" dirty="0" smtClean="0">
                <a:latin typeface="Palatino Linotype" panose="02040502050505030304" pitchFamily="18" charset="0"/>
              </a:rPr>
              <a:t>.</a:t>
            </a:r>
          </a:p>
          <a:p>
            <a:pPr marL="800100" lvl="1" indent="-342900" algn="just">
              <a:buFont typeface="Wingdings" panose="05000000000000000000" pitchFamily="2" charset="2"/>
              <a:buChar char="Ø"/>
            </a:pPr>
            <a:r>
              <a:rPr lang="en-US" sz="2400" dirty="0">
                <a:latin typeface="Palatino Linotype" panose="02040502050505030304" pitchFamily="18" charset="0"/>
              </a:rPr>
              <a:t>But if the argument type is ambiguous (i.e., can be converted into multiple valid types), the compiler gets confused.</a:t>
            </a:r>
            <a:endParaRPr lang="en-US" sz="2400" dirty="0" smtClean="0">
              <a:latin typeface="Palatino Linotype" panose="02040502050505030304" pitchFamily="18" charset="0"/>
            </a:endParaRPr>
          </a:p>
          <a:p>
            <a:pPr lvl="1" algn="just"/>
            <a:endParaRPr lang="en-US" sz="2400" dirty="0" smtClean="0">
              <a:latin typeface="Palatino Linotype" panose="02040502050505030304" pitchFamily="18" charset="0"/>
            </a:endParaRPr>
          </a:p>
        </p:txBody>
      </p:sp>
    </p:spTree>
    <p:extLst>
      <p:ext uri="{BB962C8B-B14F-4D97-AF65-F5344CB8AC3E}">
        <p14:creationId xmlns:p14="http://schemas.microsoft.com/office/powerpoint/2010/main" val="354718967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2029999" y="186578"/>
            <a:ext cx="8048375" cy="1000124"/>
          </a:xfrm>
          <a:prstGeom prst="rect">
            <a:avLst/>
          </a:prstGeom>
          <a:solidFill>
            <a:schemeClr val="bg1"/>
          </a:solidFill>
        </p:spPr>
        <p:txBody>
          <a:bodyPr>
            <a:normAutofit fontScale="92500"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4000" b="1" dirty="0">
                <a:solidFill>
                  <a:schemeClr val="accent1">
                    <a:lumMod val="75000"/>
                  </a:schemeClr>
                </a:solidFill>
                <a:latin typeface="Palatino Linotype" panose="02040502050505030304" pitchFamily="18" charset="0"/>
              </a:rPr>
              <a:t>Overloading and Ambiguity</a:t>
            </a:r>
            <a:br>
              <a:rPr lang="en-US" sz="4000" b="1" dirty="0">
                <a:solidFill>
                  <a:schemeClr val="accent1">
                    <a:lumMod val="75000"/>
                  </a:schemeClr>
                </a:solidFill>
                <a:latin typeface="Palatino Linotype" panose="02040502050505030304" pitchFamily="18" charset="0"/>
              </a:rPr>
            </a:br>
            <a:endParaRPr lang="en-US" sz="4000" b="1" dirty="0" smtClean="0">
              <a:solidFill>
                <a:schemeClr val="accent1">
                  <a:lumMod val="75000"/>
                </a:schemeClr>
              </a:solidFill>
              <a:latin typeface="Palatino Linotype" panose="02040502050505030304" pitchFamily="18" charset="0"/>
            </a:endParaRPr>
          </a:p>
        </p:txBody>
      </p:sp>
      <p:pic>
        <p:nvPicPr>
          <p:cNvPr id="2" name="Picture 1"/>
          <p:cNvPicPr>
            <a:picLocks noChangeAspect="1"/>
          </p:cNvPicPr>
          <p:nvPr/>
        </p:nvPicPr>
        <p:blipFill>
          <a:blip r:embed="rId2"/>
          <a:stretch>
            <a:fillRect/>
          </a:stretch>
        </p:blipFill>
        <p:spPr>
          <a:xfrm>
            <a:off x="1475014" y="686640"/>
            <a:ext cx="6604000" cy="5932260"/>
          </a:xfrm>
          <a:prstGeom prst="rect">
            <a:avLst/>
          </a:prstGeom>
        </p:spPr>
      </p:pic>
      <p:sp>
        <p:nvSpPr>
          <p:cNvPr id="7" name="Rectangle 2"/>
          <p:cNvSpPr>
            <a:spLocks noChangeArrowheads="1"/>
          </p:cNvSpPr>
          <p:nvPr/>
        </p:nvSpPr>
        <p:spPr bwMode="auto">
          <a:xfrm rot="10800000" flipV="1">
            <a:off x="7416799" y="1283759"/>
            <a:ext cx="4441371"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smtClean="0">
                <a:ln>
                  <a:noFill/>
                </a:ln>
                <a:solidFill>
                  <a:schemeClr val="tx1"/>
                </a:solidFill>
                <a:effectLst/>
                <a:latin typeface="Palatino Linotype" panose="02040502050505030304" pitchFamily="18" charset="0"/>
              </a:rPr>
              <a:t>When you call f(10), the value 10 is an integer.</a:t>
            </a:r>
            <a:r>
              <a:rPr kumimoji="0" lang="en-US" altLang="en-US" sz="2200" b="0" i="0" u="none" strike="noStrike" cap="none" normalizeH="0" dirty="0" smtClean="0">
                <a:ln>
                  <a:noFill/>
                </a:ln>
                <a:solidFill>
                  <a:schemeClr val="tx1"/>
                </a:solidFill>
                <a:effectLst/>
                <a:latin typeface="Palatino Linotype" panose="02040502050505030304" pitchFamily="18" charset="0"/>
              </a:rPr>
              <a:t> </a:t>
            </a:r>
            <a:r>
              <a:rPr kumimoji="0" lang="en-US" altLang="en-US" sz="2200" b="0" i="0" u="none" strike="noStrike" cap="none" normalizeH="0" baseline="0" dirty="0" smtClean="0">
                <a:ln>
                  <a:noFill/>
                </a:ln>
                <a:solidFill>
                  <a:schemeClr val="tx1"/>
                </a:solidFill>
                <a:effectLst/>
                <a:latin typeface="Palatino Linotype" panose="02040502050505030304" pitchFamily="18" charset="0"/>
              </a:rPr>
              <a:t>The compiler can convert 10 into either:</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200" b="0" i="0" u="none" strike="noStrike" cap="none" normalizeH="0" baseline="0" dirty="0" smtClean="0">
              <a:ln>
                <a:noFill/>
              </a:ln>
              <a:solidFill>
                <a:schemeClr val="tx1"/>
              </a:solidFill>
              <a:effectLst/>
              <a:latin typeface="Palatino Linotype" panose="02040502050505030304" pitchFamily="18" charset="0"/>
            </a:endParaRPr>
          </a:p>
          <a:p>
            <a:pPr lvl="1" algn="just" eaLnBrk="0" fontAlgn="base" hangingPunct="0">
              <a:spcBef>
                <a:spcPct val="0"/>
              </a:spcBef>
              <a:spcAft>
                <a:spcPct val="0"/>
              </a:spcAft>
              <a:buFontTx/>
              <a:buChar char="•"/>
            </a:pPr>
            <a:r>
              <a:rPr kumimoji="0" lang="en-US" altLang="en-US" sz="2200" b="0" i="0" u="none" strike="noStrike" cap="none" normalizeH="0" baseline="0" dirty="0" smtClean="0">
                <a:ln>
                  <a:noFill/>
                </a:ln>
                <a:solidFill>
                  <a:schemeClr val="tx1"/>
                </a:solidFill>
                <a:effectLst/>
                <a:latin typeface="Palatino Linotype" panose="02040502050505030304" pitchFamily="18" charset="0"/>
              </a:rPr>
              <a:t>float for f(float)</a:t>
            </a:r>
          </a:p>
          <a:p>
            <a:pPr lvl="1" algn="just" eaLnBrk="0" fontAlgn="base" hangingPunct="0">
              <a:spcBef>
                <a:spcPct val="0"/>
              </a:spcBef>
              <a:spcAft>
                <a:spcPct val="0"/>
              </a:spcAft>
              <a:buFontTx/>
              <a:buChar char="•"/>
            </a:pPr>
            <a:r>
              <a:rPr kumimoji="0" lang="en-US" altLang="en-US" sz="2200" b="0" i="0" u="none" strike="noStrike" cap="none" normalizeH="0" baseline="0" dirty="0" smtClean="0">
                <a:ln>
                  <a:noFill/>
                </a:ln>
                <a:solidFill>
                  <a:schemeClr val="tx1"/>
                </a:solidFill>
                <a:effectLst/>
                <a:latin typeface="Palatino Linotype" panose="02040502050505030304" pitchFamily="18" charset="0"/>
              </a:rPr>
              <a:t>double for f(double)</a:t>
            </a:r>
          </a:p>
          <a:p>
            <a:pPr lvl="1" algn="just" eaLnBrk="0" fontAlgn="base" hangingPunct="0">
              <a:spcBef>
                <a:spcPct val="0"/>
              </a:spcBef>
              <a:spcAft>
                <a:spcPct val="0"/>
              </a:spcAft>
              <a:buFontTx/>
              <a:buChar char="•"/>
            </a:pPr>
            <a:endParaRPr kumimoji="0" lang="en-US" altLang="en-US" sz="2200" b="0" i="0" u="none" strike="noStrike" cap="none" normalizeH="0" baseline="0" dirty="0" smtClean="0">
              <a:ln>
                <a:noFill/>
              </a:ln>
              <a:solidFill>
                <a:schemeClr val="tx1"/>
              </a:solidFill>
              <a:effectLst/>
              <a:latin typeface="Palatino Linotype" panose="0204050205050503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smtClean="0">
                <a:ln>
                  <a:noFill/>
                </a:ln>
                <a:solidFill>
                  <a:schemeClr val="tx1"/>
                </a:solidFill>
                <a:effectLst/>
                <a:latin typeface="Palatino Linotype" panose="02040502050505030304" pitchFamily="18" charset="0"/>
              </a:rPr>
              <a:t>Both conversions are valid, so the compiler doesn’t know which function to pick. This is called an </a:t>
            </a:r>
            <a:r>
              <a:rPr kumimoji="0" lang="en-US" altLang="en-US" sz="2200" b="1" i="0" u="none" strike="noStrike" cap="none" normalizeH="0" baseline="0" dirty="0" smtClean="0">
                <a:ln>
                  <a:noFill/>
                </a:ln>
                <a:solidFill>
                  <a:schemeClr val="tx1"/>
                </a:solidFill>
                <a:effectLst/>
                <a:latin typeface="Palatino Linotype" panose="02040502050505030304" pitchFamily="18" charset="0"/>
              </a:rPr>
              <a:t>ambiguity error</a:t>
            </a:r>
            <a:r>
              <a:rPr kumimoji="0" lang="en-US" altLang="en-US" sz="2200" b="0" i="0" u="none" strike="noStrike" cap="none" normalizeH="0" baseline="0" dirty="0" smtClean="0">
                <a:ln>
                  <a:noFill/>
                </a:ln>
                <a:solidFill>
                  <a:schemeClr val="tx1"/>
                </a:solidFill>
                <a:effectLst/>
                <a:latin typeface="Palatino Linotype" panose="02040502050505030304" pitchFamily="18" charset="0"/>
              </a:rPr>
              <a:t>. </a:t>
            </a:r>
          </a:p>
        </p:txBody>
      </p:sp>
    </p:spTree>
    <p:extLst>
      <p:ext uri="{BB962C8B-B14F-4D97-AF65-F5344CB8AC3E}">
        <p14:creationId xmlns:p14="http://schemas.microsoft.com/office/powerpoint/2010/main" val="19442955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1777547"/>
            <a:ext cx="12192000" cy="639154"/>
          </a:xfrm>
          <a:solidFill>
            <a:schemeClr val="bg1"/>
          </a:solidFill>
        </p:spPr>
        <p:txBody>
          <a:bodyPr>
            <a:normAutofit fontScale="90000"/>
          </a:bodyPr>
          <a:lstStyle/>
          <a:p>
            <a:pPr algn="ctr"/>
            <a:r>
              <a:rPr lang="en-US" sz="4400" b="1" dirty="0" smtClean="0">
                <a:solidFill>
                  <a:schemeClr val="accent1">
                    <a:lumMod val="75000"/>
                  </a:schemeClr>
                </a:solidFill>
                <a:latin typeface="Palatino Linotype" panose="02040502050505030304" pitchFamily="18" charset="0"/>
              </a:rPr>
              <a:t>Overloading and Ambiguity</a:t>
            </a:r>
            <a:r>
              <a:rPr lang="en-US" sz="4400" b="1" dirty="0">
                <a:solidFill>
                  <a:schemeClr val="accent1">
                    <a:lumMod val="75000"/>
                  </a:schemeClr>
                </a:solidFill>
                <a:latin typeface="Palatino Linotype" panose="02040502050505030304" pitchFamily="18" charset="0"/>
              </a:rPr>
              <a:t/>
            </a:r>
            <a:br>
              <a:rPr lang="en-US" sz="4400" b="1" dirty="0">
                <a:solidFill>
                  <a:schemeClr val="accent1">
                    <a:lumMod val="75000"/>
                  </a:schemeClr>
                </a:solidFill>
                <a:latin typeface="Palatino Linotype" panose="02040502050505030304" pitchFamily="18" charset="0"/>
              </a:rPr>
            </a:br>
            <a:r>
              <a:rPr lang="en-US" sz="4400" b="1" dirty="0">
                <a:solidFill>
                  <a:schemeClr val="accent1">
                    <a:lumMod val="75000"/>
                  </a:schemeClr>
                </a:solidFill>
                <a:latin typeface="Palatino Linotype" panose="02040502050505030304" pitchFamily="18" charset="0"/>
              </a:rPr>
              <a:t/>
            </a:r>
            <a:br>
              <a:rPr lang="en-US" sz="4400" b="1" dirty="0">
                <a:solidFill>
                  <a:schemeClr val="accent1">
                    <a:lumMod val="75000"/>
                  </a:schemeClr>
                </a:solidFill>
                <a:latin typeface="Palatino Linotype" panose="02040502050505030304" pitchFamily="18" charset="0"/>
              </a:rPr>
            </a:br>
            <a:endParaRPr lang="en-US" sz="4400" b="1" dirty="0">
              <a:solidFill>
                <a:schemeClr val="accent1">
                  <a:lumMod val="75000"/>
                </a:schemeClr>
              </a:solidFill>
              <a:latin typeface="Palatino Linotype" panose="02040502050505030304" pitchFamily="18" charset="0"/>
            </a:endParaRPr>
          </a:p>
        </p:txBody>
      </p:sp>
      <p:sp>
        <p:nvSpPr>
          <p:cNvPr id="6" name="Rectangle 5"/>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latin typeface="Palatino Linotype" panose="02040502050505030304" pitchFamily="18" charset="0"/>
            </a:endParaRPr>
          </a:p>
        </p:txBody>
      </p:sp>
      <p:sp>
        <p:nvSpPr>
          <p:cNvPr id="2" name="Rectangle 1"/>
          <p:cNvSpPr>
            <a:spLocks noChangeArrowheads="1"/>
          </p:cNvSpPr>
          <p:nvPr/>
        </p:nvSpPr>
        <p:spPr bwMode="auto">
          <a:xfrm rot="10800000" flipV="1">
            <a:off x="1059542" y="2150433"/>
            <a:ext cx="1026159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smtClean="0">
                <a:ln>
                  <a:noFill/>
                </a:ln>
                <a:solidFill>
                  <a:schemeClr val="tx1"/>
                </a:solidFill>
                <a:effectLst/>
                <a:latin typeface="Palatino Linotype" panose="02040502050505030304" pitchFamily="18" charset="0"/>
              </a:rPr>
              <a:t>Automatic type conversion</a:t>
            </a:r>
            <a:r>
              <a:rPr kumimoji="0" lang="en-US" altLang="en-US" sz="2400" b="0" i="0" u="none" strike="noStrike" cap="none" normalizeH="0" baseline="0" dirty="0" smtClean="0">
                <a:ln>
                  <a:noFill/>
                </a:ln>
                <a:solidFill>
                  <a:schemeClr val="tx1"/>
                </a:solidFill>
                <a:effectLst/>
                <a:latin typeface="Palatino Linotype" panose="02040502050505030304" pitchFamily="18" charset="0"/>
              </a:rPr>
              <a:t> can sometimes cause the compiler to face multiple valid options when choosing an overloaded function.</a:t>
            </a:r>
            <a:r>
              <a:rPr kumimoji="0" lang="en-US" altLang="en-US" sz="2400" b="0" i="0" u="none" strike="noStrike" cap="none" normalizeH="0" dirty="0" smtClean="0">
                <a:ln>
                  <a:noFill/>
                </a:ln>
                <a:solidFill>
                  <a:schemeClr val="tx1"/>
                </a:solidFill>
                <a:effectLst/>
                <a:latin typeface="Palatino Linotype" panose="02040502050505030304" pitchFamily="18" charset="0"/>
              </a:rPr>
              <a:t> </a:t>
            </a:r>
            <a:r>
              <a:rPr kumimoji="0" lang="en-US" altLang="en-US" sz="2400" b="0" i="0" u="none" strike="noStrike" cap="none" normalizeH="0" baseline="0" dirty="0" smtClean="0">
                <a:ln>
                  <a:noFill/>
                </a:ln>
                <a:solidFill>
                  <a:schemeClr val="tx1"/>
                </a:solidFill>
                <a:effectLst/>
                <a:latin typeface="Palatino Linotype" panose="02040502050505030304" pitchFamily="18" charset="0"/>
              </a:rPr>
              <a:t>To avoid this, you can explicitly cast the argument:</a:t>
            </a:r>
          </a:p>
          <a:p>
            <a:pPr marR="0" lvl="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smtClean="0">
              <a:ln>
                <a:noFill/>
              </a:ln>
              <a:solidFill>
                <a:srgbClr val="C00000"/>
              </a:solidFill>
              <a:effectLst/>
              <a:latin typeface="Palatino Linotype" panose="0204050205050503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err="1" smtClean="0">
                <a:ln>
                  <a:noFill/>
                </a:ln>
                <a:solidFill>
                  <a:srgbClr val="C00000"/>
                </a:solidFill>
                <a:effectLst/>
                <a:latin typeface="Palatino Linotype" panose="02040502050505030304" pitchFamily="18" charset="0"/>
              </a:rPr>
              <a:t>cout</a:t>
            </a:r>
            <a:r>
              <a:rPr kumimoji="0" lang="en-US" altLang="en-US" sz="2400" b="0" i="0" u="none" strike="noStrike" cap="none" normalizeH="0" baseline="0" dirty="0" smtClean="0">
                <a:ln>
                  <a:noFill/>
                </a:ln>
                <a:solidFill>
                  <a:srgbClr val="C00000"/>
                </a:solidFill>
                <a:effectLst/>
                <a:latin typeface="Palatino Linotype" panose="02040502050505030304" pitchFamily="18" charset="0"/>
              </a:rPr>
              <a:t> &lt;&lt; f((float)10);                      // Calls f(float)</a:t>
            </a:r>
          </a:p>
          <a:p>
            <a:pPr marR="0" lvl="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err="1" smtClean="0">
                <a:ln>
                  <a:noFill/>
                </a:ln>
                <a:solidFill>
                  <a:srgbClr val="C00000"/>
                </a:solidFill>
                <a:effectLst/>
                <a:latin typeface="Palatino Linotype" panose="02040502050505030304" pitchFamily="18" charset="0"/>
              </a:rPr>
              <a:t>cout</a:t>
            </a:r>
            <a:r>
              <a:rPr kumimoji="0" lang="en-US" altLang="en-US" sz="2400" b="0" i="0" u="none" strike="noStrike" cap="none" normalizeH="0" baseline="0" dirty="0" smtClean="0">
                <a:ln>
                  <a:noFill/>
                </a:ln>
                <a:solidFill>
                  <a:srgbClr val="C00000"/>
                </a:solidFill>
                <a:effectLst/>
                <a:latin typeface="Palatino Linotype" panose="02040502050505030304" pitchFamily="18" charset="0"/>
              </a:rPr>
              <a:t> &lt;&lt; f((double)10);                 // Calls f(double)</a:t>
            </a:r>
          </a:p>
        </p:txBody>
      </p:sp>
    </p:spTree>
    <p:extLst>
      <p:ext uri="{BB962C8B-B14F-4D97-AF65-F5344CB8AC3E}">
        <p14:creationId xmlns:p14="http://schemas.microsoft.com/office/powerpoint/2010/main" val="5580040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2029999" y="186578"/>
            <a:ext cx="8048375" cy="1000124"/>
          </a:xfrm>
          <a:prstGeom prst="rect">
            <a:avLst/>
          </a:prstGeom>
          <a:solidFill>
            <a:schemeClr val="bg1"/>
          </a:solidFill>
        </p:spPr>
        <p:txBody>
          <a:bodyPr>
            <a:normAutofit fontScale="92500"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4000" b="1" dirty="0">
                <a:solidFill>
                  <a:schemeClr val="accent1">
                    <a:lumMod val="75000"/>
                  </a:schemeClr>
                </a:solidFill>
                <a:latin typeface="Palatino Linotype" panose="02040502050505030304" pitchFamily="18" charset="0"/>
              </a:rPr>
              <a:t>Overloading and Ambiguity</a:t>
            </a:r>
            <a:br>
              <a:rPr lang="en-US" sz="4000" b="1" dirty="0">
                <a:solidFill>
                  <a:schemeClr val="accent1">
                    <a:lumMod val="75000"/>
                  </a:schemeClr>
                </a:solidFill>
                <a:latin typeface="Palatino Linotype" panose="02040502050505030304" pitchFamily="18" charset="0"/>
              </a:rPr>
            </a:br>
            <a:endParaRPr lang="en-US" sz="4000" b="1" dirty="0" smtClean="0">
              <a:solidFill>
                <a:schemeClr val="accent1">
                  <a:lumMod val="75000"/>
                </a:schemeClr>
              </a:solidFill>
              <a:latin typeface="Palatino Linotype" panose="02040502050505030304" pitchFamily="18" charset="0"/>
            </a:endParaRPr>
          </a:p>
        </p:txBody>
      </p:sp>
      <p:sp>
        <p:nvSpPr>
          <p:cNvPr id="7" name="Rectangle 2"/>
          <p:cNvSpPr>
            <a:spLocks noChangeArrowheads="1"/>
          </p:cNvSpPr>
          <p:nvPr/>
        </p:nvSpPr>
        <p:spPr bwMode="auto">
          <a:xfrm rot="10800000" flipV="1">
            <a:off x="362856" y="2153123"/>
            <a:ext cx="4296229"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2000" dirty="0">
                <a:latin typeface="Palatino Linotype" panose="02040502050505030304" pitchFamily="18" charset="0"/>
              </a:rPr>
              <a:t>Here is another example of function overloading that is not ambiguous in and of </a:t>
            </a:r>
            <a:r>
              <a:rPr lang="en-US" sz="2000" dirty="0" smtClean="0">
                <a:latin typeface="Palatino Linotype" panose="02040502050505030304" pitchFamily="18" charset="0"/>
              </a:rPr>
              <a:t>itself. However</a:t>
            </a:r>
            <a:r>
              <a:rPr lang="en-US" sz="2000" dirty="0">
                <a:latin typeface="Palatino Linotype" panose="02040502050505030304" pitchFamily="18" charset="0"/>
              </a:rPr>
              <a:t>, when this function is called with the wrong type of argument, C++'s </a:t>
            </a:r>
            <a:r>
              <a:rPr lang="en-US" sz="2000" dirty="0" smtClean="0">
                <a:latin typeface="Palatino Linotype" panose="02040502050505030304" pitchFamily="18" charset="0"/>
              </a:rPr>
              <a:t>automatic </a:t>
            </a:r>
            <a:r>
              <a:rPr lang="fr-FR" sz="2000" dirty="0" smtClean="0">
                <a:latin typeface="Palatino Linotype" panose="02040502050505030304" pitchFamily="18" charset="0"/>
              </a:rPr>
              <a:t>conversion </a:t>
            </a:r>
            <a:r>
              <a:rPr lang="fr-FR" sz="2000" dirty="0" err="1">
                <a:latin typeface="Palatino Linotype" panose="02040502050505030304" pitchFamily="18" charset="0"/>
              </a:rPr>
              <a:t>rules</a:t>
            </a:r>
            <a:r>
              <a:rPr lang="fr-FR" sz="2000" dirty="0">
                <a:latin typeface="Palatino Linotype" panose="02040502050505030304" pitchFamily="18" charset="0"/>
              </a:rPr>
              <a:t> cause an </a:t>
            </a:r>
            <a:r>
              <a:rPr lang="fr-FR" sz="2000" dirty="0" err="1">
                <a:latin typeface="Palatino Linotype" panose="02040502050505030304" pitchFamily="18" charset="0"/>
              </a:rPr>
              <a:t>ambiguous</a:t>
            </a:r>
            <a:r>
              <a:rPr lang="fr-FR" sz="2000" dirty="0">
                <a:latin typeface="Palatino Linotype" panose="02040502050505030304" pitchFamily="18" charset="0"/>
              </a:rPr>
              <a:t> situation,</a:t>
            </a:r>
            <a:endParaRPr kumimoji="0" lang="en-US" altLang="en-US" sz="2000" b="0" i="0" u="none" strike="noStrike" cap="none" normalizeH="0" baseline="0" dirty="0" smtClean="0">
              <a:ln>
                <a:noFill/>
              </a:ln>
              <a:solidFill>
                <a:schemeClr val="tx1"/>
              </a:solidFill>
              <a:effectLst/>
              <a:latin typeface="Palatino Linotype" panose="02040502050505030304" pitchFamily="18" charset="0"/>
            </a:endParaRPr>
          </a:p>
        </p:txBody>
      </p:sp>
      <p:pic>
        <p:nvPicPr>
          <p:cNvPr id="4" name="Picture 3"/>
          <p:cNvPicPr>
            <a:picLocks noChangeAspect="1"/>
          </p:cNvPicPr>
          <p:nvPr/>
        </p:nvPicPr>
        <p:blipFill>
          <a:blip r:embed="rId2"/>
          <a:stretch>
            <a:fillRect/>
          </a:stretch>
        </p:blipFill>
        <p:spPr>
          <a:xfrm>
            <a:off x="5090049" y="524325"/>
            <a:ext cx="6328228" cy="6024186"/>
          </a:xfrm>
          <a:prstGeom prst="rect">
            <a:avLst/>
          </a:prstGeom>
        </p:spPr>
      </p:pic>
    </p:spTree>
    <p:extLst>
      <p:ext uri="{BB962C8B-B14F-4D97-AF65-F5344CB8AC3E}">
        <p14:creationId xmlns:p14="http://schemas.microsoft.com/office/powerpoint/2010/main" val="15577504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1777547"/>
            <a:ext cx="12192000" cy="639154"/>
          </a:xfrm>
          <a:solidFill>
            <a:schemeClr val="bg1"/>
          </a:solidFill>
        </p:spPr>
        <p:txBody>
          <a:bodyPr>
            <a:normAutofit fontScale="90000"/>
          </a:bodyPr>
          <a:lstStyle/>
          <a:p>
            <a:pPr algn="ctr"/>
            <a:r>
              <a:rPr lang="en-US" sz="4400" b="1" dirty="0" smtClean="0">
                <a:solidFill>
                  <a:schemeClr val="accent1">
                    <a:lumMod val="75000"/>
                  </a:schemeClr>
                </a:solidFill>
                <a:latin typeface="Palatino Linotype" panose="02040502050505030304" pitchFamily="18" charset="0"/>
              </a:rPr>
              <a:t>Overloading and Ambiguity</a:t>
            </a:r>
            <a:r>
              <a:rPr lang="en-US" sz="4400" b="1" dirty="0">
                <a:solidFill>
                  <a:schemeClr val="accent1">
                    <a:lumMod val="75000"/>
                  </a:schemeClr>
                </a:solidFill>
                <a:latin typeface="Palatino Linotype" panose="02040502050505030304" pitchFamily="18" charset="0"/>
              </a:rPr>
              <a:t/>
            </a:r>
            <a:br>
              <a:rPr lang="en-US" sz="4400" b="1" dirty="0">
                <a:solidFill>
                  <a:schemeClr val="accent1">
                    <a:lumMod val="75000"/>
                  </a:schemeClr>
                </a:solidFill>
                <a:latin typeface="Palatino Linotype" panose="02040502050505030304" pitchFamily="18" charset="0"/>
              </a:rPr>
            </a:br>
            <a:r>
              <a:rPr lang="en-US" sz="4400" b="1" dirty="0">
                <a:solidFill>
                  <a:schemeClr val="accent1">
                    <a:lumMod val="75000"/>
                  </a:schemeClr>
                </a:solidFill>
                <a:latin typeface="Palatino Linotype" panose="02040502050505030304" pitchFamily="18" charset="0"/>
              </a:rPr>
              <a:t/>
            </a:r>
            <a:br>
              <a:rPr lang="en-US" sz="4400" b="1" dirty="0">
                <a:solidFill>
                  <a:schemeClr val="accent1">
                    <a:lumMod val="75000"/>
                  </a:schemeClr>
                </a:solidFill>
                <a:latin typeface="Palatino Linotype" panose="02040502050505030304" pitchFamily="18" charset="0"/>
              </a:rPr>
            </a:br>
            <a:endParaRPr lang="en-US" sz="4400" b="1" dirty="0">
              <a:solidFill>
                <a:schemeClr val="accent1">
                  <a:lumMod val="75000"/>
                </a:schemeClr>
              </a:solidFill>
              <a:latin typeface="Palatino Linotype" panose="02040502050505030304" pitchFamily="18" charset="0"/>
            </a:endParaRPr>
          </a:p>
        </p:txBody>
      </p:sp>
      <p:sp>
        <p:nvSpPr>
          <p:cNvPr id="6" name="Rectangle 5"/>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latin typeface="Palatino Linotype" panose="02040502050505030304" pitchFamily="18" charset="0"/>
            </a:endParaRPr>
          </a:p>
        </p:txBody>
      </p:sp>
      <p:sp>
        <p:nvSpPr>
          <p:cNvPr id="3" name="Rectangle 1"/>
          <p:cNvSpPr>
            <a:spLocks noChangeArrowheads="1"/>
          </p:cNvSpPr>
          <p:nvPr/>
        </p:nvSpPr>
        <p:spPr bwMode="auto">
          <a:xfrm>
            <a:off x="1059479" y="1804424"/>
            <a:ext cx="9753600"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smtClean="0">
                <a:ln>
                  <a:noFill/>
                </a:ln>
                <a:solidFill>
                  <a:schemeClr val="tx1"/>
                </a:solidFill>
                <a:effectLst/>
                <a:latin typeface="Palatino Linotype" panose="02040502050505030304" pitchFamily="18" charset="0"/>
              </a:rPr>
              <a:t>Why This Happens</a:t>
            </a:r>
            <a:r>
              <a:rPr kumimoji="0" lang="en-US" altLang="en-US" sz="2400" b="0" i="0" u="none" strike="noStrike" cap="none" normalizeH="0" baseline="0" dirty="0" smtClean="0">
                <a:ln>
                  <a:noFill/>
                </a:ln>
                <a:solidFill>
                  <a:schemeClr val="tx1"/>
                </a:solidFill>
                <a:effectLst/>
                <a:latin typeface="Palatino Linotype" panose="02040502050505030304" pitchFamily="18"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2200" b="1" i="0" u="none" strike="noStrike" cap="none" normalizeH="0" baseline="0" dirty="0" smtClean="0">
                <a:ln>
                  <a:noFill/>
                </a:ln>
                <a:solidFill>
                  <a:schemeClr val="tx1"/>
                </a:solidFill>
                <a:effectLst/>
                <a:latin typeface="Palatino Linotype" panose="02040502050505030304" pitchFamily="18" charset="0"/>
              </a:rPr>
              <a:t>char</a:t>
            </a:r>
            <a:r>
              <a:rPr kumimoji="0" lang="en-US" altLang="en-US" sz="2200" b="0" i="0" u="none" strike="noStrike" cap="none" normalizeH="0" baseline="0" dirty="0" smtClean="0">
                <a:ln>
                  <a:noFill/>
                </a:ln>
                <a:solidFill>
                  <a:schemeClr val="tx1"/>
                </a:solidFill>
                <a:effectLst/>
                <a:latin typeface="Palatino Linotype" panose="02040502050505030304" pitchFamily="18" charset="0"/>
              </a:rPr>
              <a:t> and </a:t>
            </a:r>
            <a:r>
              <a:rPr kumimoji="0" lang="en-US" altLang="en-US" sz="2200" b="1" i="0" u="none" strike="noStrike" cap="none" normalizeH="0" baseline="0" dirty="0" smtClean="0">
                <a:ln>
                  <a:noFill/>
                </a:ln>
                <a:solidFill>
                  <a:schemeClr val="tx1"/>
                </a:solidFill>
                <a:effectLst/>
                <a:latin typeface="Palatino Linotype" panose="02040502050505030304" pitchFamily="18" charset="0"/>
              </a:rPr>
              <a:t>unsigned char</a:t>
            </a:r>
            <a:r>
              <a:rPr kumimoji="0" lang="en-US" altLang="en-US" sz="2200" b="0" i="0" u="none" strike="noStrike" cap="none" normalizeH="0" baseline="0" dirty="0" smtClean="0">
                <a:ln>
                  <a:noFill/>
                </a:ln>
                <a:solidFill>
                  <a:schemeClr val="tx1"/>
                </a:solidFill>
                <a:effectLst/>
                <a:latin typeface="Palatino Linotype" panose="02040502050505030304" pitchFamily="18" charset="0"/>
              </a:rPr>
              <a:t> are both valid target types for integer values like 86.</a:t>
            </a:r>
          </a:p>
          <a:p>
            <a:pPr marL="0" marR="0" lvl="0" indent="0" algn="l"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smtClean="0">
                <a:ln>
                  <a:noFill/>
                </a:ln>
                <a:solidFill>
                  <a:schemeClr val="tx1"/>
                </a:solidFill>
                <a:effectLst/>
                <a:latin typeface="Palatino Linotype" panose="02040502050505030304" pitchFamily="18" charset="0"/>
              </a:rPr>
              <a:t>Since C++ automatic type conversion rules don't prioritize one over the other in this case, it results in an </a:t>
            </a:r>
            <a:r>
              <a:rPr kumimoji="0" lang="en-US" altLang="en-US" sz="2200" b="1" i="0" u="none" strike="noStrike" cap="none" normalizeH="0" baseline="0" dirty="0" smtClean="0">
                <a:ln>
                  <a:noFill/>
                </a:ln>
                <a:solidFill>
                  <a:schemeClr val="tx1"/>
                </a:solidFill>
                <a:effectLst/>
                <a:latin typeface="Palatino Linotype" panose="02040502050505030304" pitchFamily="18" charset="0"/>
              </a:rPr>
              <a:t>ambiguity error</a:t>
            </a:r>
            <a:r>
              <a:rPr kumimoji="0" lang="en-US" altLang="en-US" sz="2200" b="0" i="0" u="none" strike="noStrike" cap="none" normalizeH="0" baseline="0" dirty="0" smtClean="0">
                <a:ln>
                  <a:noFill/>
                </a:ln>
                <a:solidFill>
                  <a:schemeClr val="tx1"/>
                </a:solidFill>
                <a:effectLst/>
                <a:latin typeface="Palatino Linotype" panose="02040502050505030304" pitchFamily="18"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200" b="0" i="0" u="none" strike="noStrike" cap="none" normalizeH="0" baseline="0" dirty="0" smtClean="0">
              <a:ln>
                <a:noFill/>
              </a:ln>
              <a:solidFill>
                <a:schemeClr val="tx1"/>
              </a:solidFill>
              <a:effectLst/>
              <a:latin typeface="Palatino Linotype" panose="02040502050505030304" pitchFamily="18"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2400" b="1" dirty="0" smtClean="0">
                <a:latin typeface="Palatino Linotype" panose="02040502050505030304" pitchFamily="18" charset="0"/>
              </a:rPr>
              <a:t>Solution:</a:t>
            </a:r>
            <a:endParaRPr kumimoji="0" lang="en-US" altLang="en-US" sz="2400" b="0" i="0" u="none" strike="noStrike" cap="none" normalizeH="0" baseline="0" dirty="0" smtClean="0">
              <a:ln>
                <a:noFill/>
              </a:ln>
              <a:solidFill>
                <a:schemeClr val="tx1"/>
              </a:solidFill>
              <a:effectLst/>
              <a:latin typeface="Palatino Linotype" panose="0204050205050503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smtClean="0">
                <a:ln>
                  <a:noFill/>
                </a:ln>
                <a:solidFill>
                  <a:schemeClr val="tx1"/>
                </a:solidFill>
                <a:effectLst/>
                <a:latin typeface="Palatino Linotype" panose="02040502050505030304" pitchFamily="18" charset="0"/>
              </a:rPr>
              <a:t>Even though the functions themselves are not ambiguous, calling them with a value like 86 (which can convert to multiple valid types) causes ambiguity.</a:t>
            </a:r>
          </a:p>
          <a:p>
            <a:pPr marL="0" marR="0" lvl="0" indent="0" algn="l"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smtClean="0">
                <a:ln>
                  <a:noFill/>
                </a:ln>
                <a:solidFill>
                  <a:schemeClr val="tx1"/>
                </a:solidFill>
                <a:effectLst/>
                <a:latin typeface="Palatino Linotype" panose="02040502050505030304" pitchFamily="18" charset="0"/>
              </a:rPr>
              <a:t>To fix this, explicitly cast the argument: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200" b="0" i="0" u="none" strike="noStrike" cap="none" normalizeH="0" baseline="0" dirty="0" smtClean="0">
              <a:ln>
                <a:noFill/>
              </a:ln>
              <a:solidFill>
                <a:schemeClr val="tx1"/>
              </a:solidFill>
              <a:effectLst/>
              <a:latin typeface="Palatino Linotype" panose="02040502050505030304" pitchFamily="18" charset="0"/>
            </a:endParaRPr>
          </a:p>
          <a:p>
            <a:pPr lvl="5" eaLnBrk="0" fontAlgn="base" hangingPunct="0">
              <a:spcBef>
                <a:spcPct val="0"/>
              </a:spcBef>
              <a:spcAft>
                <a:spcPct val="0"/>
              </a:spcAft>
            </a:pPr>
            <a:r>
              <a:rPr kumimoji="0" lang="en-US" altLang="en-US" sz="2200" b="0" i="0" u="none" strike="noStrike" cap="none" normalizeH="0" baseline="0" dirty="0" smtClean="0">
                <a:ln>
                  <a:noFill/>
                </a:ln>
                <a:solidFill>
                  <a:srgbClr val="C00000"/>
                </a:solidFill>
                <a:effectLst/>
                <a:latin typeface="Palatino Linotype" panose="02040502050505030304" pitchFamily="18" charset="0"/>
              </a:rPr>
              <a:t>f((unsigned char)86);                  // Calls f(unsigned char) </a:t>
            </a:r>
          </a:p>
          <a:p>
            <a:pPr lvl="5" eaLnBrk="0" fontAlgn="base" hangingPunct="0">
              <a:spcBef>
                <a:spcPct val="0"/>
              </a:spcBef>
              <a:spcAft>
                <a:spcPct val="0"/>
              </a:spcAft>
            </a:pPr>
            <a:r>
              <a:rPr kumimoji="0" lang="en-US" altLang="en-US" sz="2200" b="0" i="0" u="none" strike="noStrike" cap="none" normalizeH="0" baseline="0" dirty="0" smtClean="0">
                <a:ln>
                  <a:noFill/>
                </a:ln>
                <a:solidFill>
                  <a:srgbClr val="C00000"/>
                </a:solidFill>
                <a:effectLst/>
                <a:latin typeface="Palatino Linotype" panose="02040502050505030304" pitchFamily="18" charset="0"/>
              </a:rPr>
              <a:t>f((char)86);                                  // Calls f(char)</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8183194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2029999" y="460149"/>
            <a:ext cx="8048375" cy="1000124"/>
          </a:xfrm>
          <a:prstGeom prst="rect">
            <a:avLst/>
          </a:prstGeom>
          <a:solidFill>
            <a:schemeClr val="bg1"/>
          </a:solidFill>
        </p:spPr>
        <p:txBody>
          <a:bodyPr>
            <a:normAutofit fontScale="92500"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4000" b="1" dirty="0">
                <a:solidFill>
                  <a:schemeClr val="accent1">
                    <a:lumMod val="75000"/>
                  </a:schemeClr>
                </a:solidFill>
                <a:latin typeface="Palatino Linotype" panose="02040502050505030304" pitchFamily="18" charset="0"/>
              </a:rPr>
              <a:t>Overloading and Ambiguity</a:t>
            </a:r>
            <a:br>
              <a:rPr lang="en-US" sz="4000" b="1" dirty="0">
                <a:solidFill>
                  <a:schemeClr val="accent1">
                    <a:lumMod val="75000"/>
                  </a:schemeClr>
                </a:solidFill>
                <a:latin typeface="Palatino Linotype" panose="02040502050505030304" pitchFamily="18" charset="0"/>
              </a:rPr>
            </a:br>
            <a:endParaRPr lang="en-US" sz="4000" b="1" dirty="0" smtClean="0">
              <a:solidFill>
                <a:schemeClr val="accent1">
                  <a:lumMod val="75000"/>
                </a:schemeClr>
              </a:solidFill>
              <a:latin typeface="Palatino Linotype" panose="02040502050505030304" pitchFamily="18" charset="0"/>
            </a:endParaRPr>
          </a:p>
        </p:txBody>
      </p:sp>
      <p:sp>
        <p:nvSpPr>
          <p:cNvPr id="7" name="Rectangle 2"/>
          <p:cNvSpPr>
            <a:spLocks noChangeArrowheads="1"/>
          </p:cNvSpPr>
          <p:nvPr/>
        </p:nvSpPr>
        <p:spPr bwMode="auto">
          <a:xfrm rot="10800000" flipV="1">
            <a:off x="711199" y="1460273"/>
            <a:ext cx="4107544"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altLang="en-US" sz="2400" dirty="0">
                <a:latin typeface="Palatino Linotype" panose="02040502050505030304" pitchFamily="18" charset="0"/>
              </a:rPr>
              <a:t>One type of ambiguity is caused when you try to overload functions in which the </a:t>
            </a:r>
            <a:r>
              <a:rPr lang="en-US" altLang="en-US" sz="2400" dirty="0" smtClean="0">
                <a:latin typeface="Palatino Linotype" panose="02040502050505030304" pitchFamily="18" charset="0"/>
              </a:rPr>
              <a:t>only difference </a:t>
            </a:r>
            <a:r>
              <a:rPr lang="en-US" altLang="en-US" sz="2400" dirty="0">
                <a:latin typeface="Palatino Linotype" panose="02040502050505030304" pitchFamily="18" charset="0"/>
              </a:rPr>
              <a:t>is the fact that one uses </a:t>
            </a:r>
            <a:r>
              <a:rPr lang="en-US" altLang="en-US" sz="2400" b="1" dirty="0">
                <a:latin typeface="Palatino Linotype" panose="02040502050505030304" pitchFamily="18" charset="0"/>
              </a:rPr>
              <a:t>a reference parameter</a:t>
            </a:r>
            <a:r>
              <a:rPr lang="en-US" altLang="en-US" sz="2400" dirty="0">
                <a:latin typeface="Palatino Linotype" panose="02040502050505030304" pitchFamily="18" charset="0"/>
              </a:rPr>
              <a:t> and the other uses the </a:t>
            </a:r>
            <a:r>
              <a:rPr lang="en-US" altLang="en-US" sz="2400" b="1" dirty="0" smtClean="0">
                <a:latin typeface="Palatino Linotype" panose="02040502050505030304" pitchFamily="18" charset="0"/>
              </a:rPr>
              <a:t>default call-by-value parameter</a:t>
            </a:r>
            <a:r>
              <a:rPr lang="en-US" altLang="en-US" sz="2400" dirty="0" smtClean="0">
                <a:latin typeface="Palatino Linotype" panose="02040502050505030304" pitchFamily="18" charset="0"/>
              </a:rPr>
              <a:t>. Given </a:t>
            </a:r>
            <a:r>
              <a:rPr lang="en-US" altLang="en-US" sz="2400" dirty="0">
                <a:latin typeface="Palatino Linotype" panose="02040502050505030304" pitchFamily="18" charset="0"/>
              </a:rPr>
              <a:t>C++'s formal syntax, there is no way for the compiler </a:t>
            </a:r>
            <a:r>
              <a:rPr lang="en-US" altLang="en-US" sz="2400" dirty="0" smtClean="0">
                <a:latin typeface="Palatino Linotype" panose="02040502050505030304" pitchFamily="18" charset="0"/>
              </a:rPr>
              <a:t>to know </a:t>
            </a:r>
            <a:r>
              <a:rPr lang="en-US" altLang="en-US" sz="2400" dirty="0">
                <a:latin typeface="Palatino Linotype" panose="02040502050505030304" pitchFamily="18" charset="0"/>
              </a:rPr>
              <a:t>which function to call.</a:t>
            </a:r>
            <a:endParaRPr kumimoji="0" lang="en-US" altLang="en-US" sz="2400" b="0" i="0" u="none" strike="noStrike" cap="none" normalizeH="0" baseline="0" dirty="0" smtClean="0">
              <a:ln>
                <a:noFill/>
              </a:ln>
              <a:solidFill>
                <a:schemeClr val="tx1"/>
              </a:solidFill>
              <a:effectLst/>
              <a:latin typeface="Palatino Linotype" panose="02040502050505030304" pitchFamily="18" charset="0"/>
            </a:endParaRPr>
          </a:p>
        </p:txBody>
      </p:sp>
      <p:pic>
        <p:nvPicPr>
          <p:cNvPr id="2" name="Picture 1"/>
          <p:cNvPicPr>
            <a:picLocks noChangeAspect="1"/>
          </p:cNvPicPr>
          <p:nvPr/>
        </p:nvPicPr>
        <p:blipFill>
          <a:blip r:embed="rId2"/>
          <a:stretch>
            <a:fillRect/>
          </a:stretch>
        </p:blipFill>
        <p:spPr>
          <a:xfrm>
            <a:off x="5598886" y="1179193"/>
            <a:ext cx="6183086" cy="4717143"/>
          </a:xfrm>
          <a:prstGeom prst="rect">
            <a:avLst/>
          </a:prstGeom>
        </p:spPr>
      </p:pic>
    </p:spTree>
    <p:extLst>
      <p:ext uri="{BB962C8B-B14F-4D97-AF65-F5344CB8AC3E}">
        <p14:creationId xmlns:p14="http://schemas.microsoft.com/office/powerpoint/2010/main" val="6295478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1777547"/>
            <a:ext cx="12192000" cy="639154"/>
          </a:xfrm>
          <a:solidFill>
            <a:schemeClr val="bg1"/>
          </a:solidFill>
        </p:spPr>
        <p:txBody>
          <a:bodyPr>
            <a:normAutofit fontScale="90000"/>
          </a:bodyPr>
          <a:lstStyle/>
          <a:p>
            <a:pPr algn="ctr"/>
            <a:r>
              <a:rPr lang="en-US" sz="4400" b="1" dirty="0" smtClean="0">
                <a:solidFill>
                  <a:schemeClr val="accent1">
                    <a:lumMod val="75000"/>
                  </a:schemeClr>
                </a:solidFill>
                <a:latin typeface="Palatino Linotype" panose="02040502050505030304" pitchFamily="18" charset="0"/>
              </a:rPr>
              <a:t>Overloading and Ambiguity</a:t>
            </a:r>
            <a:r>
              <a:rPr lang="en-US" sz="4400" b="1" dirty="0">
                <a:solidFill>
                  <a:schemeClr val="accent1">
                    <a:lumMod val="75000"/>
                  </a:schemeClr>
                </a:solidFill>
                <a:latin typeface="Palatino Linotype" panose="02040502050505030304" pitchFamily="18" charset="0"/>
              </a:rPr>
              <a:t/>
            </a:r>
            <a:br>
              <a:rPr lang="en-US" sz="4400" b="1" dirty="0">
                <a:solidFill>
                  <a:schemeClr val="accent1">
                    <a:lumMod val="75000"/>
                  </a:schemeClr>
                </a:solidFill>
                <a:latin typeface="Palatino Linotype" panose="02040502050505030304" pitchFamily="18" charset="0"/>
              </a:rPr>
            </a:br>
            <a:r>
              <a:rPr lang="en-US" sz="4400" b="1" dirty="0">
                <a:solidFill>
                  <a:schemeClr val="accent1">
                    <a:lumMod val="75000"/>
                  </a:schemeClr>
                </a:solidFill>
                <a:latin typeface="Palatino Linotype" panose="02040502050505030304" pitchFamily="18" charset="0"/>
              </a:rPr>
              <a:t/>
            </a:r>
            <a:br>
              <a:rPr lang="en-US" sz="4400" b="1" dirty="0">
                <a:solidFill>
                  <a:schemeClr val="accent1">
                    <a:lumMod val="75000"/>
                  </a:schemeClr>
                </a:solidFill>
                <a:latin typeface="Palatino Linotype" panose="02040502050505030304" pitchFamily="18" charset="0"/>
              </a:rPr>
            </a:br>
            <a:endParaRPr lang="en-US" sz="4400" b="1" dirty="0">
              <a:solidFill>
                <a:schemeClr val="accent1">
                  <a:lumMod val="75000"/>
                </a:schemeClr>
              </a:solidFill>
              <a:latin typeface="Palatino Linotype" panose="02040502050505030304" pitchFamily="18" charset="0"/>
            </a:endParaRPr>
          </a:p>
        </p:txBody>
      </p:sp>
      <p:sp>
        <p:nvSpPr>
          <p:cNvPr id="6" name="Rectangle 5"/>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latin typeface="Palatino Linotype" panose="02040502050505030304" pitchFamily="18" charset="0"/>
            </a:endParaRPr>
          </a:p>
        </p:txBody>
      </p:sp>
      <p:sp>
        <p:nvSpPr>
          <p:cNvPr id="2" name="Rectangle 1"/>
          <p:cNvSpPr>
            <a:spLocks noChangeArrowheads="1"/>
          </p:cNvSpPr>
          <p:nvPr/>
        </p:nvSpPr>
        <p:spPr bwMode="auto">
          <a:xfrm rot="10800000" flipV="1">
            <a:off x="843214" y="1918670"/>
            <a:ext cx="10435773"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smtClean="0">
                <a:ln>
                  <a:noFill/>
                </a:ln>
                <a:solidFill>
                  <a:schemeClr val="tx1"/>
                </a:solidFill>
                <a:effectLst/>
                <a:latin typeface="Palatino Linotype" panose="02040502050505030304" pitchFamily="18" charset="0"/>
              </a:rPr>
              <a:t>Why This Happens?</a:t>
            </a:r>
          </a:p>
          <a:p>
            <a:pPr marR="0" lvl="0" algn="just" defTabSz="914400" rtl="0" eaLnBrk="0" fontAlgn="base" latinLnBrk="0" hangingPunct="0">
              <a:lnSpc>
                <a:spcPct val="100000"/>
              </a:lnSpc>
              <a:spcBef>
                <a:spcPct val="0"/>
              </a:spcBef>
              <a:spcAft>
                <a:spcPct val="0"/>
              </a:spcAft>
              <a:buClrTx/>
              <a:buSzTx/>
              <a:tabLst/>
            </a:pPr>
            <a:endParaRPr kumimoji="0" lang="en-US" altLang="en-US" sz="2400" b="1" i="0" u="none" strike="noStrike" cap="none" normalizeH="0" baseline="0" dirty="0" smtClean="0">
              <a:ln>
                <a:noFill/>
              </a:ln>
              <a:solidFill>
                <a:schemeClr val="tx1"/>
              </a:solidFill>
              <a:effectLst/>
              <a:latin typeface="Palatino Linotype" panose="0204050205050503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smtClean="0">
                <a:ln>
                  <a:noFill/>
                </a:ln>
                <a:solidFill>
                  <a:schemeClr val="tx1"/>
                </a:solidFill>
                <a:effectLst/>
                <a:latin typeface="Palatino Linotype" panose="02040502050505030304" pitchFamily="18" charset="0"/>
              </a:rPr>
              <a:t>When f(x, y) is called, the compiler has no way to decide which version of f() to use:</a:t>
            </a:r>
          </a:p>
          <a:p>
            <a:pPr marR="0" lvl="1" algn="just"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smtClean="0">
                <a:ln>
                  <a:noFill/>
                </a:ln>
                <a:solidFill>
                  <a:srgbClr val="C00000"/>
                </a:solidFill>
                <a:effectLst/>
                <a:latin typeface="Palatino Linotype" panose="02040502050505030304" pitchFamily="18" charset="0"/>
              </a:rPr>
              <a:t>Should it use f(</a:t>
            </a:r>
            <a:r>
              <a:rPr kumimoji="0" lang="en-US" altLang="en-US" sz="2400" b="0" i="0" u="none" strike="noStrike" cap="none" normalizeH="0" baseline="0" dirty="0" err="1" smtClean="0">
                <a:ln>
                  <a:noFill/>
                </a:ln>
                <a:solidFill>
                  <a:srgbClr val="C00000"/>
                </a:solidFill>
                <a:effectLst/>
                <a:latin typeface="Palatino Linotype" panose="02040502050505030304" pitchFamily="18" charset="0"/>
              </a:rPr>
              <a:t>int</a:t>
            </a:r>
            <a:r>
              <a:rPr kumimoji="0" lang="en-US" altLang="en-US" sz="2400" b="0" i="0" u="none" strike="noStrike" cap="none" normalizeH="0" baseline="0" dirty="0" smtClean="0">
                <a:ln>
                  <a:noFill/>
                </a:ln>
                <a:solidFill>
                  <a:srgbClr val="C00000"/>
                </a:solidFill>
                <a:effectLst/>
                <a:latin typeface="Palatino Linotype" panose="02040502050505030304" pitchFamily="18" charset="0"/>
              </a:rPr>
              <a:t> a, </a:t>
            </a:r>
            <a:r>
              <a:rPr kumimoji="0" lang="en-US" altLang="en-US" sz="2400" b="0" i="0" u="none" strike="noStrike" cap="none" normalizeH="0" baseline="0" dirty="0" err="1" smtClean="0">
                <a:ln>
                  <a:noFill/>
                </a:ln>
                <a:solidFill>
                  <a:srgbClr val="C00000"/>
                </a:solidFill>
                <a:effectLst/>
                <a:latin typeface="Palatino Linotype" panose="02040502050505030304" pitchFamily="18" charset="0"/>
              </a:rPr>
              <a:t>int</a:t>
            </a:r>
            <a:r>
              <a:rPr kumimoji="0" lang="en-US" altLang="en-US" sz="2400" b="0" i="0" u="none" strike="noStrike" cap="none" normalizeH="0" baseline="0" dirty="0" smtClean="0">
                <a:ln>
                  <a:noFill/>
                </a:ln>
                <a:solidFill>
                  <a:srgbClr val="C00000"/>
                </a:solidFill>
                <a:effectLst/>
                <a:latin typeface="Palatino Linotype" panose="02040502050505030304" pitchFamily="18" charset="0"/>
              </a:rPr>
              <a:t> b) where y is passed </a:t>
            </a:r>
            <a:r>
              <a:rPr kumimoji="0" lang="en-US" altLang="en-US" sz="2400" b="1" i="0" u="none" strike="noStrike" cap="none" normalizeH="0" baseline="0" dirty="0" smtClean="0">
                <a:ln>
                  <a:noFill/>
                </a:ln>
                <a:solidFill>
                  <a:srgbClr val="C00000"/>
                </a:solidFill>
                <a:effectLst/>
                <a:latin typeface="Palatino Linotype" panose="02040502050505030304" pitchFamily="18" charset="0"/>
              </a:rPr>
              <a:t>by value</a:t>
            </a:r>
            <a:r>
              <a:rPr kumimoji="0" lang="en-US" altLang="en-US" sz="2400" b="0" i="0" u="none" strike="noStrike" cap="none" normalizeH="0" baseline="0" dirty="0" smtClean="0">
                <a:ln>
                  <a:noFill/>
                </a:ln>
                <a:solidFill>
                  <a:srgbClr val="C00000"/>
                </a:solidFill>
                <a:effectLst/>
                <a:latin typeface="Palatino Linotype" panose="02040502050505030304" pitchFamily="18" charset="0"/>
              </a:rPr>
              <a:t>?</a:t>
            </a:r>
          </a:p>
          <a:p>
            <a:pPr marR="0" lvl="1" algn="just"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smtClean="0">
                <a:ln>
                  <a:noFill/>
                </a:ln>
                <a:solidFill>
                  <a:srgbClr val="C00000"/>
                </a:solidFill>
                <a:effectLst/>
                <a:latin typeface="Palatino Linotype" panose="02040502050505030304" pitchFamily="18" charset="0"/>
              </a:rPr>
              <a:t>Or should it use f(</a:t>
            </a:r>
            <a:r>
              <a:rPr kumimoji="0" lang="en-US" altLang="en-US" sz="2400" b="0" i="0" u="none" strike="noStrike" cap="none" normalizeH="0" baseline="0" dirty="0" err="1" smtClean="0">
                <a:ln>
                  <a:noFill/>
                </a:ln>
                <a:solidFill>
                  <a:srgbClr val="C00000"/>
                </a:solidFill>
                <a:effectLst/>
                <a:latin typeface="Palatino Linotype" panose="02040502050505030304" pitchFamily="18" charset="0"/>
              </a:rPr>
              <a:t>int</a:t>
            </a:r>
            <a:r>
              <a:rPr kumimoji="0" lang="en-US" altLang="en-US" sz="2400" b="0" i="0" u="none" strike="noStrike" cap="none" normalizeH="0" baseline="0" dirty="0" smtClean="0">
                <a:ln>
                  <a:noFill/>
                </a:ln>
                <a:solidFill>
                  <a:srgbClr val="C00000"/>
                </a:solidFill>
                <a:effectLst/>
                <a:latin typeface="Palatino Linotype" panose="02040502050505030304" pitchFamily="18" charset="0"/>
              </a:rPr>
              <a:t> a, </a:t>
            </a:r>
            <a:r>
              <a:rPr kumimoji="0" lang="en-US" altLang="en-US" sz="2400" b="0" i="0" u="none" strike="noStrike" cap="none" normalizeH="0" baseline="0" dirty="0" err="1" smtClean="0">
                <a:ln>
                  <a:noFill/>
                </a:ln>
                <a:solidFill>
                  <a:srgbClr val="C00000"/>
                </a:solidFill>
                <a:effectLst/>
                <a:latin typeface="Palatino Linotype" panose="02040502050505030304" pitchFamily="18" charset="0"/>
              </a:rPr>
              <a:t>int</a:t>
            </a:r>
            <a:r>
              <a:rPr kumimoji="0" lang="en-US" altLang="en-US" sz="2400" b="0" i="0" u="none" strike="noStrike" cap="none" normalizeH="0" baseline="0" dirty="0" smtClean="0">
                <a:ln>
                  <a:noFill/>
                </a:ln>
                <a:solidFill>
                  <a:srgbClr val="C00000"/>
                </a:solidFill>
                <a:effectLst/>
                <a:latin typeface="Palatino Linotype" panose="02040502050505030304" pitchFamily="18" charset="0"/>
              </a:rPr>
              <a:t> &amp;b) where y is passed </a:t>
            </a:r>
            <a:r>
              <a:rPr kumimoji="0" lang="en-US" altLang="en-US" sz="2400" b="1" i="0" u="none" strike="noStrike" cap="none" normalizeH="0" baseline="0" dirty="0" smtClean="0">
                <a:ln>
                  <a:noFill/>
                </a:ln>
                <a:solidFill>
                  <a:srgbClr val="C00000"/>
                </a:solidFill>
                <a:effectLst/>
                <a:latin typeface="Palatino Linotype" panose="02040502050505030304" pitchFamily="18" charset="0"/>
              </a:rPr>
              <a:t>by reference</a:t>
            </a:r>
            <a:r>
              <a:rPr kumimoji="0" lang="en-US" altLang="en-US" sz="2400" b="0" i="0" u="none" strike="noStrike" cap="none" normalizeH="0" baseline="0" dirty="0" smtClean="0">
                <a:ln>
                  <a:noFill/>
                </a:ln>
                <a:solidFill>
                  <a:srgbClr val="C00000"/>
                </a:solidFill>
                <a:effectLst/>
                <a:latin typeface="Palatino Linotype" panose="02040502050505030304" pitchFamily="18" charset="0"/>
              </a:rPr>
              <a:t>?</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smtClean="0">
                <a:ln>
                  <a:noFill/>
                </a:ln>
                <a:solidFill>
                  <a:schemeClr val="tx1"/>
                </a:solidFill>
                <a:effectLst/>
                <a:latin typeface="Palatino Linotype" panose="02040502050505030304" pitchFamily="18" charset="0"/>
              </a:rPr>
              <a:t>Since both seem valid, the compiler flags this as an </a:t>
            </a:r>
            <a:r>
              <a:rPr kumimoji="0" lang="en-US" altLang="en-US" sz="2400" b="1" i="0" u="none" strike="noStrike" cap="none" normalizeH="0" baseline="0" dirty="0" smtClean="0">
                <a:ln>
                  <a:noFill/>
                </a:ln>
                <a:solidFill>
                  <a:schemeClr val="tx1"/>
                </a:solidFill>
                <a:effectLst/>
                <a:latin typeface="Palatino Linotype" panose="02040502050505030304" pitchFamily="18" charset="0"/>
              </a:rPr>
              <a:t>error</a:t>
            </a:r>
            <a:r>
              <a:rPr kumimoji="0" lang="en-US" altLang="en-US" sz="2400" b="0" i="0" u="none" strike="noStrike" cap="none" normalizeH="0" baseline="0" dirty="0" smtClean="0">
                <a:ln>
                  <a:noFill/>
                </a:ln>
                <a:solidFill>
                  <a:schemeClr val="tx1"/>
                </a:solidFill>
                <a:effectLst/>
                <a:latin typeface="Palatino Linotype" panose="02040502050505030304" pitchFamily="18" charset="0"/>
              </a:rPr>
              <a:t>.</a:t>
            </a:r>
          </a:p>
          <a:p>
            <a:pPr marR="0" lvl="0" algn="just" defTabSz="914400" rtl="0" eaLnBrk="0" fontAlgn="base" latinLnBrk="0" hangingPunct="0">
              <a:lnSpc>
                <a:spcPct val="100000"/>
              </a:lnSpc>
              <a:spcBef>
                <a:spcPct val="0"/>
              </a:spcBef>
              <a:spcAft>
                <a:spcPct val="0"/>
              </a:spcAft>
              <a:buClrTx/>
              <a:buSzTx/>
              <a:tabLst/>
            </a:pPr>
            <a:endParaRPr kumimoji="0" lang="en-US" altLang="en-US" sz="2400" b="1" i="0" u="none" strike="noStrike" cap="none" normalizeH="0" baseline="0" dirty="0" smtClean="0">
              <a:ln>
                <a:noFill/>
              </a:ln>
              <a:effectLst/>
              <a:latin typeface="Palatino Linotype" panose="0204050205050503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smtClean="0">
                <a:ln>
                  <a:noFill/>
                </a:ln>
                <a:effectLst/>
                <a:latin typeface="Palatino Linotype" panose="02040502050505030304" pitchFamily="18" charset="0"/>
              </a:rPr>
              <a:t>Avoid overloading functions where the only difference is between value and reference parameters, as it leads to ambiguity and compilation errors.</a:t>
            </a:r>
          </a:p>
          <a:p>
            <a:pPr marR="0" lvl="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656926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2029999" y="460149"/>
            <a:ext cx="8048375" cy="1000124"/>
          </a:xfrm>
          <a:prstGeom prst="rect">
            <a:avLst/>
          </a:prstGeom>
          <a:solidFill>
            <a:schemeClr val="bg1"/>
          </a:solidFill>
        </p:spPr>
        <p:txBody>
          <a:bodyPr>
            <a:normAutofit fontScale="92500"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4000" b="1" dirty="0">
                <a:solidFill>
                  <a:schemeClr val="accent1">
                    <a:lumMod val="75000"/>
                  </a:schemeClr>
                </a:solidFill>
                <a:latin typeface="Palatino Linotype" panose="02040502050505030304" pitchFamily="18" charset="0"/>
              </a:rPr>
              <a:t>Overloading and Ambiguity</a:t>
            </a:r>
            <a:br>
              <a:rPr lang="en-US" sz="4000" b="1" dirty="0">
                <a:solidFill>
                  <a:schemeClr val="accent1">
                    <a:lumMod val="75000"/>
                  </a:schemeClr>
                </a:solidFill>
                <a:latin typeface="Palatino Linotype" panose="02040502050505030304" pitchFamily="18" charset="0"/>
              </a:rPr>
            </a:br>
            <a:endParaRPr lang="en-US" sz="4000" b="1" dirty="0" smtClean="0">
              <a:solidFill>
                <a:schemeClr val="accent1">
                  <a:lumMod val="75000"/>
                </a:schemeClr>
              </a:solidFill>
              <a:latin typeface="Palatino Linotype" panose="02040502050505030304" pitchFamily="18" charset="0"/>
            </a:endParaRPr>
          </a:p>
        </p:txBody>
      </p:sp>
      <p:sp>
        <p:nvSpPr>
          <p:cNvPr id="7" name="Rectangle 2"/>
          <p:cNvSpPr>
            <a:spLocks noChangeArrowheads="1"/>
          </p:cNvSpPr>
          <p:nvPr/>
        </p:nvSpPr>
        <p:spPr bwMode="auto">
          <a:xfrm rot="10800000" flipV="1">
            <a:off x="542387" y="1845459"/>
            <a:ext cx="3509109"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altLang="en-US" sz="2400" dirty="0">
                <a:latin typeface="Palatino Linotype" panose="02040502050505030304" pitchFamily="18" charset="0"/>
              </a:rPr>
              <a:t>Another type of ambiguity is caused when you are overloading a function in which one </a:t>
            </a:r>
            <a:r>
              <a:rPr lang="en-US" altLang="en-US" sz="2400" dirty="0" smtClean="0">
                <a:latin typeface="Palatino Linotype" panose="02040502050505030304" pitchFamily="18" charset="0"/>
              </a:rPr>
              <a:t>or more </a:t>
            </a:r>
            <a:r>
              <a:rPr lang="en-US" altLang="en-US" sz="2400" dirty="0">
                <a:latin typeface="Palatino Linotype" panose="02040502050505030304" pitchFamily="18" charset="0"/>
              </a:rPr>
              <a:t>overloaded functions use a default argument. Consider this program:</a:t>
            </a:r>
            <a:endParaRPr kumimoji="0" lang="en-US" altLang="en-US" sz="2400" b="0" i="0" u="none" strike="noStrike" cap="none" normalizeH="0" baseline="0" dirty="0" smtClean="0">
              <a:ln>
                <a:noFill/>
              </a:ln>
              <a:solidFill>
                <a:schemeClr val="tx1"/>
              </a:solidFill>
              <a:effectLst/>
              <a:latin typeface="Palatino Linotype" panose="02040502050505030304" pitchFamily="18" charset="0"/>
            </a:endParaRPr>
          </a:p>
        </p:txBody>
      </p:sp>
      <p:pic>
        <p:nvPicPr>
          <p:cNvPr id="4" name="Picture 3"/>
          <p:cNvPicPr>
            <a:picLocks noChangeAspect="1"/>
          </p:cNvPicPr>
          <p:nvPr/>
        </p:nvPicPr>
        <p:blipFill>
          <a:blip r:embed="rId2"/>
          <a:stretch>
            <a:fillRect/>
          </a:stretch>
        </p:blipFill>
        <p:spPr>
          <a:xfrm>
            <a:off x="2479871" y="786302"/>
            <a:ext cx="7516274" cy="5203401"/>
          </a:xfrm>
          <a:prstGeom prst="rect">
            <a:avLst/>
          </a:prstGeom>
        </p:spPr>
      </p:pic>
    </p:spTree>
    <p:extLst>
      <p:ext uri="{BB962C8B-B14F-4D97-AF65-F5344CB8AC3E}">
        <p14:creationId xmlns:p14="http://schemas.microsoft.com/office/powerpoint/2010/main" val="10596069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1777547"/>
            <a:ext cx="12192000" cy="639154"/>
          </a:xfrm>
          <a:solidFill>
            <a:schemeClr val="bg1"/>
          </a:solidFill>
        </p:spPr>
        <p:txBody>
          <a:bodyPr>
            <a:normAutofit fontScale="90000"/>
          </a:bodyPr>
          <a:lstStyle/>
          <a:p>
            <a:pPr algn="ctr"/>
            <a:r>
              <a:rPr lang="en-US" sz="4400" b="1" dirty="0" smtClean="0">
                <a:solidFill>
                  <a:schemeClr val="accent1">
                    <a:lumMod val="75000"/>
                  </a:schemeClr>
                </a:solidFill>
                <a:latin typeface="Palatino Linotype" panose="02040502050505030304" pitchFamily="18" charset="0"/>
              </a:rPr>
              <a:t>Overloading and Ambiguity</a:t>
            </a:r>
            <a:r>
              <a:rPr lang="en-US" sz="4400" b="1" dirty="0">
                <a:solidFill>
                  <a:schemeClr val="accent1">
                    <a:lumMod val="75000"/>
                  </a:schemeClr>
                </a:solidFill>
                <a:latin typeface="Palatino Linotype" panose="02040502050505030304" pitchFamily="18" charset="0"/>
              </a:rPr>
              <a:t/>
            </a:r>
            <a:br>
              <a:rPr lang="en-US" sz="4400" b="1" dirty="0">
                <a:solidFill>
                  <a:schemeClr val="accent1">
                    <a:lumMod val="75000"/>
                  </a:schemeClr>
                </a:solidFill>
                <a:latin typeface="Palatino Linotype" panose="02040502050505030304" pitchFamily="18" charset="0"/>
              </a:rPr>
            </a:br>
            <a:r>
              <a:rPr lang="en-US" sz="4400" b="1" dirty="0">
                <a:solidFill>
                  <a:schemeClr val="accent1">
                    <a:lumMod val="75000"/>
                  </a:schemeClr>
                </a:solidFill>
                <a:latin typeface="Palatino Linotype" panose="02040502050505030304" pitchFamily="18" charset="0"/>
              </a:rPr>
              <a:t/>
            </a:r>
            <a:br>
              <a:rPr lang="en-US" sz="4400" b="1" dirty="0">
                <a:solidFill>
                  <a:schemeClr val="accent1">
                    <a:lumMod val="75000"/>
                  </a:schemeClr>
                </a:solidFill>
                <a:latin typeface="Palatino Linotype" panose="02040502050505030304" pitchFamily="18" charset="0"/>
              </a:rPr>
            </a:br>
            <a:endParaRPr lang="en-US" sz="4400" b="1" dirty="0">
              <a:solidFill>
                <a:schemeClr val="accent1">
                  <a:lumMod val="75000"/>
                </a:schemeClr>
              </a:solidFill>
              <a:latin typeface="Palatino Linotype" panose="02040502050505030304" pitchFamily="18" charset="0"/>
            </a:endParaRPr>
          </a:p>
        </p:txBody>
      </p:sp>
      <p:sp>
        <p:nvSpPr>
          <p:cNvPr id="6" name="Rectangle 5"/>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latin typeface="Palatino Linotype" panose="02040502050505030304" pitchFamily="18" charset="0"/>
            </a:endParaRPr>
          </a:p>
        </p:txBody>
      </p:sp>
      <p:sp>
        <p:nvSpPr>
          <p:cNvPr id="2" name="Rectangle 1"/>
          <p:cNvSpPr>
            <a:spLocks noChangeArrowheads="1"/>
          </p:cNvSpPr>
          <p:nvPr/>
        </p:nvSpPr>
        <p:spPr bwMode="auto">
          <a:xfrm rot="10800000" flipV="1">
            <a:off x="843214" y="3765329"/>
            <a:ext cx="104357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p:txBody>
      </p:sp>
      <p:sp>
        <p:nvSpPr>
          <p:cNvPr id="3" name="Rectangle 1"/>
          <p:cNvSpPr>
            <a:spLocks noChangeArrowheads="1"/>
          </p:cNvSpPr>
          <p:nvPr/>
        </p:nvSpPr>
        <p:spPr bwMode="auto">
          <a:xfrm>
            <a:off x="843214" y="1822609"/>
            <a:ext cx="10958732" cy="4370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smtClean="0">
              <a:ln>
                <a:noFill/>
              </a:ln>
              <a:solidFill>
                <a:schemeClr val="tx1"/>
              </a:solidFill>
              <a:effectLst/>
              <a:latin typeface="Palatino Linotype" panose="0204050205050503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Palatino Linotype" panose="02040502050505030304" pitchFamily="18" charset="0"/>
              </a:rPr>
              <a:t>First call (f(10, 2))</a:t>
            </a:r>
            <a:r>
              <a:rPr kumimoji="0" lang="en-US" altLang="en-US" sz="2000" b="0" i="0" u="none" strike="noStrike" cap="none" normalizeH="0" baseline="0" dirty="0" smtClean="0">
                <a:ln>
                  <a:noFill/>
                </a:ln>
                <a:solidFill>
                  <a:schemeClr val="tx1"/>
                </a:solidFill>
                <a:effectLst/>
                <a:latin typeface="Palatino Linotype" panose="02040502050505030304" pitchFamily="18"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Palatino Linotype" panose="02040502050505030304" pitchFamily="18" charset="0"/>
              </a:rPr>
              <a:t>Clear match for f(</a:t>
            </a:r>
            <a:r>
              <a:rPr kumimoji="0" lang="en-US" altLang="en-US" sz="2000" b="0" i="0" u="none" strike="noStrike" cap="none" normalizeH="0" baseline="0" dirty="0" err="1" smtClean="0">
                <a:ln>
                  <a:noFill/>
                </a:ln>
                <a:solidFill>
                  <a:schemeClr val="tx1"/>
                </a:solidFill>
                <a:effectLst/>
                <a:latin typeface="Palatino Linotype" panose="02040502050505030304" pitchFamily="18" charset="0"/>
              </a:rPr>
              <a:t>int</a:t>
            </a:r>
            <a:r>
              <a:rPr kumimoji="0" lang="en-US" altLang="en-US" sz="2000" b="0" i="0" u="none" strike="noStrike" cap="none" normalizeH="0" baseline="0" dirty="0" smtClean="0">
                <a:ln>
                  <a:noFill/>
                </a:ln>
                <a:solidFill>
                  <a:schemeClr val="tx1"/>
                </a:solidFill>
                <a:effectLst/>
                <a:latin typeface="Palatino Linotype" panose="02040502050505030304" pitchFamily="18" charset="0"/>
              </a:rPr>
              <a:t> a, </a:t>
            </a:r>
            <a:r>
              <a:rPr kumimoji="0" lang="en-US" altLang="en-US" sz="2000" b="0" i="0" u="none" strike="noStrike" cap="none" normalizeH="0" baseline="0" dirty="0" err="1" smtClean="0">
                <a:ln>
                  <a:noFill/>
                </a:ln>
                <a:solidFill>
                  <a:schemeClr val="tx1"/>
                </a:solidFill>
                <a:effectLst/>
                <a:latin typeface="Palatino Linotype" panose="02040502050505030304" pitchFamily="18" charset="0"/>
              </a:rPr>
              <a:t>int</a:t>
            </a:r>
            <a:r>
              <a:rPr kumimoji="0" lang="en-US" altLang="en-US" sz="2000" b="0" i="0" u="none" strike="noStrike" cap="none" normalizeH="0" baseline="0" dirty="0" smtClean="0">
                <a:ln>
                  <a:noFill/>
                </a:ln>
                <a:solidFill>
                  <a:schemeClr val="tx1"/>
                </a:solidFill>
                <a:effectLst/>
                <a:latin typeface="Palatino Linotype" panose="02040502050505030304" pitchFamily="18" charset="0"/>
              </a:rPr>
              <a:t> b)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Palatino Linotype" panose="02040502050505030304" pitchFamily="18" charset="0"/>
              </a:rPr>
              <a:t>No problem here.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Palatino Linotype" panose="02040502050505030304" pitchFamily="18" charset="0"/>
              </a:rPr>
              <a:t>Second call (f(10))</a:t>
            </a:r>
            <a:r>
              <a:rPr kumimoji="0" lang="en-US" altLang="en-US" sz="2000" b="0" i="0" u="none" strike="noStrike" cap="none" normalizeH="0" baseline="0" dirty="0" smtClean="0">
                <a:ln>
                  <a:noFill/>
                </a:ln>
                <a:solidFill>
                  <a:schemeClr val="tx1"/>
                </a:solidFill>
                <a:effectLst/>
                <a:latin typeface="Palatino Linotype" panose="02040502050505030304" pitchFamily="18"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Palatino Linotype" panose="02040502050505030304" pitchFamily="18" charset="0"/>
              </a:rPr>
              <a:t>Two possible interpretations:</a:t>
            </a:r>
          </a:p>
          <a:p>
            <a:pPr marL="914400" marR="0" lvl="2"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0" i="0" u="none" strike="noStrike" cap="none" normalizeH="0" baseline="0" dirty="0" smtClean="0">
                <a:ln>
                  <a:noFill/>
                </a:ln>
                <a:solidFill>
                  <a:schemeClr val="tx1"/>
                </a:solidFill>
                <a:effectLst/>
                <a:latin typeface="Palatino Linotype" panose="02040502050505030304" pitchFamily="18" charset="0"/>
              </a:rPr>
              <a:t>Call </a:t>
            </a:r>
            <a:r>
              <a:rPr kumimoji="0" lang="en-US" altLang="en-US" sz="2000" b="1" i="0" u="none" strike="noStrike" cap="none" normalizeH="0" baseline="0" dirty="0" smtClean="0">
                <a:ln>
                  <a:noFill/>
                </a:ln>
                <a:solidFill>
                  <a:schemeClr val="tx1"/>
                </a:solidFill>
                <a:effectLst/>
                <a:latin typeface="Palatino Linotype" panose="02040502050505030304" pitchFamily="18" charset="0"/>
              </a:rPr>
              <a:t>Version 1</a:t>
            </a:r>
            <a:r>
              <a:rPr kumimoji="0" lang="en-US" altLang="en-US" sz="2000" b="0" i="0" u="none" strike="noStrike" cap="none" normalizeH="0" baseline="0" dirty="0" smtClean="0">
                <a:ln>
                  <a:noFill/>
                </a:ln>
                <a:solidFill>
                  <a:schemeClr val="tx1"/>
                </a:solidFill>
                <a:effectLst/>
                <a:latin typeface="Palatino Linotype" panose="02040502050505030304" pitchFamily="18" charset="0"/>
              </a:rPr>
              <a:t> (f(</a:t>
            </a:r>
            <a:r>
              <a:rPr kumimoji="0" lang="en-US" altLang="en-US" sz="2000" b="0" i="0" u="none" strike="noStrike" cap="none" normalizeH="0" baseline="0" dirty="0" err="1" smtClean="0">
                <a:ln>
                  <a:noFill/>
                </a:ln>
                <a:solidFill>
                  <a:schemeClr val="tx1"/>
                </a:solidFill>
                <a:effectLst/>
                <a:latin typeface="Palatino Linotype" panose="02040502050505030304" pitchFamily="18" charset="0"/>
              </a:rPr>
              <a:t>int</a:t>
            </a:r>
            <a:r>
              <a:rPr kumimoji="0" lang="en-US" altLang="en-US" sz="2000" b="0" i="0" u="none" strike="noStrike" cap="none" normalizeH="0" baseline="0" dirty="0" smtClean="0">
                <a:ln>
                  <a:noFill/>
                </a:ln>
                <a:solidFill>
                  <a:schemeClr val="tx1"/>
                </a:solidFill>
                <a:effectLst/>
                <a:latin typeface="Palatino Linotype" panose="02040502050505030304" pitchFamily="18" charset="0"/>
              </a:rPr>
              <a:t> a)) — since f(10) matches f(</a:t>
            </a:r>
            <a:r>
              <a:rPr kumimoji="0" lang="en-US" altLang="en-US" sz="2000" b="0" i="0" u="none" strike="noStrike" cap="none" normalizeH="0" baseline="0" dirty="0" err="1" smtClean="0">
                <a:ln>
                  <a:noFill/>
                </a:ln>
                <a:solidFill>
                  <a:schemeClr val="tx1"/>
                </a:solidFill>
                <a:effectLst/>
                <a:latin typeface="Palatino Linotype" panose="02040502050505030304" pitchFamily="18" charset="0"/>
              </a:rPr>
              <a:t>int</a:t>
            </a:r>
            <a:r>
              <a:rPr kumimoji="0" lang="en-US" altLang="en-US" sz="2000" b="0" i="0" u="none" strike="noStrike" cap="none" normalizeH="0" baseline="0" dirty="0" smtClean="0">
                <a:ln>
                  <a:noFill/>
                </a:ln>
                <a:solidFill>
                  <a:schemeClr val="tx1"/>
                </a:solidFill>
                <a:effectLst/>
                <a:latin typeface="Palatino Linotype" panose="02040502050505030304" pitchFamily="18" charset="0"/>
              </a:rPr>
              <a:t>).</a:t>
            </a:r>
          </a:p>
          <a:p>
            <a:pPr marL="914400" marR="0" lvl="2"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0" i="0" u="none" strike="noStrike" cap="none" normalizeH="0" baseline="0" dirty="0" smtClean="0">
                <a:ln>
                  <a:noFill/>
                </a:ln>
                <a:solidFill>
                  <a:schemeClr val="tx1"/>
                </a:solidFill>
                <a:effectLst/>
                <a:latin typeface="Palatino Linotype" panose="02040502050505030304" pitchFamily="18" charset="0"/>
              </a:rPr>
              <a:t>Call </a:t>
            </a:r>
            <a:r>
              <a:rPr kumimoji="0" lang="en-US" altLang="en-US" sz="2000" b="1" i="0" u="none" strike="noStrike" cap="none" normalizeH="0" baseline="0" dirty="0" smtClean="0">
                <a:ln>
                  <a:noFill/>
                </a:ln>
                <a:solidFill>
                  <a:schemeClr val="tx1"/>
                </a:solidFill>
                <a:effectLst/>
                <a:latin typeface="Palatino Linotype" panose="02040502050505030304" pitchFamily="18" charset="0"/>
              </a:rPr>
              <a:t>Version 2</a:t>
            </a:r>
            <a:r>
              <a:rPr kumimoji="0" lang="en-US" altLang="en-US" sz="2000" b="0" i="0" u="none" strike="noStrike" cap="none" normalizeH="0" baseline="0" dirty="0" smtClean="0">
                <a:ln>
                  <a:noFill/>
                </a:ln>
                <a:solidFill>
                  <a:schemeClr val="tx1"/>
                </a:solidFill>
                <a:effectLst/>
                <a:latin typeface="Palatino Linotype" panose="02040502050505030304" pitchFamily="18" charset="0"/>
              </a:rPr>
              <a:t> (f(</a:t>
            </a:r>
            <a:r>
              <a:rPr kumimoji="0" lang="en-US" altLang="en-US" sz="2000" b="0" i="0" u="none" strike="noStrike" cap="none" normalizeH="0" baseline="0" dirty="0" err="1" smtClean="0">
                <a:ln>
                  <a:noFill/>
                </a:ln>
                <a:solidFill>
                  <a:schemeClr val="tx1"/>
                </a:solidFill>
                <a:effectLst/>
                <a:latin typeface="Palatino Linotype" panose="02040502050505030304" pitchFamily="18" charset="0"/>
              </a:rPr>
              <a:t>int</a:t>
            </a:r>
            <a:r>
              <a:rPr kumimoji="0" lang="en-US" altLang="en-US" sz="2000" b="0" i="0" u="none" strike="noStrike" cap="none" normalizeH="0" baseline="0" dirty="0" smtClean="0">
                <a:ln>
                  <a:noFill/>
                </a:ln>
                <a:solidFill>
                  <a:schemeClr val="tx1"/>
                </a:solidFill>
                <a:effectLst/>
                <a:latin typeface="Palatino Linotype" panose="02040502050505030304" pitchFamily="18" charset="0"/>
              </a:rPr>
              <a:t> a, </a:t>
            </a:r>
            <a:r>
              <a:rPr kumimoji="0" lang="en-US" altLang="en-US" sz="2000" b="0" i="0" u="none" strike="noStrike" cap="none" normalizeH="0" baseline="0" dirty="0" err="1" smtClean="0">
                <a:ln>
                  <a:noFill/>
                </a:ln>
                <a:solidFill>
                  <a:schemeClr val="tx1"/>
                </a:solidFill>
                <a:effectLst/>
                <a:latin typeface="Palatino Linotype" panose="02040502050505030304" pitchFamily="18" charset="0"/>
              </a:rPr>
              <a:t>int</a:t>
            </a:r>
            <a:r>
              <a:rPr kumimoji="0" lang="en-US" altLang="en-US" sz="2000" b="0" i="0" u="none" strike="noStrike" cap="none" normalizeH="0" baseline="0" dirty="0" smtClean="0">
                <a:ln>
                  <a:noFill/>
                </a:ln>
                <a:solidFill>
                  <a:schemeClr val="tx1"/>
                </a:solidFill>
                <a:effectLst/>
                <a:latin typeface="Palatino Linotype" panose="02040502050505030304" pitchFamily="18" charset="0"/>
              </a:rPr>
              <a:t> b)) — with b defaulting to 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Palatino Linotype" panose="02040502050505030304" pitchFamily="18" charset="0"/>
              </a:rPr>
              <a:t>Since both interpretations are valid, the </a:t>
            </a:r>
            <a:r>
              <a:rPr kumimoji="0" lang="en-US" altLang="en-US" sz="2000" b="1" i="0" u="none" strike="noStrike" cap="none" normalizeH="0" baseline="0" dirty="0" smtClean="0">
                <a:ln>
                  <a:noFill/>
                </a:ln>
                <a:solidFill>
                  <a:schemeClr val="tx1"/>
                </a:solidFill>
                <a:effectLst/>
                <a:latin typeface="Palatino Linotype" panose="02040502050505030304" pitchFamily="18" charset="0"/>
              </a:rPr>
              <a:t>compiler can't decide which one</a:t>
            </a:r>
            <a:r>
              <a:rPr kumimoji="0" lang="en-US" altLang="en-US" sz="2000" b="0" i="0" u="none" strike="noStrike" cap="none" normalizeH="0" baseline="0" dirty="0" smtClean="0">
                <a:ln>
                  <a:noFill/>
                </a:ln>
                <a:solidFill>
                  <a:schemeClr val="tx1"/>
                </a:solidFill>
                <a:effectLst/>
                <a:latin typeface="Palatino Linotype" panose="02040502050505030304" pitchFamily="18" charset="0"/>
              </a:rPr>
              <a:t> to use, causing </a:t>
            </a:r>
            <a:r>
              <a:rPr kumimoji="0" lang="en-US" altLang="en-US" sz="2000" b="1" i="0" u="none" strike="noStrike" cap="none" normalizeH="0" baseline="0" dirty="0" smtClean="0">
                <a:ln>
                  <a:noFill/>
                </a:ln>
                <a:solidFill>
                  <a:schemeClr val="tx1"/>
                </a:solidFill>
                <a:effectLst/>
                <a:latin typeface="Palatino Linotype" panose="02040502050505030304" pitchFamily="18" charset="0"/>
              </a:rPr>
              <a:t>ambiguity</a:t>
            </a:r>
            <a:r>
              <a:rPr kumimoji="0" lang="en-US" altLang="en-US" sz="2000" b="0" i="0" u="none" strike="noStrike" cap="none" normalizeH="0" baseline="0" dirty="0" smtClean="0">
                <a:ln>
                  <a:noFill/>
                </a:ln>
                <a:solidFill>
                  <a:schemeClr val="tx1"/>
                </a:solidFill>
                <a:effectLst/>
                <a:latin typeface="Palatino Linotype" panose="02040502050505030304" pitchFamily="18" charset="0"/>
              </a:rPr>
              <a:t>.</a:t>
            </a:r>
          </a:p>
          <a:p>
            <a:pPr marR="0" lvl="0" algn="l" defTabSz="914400" rtl="0" eaLnBrk="0" fontAlgn="base" latinLnBrk="0" hangingPunct="0">
              <a:lnSpc>
                <a:spcPct val="100000"/>
              </a:lnSpc>
              <a:spcBef>
                <a:spcPct val="0"/>
              </a:spcBef>
              <a:spcAft>
                <a:spcPct val="0"/>
              </a:spcAft>
              <a:buClrTx/>
              <a:buSzTx/>
              <a:tabLst/>
            </a:pPr>
            <a:endParaRPr kumimoji="0" lang="en-US" altLang="en-US" sz="2000" b="1" i="0" u="none" strike="noStrike" cap="none" normalizeH="0" baseline="0" dirty="0" smtClean="0">
              <a:ln>
                <a:noFill/>
              </a:ln>
              <a:solidFill>
                <a:srgbClr val="C00000"/>
              </a:solidFill>
              <a:effectLst/>
              <a:latin typeface="Palatino Linotype" panose="0204050205050503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smtClean="0">
                <a:ln>
                  <a:noFill/>
                </a:ln>
                <a:solidFill>
                  <a:srgbClr val="C00000"/>
                </a:solidFill>
                <a:effectLst/>
                <a:latin typeface="Palatino Linotype" panose="02040502050505030304" pitchFamily="18" charset="0"/>
              </a:rPr>
              <a:t>***Avoid overloading functions where one version can be confused with another due to </a:t>
            </a:r>
            <a:r>
              <a:rPr kumimoji="0" lang="en-US" altLang="en-US" sz="2000" b="1" i="0" u="none" strike="noStrike" cap="none" normalizeH="0" baseline="0" dirty="0" smtClean="0">
                <a:ln>
                  <a:noFill/>
                </a:ln>
                <a:solidFill>
                  <a:srgbClr val="C00000"/>
                </a:solidFill>
                <a:effectLst/>
                <a:latin typeface="Palatino Linotype" panose="02040502050505030304" pitchFamily="18" charset="0"/>
              </a:rPr>
              <a:t>default arguments</a:t>
            </a:r>
            <a:r>
              <a:rPr kumimoji="0" lang="en-US" altLang="en-US" sz="2000" b="0" i="0" u="none" strike="noStrike" cap="none" normalizeH="0" baseline="0" dirty="0" smtClean="0">
                <a:ln>
                  <a:noFill/>
                </a:ln>
                <a:solidFill>
                  <a:srgbClr val="C00000"/>
                </a:solidFill>
                <a:effectLst/>
                <a:latin typeface="Palatino Linotype" panose="02040502050505030304" pitchFamily="18" charset="0"/>
              </a:rPr>
              <a:t>.</a:t>
            </a:r>
            <a:r>
              <a:rPr kumimoji="0" lang="en-US" altLang="en-US" sz="2000" b="0" i="0" u="none" strike="noStrike" cap="none" normalizeH="0" dirty="0" smtClean="0">
                <a:ln>
                  <a:noFill/>
                </a:ln>
                <a:solidFill>
                  <a:srgbClr val="C00000"/>
                </a:solidFill>
                <a:effectLst/>
                <a:latin typeface="Palatino Linotype" panose="02040502050505030304" pitchFamily="18" charset="0"/>
              </a:rPr>
              <a:t> </a:t>
            </a:r>
            <a:r>
              <a:rPr kumimoji="0" lang="en-US" altLang="en-US" sz="2000" b="0" i="0" u="none" strike="noStrike" cap="none" normalizeH="0" baseline="0" dirty="0" smtClean="0">
                <a:ln>
                  <a:noFill/>
                </a:ln>
                <a:solidFill>
                  <a:srgbClr val="C00000"/>
                </a:solidFill>
                <a:effectLst/>
                <a:latin typeface="Palatino Linotype" panose="02040502050505030304" pitchFamily="18" charset="0"/>
              </a:rPr>
              <a:t>This ensures that every function call has a clear and unambiguous target.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7177048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6080" y="1761565"/>
            <a:ext cx="10058400" cy="1414630"/>
          </a:xfrm>
        </p:spPr>
        <p:txBody>
          <a:bodyPr>
            <a:normAutofit/>
          </a:bodyPr>
          <a:lstStyle/>
          <a:p>
            <a:r>
              <a:rPr lang="en-US" sz="9600" b="1" dirty="0" smtClean="0">
                <a:latin typeface="Palatino Linotype" panose="02040502050505030304" pitchFamily="18" charset="0"/>
              </a:rPr>
              <a:t>Thank You</a:t>
            </a:r>
            <a:endParaRPr lang="en-US" sz="9600" b="1" dirty="0">
              <a:latin typeface="Palatino Linotype" panose="0204050205050503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0648" y="3433202"/>
            <a:ext cx="2143125" cy="2143125"/>
          </a:xfrm>
          <a:prstGeom prst="rect">
            <a:avLst/>
          </a:prstGeom>
        </p:spPr>
      </p:pic>
    </p:spTree>
    <p:extLst>
      <p:ext uri="{BB962C8B-B14F-4D97-AF65-F5344CB8AC3E}">
        <p14:creationId xmlns:p14="http://schemas.microsoft.com/office/powerpoint/2010/main" val="241453596"/>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docProps/app.xml><?xml version="1.0" encoding="utf-8"?>
<Properties xmlns="http://schemas.openxmlformats.org/officeDocument/2006/extended-properties" xmlns:vt="http://schemas.openxmlformats.org/officeDocument/2006/docPropsVTypes">
  <Template>Retrospect</Template>
  <TotalTime>5670</TotalTime>
  <Words>2198</Words>
  <Application>Microsoft Office PowerPoint</Application>
  <PresentationFormat>Widescreen</PresentationFormat>
  <Paragraphs>145</Paragraphs>
  <Slides>34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Calibri</vt:lpstr>
      <vt:lpstr>Calibri Light</vt:lpstr>
      <vt:lpstr>CMTT12</vt:lpstr>
      <vt:lpstr>Palatino Linotype</vt:lpstr>
      <vt:lpstr>Wingdings</vt:lpstr>
      <vt:lpstr>Retrospect</vt:lpstr>
      <vt:lpstr>Lecture:9  Function Overloading</vt:lpstr>
      <vt:lpstr>Overloading Constructor Functions</vt:lpstr>
      <vt:lpstr>PowerPoint Presentation</vt:lpstr>
      <vt:lpstr>PowerPoint Presentation</vt:lpstr>
      <vt:lpstr>Overloading Constructor Functions</vt:lpstr>
      <vt:lpstr>PowerPoint Presentation</vt:lpstr>
      <vt:lpstr>PowerPoint Presentation</vt:lpstr>
      <vt:lpstr>Overloading Constructor Functions</vt:lpstr>
      <vt:lpstr>PowerPoint Presentation</vt:lpstr>
      <vt:lpstr>PowerPoint Presentation</vt:lpstr>
      <vt:lpstr>Overloading Constructor Functions</vt:lpstr>
      <vt:lpstr>PowerPoint Presentation</vt:lpstr>
      <vt:lpstr>PowerPoint Presentation</vt:lpstr>
      <vt:lpstr>The Overload Anachronism </vt:lpstr>
      <vt:lpstr>Using Default Arguments </vt:lpstr>
      <vt:lpstr>Using Default Arguments  </vt:lpstr>
      <vt:lpstr>Using Default Arguments  </vt:lpstr>
      <vt:lpstr>PowerPoint Presentation</vt:lpstr>
      <vt:lpstr>PowerPoint Presentation</vt:lpstr>
      <vt:lpstr>PowerPoint Presentation</vt:lpstr>
      <vt:lpstr>PowerPoint Presentation</vt:lpstr>
      <vt:lpstr>Using Default Arguments  </vt:lpstr>
      <vt:lpstr>PowerPoint Presentation</vt:lpstr>
      <vt:lpstr>Overloading and Ambiguity  </vt:lpstr>
      <vt:lpstr>Overloading and Ambiguity  </vt:lpstr>
      <vt:lpstr>PowerPoint Presentation</vt:lpstr>
      <vt:lpstr>Overloading and Ambiguity  </vt:lpstr>
      <vt:lpstr>PowerPoint Presentation</vt:lpstr>
      <vt:lpstr>Overloading and Ambiguity  </vt:lpstr>
      <vt:lpstr>PowerPoint Presentation</vt:lpstr>
      <vt:lpstr>Overloading and Ambiguity  </vt:lpstr>
      <vt:lpstr>PowerPoint Presentation</vt:lpstr>
      <vt:lpstr>Overloading and Ambiguity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BUBT</cp:lastModifiedBy>
  <cp:revision>97</cp:revision>
  <dcterms:created xsi:type="dcterms:W3CDTF">2024-08-09T06:52:35Z</dcterms:created>
  <dcterms:modified xsi:type="dcterms:W3CDTF">2026-02-02T05:13:50Z</dcterms:modified>
</cp:coreProperties>
</file>