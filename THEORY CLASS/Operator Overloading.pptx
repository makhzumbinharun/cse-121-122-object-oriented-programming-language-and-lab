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Lst>
  <p:sldSz cy="6858000" cx="12192000"/>
  <p:notesSz cx="6858000" cy="9144000"/>
  <p:embeddedFontLst>
    <p:embeddedFont>
      <p:font typeface="Palatino Linotype"/>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7" roundtripDataSignature="AMtx7mg72t5/c3kdUDpZxbOCjfuc2KZKI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slide" Target="slides/slide38.xml"/><Relationship Id="rId41" Type="http://schemas.openxmlformats.org/officeDocument/2006/relationships/slide" Target="slides/slide37.xml"/><Relationship Id="rId22" Type="http://schemas.openxmlformats.org/officeDocument/2006/relationships/slide" Target="slides/slide18.xml"/><Relationship Id="rId44" Type="http://schemas.openxmlformats.org/officeDocument/2006/relationships/font" Target="fonts/PalatinoLinotype-bold.fntdata"/><Relationship Id="rId21" Type="http://schemas.openxmlformats.org/officeDocument/2006/relationships/slide" Target="slides/slide17.xml"/><Relationship Id="rId43" Type="http://schemas.openxmlformats.org/officeDocument/2006/relationships/font" Target="fonts/PalatinoLinotype-regular.fntdata"/><Relationship Id="rId24" Type="http://schemas.openxmlformats.org/officeDocument/2006/relationships/slide" Target="slides/slide20.xml"/><Relationship Id="rId46" Type="http://schemas.openxmlformats.org/officeDocument/2006/relationships/font" Target="fonts/PalatinoLinotype-boldItalic.fntdata"/><Relationship Id="rId23" Type="http://schemas.openxmlformats.org/officeDocument/2006/relationships/slide" Target="slides/slide19.xml"/><Relationship Id="rId45" Type="http://schemas.openxmlformats.org/officeDocument/2006/relationships/font" Target="fonts/PalatinoLinotype-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47" Type="http://customschemas.google.com/relationships/presentationmetadata" Target="metadata"/><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4" name="Shape 14"/>
        <p:cNvGrpSpPr/>
        <p:nvPr/>
      </p:nvGrpSpPr>
      <p:grpSpPr>
        <a:xfrm>
          <a:off x="0" y="0"/>
          <a:ext cx="0" cy="0"/>
          <a:chOff x="0" y="0"/>
          <a:chExt cx="0" cy="0"/>
        </a:xfrm>
      </p:grpSpPr>
      <p:sp>
        <p:nvSpPr>
          <p:cNvPr id="15" name="Google Shape;15;p41"/>
          <p:cNvSpPr/>
          <p:nvPr/>
        </p:nvSpPr>
        <p:spPr>
          <a:xfrm>
            <a:off x="1" y="6400800"/>
            <a:ext cx="12192000"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41"/>
          <p:cNvSpPr/>
          <p:nvPr/>
        </p:nvSpPr>
        <p:spPr>
          <a:xfrm>
            <a:off x="1" y="6334316"/>
            <a:ext cx="12192000" cy="66484"/>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41"/>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41"/>
          <p:cNvSpPr txBox="1"/>
          <p:nvPr>
            <p:ph idx="1" type="subTitle"/>
          </p:nvPr>
        </p:nvSpPr>
        <p:spPr>
          <a:xfrm>
            <a:off x="1100051" y="4455621"/>
            <a:ext cx="100584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19" name="Google Shape;19;p41"/>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2" name="Google Shape;22;p41"/>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4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2"/>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6" name="Google Shape;26;p4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29" name="Shape 29"/>
        <p:cNvGrpSpPr/>
        <p:nvPr/>
      </p:nvGrpSpPr>
      <p:grpSpPr>
        <a:xfrm>
          <a:off x="0" y="0"/>
          <a:ext cx="0" cy="0"/>
          <a:chOff x="0" y="0"/>
          <a:chExt cx="0" cy="0"/>
        </a:xfrm>
      </p:grpSpPr>
      <p:sp>
        <p:nvSpPr>
          <p:cNvPr id="30" name="Google Shape;30;p43"/>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3"/>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3"/>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3"/>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4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4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40" name="Shape 40"/>
        <p:cNvGrpSpPr/>
        <p:nvPr/>
      </p:nvGrpSpPr>
      <p:grpSpPr>
        <a:xfrm>
          <a:off x="0" y="0"/>
          <a:ext cx="0" cy="0"/>
          <a:chOff x="0" y="0"/>
          <a:chExt cx="0" cy="0"/>
        </a:xfrm>
      </p:grpSpPr>
      <p:sp>
        <p:nvSpPr>
          <p:cNvPr id="41" name="Google Shape;41;p45"/>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5"/>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5"/>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45"/>
          <p:cNvSpPr txBox="1"/>
          <p:nvPr>
            <p:ph idx="1" type="body"/>
          </p:nvPr>
        </p:nvSpPr>
        <p:spPr>
          <a:xfrm>
            <a:off x="1097280" y="4453128"/>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5" name="Google Shape;45;p45"/>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4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48" name="Google Shape;48;p45"/>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9" name="Shape 49"/>
        <p:cNvGrpSpPr/>
        <p:nvPr/>
      </p:nvGrpSpPr>
      <p:grpSpPr>
        <a:xfrm>
          <a:off x="0" y="0"/>
          <a:ext cx="0" cy="0"/>
          <a:chOff x="0" y="0"/>
          <a:chExt cx="0" cy="0"/>
        </a:xfrm>
      </p:grpSpPr>
      <p:sp>
        <p:nvSpPr>
          <p:cNvPr id="50" name="Google Shape;50;p4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6"/>
          <p:cNvSpPr txBox="1"/>
          <p:nvPr>
            <p:ph idx="1" type="body"/>
          </p:nvPr>
        </p:nvSpPr>
        <p:spPr>
          <a:xfrm>
            <a:off x="1097280" y="1845734"/>
            <a:ext cx="4937760" cy="4023359"/>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2" name="Google Shape;52;p46"/>
          <p:cNvSpPr txBox="1"/>
          <p:nvPr>
            <p:ph idx="2" type="body"/>
          </p:nvPr>
        </p:nvSpPr>
        <p:spPr>
          <a:xfrm>
            <a:off x="6217920" y="1845735"/>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3" name="Google Shape;53;p4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4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4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6" name="Shape 56"/>
        <p:cNvGrpSpPr/>
        <p:nvPr/>
      </p:nvGrpSpPr>
      <p:grpSpPr>
        <a:xfrm>
          <a:off x="0" y="0"/>
          <a:ext cx="0" cy="0"/>
          <a:chOff x="0" y="0"/>
          <a:chExt cx="0" cy="0"/>
        </a:xfrm>
      </p:grpSpPr>
      <p:sp>
        <p:nvSpPr>
          <p:cNvPr id="57" name="Google Shape;57;p4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47"/>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9" name="Google Shape;59;p47"/>
          <p:cNvSpPr txBox="1"/>
          <p:nvPr>
            <p:ph idx="2" type="body"/>
          </p:nvPr>
        </p:nvSpPr>
        <p:spPr>
          <a:xfrm>
            <a:off x="1097280" y="2582335"/>
            <a:ext cx="4937760" cy="32867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0" name="Google Shape;60;p47"/>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1" name="Google Shape;61;p47"/>
          <p:cNvSpPr txBox="1"/>
          <p:nvPr>
            <p:ph idx="4" type="body"/>
          </p:nvPr>
        </p:nvSpPr>
        <p:spPr>
          <a:xfrm>
            <a:off x="6217920" y="2582334"/>
            <a:ext cx="4937760" cy="32867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2" name="Google Shape;62;p47"/>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5" name="Shape 65"/>
        <p:cNvGrpSpPr/>
        <p:nvPr/>
      </p:nvGrpSpPr>
      <p:grpSpPr>
        <a:xfrm>
          <a:off x="0" y="0"/>
          <a:ext cx="0" cy="0"/>
          <a:chOff x="0" y="0"/>
          <a:chExt cx="0" cy="0"/>
        </a:xfrm>
      </p:grpSpPr>
      <p:sp>
        <p:nvSpPr>
          <p:cNvPr id="66" name="Google Shape;66;p48"/>
          <p:cNvSpPr/>
          <p:nvPr/>
        </p:nvSpPr>
        <p:spPr>
          <a:xfrm>
            <a:off x="16" y="0"/>
            <a:ext cx="4050791"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48"/>
          <p:cNvSpPr/>
          <p:nvPr/>
        </p:nvSpPr>
        <p:spPr>
          <a:xfrm>
            <a:off x="4040071" y="0"/>
            <a:ext cx="6400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8"/>
          <p:cNvSpPr txBox="1"/>
          <p:nvPr>
            <p:ph type="title"/>
          </p:nvPr>
        </p:nvSpPr>
        <p:spPr>
          <a:xfrm>
            <a:off x="457200" y="594359"/>
            <a:ext cx="32004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48"/>
          <p:cNvSpPr txBox="1"/>
          <p:nvPr>
            <p:ph idx="1" type="body"/>
          </p:nvPr>
        </p:nvSpPr>
        <p:spPr>
          <a:xfrm>
            <a:off x="4800600" y="731520"/>
            <a:ext cx="6492240"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0" name="Google Shape;70;p48"/>
          <p:cNvSpPr txBox="1"/>
          <p:nvPr>
            <p:ph idx="2" type="body"/>
          </p:nvPr>
        </p:nvSpPr>
        <p:spPr>
          <a:xfrm>
            <a:off x="457200" y="2926080"/>
            <a:ext cx="32004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1" name="Google Shape;71;p48"/>
          <p:cNvSpPr txBox="1"/>
          <p:nvPr>
            <p:ph idx="10" type="dt"/>
          </p:nvPr>
        </p:nvSpPr>
        <p:spPr>
          <a:xfrm>
            <a:off x="465512" y="6459785"/>
            <a:ext cx="26185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8"/>
          <p:cNvSpPr txBox="1"/>
          <p:nvPr>
            <p:ph idx="11" type="ftr"/>
          </p:nvPr>
        </p:nvSpPr>
        <p:spPr>
          <a:xfrm>
            <a:off x="4800600" y="6459785"/>
            <a:ext cx="4648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50">
                <a:solidFill>
                  <a:schemeClr val="dk2"/>
                </a:solidFill>
                <a:latin typeface="Calibri"/>
                <a:ea typeface="Calibri"/>
                <a:cs typeface="Calibri"/>
                <a:sym typeface="Calibri"/>
              </a:defRPr>
            </a:lvl1pPr>
            <a:lvl2pPr indent="0" lvl="1" marL="0" algn="r">
              <a:spcBef>
                <a:spcPts val="0"/>
              </a:spcBef>
              <a:buNone/>
              <a:defRPr sz="1050">
                <a:solidFill>
                  <a:schemeClr val="dk2"/>
                </a:solidFill>
                <a:latin typeface="Calibri"/>
                <a:ea typeface="Calibri"/>
                <a:cs typeface="Calibri"/>
                <a:sym typeface="Calibri"/>
              </a:defRPr>
            </a:lvl2pPr>
            <a:lvl3pPr indent="0" lvl="2" marL="0" algn="r">
              <a:spcBef>
                <a:spcPts val="0"/>
              </a:spcBef>
              <a:buNone/>
              <a:defRPr sz="1050">
                <a:solidFill>
                  <a:schemeClr val="dk2"/>
                </a:solidFill>
                <a:latin typeface="Calibri"/>
                <a:ea typeface="Calibri"/>
                <a:cs typeface="Calibri"/>
                <a:sym typeface="Calibri"/>
              </a:defRPr>
            </a:lvl3pPr>
            <a:lvl4pPr indent="0" lvl="3" marL="0" algn="r">
              <a:spcBef>
                <a:spcPts val="0"/>
              </a:spcBef>
              <a:buNone/>
              <a:defRPr sz="1050">
                <a:solidFill>
                  <a:schemeClr val="dk2"/>
                </a:solidFill>
                <a:latin typeface="Calibri"/>
                <a:ea typeface="Calibri"/>
                <a:cs typeface="Calibri"/>
                <a:sym typeface="Calibri"/>
              </a:defRPr>
            </a:lvl4pPr>
            <a:lvl5pPr indent="0" lvl="4" marL="0" algn="r">
              <a:spcBef>
                <a:spcPts val="0"/>
              </a:spcBef>
              <a:buNone/>
              <a:defRPr sz="1050">
                <a:solidFill>
                  <a:schemeClr val="dk2"/>
                </a:solidFill>
                <a:latin typeface="Calibri"/>
                <a:ea typeface="Calibri"/>
                <a:cs typeface="Calibri"/>
                <a:sym typeface="Calibri"/>
              </a:defRPr>
            </a:lvl5pPr>
            <a:lvl6pPr indent="0" lvl="5" marL="0" algn="r">
              <a:spcBef>
                <a:spcPts val="0"/>
              </a:spcBef>
              <a:buNone/>
              <a:defRPr sz="1050">
                <a:solidFill>
                  <a:schemeClr val="dk2"/>
                </a:solidFill>
                <a:latin typeface="Calibri"/>
                <a:ea typeface="Calibri"/>
                <a:cs typeface="Calibri"/>
                <a:sym typeface="Calibri"/>
              </a:defRPr>
            </a:lvl6pPr>
            <a:lvl7pPr indent="0" lvl="6" marL="0" algn="r">
              <a:spcBef>
                <a:spcPts val="0"/>
              </a:spcBef>
              <a:buNone/>
              <a:defRPr sz="1050">
                <a:solidFill>
                  <a:schemeClr val="dk2"/>
                </a:solidFill>
                <a:latin typeface="Calibri"/>
                <a:ea typeface="Calibri"/>
                <a:cs typeface="Calibri"/>
                <a:sym typeface="Calibri"/>
              </a:defRPr>
            </a:lvl7pPr>
            <a:lvl8pPr indent="0" lvl="7" marL="0" algn="r">
              <a:spcBef>
                <a:spcPts val="0"/>
              </a:spcBef>
              <a:buNone/>
              <a:defRPr sz="1050">
                <a:solidFill>
                  <a:schemeClr val="dk2"/>
                </a:solidFill>
                <a:latin typeface="Calibri"/>
                <a:ea typeface="Calibri"/>
                <a:cs typeface="Calibri"/>
                <a:sym typeface="Calibri"/>
              </a:defRPr>
            </a:lvl8pPr>
            <a:lvl9pPr indent="0" lvl="8" marL="0" algn="r">
              <a:spcBef>
                <a:spcPts val="0"/>
              </a:spcBef>
              <a:buNone/>
              <a:defRPr sz="1050">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4" name="Shape 74"/>
        <p:cNvGrpSpPr/>
        <p:nvPr/>
      </p:nvGrpSpPr>
      <p:grpSpPr>
        <a:xfrm>
          <a:off x="0" y="0"/>
          <a:ext cx="0" cy="0"/>
          <a:chOff x="0" y="0"/>
          <a:chExt cx="0" cy="0"/>
        </a:xfrm>
      </p:grpSpPr>
      <p:sp>
        <p:nvSpPr>
          <p:cNvPr id="75" name="Google Shape;75;p49"/>
          <p:cNvSpPr/>
          <p:nvPr/>
        </p:nvSpPr>
        <p:spPr>
          <a:xfrm>
            <a:off x="0" y="4953000"/>
            <a:ext cx="12188825"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49"/>
          <p:cNvSpPr/>
          <p:nvPr/>
        </p:nvSpPr>
        <p:spPr>
          <a:xfrm>
            <a:off x="15" y="491507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49"/>
          <p:cNvSpPr txBox="1"/>
          <p:nvPr>
            <p:ph type="title"/>
          </p:nvPr>
        </p:nvSpPr>
        <p:spPr>
          <a:xfrm>
            <a:off x="1097280" y="5074920"/>
            <a:ext cx="10113645"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49"/>
          <p:cNvSpPr/>
          <p:nvPr>
            <p:ph idx="2" type="pic"/>
          </p:nvPr>
        </p:nvSpPr>
        <p:spPr>
          <a:xfrm>
            <a:off x="15" y="0"/>
            <a:ext cx="12191985" cy="4915076"/>
          </a:xfrm>
          <a:prstGeom prst="rect">
            <a:avLst/>
          </a:prstGeom>
          <a:solidFill>
            <a:srgbClr val="BECAD4"/>
          </a:solidFill>
          <a:ln>
            <a:noFill/>
          </a:ln>
        </p:spPr>
      </p:sp>
      <p:sp>
        <p:nvSpPr>
          <p:cNvPr id="79" name="Google Shape;79;p49"/>
          <p:cNvSpPr txBox="1"/>
          <p:nvPr>
            <p:ph idx="1" type="body"/>
          </p:nvPr>
        </p:nvSpPr>
        <p:spPr>
          <a:xfrm>
            <a:off x="1097280" y="5907024"/>
            <a:ext cx="10113264"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0" name="Google Shape;80;p49"/>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49"/>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3" name="Shape 83"/>
        <p:cNvGrpSpPr/>
        <p:nvPr/>
      </p:nvGrpSpPr>
      <p:grpSpPr>
        <a:xfrm>
          <a:off x="0" y="0"/>
          <a:ext cx="0" cy="0"/>
          <a:chOff x="0" y="0"/>
          <a:chExt cx="0" cy="0"/>
        </a:xfrm>
      </p:grpSpPr>
      <p:sp>
        <p:nvSpPr>
          <p:cNvPr id="84" name="Google Shape;84;p5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50"/>
          <p:cNvSpPr txBox="1"/>
          <p:nvPr>
            <p:ph idx="1" type="body"/>
          </p:nvPr>
        </p:nvSpPr>
        <p:spPr>
          <a:xfrm rot="5400000">
            <a:off x="4114800" y="-1171786"/>
            <a:ext cx="4023360" cy="100584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6" name="Google Shape;86;p5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5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5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9" name="Shape 89"/>
        <p:cNvGrpSpPr/>
        <p:nvPr/>
      </p:nvGrpSpPr>
      <p:grpSpPr>
        <a:xfrm>
          <a:off x="0" y="0"/>
          <a:ext cx="0" cy="0"/>
          <a:chOff x="0" y="0"/>
          <a:chExt cx="0" cy="0"/>
        </a:xfrm>
      </p:grpSpPr>
      <p:sp>
        <p:nvSpPr>
          <p:cNvPr id="90" name="Google Shape;90;p51"/>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1"/>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51"/>
          <p:cNvSpPr txBox="1"/>
          <p:nvPr>
            <p:ph type="title"/>
          </p:nvPr>
        </p:nvSpPr>
        <p:spPr>
          <a:xfrm rot="5400000">
            <a:off x="7159401" y="1977801"/>
            <a:ext cx="5759898" cy="26289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51"/>
          <p:cNvSpPr txBox="1"/>
          <p:nvPr>
            <p:ph idx="1" type="body"/>
          </p:nvPr>
        </p:nvSpPr>
        <p:spPr>
          <a:xfrm rot="5400000">
            <a:off x="1825401" y="-574899"/>
            <a:ext cx="5759898" cy="77343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4" name="Google Shape;94;p51"/>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5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5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0"/>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 name="Google Shape;7;p40"/>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p4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40"/>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0" name="Google Shape;10;p4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 name="Google Shape;11;p4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 name="Google Shape;12;p4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rgbClr val="FFFFFF"/>
                </a:solidFill>
                <a:latin typeface="Calibri"/>
                <a:ea typeface="Calibri"/>
                <a:cs typeface="Calibri"/>
                <a:sym typeface="Calibri"/>
              </a:defRPr>
            </a:lvl1pPr>
            <a:lvl2pPr indent="0" lvl="1" marL="0" marR="0" rtl="0" algn="r">
              <a:spcBef>
                <a:spcPts val="0"/>
              </a:spcBef>
              <a:buNone/>
              <a:defRPr b="0" i="0" sz="1050" u="none" cap="none" strike="noStrike">
                <a:solidFill>
                  <a:srgbClr val="FFFFFF"/>
                </a:solidFill>
                <a:latin typeface="Calibri"/>
                <a:ea typeface="Calibri"/>
                <a:cs typeface="Calibri"/>
                <a:sym typeface="Calibri"/>
              </a:defRPr>
            </a:lvl2pPr>
            <a:lvl3pPr indent="0" lvl="2" marL="0" marR="0" rtl="0" algn="r">
              <a:spcBef>
                <a:spcPts val="0"/>
              </a:spcBef>
              <a:buNone/>
              <a:defRPr b="0" i="0" sz="1050" u="none" cap="none" strike="noStrike">
                <a:solidFill>
                  <a:srgbClr val="FFFFFF"/>
                </a:solidFill>
                <a:latin typeface="Calibri"/>
                <a:ea typeface="Calibri"/>
                <a:cs typeface="Calibri"/>
                <a:sym typeface="Calibri"/>
              </a:defRPr>
            </a:lvl3pPr>
            <a:lvl4pPr indent="0" lvl="3" marL="0" marR="0" rtl="0" algn="r">
              <a:spcBef>
                <a:spcPts val="0"/>
              </a:spcBef>
              <a:buNone/>
              <a:defRPr b="0" i="0" sz="1050" u="none" cap="none" strike="noStrike">
                <a:solidFill>
                  <a:srgbClr val="FFFFFF"/>
                </a:solidFill>
                <a:latin typeface="Calibri"/>
                <a:ea typeface="Calibri"/>
                <a:cs typeface="Calibri"/>
                <a:sym typeface="Calibri"/>
              </a:defRPr>
            </a:lvl4pPr>
            <a:lvl5pPr indent="0" lvl="4" marL="0" marR="0" rtl="0" algn="r">
              <a:spcBef>
                <a:spcPts val="0"/>
              </a:spcBef>
              <a:buNone/>
              <a:defRPr b="0" i="0" sz="1050" u="none" cap="none" strike="noStrike">
                <a:solidFill>
                  <a:srgbClr val="FFFFFF"/>
                </a:solidFill>
                <a:latin typeface="Calibri"/>
                <a:ea typeface="Calibri"/>
                <a:cs typeface="Calibri"/>
                <a:sym typeface="Calibri"/>
              </a:defRPr>
            </a:lvl5pPr>
            <a:lvl6pPr indent="0" lvl="5" marL="0" marR="0" rtl="0" algn="r">
              <a:spcBef>
                <a:spcPts val="0"/>
              </a:spcBef>
              <a:buNone/>
              <a:defRPr b="0" i="0" sz="1050" u="none" cap="none" strike="noStrike">
                <a:solidFill>
                  <a:srgbClr val="FFFFFF"/>
                </a:solidFill>
                <a:latin typeface="Calibri"/>
                <a:ea typeface="Calibri"/>
                <a:cs typeface="Calibri"/>
                <a:sym typeface="Calibri"/>
              </a:defRPr>
            </a:lvl6pPr>
            <a:lvl7pPr indent="0" lvl="6" marL="0" marR="0" rtl="0" algn="r">
              <a:spcBef>
                <a:spcPts val="0"/>
              </a:spcBef>
              <a:buNone/>
              <a:defRPr b="0" i="0" sz="1050" u="none" cap="none" strike="noStrike">
                <a:solidFill>
                  <a:srgbClr val="FFFFFF"/>
                </a:solidFill>
                <a:latin typeface="Calibri"/>
                <a:ea typeface="Calibri"/>
                <a:cs typeface="Calibri"/>
                <a:sym typeface="Calibri"/>
              </a:defRPr>
            </a:lvl7pPr>
            <a:lvl8pPr indent="0" lvl="7" marL="0" marR="0" rtl="0" algn="r">
              <a:spcBef>
                <a:spcPts val="0"/>
              </a:spcBef>
              <a:buNone/>
              <a:defRPr b="0" i="0" sz="1050" u="none" cap="none" strike="noStrike">
                <a:solidFill>
                  <a:srgbClr val="FFFFFF"/>
                </a:solidFill>
                <a:latin typeface="Calibri"/>
                <a:ea typeface="Calibri"/>
                <a:cs typeface="Calibri"/>
                <a:sym typeface="Calibri"/>
              </a:defRPr>
            </a:lvl8pPr>
            <a:lvl9pPr indent="0" lvl="8" marL="0" marR="0" rtl="0" algn="r">
              <a:spcBef>
                <a:spcPts val="0"/>
              </a:spcBef>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3" name="Google Shape;13;p40"/>
          <p:cNvCxnSpPr/>
          <p:nvPr/>
        </p:nvCxnSpPr>
        <p:spPr>
          <a:xfrm>
            <a:off x="1193532" y="1737845"/>
            <a:ext cx="996696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1.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0.png"/><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1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
          <p:cNvSpPr txBox="1"/>
          <p:nvPr>
            <p:ph type="ctrTitle"/>
          </p:nvPr>
        </p:nvSpPr>
        <p:spPr>
          <a:xfrm>
            <a:off x="1056939" y="363071"/>
            <a:ext cx="10058400" cy="3566160"/>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chemeClr val="accent1"/>
              </a:buClr>
              <a:buSzPts val="6600"/>
              <a:buFont typeface="Palatino Linotype"/>
              <a:buNone/>
            </a:pPr>
            <a:r>
              <a:rPr b="1" lang="en-US" sz="6600">
                <a:solidFill>
                  <a:schemeClr val="accent1"/>
                </a:solidFill>
                <a:latin typeface="Palatino Linotype"/>
                <a:ea typeface="Palatino Linotype"/>
                <a:cs typeface="Palatino Linotype"/>
                <a:sym typeface="Palatino Linotype"/>
              </a:rPr>
              <a:t>Lecture:8</a:t>
            </a:r>
            <a:br>
              <a:rPr lang="en-US" sz="5400">
                <a:latin typeface="Palatino Linotype"/>
                <a:ea typeface="Palatino Linotype"/>
                <a:cs typeface="Palatino Linotype"/>
                <a:sym typeface="Palatino Linotype"/>
              </a:rPr>
            </a:br>
            <a:br>
              <a:rPr b="1" lang="en-US" sz="4800">
                <a:latin typeface="Palatino Linotype"/>
                <a:ea typeface="Palatino Linotype"/>
                <a:cs typeface="Palatino Linotype"/>
                <a:sym typeface="Palatino Linotype"/>
              </a:rPr>
            </a:br>
            <a:r>
              <a:rPr b="1" lang="en-US" sz="4800">
                <a:latin typeface="Palatino Linotype"/>
                <a:ea typeface="Palatino Linotype"/>
                <a:cs typeface="Palatino Linotype"/>
                <a:sym typeface="Palatino Linotype"/>
              </a:rPr>
              <a:t>Introducing Operator Overloading</a:t>
            </a:r>
            <a:endParaRPr b="1" sz="4400">
              <a:solidFill>
                <a:srgbClr val="595959"/>
              </a:solidFill>
              <a:latin typeface="Palatino Linotype"/>
              <a:ea typeface="Palatino Linotype"/>
              <a:cs typeface="Palatino Linotype"/>
              <a:sym typeface="Palatino Linotype"/>
            </a:endParaRPr>
          </a:p>
        </p:txBody>
      </p:sp>
      <p:sp>
        <p:nvSpPr>
          <p:cNvPr id="102" name="Google Shape;102;p1"/>
          <p:cNvSpPr txBox="1"/>
          <p:nvPr/>
        </p:nvSpPr>
        <p:spPr>
          <a:xfrm>
            <a:off x="2542839" y="4679577"/>
            <a:ext cx="7086600" cy="126188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800" u="none" cap="none" strike="noStrike">
                <a:solidFill>
                  <a:schemeClr val="accent1"/>
                </a:solidFill>
                <a:latin typeface="Palatino Linotype"/>
                <a:ea typeface="Palatino Linotype"/>
                <a:cs typeface="Palatino Linotype"/>
                <a:sym typeface="Palatino Linotype"/>
              </a:rPr>
              <a:t>Prepared By: Sumaiya Binte Shahid</a:t>
            </a:r>
            <a:endParaRPr b="0" i="0" sz="2800" u="none" cap="none" strike="noStrike">
              <a:solidFill>
                <a:schemeClr val="accent1"/>
              </a:solidFill>
              <a:latin typeface="Palatino Linotype"/>
              <a:ea typeface="Palatino Linotype"/>
              <a:cs typeface="Palatino Linotype"/>
              <a:sym typeface="Palatino Linotype"/>
            </a:endParaRPr>
          </a:p>
          <a:p>
            <a:pPr indent="0" lvl="0" marL="0" marR="0" rtl="0" algn="ctr">
              <a:spcBef>
                <a:spcPts val="0"/>
              </a:spcBef>
              <a:spcAft>
                <a:spcPts val="0"/>
              </a:spcAft>
              <a:buNone/>
            </a:pPr>
            <a:r>
              <a:rPr b="0" i="0" lang="en-US" sz="2400" u="none" cap="none" strike="noStrike">
                <a:solidFill>
                  <a:schemeClr val="dk1"/>
                </a:solidFill>
                <a:latin typeface="Palatino Linotype"/>
                <a:ea typeface="Palatino Linotype"/>
                <a:cs typeface="Palatino Linotype"/>
                <a:sym typeface="Palatino Linotype"/>
              </a:rPr>
              <a:t>Lecturer</a:t>
            </a:r>
            <a:endParaRPr/>
          </a:p>
          <a:p>
            <a:pPr indent="0" lvl="0" marL="0" marR="0" rtl="0" algn="ctr">
              <a:spcBef>
                <a:spcPts val="0"/>
              </a:spcBef>
              <a:spcAft>
                <a:spcPts val="0"/>
              </a:spcAft>
              <a:buNone/>
            </a:pPr>
            <a:r>
              <a:rPr b="0" i="0" lang="en-US" sz="2400" u="none" cap="none" strike="noStrike">
                <a:solidFill>
                  <a:schemeClr val="dk1"/>
                </a:solidFill>
                <a:latin typeface="Palatino Linotype"/>
                <a:ea typeface="Palatino Linotype"/>
                <a:cs typeface="Palatino Linotype"/>
                <a:sym typeface="Palatino Linotype"/>
              </a:rPr>
              <a:t>Department of CSE, BUBT</a:t>
            </a:r>
            <a:endParaRPr b="0" i="0" sz="2400" u="none" cap="none" strike="noStrike">
              <a:solidFill>
                <a:schemeClr val="dk1"/>
              </a:solidFill>
              <a:latin typeface="Palatino Linotype"/>
              <a:ea typeface="Palatino Linotype"/>
              <a:cs typeface="Palatino Linotype"/>
              <a:sym typeface="Palatino Linotyp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
          <p:cNvSpPr txBox="1"/>
          <p:nvPr>
            <p:ph type="title"/>
          </p:nvPr>
        </p:nvSpPr>
        <p:spPr>
          <a:xfrm>
            <a:off x="0" y="213981"/>
            <a:ext cx="12192000" cy="1228725"/>
          </a:xfrm>
          <a:prstGeom prst="rect">
            <a:avLst/>
          </a:prstGeom>
          <a:solidFill>
            <a:schemeClr val="lt1"/>
          </a:solid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1482AB"/>
              </a:buClr>
              <a:buSzPts val="4400"/>
              <a:buFont typeface="Palatino Linotype"/>
              <a:buNone/>
            </a:pPr>
            <a:r>
              <a:rPr b="1" lang="en-US" sz="4400">
                <a:solidFill>
                  <a:srgbClr val="1482AB"/>
                </a:solidFill>
                <a:latin typeface="Palatino Linotype"/>
                <a:ea typeface="Palatino Linotype"/>
                <a:cs typeface="Palatino Linotype"/>
                <a:sym typeface="Palatino Linotype"/>
              </a:rPr>
              <a:t>The Basics Of Operator Overloading</a:t>
            </a:r>
            <a:endParaRPr b="1" sz="4400">
              <a:solidFill>
                <a:srgbClr val="1482AB"/>
              </a:solidFill>
              <a:latin typeface="Palatino Linotype"/>
              <a:ea typeface="Palatino Linotype"/>
              <a:cs typeface="Palatino Linotype"/>
              <a:sym typeface="Palatino Linotype"/>
            </a:endParaRPr>
          </a:p>
        </p:txBody>
      </p:sp>
      <p:sp>
        <p:nvSpPr>
          <p:cNvPr id="108" name="Google Shape;108;p2"/>
          <p:cNvSpPr/>
          <p:nvPr/>
        </p:nvSpPr>
        <p:spPr>
          <a:xfrm>
            <a:off x="0" y="6500813"/>
            <a:ext cx="12192000" cy="357188"/>
          </a:xfrm>
          <a:prstGeom prst="rect">
            <a:avLst/>
          </a:prstGeom>
          <a:solidFill>
            <a:srgbClr val="0D567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Palatino Linotype"/>
              <a:ea typeface="Palatino Linotype"/>
              <a:cs typeface="Palatino Linotype"/>
              <a:sym typeface="Palatino Linotype"/>
            </a:endParaRPr>
          </a:p>
        </p:txBody>
      </p:sp>
      <p:sp>
        <p:nvSpPr>
          <p:cNvPr id="109" name="Google Shape;109;p2"/>
          <p:cNvSpPr/>
          <p:nvPr/>
        </p:nvSpPr>
        <p:spPr>
          <a:xfrm>
            <a:off x="863974" y="1894267"/>
            <a:ext cx="10706100" cy="415498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2400" u="none" cap="none" strike="noStrike">
                <a:solidFill>
                  <a:schemeClr val="dk1"/>
                </a:solidFill>
                <a:latin typeface="Palatino Linotype"/>
                <a:ea typeface="Palatino Linotype"/>
                <a:cs typeface="Palatino Linotype"/>
                <a:sym typeface="Palatino Linotype"/>
              </a:rPr>
              <a:t>In C++, Operator overloading is a compile-time polymorphism. It is an idea of giving special meaning to an existing operator in C++ without changing its original meaning.</a:t>
            </a:r>
            <a:endParaRPr/>
          </a:p>
          <a:p>
            <a:pPr indent="0" lvl="0" marL="0" marR="0" rtl="0" algn="just">
              <a:spcBef>
                <a:spcPts val="0"/>
              </a:spcBef>
              <a:spcAft>
                <a:spcPts val="0"/>
              </a:spcAft>
              <a:buNone/>
            </a:pPr>
            <a:r>
              <a:rPr b="0" i="0" lang="en-US" sz="2400" u="none" cap="none" strike="noStrike">
                <a:solidFill>
                  <a:schemeClr val="dk1"/>
                </a:solidFill>
                <a:latin typeface="Palatino Linotype"/>
                <a:ea typeface="Palatino Linotype"/>
                <a:cs typeface="Palatino Linotype"/>
                <a:sym typeface="Palatino Linotype"/>
              </a:rPr>
              <a:t>For example, we can overload an operator ‘+’ in a class like String so that we can concatenate two strings by just using +. Other example classes where arithmetic operators may be overloaded are Complex Numbers, Fractional Numbers, Big integers, etc.</a:t>
            </a:r>
            <a:endParaRPr/>
          </a:p>
          <a:p>
            <a:pPr indent="0" lvl="0" marL="0" marR="0" rtl="0" algn="just">
              <a:spcBef>
                <a:spcPts val="0"/>
              </a:spcBef>
              <a:spcAft>
                <a:spcPts val="0"/>
              </a:spcAft>
              <a:buNone/>
            </a:pPr>
            <a:r>
              <a:rPr b="0" i="0" lang="en-US" sz="2400" u="none" cap="none" strike="noStrike">
                <a:solidFill>
                  <a:schemeClr val="dk1"/>
                </a:solidFill>
                <a:latin typeface="Palatino Linotype"/>
                <a:ea typeface="Palatino Linotype"/>
                <a:cs typeface="Palatino Linotype"/>
                <a:sym typeface="Palatino Linotype"/>
              </a:rPr>
              <a:t>Operator functions are the same as normal functions. The only differences are, that the name of an operator function is always the operator keyword followed by the symbol of the operator, and operator functions are called when the corresponding operator is used. </a:t>
            </a:r>
            <a:endParaRPr b="0" i="0" sz="2400" u="none" cap="none" strike="noStrike">
              <a:solidFill>
                <a:schemeClr val="dk1"/>
              </a:solidFill>
              <a:latin typeface="Palatino Linotype"/>
              <a:ea typeface="Palatino Linotype"/>
              <a:cs typeface="Palatino Linotype"/>
              <a:sym typeface="Palatino Linotyp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3"/>
          <p:cNvSpPr txBox="1"/>
          <p:nvPr>
            <p:ph type="title"/>
          </p:nvPr>
        </p:nvSpPr>
        <p:spPr>
          <a:xfrm>
            <a:off x="0" y="295836"/>
            <a:ext cx="12192000" cy="743459"/>
          </a:xfrm>
          <a:prstGeom prst="rect">
            <a:avLst/>
          </a:prstGeom>
          <a:solidFill>
            <a:schemeClr val="lt1"/>
          </a:solid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1482AB"/>
              </a:buClr>
              <a:buSzPts val="4400"/>
              <a:buFont typeface="Palatino Linotype"/>
              <a:buNone/>
            </a:pPr>
            <a:r>
              <a:rPr b="1" lang="en-US" sz="4400">
                <a:solidFill>
                  <a:srgbClr val="1482AB"/>
                </a:solidFill>
                <a:latin typeface="Palatino Linotype"/>
                <a:ea typeface="Palatino Linotype"/>
                <a:cs typeface="Palatino Linotype"/>
                <a:sym typeface="Palatino Linotype"/>
              </a:rPr>
              <a:t>The Basics Of Operator Overloading</a:t>
            </a:r>
            <a:endParaRPr b="1" sz="4400">
              <a:solidFill>
                <a:srgbClr val="1482AB"/>
              </a:solidFill>
              <a:latin typeface="Palatino Linotype"/>
              <a:ea typeface="Palatino Linotype"/>
              <a:cs typeface="Palatino Linotype"/>
              <a:sym typeface="Palatino Linotype"/>
            </a:endParaRPr>
          </a:p>
        </p:txBody>
      </p:sp>
      <p:sp>
        <p:nvSpPr>
          <p:cNvPr id="115" name="Google Shape;115;p3"/>
          <p:cNvSpPr/>
          <p:nvPr/>
        </p:nvSpPr>
        <p:spPr>
          <a:xfrm>
            <a:off x="0" y="6500813"/>
            <a:ext cx="12192000" cy="357188"/>
          </a:xfrm>
          <a:prstGeom prst="rect">
            <a:avLst/>
          </a:prstGeom>
          <a:solidFill>
            <a:srgbClr val="0D567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Palatino Linotype"/>
              <a:ea typeface="Palatino Linotype"/>
              <a:cs typeface="Palatino Linotype"/>
              <a:sym typeface="Palatino Linotype"/>
            </a:endParaRPr>
          </a:p>
        </p:txBody>
      </p:sp>
      <p:sp>
        <p:nvSpPr>
          <p:cNvPr id="116" name="Google Shape;116;p3"/>
          <p:cNvSpPr/>
          <p:nvPr/>
        </p:nvSpPr>
        <p:spPr>
          <a:xfrm>
            <a:off x="779929" y="1438835"/>
            <a:ext cx="10919012" cy="1775012"/>
          </a:xfrm>
          <a:prstGeom prst="rect">
            <a:avLst/>
          </a:prstGeom>
          <a:solidFill>
            <a:srgbClr val="D0EEF9"/>
          </a:solidFill>
          <a:ln cap="flat" cmpd="sng" w="15875">
            <a:solidFill>
              <a:srgbClr val="1C6294"/>
            </a:solidFill>
            <a:prstDash val="solid"/>
            <a:round/>
            <a:headEnd len="sm" w="sm" type="none"/>
            <a:tailEnd len="sm" w="sm" type="none"/>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7" name="Google Shape;117;p3"/>
          <p:cNvSpPr txBox="1"/>
          <p:nvPr/>
        </p:nvSpPr>
        <p:spPr>
          <a:xfrm>
            <a:off x="1532965" y="1773241"/>
            <a:ext cx="3536576"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Palatino Linotype"/>
                <a:ea typeface="Palatino Linotype"/>
                <a:cs typeface="Palatino Linotype"/>
                <a:sym typeface="Palatino Linotype"/>
              </a:rPr>
              <a:t>int a;</a:t>
            </a:r>
            <a:endParaRPr/>
          </a:p>
          <a:p>
            <a:pPr indent="0" lvl="0" marL="0" marR="0" rtl="0" algn="l">
              <a:spcBef>
                <a:spcPts val="0"/>
              </a:spcBef>
              <a:spcAft>
                <a:spcPts val="0"/>
              </a:spcAft>
              <a:buNone/>
            </a:pPr>
            <a:r>
              <a:rPr lang="en-US" sz="1800">
                <a:solidFill>
                  <a:schemeClr val="dk1"/>
                </a:solidFill>
                <a:latin typeface="Palatino Linotype"/>
                <a:ea typeface="Palatino Linotype"/>
                <a:cs typeface="Palatino Linotype"/>
                <a:sym typeface="Palatino Linotype"/>
              </a:rPr>
              <a:t>float b,sum;</a:t>
            </a:r>
            <a:endParaRPr/>
          </a:p>
          <a:p>
            <a:pPr indent="0" lvl="0" marL="0" marR="0" rtl="0" algn="l">
              <a:spcBef>
                <a:spcPts val="0"/>
              </a:spcBef>
              <a:spcAft>
                <a:spcPts val="0"/>
              </a:spcAft>
              <a:buNone/>
            </a:pPr>
            <a:r>
              <a:rPr lang="en-US" sz="1800">
                <a:solidFill>
                  <a:schemeClr val="dk1"/>
                </a:solidFill>
                <a:latin typeface="Palatino Linotype"/>
                <a:ea typeface="Palatino Linotype"/>
                <a:cs typeface="Palatino Linotype"/>
                <a:sym typeface="Palatino Linotype"/>
              </a:rPr>
              <a:t>sum = a + b;</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 name="Google Shape;118;p3"/>
          <p:cNvSpPr txBox="1"/>
          <p:nvPr/>
        </p:nvSpPr>
        <p:spPr>
          <a:xfrm>
            <a:off x="4464812" y="1554062"/>
            <a:ext cx="6400021" cy="147732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Palatino Linotype"/>
                <a:ea typeface="Palatino Linotype"/>
                <a:cs typeface="Palatino Linotype"/>
                <a:sym typeface="Palatino Linotype"/>
              </a:rPr>
              <a:t>Here, variables “a” and “b” are of types “int” and “float”, which are built-in data types. Hence the addition operator ‘+’ can easily add the contents of “a” and “b”. This is because the addition operator “+” is predefined to add variables of built-in data type only. </a:t>
            </a:r>
            <a:endParaRPr/>
          </a:p>
        </p:txBody>
      </p:sp>
      <p:sp>
        <p:nvSpPr>
          <p:cNvPr id="119" name="Google Shape;119;p3"/>
          <p:cNvSpPr/>
          <p:nvPr/>
        </p:nvSpPr>
        <p:spPr>
          <a:xfrm>
            <a:off x="779929" y="3414961"/>
            <a:ext cx="10919012" cy="2622768"/>
          </a:xfrm>
          <a:prstGeom prst="rect">
            <a:avLst/>
          </a:prstGeom>
          <a:solidFill>
            <a:srgbClr val="D0EEF9"/>
          </a:solidFill>
          <a:ln cap="flat" cmpd="sng" w="15875">
            <a:solidFill>
              <a:srgbClr val="1C6294"/>
            </a:solidFill>
            <a:prstDash val="solid"/>
            <a:round/>
            <a:headEnd len="sm" w="sm" type="none"/>
            <a:tailEnd len="sm" w="sm" type="none"/>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Palatino Linotype"/>
              <a:ea typeface="Palatino Linotype"/>
              <a:cs typeface="Palatino Linotype"/>
              <a:sym typeface="Palatino Linotype"/>
            </a:endParaRPr>
          </a:p>
        </p:txBody>
      </p:sp>
      <p:sp>
        <p:nvSpPr>
          <p:cNvPr id="120" name="Google Shape;120;p3"/>
          <p:cNvSpPr txBox="1"/>
          <p:nvPr/>
        </p:nvSpPr>
        <p:spPr>
          <a:xfrm>
            <a:off x="4410635" y="3503839"/>
            <a:ext cx="6508376" cy="230832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Palatino Linotype"/>
                <a:ea typeface="Palatino Linotype"/>
                <a:cs typeface="Palatino Linotype"/>
                <a:sym typeface="Palatino Linotype"/>
              </a:rPr>
              <a:t>In this example, we have 3 variables “a1”, “a2” and “a3” of type “class A”. Here we are trying to add two objects “a1” and “a2”, which are of user-defined type i.e. of type “class A” using the “+” operator. This is not allowed, because the addition operator “+” is predefined to operate only on built-in data types. But here, “class A” is a user-defined type, so the compiler generates an error. This is where the concept of “Operator overloading” comes in.</a:t>
            </a:r>
            <a:endParaRPr/>
          </a:p>
        </p:txBody>
      </p:sp>
      <p:sp>
        <p:nvSpPr>
          <p:cNvPr id="121" name="Google Shape;121;p3"/>
          <p:cNvSpPr txBox="1"/>
          <p:nvPr/>
        </p:nvSpPr>
        <p:spPr>
          <a:xfrm>
            <a:off x="1532965" y="3461440"/>
            <a:ext cx="1990165"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Palatino Linotype"/>
                <a:ea typeface="Palatino Linotype"/>
                <a:cs typeface="Palatino Linotype"/>
                <a:sym typeface="Palatino Linotype"/>
              </a:rPr>
              <a:t>class</a:t>
            </a:r>
            <a:r>
              <a:rPr lang="en-US" sz="1800">
                <a:solidFill>
                  <a:schemeClr val="dk1"/>
                </a:solidFill>
                <a:latin typeface="Palatino Linotype"/>
                <a:ea typeface="Palatino Linotype"/>
                <a:cs typeface="Palatino Linotype"/>
                <a:sym typeface="Palatino Linotype"/>
              </a:rPr>
              <a:t> </a:t>
            </a:r>
            <a:r>
              <a:rPr b="1" lang="en-US" sz="1800">
                <a:solidFill>
                  <a:schemeClr val="dk1"/>
                </a:solidFill>
                <a:latin typeface="Palatino Linotype"/>
                <a:ea typeface="Palatino Linotype"/>
                <a:cs typeface="Palatino Linotype"/>
                <a:sym typeface="Palatino Linotype"/>
              </a:rPr>
              <a:t>A</a:t>
            </a:r>
            <a:endParaRPr/>
          </a:p>
          <a:p>
            <a:pPr indent="0" lvl="0" marL="0" marR="0" rtl="0" algn="l">
              <a:spcBef>
                <a:spcPts val="0"/>
              </a:spcBef>
              <a:spcAft>
                <a:spcPts val="0"/>
              </a:spcAft>
              <a:buNone/>
            </a:pPr>
            <a:r>
              <a:rPr lang="en-US" sz="1800">
                <a:solidFill>
                  <a:schemeClr val="dk1"/>
                </a:solidFill>
                <a:latin typeface="Palatino Linotype"/>
                <a:ea typeface="Palatino Linotype"/>
                <a:cs typeface="Palatino Linotype"/>
                <a:sym typeface="Palatino Linotype"/>
              </a:rPr>
              <a:t> { statements; </a:t>
            </a:r>
            <a:endParaRPr/>
          </a:p>
          <a:p>
            <a:pPr indent="0" lvl="0" marL="0" marR="0" rtl="0" algn="l">
              <a:spcBef>
                <a:spcPts val="0"/>
              </a:spcBef>
              <a:spcAft>
                <a:spcPts val="0"/>
              </a:spcAft>
              <a:buNone/>
            </a:pPr>
            <a:r>
              <a:rPr lang="en-US" sz="1800">
                <a:solidFill>
                  <a:schemeClr val="dk1"/>
                </a:solidFill>
                <a:latin typeface="Palatino Linotype"/>
                <a:ea typeface="Palatino Linotype"/>
                <a:cs typeface="Palatino Linotype"/>
                <a:sym typeface="Palatino Linotype"/>
              </a:rPr>
              <a:t>}; </a:t>
            </a:r>
            <a:endParaRPr/>
          </a:p>
          <a:p>
            <a:pPr indent="0" lvl="0" marL="0" marR="0" rtl="0" algn="l">
              <a:spcBef>
                <a:spcPts val="0"/>
              </a:spcBef>
              <a:spcAft>
                <a:spcPts val="0"/>
              </a:spcAft>
              <a:buNone/>
            </a:pPr>
            <a:r>
              <a:rPr lang="en-US" sz="1800">
                <a:solidFill>
                  <a:schemeClr val="dk1"/>
                </a:solidFill>
                <a:latin typeface="Palatino Linotype"/>
                <a:ea typeface="Palatino Linotype"/>
                <a:cs typeface="Palatino Linotype"/>
                <a:sym typeface="Palatino Linotype"/>
              </a:rPr>
              <a:t>int main()</a:t>
            </a:r>
            <a:endParaRPr/>
          </a:p>
          <a:p>
            <a:pPr indent="0" lvl="0" marL="0" marR="0" rtl="0" algn="l">
              <a:spcBef>
                <a:spcPts val="0"/>
              </a:spcBef>
              <a:spcAft>
                <a:spcPts val="0"/>
              </a:spcAft>
              <a:buNone/>
            </a:pPr>
            <a:r>
              <a:rPr lang="en-US" sz="1800">
                <a:solidFill>
                  <a:schemeClr val="dk1"/>
                </a:solidFill>
                <a:latin typeface="Palatino Linotype"/>
                <a:ea typeface="Palatino Linotype"/>
                <a:cs typeface="Palatino Linotype"/>
                <a:sym typeface="Palatino Linotype"/>
              </a:rPr>
              <a:t> {</a:t>
            </a:r>
            <a:endParaRPr/>
          </a:p>
          <a:p>
            <a:pPr indent="0" lvl="0" marL="0" marR="0" rtl="0" algn="l">
              <a:spcBef>
                <a:spcPts val="0"/>
              </a:spcBef>
              <a:spcAft>
                <a:spcPts val="0"/>
              </a:spcAft>
              <a:buNone/>
            </a:pPr>
            <a:r>
              <a:rPr lang="en-US" sz="1800">
                <a:solidFill>
                  <a:schemeClr val="dk1"/>
                </a:solidFill>
                <a:latin typeface="Palatino Linotype"/>
                <a:ea typeface="Palatino Linotype"/>
                <a:cs typeface="Palatino Linotype"/>
                <a:sym typeface="Palatino Linotype"/>
              </a:rPr>
              <a:t> A a1, a2, a3; </a:t>
            </a:r>
            <a:endParaRPr/>
          </a:p>
          <a:p>
            <a:pPr indent="0" lvl="0" marL="0" marR="0" rtl="0" algn="l">
              <a:spcBef>
                <a:spcPts val="0"/>
              </a:spcBef>
              <a:spcAft>
                <a:spcPts val="0"/>
              </a:spcAft>
              <a:buNone/>
            </a:pPr>
            <a:r>
              <a:rPr lang="en-US" sz="1800">
                <a:solidFill>
                  <a:schemeClr val="dk1"/>
                </a:solidFill>
                <a:latin typeface="Palatino Linotype"/>
                <a:ea typeface="Palatino Linotype"/>
                <a:cs typeface="Palatino Linotype"/>
                <a:sym typeface="Palatino Linotype"/>
              </a:rPr>
              <a:t>a3 = a1 + a2; </a:t>
            </a:r>
            <a:endParaRPr/>
          </a:p>
          <a:p>
            <a:pPr indent="0" lvl="0" marL="0" marR="0" rtl="0" algn="l">
              <a:spcBef>
                <a:spcPts val="0"/>
              </a:spcBef>
              <a:spcAft>
                <a:spcPts val="0"/>
              </a:spcAft>
              <a:buNone/>
            </a:pPr>
            <a:r>
              <a:rPr b="1" lang="en-US" sz="1800">
                <a:solidFill>
                  <a:schemeClr val="dk1"/>
                </a:solidFill>
                <a:latin typeface="Palatino Linotype"/>
                <a:ea typeface="Palatino Linotype"/>
                <a:cs typeface="Palatino Linotype"/>
                <a:sym typeface="Palatino Linotype"/>
              </a:rPr>
              <a:t>return</a:t>
            </a:r>
            <a:r>
              <a:rPr lang="en-US" sz="1800">
                <a:solidFill>
                  <a:schemeClr val="dk1"/>
                </a:solidFill>
                <a:latin typeface="Palatino Linotype"/>
                <a:ea typeface="Palatino Linotype"/>
                <a:cs typeface="Palatino Linotype"/>
                <a:sym typeface="Palatino Linotype"/>
              </a:rPr>
              <a:t> 0; </a:t>
            </a:r>
            <a:endParaRPr/>
          </a:p>
          <a:p>
            <a:pPr indent="0" lvl="0" marL="0" marR="0" rtl="0" algn="l">
              <a:spcBef>
                <a:spcPts val="0"/>
              </a:spcBef>
              <a:spcAft>
                <a:spcPts val="0"/>
              </a:spcAft>
              <a:buNone/>
            </a:pPr>
            <a:r>
              <a:rPr lang="en-US" sz="1800">
                <a:solidFill>
                  <a:schemeClr val="dk1"/>
                </a:solidFill>
                <a:latin typeface="Palatino Linotype"/>
                <a:ea typeface="Palatino Linotype"/>
                <a:cs typeface="Palatino Linotype"/>
                <a:sym typeface="Palatino Linotype"/>
              </a:rPr>
              <a:t>}</a:t>
            </a:r>
            <a:endParaRPr sz="1800">
              <a:solidFill>
                <a:schemeClr val="dk1"/>
              </a:solidFill>
              <a:latin typeface="Palatino Linotype"/>
              <a:ea typeface="Palatino Linotype"/>
              <a:cs typeface="Palatino Linotype"/>
              <a:sym typeface="Palatino Linotyp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4"/>
          <p:cNvSpPr txBox="1"/>
          <p:nvPr>
            <p:ph type="title"/>
          </p:nvPr>
        </p:nvSpPr>
        <p:spPr>
          <a:xfrm>
            <a:off x="0" y="290037"/>
            <a:ext cx="12192000" cy="877930"/>
          </a:xfrm>
          <a:prstGeom prst="rect">
            <a:avLst/>
          </a:prstGeom>
          <a:solidFill>
            <a:schemeClr val="lt1"/>
          </a:solid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1482AB"/>
              </a:buClr>
              <a:buSzPts val="4400"/>
              <a:buFont typeface="Palatino Linotype"/>
              <a:buNone/>
            </a:pPr>
            <a:r>
              <a:rPr b="1" lang="en-US" sz="4400">
                <a:solidFill>
                  <a:srgbClr val="1482AB"/>
                </a:solidFill>
                <a:latin typeface="Palatino Linotype"/>
                <a:ea typeface="Palatino Linotype"/>
                <a:cs typeface="Palatino Linotype"/>
                <a:sym typeface="Palatino Linotype"/>
              </a:rPr>
              <a:t>The Basics Of Operator Overloading</a:t>
            </a:r>
            <a:endParaRPr b="1" sz="4400">
              <a:solidFill>
                <a:srgbClr val="1482AB"/>
              </a:solidFill>
              <a:latin typeface="Palatino Linotype"/>
              <a:ea typeface="Palatino Linotype"/>
              <a:cs typeface="Palatino Linotype"/>
              <a:sym typeface="Palatino Linotype"/>
            </a:endParaRPr>
          </a:p>
        </p:txBody>
      </p:sp>
      <p:sp>
        <p:nvSpPr>
          <p:cNvPr id="127" name="Google Shape;127;p4"/>
          <p:cNvSpPr/>
          <p:nvPr/>
        </p:nvSpPr>
        <p:spPr>
          <a:xfrm>
            <a:off x="0" y="6500813"/>
            <a:ext cx="12192000" cy="357188"/>
          </a:xfrm>
          <a:prstGeom prst="rect">
            <a:avLst/>
          </a:prstGeom>
          <a:solidFill>
            <a:srgbClr val="0D567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Palatino Linotype"/>
              <a:ea typeface="Palatino Linotype"/>
              <a:cs typeface="Palatino Linotype"/>
              <a:sym typeface="Palatino Linotype"/>
            </a:endParaRPr>
          </a:p>
        </p:txBody>
      </p:sp>
      <p:sp>
        <p:nvSpPr>
          <p:cNvPr id="128" name="Google Shape;128;p4"/>
          <p:cNvSpPr/>
          <p:nvPr/>
        </p:nvSpPr>
        <p:spPr>
          <a:xfrm>
            <a:off x="984998" y="1771157"/>
            <a:ext cx="10566026" cy="440120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000">
                <a:solidFill>
                  <a:srgbClr val="1C6294"/>
                </a:solidFill>
                <a:latin typeface="Palatino Linotype"/>
                <a:ea typeface="Palatino Linotype"/>
                <a:cs typeface="Palatino Linotype"/>
                <a:sym typeface="Palatino Linotype"/>
              </a:rPr>
              <a:t>Can We Overload All Operators? </a:t>
            </a:r>
            <a:endParaRPr/>
          </a:p>
          <a:p>
            <a:pPr indent="0" lvl="0" marL="0" marR="0" rtl="0" algn="just">
              <a:spcBef>
                <a:spcPts val="0"/>
              </a:spcBef>
              <a:spcAft>
                <a:spcPts val="0"/>
              </a:spcAft>
              <a:buNone/>
            </a:pPr>
            <a:r>
              <a:rPr lang="en-US" sz="2000">
                <a:solidFill>
                  <a:schemeClr val="dk1"/>
                </a:solidFill>
                <a:latin typeface="Palatino Linotype"/>
                <a:ea typeface="Palatino Linotype"/>
                <a:cs typeface="Palatino Linotype"/>
                <a:sym typeface="Palatino Linotype"/>
              </a:rPr>
              <a:t>Almost all operators can be overloaded except a few. Following is the list of operators that cannot be overloaded. </a:t>
            </a:r>
            <a:endParaRPr/>
          </a:p>
          <a:p>
            <a:pPr indent="0" lvl="1" marL="457200" marR="0" rtl="0" algn="just">
              <a:spcBef>
                <a:spcPts val="0"/>
              </a:spcBef>
              <a:spcAft>
                <a:spcPts val="0"/>
              </a:spcAft>
              <a:buNone/>
            </a:pPr>
            <a:r>
              <a:rPr b="0" i="0" lang="en-US" sz="2000" u="none" cap="none" strike="noStrike">
                <a:solidFill>
                  <a:schemeClr val="dk1"/>
                </a:solidFill>
                <a:latin typeface="Palatino Linotype"/>
                <a:ea typeface="Palatino Linotype"/>
                <a:cs typeface="Palatino Linotype"/>
                <a:sym typeface="Palatino Linotype"/>
              </a:rPr>
              <a:t>sizeof</a:t>
            </a:r>
            <a:endParaRPr b="0" i="0" sz="2000" u="none" cap="none" strike="noStrike">
              <a:solidFill>
                <a:schemeClr val="dk1"/>
              </a:solidFill>
              <a:latin typeface="Palatino Linotype"/>
              <a:ea typeface="Palatino Linotype"/>
              <a:cs typeface="Palatino Linotype"/>
              <a:sym typeface="Palatino Linotype"/>
            </a:endParaRPr>
          </a:p>
          <a:p>
            <a:pPr indent="0" lvl="1" marL="457200" marR="0" rtl="0" algn="just">
              <a:spcBef>
                <a:spcPts val="0"/>
              </a:spcBef>
              <a:spcAft>
                <a:spcPts val="0"/>
              </a:spcAft>
              <a:buNone/>
            </a:pPr>
            <a:r>
              <a:rPr b="0" i="0" lang="en-US" sz="2000" u="none" cap="none" strike="noStrike">
                <a:solidFill>
                  <a:schemeClr val="dk1"/>
                </a:solidFill>
                <a:latin typeface="Palatino Linotype"/>
                <a:ea typeface="Palatino Linotype"/>
                <a:cs typeface="Palatino Linotype"/>
                <a:sym typeface="Palatino Linotype"/>
              </a:rPr>
              <a:t>typeid</a:t>
            </a:r>
            <a:endParaRPr b="0" i="0" sz="2000" u="none" cap="none" strike="noStrike">
              <a:solidFill>
                <a:schemeClr val="dk1"/>
              </a:solidFill>
              <a:latin typeface="Palatino Linotype"/>
              <a:ea typeface="Palatino Linotype"/>
              <a:cs typeface="Palatino Linotype"/>
              <a:sym typeface="Palatino Linotype"/>
            </a:endParaRPr>
          </a:p>
          <a:p>
            <a:pPr indent="0" lvl="1" marL="457200" marR="0" rtl="0" algn="just">
              <a:spcBef>
                <a:spcPts val="0"/>
              </a:spcBef>
              <a:spcAft>
                <a:spcPts val="0"/>
              </a:spcAft>
              <a:buNone/>
            </a:pPr>
            <a:r>
              <a:rPr b="0" i="0" lang="en-US" sz="2000" u="none" cap="none" strike="noStrike">
                <a:solidFill>
                  <a:schemeClr val="dk1"/>
                </a:solidFill>
                <a:latin typeface="Palatino Linotype"/>
                <a:ea typeface="Palatino Linotype"/>
                <a:cs typeface="Palatino Linotype"/>
                <a:sym typeface="Palatino Linotype"/>
              </a:rPr>
              <a:t>Scope resolution (::)</a:t>
            </a:r>
            <a:endParaRPr/>
          </a:p>
          <a:p>
            <a:pPr indent="0" lvl="1" marL="457200" marR="0" rtl="0" algn="just">
              <a:spcBef>
                <a:spcPts val="0"/>
              </a:spcBef>
              <a:spcAft>
                <a:spcPts val="0"/>
              </a:spcAft>
              <a:buNone/>
            </a:pPr>
            <a:r>
              <a:rPr b="0" i="0" lang="en-US" sz="2000" u="none" cap="none" strike="noStrike">
                <a:solidFill>
                  <a:schemeClr val="dk1"/>
                </a:solidFill>
                <a:latin typeface="Palatino Linotype"/>
                <a:ea typeface="Palatino Linotype"/>
                <a:cs typeface="Palatino Linotype"/>
                <a:sym typeface="Palatino Linotype"/>
              </a:rPr>
              <a:t>Class member access operators (.(dot), .* (pointer to member operator))</a:t>
            </a:r>
            <a:endParaRPr/>
          </a:p>
          <a:p>
            <a:pPr indent="0" lvl="1" marL="457200" marR="0" rtl="0" algn="just">
              <a:spcBef>
                <a:spcPts val="0"/>
              </a:spcBef>
              <a:spcAft>
                <a:spcPts val="0"/>
              </a:spcAft>
              <a:buNone/>
            </a:pPr>
            <a:r>
              <a:rPr b="0" i="0" lang="en-US" sz="2000" u="none" cap="none" strike="noStrike">
                <a:solidFill>
                  <a:schemeClr val="dk1"/>
                </a:solidFill>
                <a:latin typeface="Palatino Linotype"/>
                <a:ea typeface="Palatino Linotype"/>
                <a:cs typeface="Palatino Linotype"/>
                <a:sym typeface="Palatino Linotype"/>
              </a:rPr>
              <a:t>Ternary or conditional (?:)</a:t>
            </a:r>
            <a:endParaRPr/>
          </a:p>
          <a:p>
            <a:pPr indent="0" lvl="0" marL="0" marR="0" rtl="0" algn="just">
              <a:spcBef>
                <a:spcPts val="0"/>
              </a:spcBef>
              <a:spcAft>
                <a:spcPts val="0"/>
              </a:spcAft>
              <a:buNone/>
            </a:pPr>
            <a:r>
              <a:t/>
            </a:r>
            <a:endParaRPr sz="2000">
              <a:solidFill>
                <a:schemeClr val="dk1"/>
              </a:solidFill>
              <a:latin typeface="Palatino Linotype"/>
              <a:ea typeface="Palatino Linotype"/>
              <a:cs typeface="Palatino Linotype"/>
              <a:sym typeface="Palatino Linotype"/>
            </a:endParaRPr>
          </a:p>
          <a:p>
            <a:pPr indent="0" lvl="0" marL="0" marR="0" rtl="0" algn="just">
              <a:spcBef>
                <a:spcPts val="0"/>
              </a:spcBef>
              <a:spcAft>
                <a:spcPts val="0"/>
              </a:spcAft>
              <a:buNone/>
            </a:pPr>
            <a:r>
              <a:rPr b="1" lang="en-US" sz="2000">
                <a:solidFill>
                  <a:srgbClr val="1C6294"/>
                </a:solidFill>
                <a:latin typeface="Palatino Linotype"/>
                <a:ea typeface="Palatino Linotype"/>
                <a:cs typeface="Palatino Linotype"/>
                <a:sym typeface="Palatino Linotype"/>
              </a:rPr>
              <a:t>Operators that can be Overloaded in C++</a:t>
            </a:r>
            <a:endParaRPr/>
          </a:p>
          <a:p>
            <a:pPr indent="0" lvl="0" marL="0" marR="0" rtl="0" algn="just">
              <a:spcBef>
                <a:spcPts val="0"/>
              </a:spcBef>
              <a:spcAft>
                <a:spcPts val="0"/>
              </a:spcAft>
              <a:buNone/>
            </a:pPr>
            <a:r>
              <a:rPr lang="en-US" sz="2000">
                <a:solidFill>
                  <a:schemeClr val="dk1"/>
                </a:solidFill>
                <a:latin typeface="Palatino Linotype"/>
                <a:ea typeface="Palatino Linotype"/>
                <a:cs typeface="Palatino Linotype"/>
                <a:sym typeface="Palatino Linotype"/>
              </a:rPr>
              <a:t>We can overload</a:t>
            </a:r>
            <a:endParaRPr sz="2000">
              <a:solidFill>
                <a:schemeClr val="dk1"/>
              </a:solidFill>
              <a:latin typeface="Palatino Linotype"/>
              <a:ea typeface="Palatino Linotype"/>
              <a:cs typeface="Palatino Linotype"/>
              <a:sym typeface="Palatino Linotype"/>
            </a:endParaRPr>
          </a:p>
          <a:p>
            <a:pPr indent="0" lvl="1" marL="457200" marR="0" rtl="0" algn="just">
              <a:spcBef>
                <a:spcPts val="0"/>
              </a:spcBef>
              <a:spcAft>
                <a:spcPts val="0"/>
              </a:spcAft>
              <a:buNone/>
            </a:pPr>
            <a:r>
              <a:rPr b="0" i="0" lang="en-US" sz="2000" u="none" cap="none" strike="noStrike">
                <a:solidFill>
                  <a:schemeClr val="dk1"/>
                </a:solidFill>
                <a:latin typeface="Palatino Linotype"/>
                <a:ea typeface="Palatino Linotype"/>
                <a:cs typeface="Palatino Linotype"/>
                <a:sym typeface="Palatino Linotype"/>
              </a:rPr>
              <a:t>Unary operators</a:t>
            </a:r>
            <a:endParaRPr/>
          </a:p>
          <a:p>
            <a:pPr indent="0" lvl="1" marL="457200" marR="0" rtl="0" algn="just">
              <a:spcBef>
                <a:spcPts val="0"/>
              </a:spcBef>
              <a:spcAft>
                <a:spcPts val="0"/>
              </a:spcAft>
              <a:buNone/>
            </a:pPr>
            <a:r>
              <a:rPr b="0" i="0" lang="en-US" sz="2000" u="none" cap="none" strike="noStrike">
                <a:solidFill>
                  <a:schemeClr val="dk1"/>
                </a:solidFill>
                <a:latin typeface="Palatino Linotype"/>
                <a:ea typeface="Palatino Linotype"/>
                <a:cs typeface="Palatino Linotype"/>
                <a:sym typeface="Palatino Linotype"/>
              </a:rPr>
              <a:t>Binary operators</a:t>
            </a:r>
            <a:endParaRPr/>
          </a:p>
          <a:p>
            <a:pPr indent="0" lvl="1" marL="457200" marR="0" rtl="0" algn="just">
              <a:spcBef>
                <a:spcPts val="0"/>
              </a:spcBef>
              <a:spcAft>
                <a:spcPts val="0"/>
              </a:spcAft>
              <a:buNone/>
            </a:pPr>
            <a:r>
              <a:rPr b="0" i="0" lang="en-US" sz="2000" u="none" cap="none" strike="noStrike">
                <a:solidFill>
                  <a:schemeClr val="dk1"/>
                </a:solidFill>
                <a:latin typeface="Palatino Linotype"/>
                <a:ea typeface="Palatino Linotype"/>
                <a:cs typeface="Palatino Linotype"/>
                <a:sym typeface="Palatino Linotype"/>
              </a:rPr>
              <a:t>Special operators ( [ ], (), etc)</a:t>
            </a:r>
            <a:endParaRPr b="0" i="0" sz="2000" u="none" cap="none" strike="noStrike">
              <a:solidFill>
                <a:schemeClr val="dk1"/>
              </a:solidFill>
              <a:latin typeface="Palatino Linotype"/>
              <a:ea typeface="Palatino Linotype"/>
              <a:cs typeface="Palatino Linotype"/>
              <a:sym typeface="Palatino Linotyp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5"/>
          <p:cNvSpPr txBox="1"/>
          <p:nvPr/>
        </p:nvSpPr>
        <p:spPr>
          <a:xfrm>
            <a:off x="698467" y="2663894"/>
            <a:ext cx="3106271" cy="1000124"/>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marR="0" rtl="0" algn="ctr">
              <a:lnSpc>
                <a:spcPct val="85000"/>
              </a:lnSpc>
              <a:spcBef>
                <a:spcPts val="0"/>
              </a:spcBef>
              <a:spcAft>
                <a:spcPts val="0"/>
              </a:spcAft>
              <a:buClr>
                <a:srgbClr val="1482AB"/>
              </a:buClr>
              <a:buSzPct val="100000"/>
              <a:buFont typeface="Palatino Linotype"/>
              <a:buNone/>
            </a:pPr>
            <a:r>
              <a:rPr b="1" lang="en-US" sz="4000">
                <a:solidFill>
                  <a:srgbClr val="1482AB"/>
                </a:solidFill>
                <a:latin typeface="Palatino Linotype"/>
                <a:ea typeface="Palatino Linotype"/>
                <a:cs typeface="Palatino Linotype"/>
                <a:sym typeface="Palatino Linotype"/>
              </a:rPr>
              <a:t>Operator Overloading</a:t>
            </a:r>
            <a:endParaRPr b="1" sz="4000">
              <a:solidFill>
                <a:srgbClr val="1482AB"/>
              </a:solidFill>
              <a:latin typeface="Palatino Linotype"/>
              <a:ea typeface="Palatino Linotype"/>
              <a:cs typeface="Palatino Linotype"/>
              <a:sym typeface="Palatino Linotype"/>
            </a:endParaRPr>
          </a:p>
        </p:txBody>
      </p:sp>
      <p:pic>
        <p:nvPicPr>
          <p:cNvPr id="134" name="Google Shape;134;p5"/>
          <p:cNvPicPr preferRelativeResize="0"/>
          <p:nvPr/>
        </p:nvPicPr>
        <p:blipFill rotWithShape="1">
          <a:blip r:embed="rId3">
            <a:alphaModFix/>
          </a:blip>
          <a:srcRect b="0" l="0" r="0" t="0"/>
          <a:stretch/>
        </p:blipFill>
        <p:spPr>
          <a:xfrm>
            <a:off x="4412973" y="92766"/>
            <a:ext cx="7142923" cy="667246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6"/>
          <p:cNvSpPr txBox="1"/>
          <p:nvPr/>
        </p:nvSpPr>
        <p:spPr>
          <a:xfrm>
            <a:off x="0" y="469477"/>
            <a:ext cx="12192000" cy="1000124"/>
          </a:xfrm>
          <a:prstGeom prst="rect">
            <a:avLst/>
          </a:prstGeom>
          <a:solidFill>
            <a:schemeClr val="lt1"/>
          </a:solidFill>
          <a:ln>
            <a:noFill/>
          </a:ln>
        </p:spPr>
        <p:txBody>
          <a:bodyPr anchorCtr="0" anchor="t" bIns="45700" lIns="91425" spcFirstLastPara="1" rIns="91425" wrap="square" tIns="45700">
            <a:normAutofit/>
          </a:bodyPr>
          <a:lstStyle/>
          <a:p>
            <a:pPr indent="0" lvl="0" marL="0" marR="0" rtl="0" algn="ctr">
              <a:lnSpc>
                <a:spcPct val="85000"/>
              </a:lnSpc>
              <a:spcBef>
                <a:spcPts val="0"/>
              </a:spcBef>
              <a:spcAft>
                <a:spcPts val="0"/>
              </a:spcAft>
              <a:buClr>
                <a:srgbClr val="3F3F3F"/>
              </a:buClr>
              <a:buSzPts val="4000"/>
              <a:buFont typeface="Calibri"/>
              <a:buNone/>
            </a:pPr>
            <a:r>
              <a:t/>
            </a:r>
            <a:endParaRPr b="1" sz="4000">
              <a:solidFill>
                <a:srgbClr val="1482AB"/>
              </a:solidFill>
              <a:latin typeface="Palatino Linotype"/>
              <a:ea typeface="Palatino Linotype"/>
              <a:cs typeface="Palatino Linotype"/>
              <a:sym typeface="Palatino Linotype"/>
            </a:endParaRPr>
          </a:p>
        </p:txBody>
      </p:sp>
      <p:sp>
        <p:nvSpPr>
          <p:cNvPr id="140" name="Google Shape;140;p6"/>
          <p:cNvSpPr txBox="1"/>
          <p:nvPr/>
        </p:nvSpPr>
        <p:spPr>
          <a:xfrm>
            <a:off x="797858" y="3751729"/>
            <a:ext cx="10596282" cy="144655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200">
                <a:solidFill>
                  <a:schemeClr val="dk1"/>
                </a:solidFill>
                <a:latin typeface="Palatino Linotype"/>
                <a:ea typeface="Palatino Linotype"/>
                <a:cs typeface="Palatino Linotype"/>
                <a:sym typeface="Palatino Linotype"/>
              </a:rPr>
              <a:t>The main idea behind “Operator overloading” is to use C++ operators with class variables or class objects. Redefining the meaning of operators really does not change their original meaning; instead, they have been given additional meaning along with their existing ones.</a:t>
            </a:r>
            <a:endParaRPr/>
          </a:p>
        </p:txBody>
      </p:sp>
      <p:sp>
        <p:nvSpPr>
          <p:cNvPr id="141" name="Google Shape;141;p6"/>
          <p:cNvSpPr/>
          <p:nvPr/>
        </p:nvSpPr>
        <p:spPr>
          <a:xfrm>
            <a:off x="3147358" y="361333"/>
            <a:ext cx="5897279"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a:solidFill>
                  <a:srgbClr val="1482AB"/>
                </a:solidFill>
                <a:latin typeface="Palatino Linotype"/>
                <a:ea typeface="Palatino Linotype"/>
                <a:cs typeface="Palatino Linotype"/>
                <a:sym typeface="Palatino Linotype"/>
              </a:rPr>
              <a:t>Operator Overloading</a:t>
            </a:r>
            <a:endParaRPr/>
          </a:p>
        </p:txBody>
      </p:sp>
      <p:pic>
        <p:nvPicPr>
          <p:cNvPr id="142" name="Google Shape;142;p6"/>
          <p:cNvPicPr preferRelativeResize="0"/>
          <p:nvPr/>
        </p:nvPicPr>
        <p:blipFill rotWithShape="1">
          <a:blip r:embed="rId3">
            <a:alphaModFix/>
          </a:blip>
          <a:srcRect b="0" l="0" r="0" t="0"/>
          <a:stretch/>
        </p:blipFill>
        <p:spPr>
          <a:xfrm>
            <a:off x="2915068" y="1514949"/>
            <a:ext cx="6361858" cy="156288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7"/>
          <p:cNvSpPr txBox="1"/>
          <p:nvPr>
            <p:ph type="title"/>
          </p:nvPr>
        </p:nvSpPr>
        <p:spPr>
          <a:xfrm>
            <a:off x="0" y="213981"/>
            <a:ext cx="12192000" cy="1228725"/>
          </a:xfrm>
          <a:prstGeom prst="rect">
            <a:avLst/>
          </a:prstGeom>
          <a:solidFill>
            <a:schemeClr val="lt1"/>
          </a:solid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1482AB"/>
              </a:buClr>
              <a:buSzPts val="4400"/>
              <a:buFont typeface="Palatino Linotype"/>
              <a:buNone/>
            </a:pPr>
            <a:r>
              <a:rPr b="1" lang="en-US" sz="4400">
                <a:solidFill>
                  <a:srgbClr val="1482AB"/>
                </a:solidFill>
                <a:latin typeface="Palatino Linotype"/>
                <a:ea typeface="Palatino Linotype"/>
                <a:cs typeface="Palatino Linotype"/>
                <a:sym typeface="Palatino Linotype"/>
              </a:rPr>
              <a:t>Overloading Binary Operator</a:t>
            </a:r>
            <a:endParaRPr b="1" sz="4400">
              <a:solidFill>
                <a:srgbClr val="1482AB"/>
              </a:solidFill>
              <a:latin typeface="Palatino Linotype"/>
              <a:ea typeface="Palatino Linotype"/>
              <a:cs typeface="Palatino Linotype"/>
              <a:sym typeface="Palatino Linotype"/>
            </a:endParaRPr>
          </a:p>
        </p:txBody>
      </p:sp>
      <p:sp>
        <p:nvSpPr>
          <p:cNvPr id="148" name="Google Shape;148;p7"/>
          <p:cNvSpPr/>
          <p:nvPr/>
        </p:nvSpPr>
        <p:spPr>
          <a:xfrm>
            <a:off x="0" y="6500813"/>
            <a:ext cx="12192000" cy="357188"/>
          </a:xfrm>
          <a:prstGeom prst="rect">
            <a:avLst/>
          </a:prstGeom>
          <a:solidFill>
            <a:srgbClr val="0D567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Palatino Linotype"/>
              <a:ea typeface="Palatino Linotype"/>
              <a:cs typeface="Palatino Linotype"/>
              <a:sym typeface="Palatino Linotype"/>
            </a:endParaRPr>
          </a:p>
        </p:txBody>
      </p:sp>
      <p:sp>
        <p:nvSpPr>
          <p:cNvPr id="149" name="Google Shape;149;p7"/>
          <p:cNvSpPr/>
          <p:nvPr/>
        </p:nvSpPr>
        <p:spPr>
          <a:xfrm>
            <a:off x="863974" y="1894267"/>
            <a:ext cx="10706100" cy="3046988"/>
          </a:xfrm>
          <a:prstGeom prst="rect">
            <a:avLst/>
          </a:prstGeom>
          <a:noFill/>
          <a:ln>
            <a:noFill/>
          </a:ln>
        </p:spPr>
        <p:txBody>
          <a:bodyPr anchorCtr="0" anchor="t" bIns="45700" lIns="91425" spcFirstLastPara="1" rIns="91425" wrap="square" tIns="45700">
            <a:spAutoFit/>
          </a:bodyPr>
          <a:lstStyle/>
          <a:p>
            <a:pPr indent="-342900" lvl="0" marL="342900" marR="0" rtl="0" algn="just">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In the binary operator overloading function, there should be one argument to be passed. It is the overloading of an operator operating on two operands. </a:t>
            </a:r>
            <a:endParaRPr sz="2400">
              <a:solidFill>
                <a:schemeClr val="dk1"/>
              </a:solidFill>
              <a:latin typeface="Palatino Linotype"/>
              <a:ea typeface="Palatino Linotype"/>
              <a:cs typeface="Palatino Linotype"/>
              <a:sym typeface="Palatino Linotype"/>
            </a:endParaRPr>
          </a:p>
          <a:p>
            <a:pPr indent="-342900" lvl="0" marL="342900" marR="0" rtl="0" algn="just">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The object on the left side is the object that generates the call to the operator function and is passed implicitly by this.</a:t>
            </a:r>
            <a:endParaRPr/>
          </a:p>
          <a:p>
            <a:pPr indent="-342900" lvl="0" marL="342900" marR="0" rtl="0" algn="just">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It is important to understand that operator functions can be written with many variations.</a:t>
            </a:r>
            <a:endParaRPr/>
          </a:p>
          <a:p>
            <a:pPr indent="-342900" lvl="0" marL="342900" marR="0" rtl="0" algn="just">
              <a:spcBef>
                <a:spcPts val="0"/>
              </a:spcBef>
              <a:spcAft>
                <a:spcPts val="0"/>
              </a:spcAft>
              <a:buClr>
                <a:schemeClr val="dk1"/>
              </a:buClr>
              <a:buSzPts val="2400"/>
              <a:buFont typeface="Arial"/>
              <a:buChar char="•"/>
            </a:pPr>
            <a:r>
              <a:rPr b="0" i="0" lang="en-US" sz="2400">
                <a:solidFill>
                  <a:schemeClr val="dk1"/>
                </a:solidFill>
                <a:latin typeface="Palatino Linotype"/>
                <a:ea typeface="Palatino Linotype"/>
                <a:cs typeface="Palatino Linotype"/>
                <a:sym typeface="Palatino Linotype"/>
              </a:rPr>
              <a:t>*** See Example 2, Page 151</a:t>
            </a:r>
            <a:endParaRPr b="0" i="0" sz="2400">
              <a:solidFill>
                <a:schemeClr val="dk1"/>
              </a:solidFill>
              <a:latin typeface="Palatino Linotype"/>
              <a:ea typeface="Palatino Linotype"/>
              <a:cs typeface="Palatino Linotype"/>
              <a:sym typeface="Palatino Linotyp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8"/>
          <p:cNvSpPr txBox="1"/>
          <p:nvPr/>
        </p:nvSpPr>
        <p:spPr>
          <a:xfrm>
            <a:off x="645458" y="2662937"/>
            <a:ext cx="3106271" cy="1519097"/>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marR="0" rtl="0" algn="ctr">
              <a:lnSpc>
                <a:spcPct val="85000"/>
              </a:lnSpc>
              <a:spcBef>
                <a:spcPts val="0"/>
              </a:spcBef>
              <a:spcAft>
                <a:spcPts val="0"/>
              </a:spcAft>
              <a:buClr>
                <a:srgbClr val="1482AB"/>
              </a:buClr>
              <a:buSzPct val="100000"/>
              <a:buFont typeface="Palatino Linotype"/>
              <a:buNone/>
            </a:pPr>
            <a:r>
              <a:rPr b="1" lang="en-US" sz="4000">
                <a:solidFill>
                  <a:srgbClr val="1482AB"/>
                </a:solidFill>
                <a:latin typeface="Palatino Linotype"/>
                <a:ea typeface="Palatino Linotype"/>
                <a:cs typeface="Palatino Linotype"/>
                <a:sym typeface="Palatino Linotype"/>
              </a:rPr>
              <a:t>Overloading</a:t>
            </a:r>
            <a:endParaRPr/>
          </a:p>
          <a:p>
            <a:pPr indent="0" lvl="0" marL="0" marR="0" rtl="0" algn="ctr">
              <a:lnSpc>
                <a:spcPct val="85000"/>
              </a:lnSpc>
              <a:spcBef>
                <a:spcPts val="0"/>
              </a:spcBef>
              <a:spcAft>
                <a:spcPts val="0"/>
              </a:spcAft>
              <a:buClr>
                <a:srgbClr val="1482AB"/>
              </a:buClr>
              <a:buSzPct val="100000"/>
              <a:buFont typeface="Palatino Linotype"/>
              <a:buNone/>
            </a:pPr>
            <a:r>
              <a:rPr b="1" lang="en-US" sz="4000">
                <a:solidFill>
                  <a:srgbClr val="1482AB"/>
                </a:solidFill>
                <a:latin typeface="Palatino Linotype"/>
                <a:ea typeface="Palatino Linotype"/>
                <a:cs typeface="Palatino Linotype"/>
                <a:sym typeface="Palatino Linotype"/>
              </a:rPr>
              <a:t>Binary</a:t>
            </a:r>
            <a:endParaRPr/>
          </a:p>
          <a:p>
            <a:pPr indent="0" lvl="0" marL="0" marR="0" rtl="0" algn="ctr">
              <a:lnSpc>
                <a:spcPct val="85000"/>
              </a:lnSpc>
              <a:spcBef>
                <a:spcPts val="0"/>
              </a:spcBef>
              <a:spcAft>
                <a:spcPts val="0"/>
              </a:spcAft>
              <a:buClr>
                <a:srgbClr val="1482AB"/>
              </a:buClr>
              <a:buSzPct val="100000"/>
              <a:buFont typeface="Palatino Linotype"/>
              <a:buNone/>
            </a:pPr>
            <a:r>
              <a:rPr b="1" lang="en-US" sz="4000">
                <a:solidFill>
                  <a:srgbClr val="1482AB"/>
                </a:solidFill>
                <a:latin typeface="Palatino Linotype"/>
                <a:ea typeface="Palatino Linotype"/>
                <a:cs typeface="Palatino Linotype"/>
                <a:sym typeface="Palatino Linotype"/>
              </a:rPr>
              <a:t>Operator</a:t>
            </a:r>
            <a:endParaRPr b="1" sz="4000">
              <a:solidFill>
                <a:srgbClr val="1482AB"/>
              </a:solidFill>
              <a:latin typeface="Palatino Linotype"/>
              <a:ea typeface="Palatino Linotype"/>
              <a:cs typeface="Palatino Linotype"/>
              <a:sym typeface="Palatino Linotype"/>
            </a:endParaRPr>
          </a:p>
        </p:txBody>
      </p:sp>
      <p:pic>
        <p:nvPicPr>
          <p:cNvPr id="155" name="Google Shape;155;p8"/>
          <p:cNvPicPr preferRelativeResize="0"/>
          <p:nvPr/>
        </p:nvPicPr>
        <p:blipFill rotWithShape="1">
          <a:blip r:embed="rId3">
            <a:alphaModFix/>
          </a:blip>
          <a:srcRect b="0" l="0" r="0" t="0"/>
          <a:stretch/>
        </p:blipFill>
        <p:spPr>
          <a:xfrm>
            <a:off x="4452813" y="0"/>
            <a:ext cx="6917552" cy="633453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9"/>
          <p:cNvSpPr txBox="1"/>
          <p:nvPr/>
        </p:nvSpPr>
        <p:spPr>
          <a:xfrm>
            <a:off x="1765267" y="528240"/>
            <a:ext cx="8454887" cy="1000124"/>
          </a:xfrm>
          <a:prstGeom prst="rect">
            <a:avLst/>
          </a:prstGeom>
          <a:solidFill>
            <a:schemeClr val="lt1"/>
          </a:solidFill>
          <a:ln>
            <a:noFill/>
          </a:ln>
        </p:spPr>
        <p:txBody>
          <a:bodyPr anchorCtr="0" anchor="t" bIns="45700" lIns="91425" spcFirstLastPara="1" rIns="91425" wrap="square" tIns="45700">
            <a:normAutofit/>
          </a:bodyPr>
          <a:lstStyle/>
          <a:p>
            <a:pPr indent="0" lvl="0" marL="0" marR="0" rtl="0" algn="ctr">
              <a:lnSpc>
                <a:spcPct val="85000"/>
              </a:lnSpc>
              <a:spcBef>
                <a:spcPts val="0"/>
              </a:spcBef>
              <a:spcAft>
                <a:spcPts val="0"/>
              </a:spcAft>
              <a:buClr>
                <a:srgbClr val="1482AB"/>
              </a:buClr>
              <a:buSzPts val="4000"/>
              <a:buFont typeface="Palatino Linotype"/>
              <a:buNone/>
            </a:pPr>
            <a:r>
              <a:rPr b="1" lang="en-US" sz="4000">
                <a:solidFill>
                  <a:srgbClr val="1482AB"/>
                </a:solidFill>
                <a:latin typeface="Palatino Linotype"/>
                <a:ea typeface="Palatino Linotype"/>
                <a:cs typeface="Palatino Linotype"/>
                <a:sym typeface="Palatino Linotype"/>
              </a:rPr>
              <a:t>Output</a:t>
            </a:r>
            <a:endParaRPr b="1" sz="4000">
              <a:solidFill>
                <a:srgbClr val="1482AB"/>
              </a:solidFill>
              <a:latin typeface="Palatino Linotype"/>
              <a:ea typeface="Palatino Linotype"/>
              <a:cs typeface="Palatino Linotype"/>
              <a:sym typeface="Palatino Linotype"/>
            </a:endParaRPr>
          </a:p>
        </p:txBody>
      </p:sp>
      <p:sp>
        <p:nvSpPr>
          <p:cNvPr id="161" name="Google Shape;161;p9"/>
          <p:cNvSpPr txBox="1"/>
          <p:nvPr/>
        </p:nvSpPr>
        <p:spPr>
          <a:xfrm>
            <a:off x="1433963" y="3489371"/>
            <a:ext cx="9936402" cy="155427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1900">
                <a:solidFill>
                  <a:schemeClr val="dk1"/>
                </a:solidFill>
                <a:latin typeface="Palatino Linotype"/>
                <a:ea typeface="Palatino Linotype"/>
                <a:cs typeface="Palatino Linotype"/>
                <a:sym typeface="Palatino Linotype"/>
              </a:rPr>
              <a:t>Explanation: </a:t>
            </a:r>
            <a:r>
              <a:rPr lang="en-US" sz="1900">
                <a:solidFill>
                  <a:schemeClr val="dk1"/>
                </a:solidFill>
                <a:latin typeface="Palatino Linotype"/>
                <a:ea typeface="Palatino Linotype"/>
                <a:cs typeface="Palatino Linotype"/>
                <a:sym typeface="Palatino Linotype"/>
              </a:rPr>
              <a:t>Distance operator+(Distance &amp;d2): Here return type of function is distance and it uses call by references to pass an argument. </a:t>
            </a:r>
            <a:endParaRPr/>
          </a:p>
          <a:p>
            <a:pPr indent="0" lvl="0" marL="0" marR="0" rtl="0" algn="just">
              <a:spcBef>
                <a:spcPts val="0"/>
              </a:spcBef>
              <a:spcAft>
                <a:spcPts val="0"/>
              </a:spcAft>
              <a:buNone/>
            </a:pPr>
            <a:r>
              <a:rPr lang="en-US" sz="1900">
                <a:solidFill>
                  <a:schemeClr val="dk1"/>
                </a:solidFill>
                <a:latin typeface="Palatino Linotype"/>
                <a:ea typeface="Palatino Linotype"/>
                <a:cs typeface="Palatino Linotype"/>
                <a:sym typeface="Palatino Linotype"/>
              </a:rPr>
              <a:t> d3 = d1 + d2: Here, d1 calls the operator function of its class object and takes d2 as a parameter, by which the operator function returns the object and the result will reflect in the d3 object. </a:t>
            </a:r>
            <a:endParaRPr/>
          </a:p>
        </p:txBody>
      </p:sp>
      <p:pic>
        <p:nvPicPr>
          <p:cNvPr id="162" name="Google Shape;162;p9"/>
          <p:cNvPicPr preferRelativeResize="0"/>
          <p:nvPr/>
        </p:nvPicPr>
        <p:blipFill rotWithShape="1">
          <a:blip r:embed="rId3">
            <a:alphaModFix/>
          </a:blip>
          <a:srcRect b="0" l="0" r="0" t="0"/>
          <a:stretch/>
        </p:blipFill>
        <p:spPr>
          <a:xfrm>
            <a:off x="3588119" y="1644565"/>
            <a:ext cx="4591691" cy="140037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1"/>
          <p:cNvSpPr txBox="1"/>
          <p:nvPr>
            <p:ph type="title"/>
          </p:nvPr>
        </p:nvSpPr>
        <p:spPr>
          <a:xfrm>
            <a:off x="0" y="213981"/>
            <a:ext cx="12192000" cy="1228725"/>
          </a:xfrm>
          <a:prstGeom prst="rect">
            <a:avLst/>
          </a:prstGeom>
          <a:solidFill>
            <a:schemeClr val="lt1"/>
          </a:solidFill>
          <a:ln>
            <a:noFill/>
          </a:ln>
        </p:spPr>
        <p:txBody>
          <a:bodyPr anchorCtr="0" anchor="b" bIns="45700" lIns="91425" spcFirstLastPara="1" rIns="91425" wrap="square" tIns="45700">
            <a:normAutofit fontScale="90000"/>
          </a:bodyPr>
          <a:lstStyle/>
          <a:p>
            <a:pPr indent="0" lvl="0" marL="0" rtl="0" algn="ctr">
              <a:lnSpc>
                <a:spcPct val="85000"/>
              </a:lnSpc>
              <a:spcBef>
                <a:spcPts val="0"/>
              </a:spcBef>
              <a:spcAft>
                <a:spcPts val="0"/>
              </a:spcAft>
              <a:buClr>
                <a:srgbClr val="1482AB"/>
              </a:buClr>
              <a:buSzPct val="100000"/>
              <a:buFont typeface="Palatino Linotype"/>
              <a:buNone/>
            </a:pPr>
            <a:r>
              <a:rPr b="1" lang="en-US" sz="4400">
                <a:solidFill>
                  <a:srgbClr val="1482AB"/>
                </a:solidFill>
                <a:latin typeface="Palatino Linotype"/>
                <a:ea typeface="Palatino Linotype"/>
                <a:cs typeface="Palatino Linotype"/>
                <a:sym typeface="Palatino Linotype"/>
              </a:rPr>
              <a:t>Overloading The Relational And </a:t>
            </a:r>
            <a:br>
              <a:rPr b="1" lang="en-US" sz="4400">
                <a:solidFill>
                  <a:srgbClr val="1482AB"/>
                </a:solidFill>
                <a:latin typeface="Palatino Linotype"/>
                <a:ea typeface="Palatino Linotype"/>
                <a:cs typeface="Palatino Linotype"/>
                <a:sym typeface="Palatino Linotype"/>
              </a:rPr>
            </a:br>
            <a:r>
              <a:rPr b="1" lang="en-US" sz="4400">
                <a:solidFill>
                  <a:srgbClr val="1482AB"/>
                </a:solidFill>
                <a:latin typeface="Palatino Linotype"/>
                <a:ea typeface="Palatino Linotype"/>
                <a:cs typeface="Palatino Linotype"/>
                <a:sym typeface="Palatino Linotype"/>
              </a:rPr>
              <a:t>Logical Operators</a:t>
            </a:r>
            <a:endParaRPr b="1" sz="4400">
              <a:solidFill>
                <a:srgbClr val="1482AB"/>
              </a:solidFill>
              <a:latin typeface="Palatino Linotype"/>
              <a:ea typeface="Palatino Linotype"/>
              <a:cs typeface="Palatino Linotype"/>
              <a:sym typeface="Palatino Linotype"/>
            </a:endParaRPr>
          </a:p>
        </p:txBody>
      </p:sp>
      <p:sp>
        <p:nvSpPr>
          <p:cNvPr id="168" name="Google Shape;168;p11"/>
          <p:cNvSpPr/>
          <p:nvPr/>
        </p:nvSpPr>
        <p:spPr>
          <a:xfrm>
            <a:off x="0" y="6500813"/>
            <a:ext cx="12192000" cy="357188"/>
          </a:xfrm>
          <a:prstGeom prst="rect">
            <a:avLst/>
          </a:prstGeom>
          <a:solidFill>
            <a:srgbClr val="0D567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Palatino Linotype"/>
              <a:ea typeface="Palatino Linotype"/>
              <a:cs typeface="Palatino Linotype"/>
              <a:sym typeface="Palatino Linotype"/>
            </a:endParaRPr>
          </a:p>
        </p:txBody>
      </p:sp>
      <p:sp>
        <p:nvSpPr>
          <p:cNvPr id="169" name="Google Shape;169;p11"/>
          <p:cNvSpPr/>
          <p:nvPr/>
        </p:nvSpPr>
        <p:spPr>
          <a:xfrm>
            <a:off x="863974" y="1894267"/>
            <a:ext cx="10706100" cy="2677656"/>
          </a:xfrm>
          <a:prstGeom prst="rect">
            <a:avLst/>
          </a:prstGeom>
          <a:noFill/>
          <a:ln>
            <a:noFill/>
          </a:ln>
        </p:spPr>
        <p:txBody>
          <a:bodyPr anchorCtr="0" anchor="t" bIns="45700" lIns="91425" spcFirstLastPara="1" rIns="91425" wrap="square" tIns="45700">
            <a:spAutoFit/>
          </a:bodyPr>
          <a:lstStyle/>
          <a:p>
            <a:pPr indent="-342900" lvl="0" marL="342900" marR="0" rtl="0" algn="just">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When you overload the relational and logical operators so that they behave in their traditional manner, you will not want the operator functions to return an object of the class for which they are defined. Instead, they will return an integer that indicates either true or false. </a:t>
            </a:r>
            <a:endParaRPr sz="2400">
              <a:solidFill>
                <a:schemeClr val="dk1"/>
              </a:solidFill>
              <a:latin typeface="Palatino Linotype"/>
              <a:ea typeface="Palatino Linotype"/>
              <a:cs typeface="Palatino Linotype"/>
              <a:sym typeface="Palatino Linotype"/>
            </a:endParaRPr>
          </a:p>
          <a:p>
            <a:pPr indent="-342900" lvl="0" marL="342900" marR="0" rtl="0" algn="just">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This not only allows these operator functions to return a true/false value, it also allows the operators to be integrated into larger relational and logical expressions that involve other types of data.</a:t>
            </a:r>
            <a:endParaRPr b="0" i="0" sz="2400">
              <a:solidFill>
                <a:schemeClr val="dk1"/>
              </a:solidFill>
              <a:latin typeface="Palatino Linotype"/>
              <a:ea typeface="Palatino Linotype"/>
              <a:cs typeface="Palatino Linotype"/>
              <a:sym typeface="Palatino Linotyp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2"/>
          <p:cNvSpPr txBox="1"/>
          <p:nvPr>
            <p:ph type="title"/>
          </p:nvPr>
        </p:nvSpPr>
        <p:spPr>
          <a:xfrm>
            <a:off x="0" y="268941"/>
            <a:ext cx="12192000" cy="677396"/>
          </a:xfrm>
          <a:prstGeom prst="rect">
            <a:avLst/>
          </a:prstGeom>
          <a:solidFill>
            <a:schemeClr val="lt1"/>
          </a:solid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1482AB"/>
              </a:buClr>
              <a:buSzPts val="4400"/>
              <a:buFont typeface="Palatino Linotype"/>
              <a:buNone/>
            </a:pPr>
            <a:r>
              <a:rPr b="1" lang="en-US" sz="4400">
                <a:solidFill>
                  <a:srgbClr val="1482AB"/>
                </a:solidFill>
                <a:latin typeface="Palatino Linotype"/>
                <a:ea typeface="Palatino Linotype"/>
                <a:cs typeface="Palatino Linotype"/>
                <a:sym typeface="Palatino Linotype"/>
              </a:rPr>
              <a:t>Relational And Logical Operators</a:t>
            </a:r>
            <a:endParaRPr b="1" sz="4400">
              <a:solidFill>
                <a:srgbClr val="1482AB"/>
              </a:solidFill>
              <a:latin typeface="Palatino Linotype"/>
              <a:ea typeface="Palatino Linotype"/>
              <a:cs typeface="Palatino Linotype"/>
              <a:sym typeface="Palatino Linotype"/>
            </a:endParaRPr>
          </a:p>
        </p:txBody>
      </p:sp>
      <p:sp>
        <p:nvSpPr>
          <p:cNvPr id="175" name="Google Shape;175;p12"/>
          <p:cNvSpPr/>
          <p:nvPr/>
        </p:nvSpPr>
        <p:spPr>
          <a:xfrm>
            <a:off x="0" y="6500813"/>
            <a:ext cx="12192000" cy="357188"/>
          </a:xfrm>
          <a:prstGeom prst="rect">
            <a:avLst/>
          </a:prstGeom>
          <a:solidFill>
            <a:srgbClr val="0D567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Palatino Linotype"/>
              <a:ea typeface="Palatino Linotype"/>
              <a:cs typeface="Palatino Linotype"/>
              <a:sym typeface="Palatino Linotype"/>
            </a:endParaRPr>
          </a:p>
        </p:txBody>
      </p:sp>
      <p:pic>
        <p:nvPicPr>
          <p:cNvPr id="176" name="Google Shape;176;p12"/>
          <p:cNvPicPr preferRelativeResize="0"/>
          <p:nvPr/>
        </p:nvPicPr>
        <p:blipFill rotWithShape="1">
          <a:blip r:embed="rId3">
            <a:alphaModFix/>
          </a:blip>
          <a:srcRect b="0" l="0" r="0" t="0"/>
          <a:stretch/>
        </p:blipFill>
        <p:spPr>
          <a:xfrm>
            <a:off x="1543043" y="1261504"/>
            <a:ext cx="9410331" cy="2714081"/>
          </a:xfrm>
          <a:prstGeom prst="rect">
            <a:avLst/>
          </a:prstGeom>
          <a:noFill/>
          <a:ln>
            <a:noFill/>
          </a:ln>
        </p:spPr>
      </p:pic>
      <p:pic>
        <p:nvPicPr>
          <p:cNvPr id="177" name="Google Shape;177;p12"/>
          <p:cNvPicPr preferRelativeResize="0"/>
          <p:nvPr/>
        </p:nvPicPr>
        <p:blipFill rotWithShape="1">
          <a:blip r:embed="rId4">
            <a:alphaModFix/>
          </a:blip>
          <a:srcRect b="0" l="0" r="0" t="0"/>
          <a:stretch/>
        </p:blipFill>
        <p:spPr>
          <a:xfrm>
            <a:off x="1825053" y="4067045"/>
            <a:ext cx="9105909" cy="187994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3"/>
          <p:cNvSpPr txBox="1"/>
          <p:nvPr/>
        </p:nvSpPr>
        <p:spPr>
          <a:xfrm>
            <a:off x="386514" y="2501574"/>
            <a:ext cx="3496235" cy="1000124"/>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85000"/>
              </a:lnSpc>
              <a:spcBef>
                <a:spcPts val="0"/>
              </a:spcBef>
              <a:spcAft>
                <a:spcPts val="0"/>
              </a:spcAft>
              <a:buClr>
                <a:srgbClr val="1482AB"/>
              </a:buClr>
              <a:buSzPts val="3200"/>
              <a:buFont typeface="Palatino Linotype"/>
              <a:buNone/>
            </a:pPr>
            <a:r>
              <a:rPr b="1" lang="en-US" sz="3200">
                <a:solidFill>
                  <a:srgbClr val="1482AB"/>
                </a:solidFill>
                <a:latin typeface="Palatino Linotype"/>
                <a:ea typeface="Palatino Linotype"/>
                <a:cs typeface="Palatino Linotype"/>
                <a:sym typeface="Palatino Linotype"/>
              </a:rPr>
              <a:t>The Relational And Logical Operators</a:t>
            </a:r>
            <a:endParaRPr b="1" sz="3200">
              <a:solidFill>
                <a:srgbClr val="1482AB"/>
              </a:solidFill>
              <a:latin typeface="Palatino Linotype"/>
              <a:ea typeface="Palatino Linotype"/>
              <a:cs typeface="Palatino Linotype"/>
              <a:sym typeface="Palatino Linotype"/>
            </a:endParaRPr>
          </a:p>
        </p:txBody>
      </p:sp>
      <p:pic>
        <p:nvPicPr>
          <p:cNvPr id="183" name="Google Shape;183;p13"/>
          <p:cNvPicPr preferRelativeResize="0"/>
          <p:nvPr/>
        </p:nvPicPr>
        <p:blipFill rotWithShape="1">
          <a:blip r:embed="rId3">
            <a:alphaModFix/>
          </a:blip>
          <a:srcRect b="0" l="0" r="0" t="0"/>
          <a:stretch/>
        </p:blipFill>
        <p:spPr>
          <a:xfrm>
            <a:off x="4109760" y="-13447"/>
            <a:ext cx="5746934" cy="626632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4"/>
          <p:cNvSpPr txBox="1"/>
          <p:nvPr/>
        </p:nvSpPr>
        <p:spPr>
          <a:xfrm>
            <a:off x="386514" y="2501574"/>
            <a:ext cx="3496235" cy="1000124"/>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85000"/>
              </a:lnSpc>
              <a:spcBef>
                <a:spcPts val="0"/>
              </a:spcBef>
              <a:spcAft>
                <a:spcPts val="0"/>
              </a:spcAft>
              <a:buClr>
                <a:srgbClr val="1482AB"/>
              </a:buClr>
              <a:buSzPts val="3200"/>
              <a:buFont typeface="Palatino Linotype"/>
              <a:buNone/>
            </a:pPr>
            <a:r>
              <a:rPr b="1" lang="en-US" sz="3200">
                <a:solidFill>
                  <a:srgbClr val="1482AB"/>
                </a:solidFill>
                <a:latin typeface="Palatino Linotype"/>
                <a:ea typeface="Palatino Linotype"/>
                <a:cs typeface="Palatino Linotype"/>
                <a:sym typeface="Palatino Linotype"/>
              </a:rPr>
              <a:t>The Relational And Logical Operators</a:t>
            </a:r>
            <a:endParaRPr b="1" sz="3200">
              <a:solidFill>
                <a:srgbClr val="1482AB"/>
              </a:solidFill>
              <a:latin typeface="Palatino Linotype"/>
              <a:ea typeface="Palatino Linotype"/>
              <a:cs typeface="Palatino Linotype"/>
              <a:sym typeface="Palatino Linotype"/>
            </a:endParaRPr>
          </a:p>
        </p:txBody>
      </p:sp>
      <p:pic>
        <p:nvPicPr>
          <p:cNvPr id="189" name="Google Shape;189;p14"/>
          <p:cNvPicPr preferRelativeResize="0"/>
          <p:nvPr/>
        </p:nvPicPr>
        <p:blipFill rotWithShape="1">
          <a:blip r:embed="rId3">
            <a:alphaModFix/>
          </a:blip>
          <a:srcRect b="0" l="0" r="0" t="0"/>
          <a:stretch/>
        </p:blipFill>
        <p:spPr>
          <a:xfrm>
            <a:off x="4178307" y="228600"/>
            <a:ext cx="7399609" cy="586291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5"/>
          <p:cNvSpPr txBox="1"/>
          <p:nvPr/>
        </p:nvSpPr>
        <p:spPr>
          <a:xfrm>
            <a:off x="0" y="482924"/>
            <a:ext cx="12192000" cy="1000124"/>
          </a:xfrm>
          <a:prstGeom prst="rect">
            <a:avLst/>
          </a:prstGeom>
          <a:solidFill>
            <a:schemeClr val="lt1"/>
          </a:solidFill>
          <a:ln>
            <a:noFill/>
          </a:ln>
        </p:spPr>
        <p:txBody>
          <a:bodyPr anchorCtr="0" anchor="t" bIns="45700" lIns="91425" spcFirstLastPara="1" rIns="91425" wrap="square" tIns="45700">
            <a:normAutofit/>
          </a:bodyPr>
          <a:lstStyle/>
          <a:p>
            <a:pPr indent="0" lvl="0" marL="0" marR="0" rtl="0" algn="ctr">
              <a:lnSpc>
                <a:spcPct val="85000"/>
              </a:lnSpc>
              <a:spcBef>
                <a:spcPts val="0"/>
              </a:spcBef>
              <a:spcAft>
                <a:spcPts val="0"/>
              </a:spcAft>
              <a:buClr>
                <a:srgbClr val="3F3F3F"/>
              </a:buClr>
              <a:buSzPts val="4000"/>
              <a:buFont typeface="Calibri"/>
              <a:buNone/>
            </a:pPr>
            <a:r>
              <a:t/>
            </a:r>
            <a:endParaRPr b="1" sz="4000">
              <a:solidFill>
                <a:srgbClr val="1482AB"/>
              </a:solidFill>
              <a:latin typeface="Palatino Linotype"/>
              <a:ea typeface="Palatino Linotype"/>
              <a:cs typeface="Palatino Linotype"/>
              <a:sym typeface="Palatino Linotype"/>
            </a:endParaRPr>
          </a:p>
        </p:txBody>
      </p:sp>
      <p:sp>
        <p:nvSpPr>
          <p:cNvPr id="195" name="Google Shape;195;p15"/>
          <p:cNvSpPr txBox="1"/>
          <p:nvPr/>
        </p:nvSpPr>
        <p:spPr>
          <a:xfrm>
            <a:off x="1517974" y="4921623"/>
            <a:ext cx="10596282" cy="46166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400">
                <a:solidFill>
                  <a:schemeClr val="dk1"/>
                </a:solidFill>
                <a:latin typeface="Palatino Linotype"/>
                <a:ea typeface="Palatino Linotype"/>
                <a:cs typeface="Palatino Linotype"/>
                <a:sym typeface="Palatino Linotype"/>
              </a:rPr>
              <a:t>In the above program, the == and &amp;&amp; operators are overloaded.</a:t>
            </a:r>
            <a:endParaRPr sz="2400">
              <a:solidFill>
                <a:schemeClr val="dk1"/>
              </a:solidFill>
              <a:latin typeface="Palatino Linotype"/>
              <a:ea typeface="Palatino Linotype"/>
              <a:cs typeface="Palatino Linotype"/>
              <a:sym typeface="Palatino Linotype"/>
            </a:endParaRPr>
          </a:p>
        </p:txBody>
      </p:sp>
      <p:sp>
        <p:nvSpPr>
          <p:cNvPr id="196" name="Google Shape;196;p15"/>
          <p:cNvSpPr/>
          <p:nvPr/>
        </p:nvSpPr>
        <p:spPr>
          <a:xfrm>
            <a:off x="2415987" y="442693"/>
            <a:ext cx="7776883"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a:solidFill>
                  <a:srgbClr val="1482AB"/>
                </a:solidFill>
                <a:latin typeface="Palatino Linotype"/>
                <a:ea typeface="Palatino Linotype"/>
                <a:cs typeface="Palatino Linotype"/>
                <a:sym typeface="Palatino Linotype"/>
              </a:rPr>
              <a:t>Overloading The Relational And Logical Operators</a:t>
            </a:r>
            <a:endParaRPr/>
          </a:p>
        </p:txBody>
      </p:sp>
      <p:pic>
        <p:nvPicPr>
          <p:cNvPr id="197" name="Google Shape;197;p15"/>
          <p:cNvPicPr preferRelativeResize="0"/>
          <p:nvPr/>
        </p:nvPicPr>
        <p:blipFill rotWithShape="1">
          <a:blip r:embed="rId3">
            <a:alphaModFix/>
          </a:blip>
          <a:srcRect b="0" l="0" r="0" t="0"/>
          <a:stretch/>
        </p:blipFill>
        <p:spPr>
          <a:xfrm>
            <a:off x="3162997" y="2002122"/>
            <a:ext cx="6282861" cy="234663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6"/>
          <p:cNvSpPr txBox="1"/>
          <p:nvPr>
            <p:ph type="title"/>
          </p:nvPr>
        </p:nvSpPr>
        <p:spPr>
          <a:xfrm>
            <a:off x="0" y="213981"/>
            <a:ext cx="12192000" cy="1228725"/>
          </a:xfrm>
          <a:prstGeom prst="rect">
            <a:avLst/>
          </a:prstGeom>
          <a:solidFill>
            <a:schemeClr val="lt1"/>
          </a:solid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1482AB"/>
              </a:buClr>
              <a:buSzPts val="4400"/>
              <a:buFont typeface="Palatino Linotype"/>
              <a:buNone/>
            </a:pPr>
            <a:r>
              <a:rPr b="1" lang="en-US" sz="4400">
                <a:solidFill>
                  <a:srgbClr val="1482AB"/>
                </a:solidFill>
                <a:latin typeface="Palatino Linotype"/>
                <a:ea typeface="Palatino Linotype"/>
                <a:cs typeface="Palatino Linotype"/>
                <a:sym typeface="Palatino Linotype"/>
              </a:rPr>
              <a:t>Overloading a Unary Operator</a:t>
            </a:r>
            <a:endParaRPr b="1" sz="4400">
              <a:solidFill>
                <a:srgbClr val="1482AB"/>
              </a:solidFill>
              <a:latin typeface="Palatino Linotype"/>
              <a:ea typeface="Palatino Linotype"/>
              <a:cs typeface="Palatino Linotype"/>
              <a:sym typeface="Palatino Linotype"/>
            </a:endParaRPr>
          </a:p>
        </p:txBody>
      </p:sp>
      <p:sp>
        <p:nvSpPr>
          <p:cNvPr id="203" name="Google Shape;203;p16"/>
          <p:cNvSpPr/>
          <p:nvPr/>
        </p:nvSpPr>
        <p:spPr>
          <a:xfrm>
            <a:off x="0" y="6500813"/>
            <a:ext cx="12192000" cy="357188"/>
          </a:xfrm>
          <a:prstGeom prst="rect">
            <a:avLst/>
          </a:prstGeom>
          <a:solidFill>
            <a:srgbClr val="0D567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Palatino Linotype"/>
              <a:ea typeface="Palatino Linotype"/>
              <a:cs typeface="Palatino Linotype"/>
              <a:sym typeface="Palatino Linotype"/>
            </a:endParaRPr>
          </a:p>
        </p:txBody>
      </p:sp>
      <p:sp>
        <p:nvSpPr>
          <p:cNvPr id="204" name="Google Shape;204;p16"/>
          <p:cNvSpPr/>
          <p:nvPr/>
        </p:nvSpPr>
        <p:spPr>
          <a:xfrm>
            <a:off x="863974" y="1894267"/>
            <a:ext cx="10706100" cy="2677656"/>
          </a:xfrm>
          <a:prstGeom prst="rect">
            <a:avLst/>
          </a:prstGeom>
          <a:noFill/>
          <a:ln>
            <a:noFill/>
          </a:ln>
        </p:spPr>
        <p:txBody>
          <a:bodyPr anchorCtr="0" anchor="t" bIns="45700" lIns="91425" spcFirstLastPara="1" rIns="91425" wrap="square" tIns="45700">
            <a:spAutoFit/>
          </a:bodyPr>
          <a:lstStyle/>
          <a:p>
            <a:pPr indent="-342900" lvl="0" marL="342900" marR="0" rtl="0" algn="just">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Overloading a unary operator is similar to overloading a binary operator except that there is only one operand to deal with. </a:t>
            </a:r>
            <a:endParaRPr sz="2400">
              <a:solidFill>
                <a:schemeClr val="dk1"/>
              </a:solidFill>
              <a:latin typeface="Palatino Linotype"/>
              <a:ea typeface="Palatino Linotype"/>
              <a:cs typeface="Palatino Linotype"/>
              <a:sym typeface="Palatino Linotype"/>
            </a:endParaRPr>
          </a:p>
          <a:p>
            <a:pPr indent="-342900" lvl="0" marL="342900" marR="0" rtl="0" algn="just">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When you overload a unary operator using a member function, the function has no parameters. </a:t>
            </a:r>
            <a:endParaRPr sz="2400">
              <a:solidFill>
                <a:schemeClr val="dk1"/>
              </a:solidFill>
              <a:latin typeface="Palatino Linotype"/>
              <a:ea typeface="Palatino Linotype"/>
              <a:cs typeface="Palatino Linotype"/>
              <a:sym typeface="Palatino Linotype"/>
            </a:endParaRPr>
          </a:p>
          <a:p>
            <a:pPr indent="-342900" lvl="0" marL="342900" marR="0" rtl="0" algn="just">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Since there is only one operand, it is this operand that generates the call to the operator function. </a:t>
            </a:r>
            <a:endParaRPr sz="2400">
              <a:solidFill>
                <a:schemeClr val="dk1"/>
              </a:solidFill>
              <a:latin typeface="Palatino Linotype"/>
              <a:ea typeface="Palatino Linotype"/>
              <a:cs typeface="Palatino Linotype"/>
              <a:sym typeface="Palatino Linotype"/>
            </a:endParaRPr>
          </a:p>
          <a:p>
            <a:pPr indent="-342900" lvl="0" marL="342900" marR="0" rtl="0" algn="just">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There is no need for another parameter.</a:t>
            </a:r>
            <a:endParaRPr b="0" i="0" sz="2400">
              <a:solidFill>
                <a:schemeClr val="dk1"/>
              </a:solidFill>
              <a:latin typeface="Palatino Linotype"/>
              <a:ea typeface="Palatino Linotype"/>
              <a:cs typeface="Palatino Linotype"/>
              <a:sym typeface="Palatino Linotype"/>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7"/>
          <p:cNvSpPr txBox="1"/>
          <p:nvPr>
            <p:ph type="title"/>
          </p:nvPr>
        </p:nvSpPr>
        <p:spPr>
          <a:xfrm>
            <a:off x="753035" y="174812"/>
            <a:ext cx="10457329" cy="743459"/>
          </a:xfrm>
          <a:prstGeom prst="rect">
            <a:avLst/>
          </a:prstGeom>
          <a:solidFill>
            <a:schemeClr val="lt1"/>
          </a:solid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1482AB"/>
              </a:buClr>
              <a:buSzPts val="4400"/>
              <a:buFont typeface="Palatino Linotype"/>
              <a:buNone/>
            </a:pPr>
            <a:r>
              <a:rPr b="1" lang="en-US" sz="4400">
                <a:solidFill>
                  <a:srgbClr val="1482AB"/>
                </a:solidFill>
                <a:latin typeface="Palatino Linotype"/>
                <a:ea typeface="Palatino Linotype"/>
                <a:cs typeface="Palatino Linotype"/>
                <a:sym typeface="Palatino Linotype"/>
              </a:rPr>
              <a:t> Unary Operators</a:t>
            </a:r>
            <a:endParaRPr b="1" sz="4400">
              <a:solidFill>
                <a:srgbClr val="1482AB"/>
              </a:solidFill>
              <a:latin typeface="Palatino Linotype"/>
              <a:ea typeface="Palatino Linotype"/>
              <a:cs typeface="Palatino Linotype"/>
              <a:sym typeface="Palatino Linotype"/>
            </a:endParaRPr>
          </a:p>
        </p:txBody>
      </p:sp>
      <p:sp>
        <p:nvSpPr>
          <p:cNvPr id="210" name="Google Shape;210;p17"/>
          <p:cNvSpPr/>
          <p:nvPr/>
        </p:nvSpPr>
        <p:spPr>
          <a:xfrm>
            <a:off x="0" y="6500813"/>
            <a:ext cx="12192000" cy="357188"/>
          </a:xfrm>
          <a:prstGeom prst="rect">
            <a:avLst/>
          </a:prstGeom>
          <a:solidFill>
            <a:srgbClr val="0D567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Palatino Linotype"/>
              <a:ea typeface="Palatino Linotype"/>
              <a:cs typeface="Palatino Linotype"/>
              <a:sym typeface="Palatino Linotype"/>
            </a:endParaRPr>
          </a:p>
        </p:txBody>
      </p:sp>
      <p:pic>
        <p:nvPicPr>
          <p:cNvPr id="211" name="Google Shape;211;p17"/>
          <p:cNvPicPr preferRelativeResize="0"/>
          <p:nvPr/>
        </p:nvPicPr>
        <p:blipFill rotWithShape="1">
          <a:blip r:embed="rId3">
            <a:alphaModFix/>
          </a:blip>
          <a:srcRect b="0" l="0" r="0" t="0"/>
          <a:stretch/>
        </p:blipFill>
        <p:spPr>
          <a:xfrm>
            <a:off x="2109812" y="1084424"/>
            <a:ext cx="8281655" cy="525023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8"/>
          <p:cNvSpPr txBox="1"/>
          <p:nvPr/>
        </p:nvSpPr>
        <p:spPr>
          <a:xfrm>
            <a:off x="386514" y="2501574"/>
            <a:ext cx="3496235" cy="1000124"/>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85000"/>
              </a:lnSpc>
              <a:spcBef>
                <a:spcPts val="0"/>
              </a:spcBef>
              <a:spcAft>
                <a:spcPts val="0"/>
              </a:spcAft>
              <a:buClr>
                <a:srgbClr val="1482AB"/>
              </a:buClr>
              <a:buSzPts val="3200"/>
              <a:buFont typeface="Palatino Linotype"/>
              <a:buNone/>
            </a:pPr>
            <a:r>
              <a:rPr b="1" lang="en-US" sz="3200">
                <a:solidFill>
                  <a:srgbClr val="1482AB"/>
                </a:solidFill>
                <a:latin typeface="Palatino Linotype"/>
                <a:ea typeface="Palatino Linotype"/>
                <a:cs typeface="Palatino Linotype"/>
                <a:sym typeface="Palatino Linotype"/>
              </a:rPr>
              <a:t>Overloading a Unary Operator</a:t>
            </a:r>
            <a:endParaRPr/>
          </a:p>
        </p:txBody>
      </p:sp>
      <p:pic>
        <p:nvPicPr>
          <p:cNvPr id="217" name="Google Shape;217;p18"/>
          <p:cNvPicPr preferRelativeResize="0"/>
          <p:nvPr/>
        </p:nvPicPr>
        <p:blipFill rotWithShape="1">
          <a:blip r:embed="rId3">
            <a:alphaModFix/>
          </a:blip>
          <a:srcRect b="0" l="0" r="0" t="0"/>
          <a:stretch/>
        </p:blipFill>
        <p:spPr>
          <a:xfrm>
            <a:off x="4212445" y="-14839"/>
            <a:ext cx="7486496" cy="5032825"/>
          </a:xfrm>
          <a:prstGeom prst="rect">
            <a:avLst/>
          </a:prstGeom>
          <a:noFill/>
          <a:ln>
            <a:noFill/>
          </a:ln>
        </p:spPr>
      </p:pic>
      <p:pic>
        <p:nvPicPr>
          <p:cNvPr id="218" name="Google Shape;218;p18"/>
          <p:cNvPicPr preferRelativeResize="0"/>
          <p:nvPr/>
        </p:nvPicPr>
        <p:blipFill rotWithShape="1">
          <a:blip r:embed="rId4">
            <a:alphaModFix/>
          </a:blip>
          <a:srcRect b="0" l="0" r="0" t="0"/>
          <a:stretch/>
        </p:blipFill>
        <p:spPr>
          <a:xfrm>
            <a:off x="5243023" y="5017986"/>
            <a:ext cx="5425339" cy="119455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9"/>
          <p:cNvSpPr txBox="1"/>
          <p:nvPr/>
        </p:nvSpPr>
        <p:spPr>
          <a:xfrm>
            <a:off x="386514" y="2501574"/>
            <a:ext cx="3496235" cy="1000124"/>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85000"/>
              </a:lnSpc>
              <a:spcBef>
                <a:spcPts val="0"/>
              </a:spcBef>
              <a:spcAft>
                <a:spcPts val="0"/>
              </a:spcAft>
              <a:buClr>
                <a:srgbClr val="1482AB"/>
              </a:buClr>
              <a:buSzPts val="3600"/>
              <a:buFont typeface="Palatino Linotype"/>
              <a:buNone/>
            </a:pPr>
            <a:r>
              <a:rPr b="1" lang="en-US" sz="3600">
                <a:solidFill>
                  <a:srgbClr val="1482AB"/>
                </a:solidFill>
                <a:latin typeface="Palatino Linotype"/>
                <a:ea typeface="Palatino Linotype"/>
                <a:cs typeface="Palatino Linotype"/>
                <a:sym typeface="Palatino Linotype"/>
              </a:rPr>
              <a:t>Overloading a Unary Operator</a:t>
            </a:r>
            <a:endParaRPr/>
          </a:p>
        </p:txBody>
      </p:sp>
      <p:pic>
        <p:nvPicPr>
          <p:cNvPr id="224" name="Google Shape;224;p19"/>
          <p:cNvPicPr preferRelativeResize="0"/>
          <p:nvPr/>
        </p:nvPicPr>
        <p:blipFill rotWithShape="1">
          <a:blip r:embed="rId3">
            <a:alphaModFix/>
          </a:blip>
          <a:srcRect b="0" l="0" r="0" t="0"/>
          <a:stretch/>
        </p:blipFill>
        <p:spPr>
          <a:xfrm>
            <a:off x="4188632" y="0"/>
            <a:ext cx="7259171" cy="6858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0"/>
          <p:cNvSpPr txBox="1"/>
          <p:nvPr/>
        </p:nvSpPr>
        <p:spPr>
          <a:xfrm>
            <a:off x="0" y="482924"/>
            <a:ext cx="12192000" cy="1000124"/>
          </a:xfrm>
          <a:prstGeom prst="rect">
            <a:avLst/>
          </a:prstGeom>
          <a:solidFill>
            <a:schemeClr val="lt1"/>
          </a:solidFill>
          <a:ln>
            <a:noFill/>
          </a:ln>
        </p:spPr>
        <p:txBody>
          <a:bodyPr anchorCtr="0" anchor="t" bIns="45700" lIns="91425" spcFirstLastPara="1" rIns="91425" wrap="square" tIns="45700">
            <a:normAutofit/>
          </a:bodyPr>
          <a:lstStyle/>
          <a:p>
            <a:pPr indent="0" lvl="0" marL="0" marR="0" rtl="0" algn="ctr">
              <a:lnSpc>
                <a:spcPct val="85000"/>
              </a:lnSpc>
              <a:spcBef>
                <a:spcPts val="0"/>
              </a:spcBef>
              <a:spcAft>
                <a:spcPts val="0"/>
              </a:spcAft>
              <a:buClr>
                <a:srgbClr val="3F3F3F"/>
              </a:buClr>
              <a:buSzPts val="4000"/>
              <a:buFont typeface="Calibri"/>
              <a:buNone/>
            </a:pPr>
            <a:r>
              <a:t/>
            </a:r>
            <a:endParaRPr b="1" sz="4000">
              <a:solidFill>
                <a:srgbClr val="1482AB"/>
              </a:solidFill>
              <a:latin typeface="Palatino Linotype"/>
              <a:ea typeface="Palatino Linotype"/>
              <a:cs typeface="Palatino Linotype"/>
              <a:sym typeface="Palatino Linotype"/>
            </a:endParaRPr>
          </a:p>
        </p:txBody>
      </p:sp>
      <p:sp>
        <p:nvSpPr>
          <p:cNvPr id="230" name="Google Shape;230;p20"/>
          <p:cNvSpPr txBox="1"/>
          <p:nvPr/>
        </p:nvSpPr>
        <p:spPr>
          <a:xfrm>
            <a:off x="898710" y="3294529"/>
            <a:ext cx="10596282" cy="280076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200">
                <a:solidFill>
                  <a:schemeClr val="dk1"/>
                </a:solidFill>
                <a:latin typeface="Palatino Linotype"/>
                <a:ea typeface="Palatino Linotype"/>
                <a:cs typeface="Palatino Linotype"/>
                <a:sym typeface="Palatino Linotype"/>
              </a:rPr>
              <a:t>Explanation: Since the increment operator is designed to increase its operand by 1, the overloaded ++ modifies the object it operates upon. The function also returns the object that it increments. This allows the increment operator to be used as part of a larger statement, such as this:     o2 = ++ o1;</a:t>
            </a:r>
            <a:endParaRPr/>
          </a:p>
          <a:p>
            <a:pPr indent="0" lvl="0" marL="0" marR="0" rtl="0" algn="just">
              <a:spcBef>
                <a:spcPts val="0"/>
              </a:spcBef>
              <a:spcAft>
                <a:spcPts val="0"/>
              </a:spcAft>
              <a:buNone/>
            </a:pPr>
            <a:r>
              <a:rPr lang="en-US" sz="2200">
                <a:solidFill>
                  <a:schemeClr val="dk1"/>
                </a:solidFill>
                <a:latin typeface="Palatino Linotype"/>
                <a:ea typeface="Palatino Linotype"/>
                <a:cs typeface="Palatino Linotype"/>
                <a:sym typeface="Palatino Linotype"/>
              </a:rPr>
              <a:t>As with the binary operators, there is no rule that says you must overload a unary operator so that it reflects its normal meaning. However, most of the time this is what you will want to do.</a:t>
            </a:r>
            <a:endParaRPr/>
          </a:p>
          <a:p>
            <a:pPr indent="0" lvl="0" marL="0" marR="0" rtl="0" algn="ctr">
              <a:spcBef>
                <a:spcPts val="0"/>
              </a:spcBef>
              <a:spcAft>
                <a:spcPts val="0"/>
              </a:spcAft>
              <a:buNone/>
            </a:pPr>
            <a:r>
              <a:rPr lang="en-US" sz="2200">
                <a:solidFill>
                  <a:srgbClr val="C00000"/>
                </a:solidFill>
                <a:latin typeface="Palatino Linotype"/>
                <a:ea typeface="Palatino Linotype"/>
                <a:cs typeface="Palatino Linotype"/>
                <a:sym typeface="Palatino Linotype"/>
              </a:rPr>
              <a:t>*** See Example 3, Page:158</a:t>
            </a:r>
            <a:endParaRPr sz="2200">
              <a:solidFill>
                <a:srgbClr val="C00000"/>
              </a:solidFill>
              <a:latin typeface="Palatino Linotype"/>
              <a:ea typeface="Palatino Linotype"/>
              <a:cs typeface="Palatino Linotype"/>
              <a:sym typeface="Palatino Linotype"/>
            </a:endParaRPr>
          </a:p>
        </p:txBody>
      </p:sp>
      <p:sp>
        <p:nvSpPr>
          <p:cNvPr id="231" name="Google Shape;231;p20"/>
          <p:cNvSpPr/>
          <p:nvPr/>
        </p:nvSpPr>
        <p:spPr>
          <a:xfrm>
            <a:off x="2415987" y="442693"/>
            <a:ext cx="7776883"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a:solidFill>
                  <a:srgbClr val="1482AB"/>
                </a:solidFill>
                <a:latin typeface="Palatino Linotype"/>
                <a:ea typeface="Palatino Linotype"/>
                <a:cs typeface="Palatino Linotype"/>
                <a:sym typeface="Palatino Linotype"/>
              </a:rPr>
              <a:t>Overloading a Unary Operator</a:t>
            </a:r>
            <a:endParaRPr b="1" sz="4000">
              <a:solidFill>
                <a:srgbClr val="1482AB"/>
              </a:solidFill>
              <a:latin typeface="Palatino Linotype"/>
              <a:ea typeface="Palatino Linotype"/>
              <a:cs typeface="Palatino Linotype"/>
              <a:sym typeface="Palatino Linotype"/>
            </a:endParaRPr>
          </a:p>
        </p:txBody>
      </p:sp>
      <p:pic>
        <p:nvPicPr>
          <p:cNvPr id="232" name="Google Shape;232;p20"/>
          <p:cNvPicPr preferRelativeResize="0"/>
          <p:nvPr/>
        </p:nvPicPr>
        <p:blipFill rotWithShape="1">
          <a:blip r:embed="rId3">
            <a:alphaModFix/>
          </a:blip>
          <a:srcRect b="0" l="0" r="0" t="0"/>
          <a:stretch/>
        </p:blipFill>
        <p:spPr>
          <a:xfrm>
            <a:off x="3043367" y="1483048"/>
            <a:ext cx="6522122" cy="169056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1"/>
          <p:cNvSpPr txBox="1"/>
          <p:nvPr/>
        </p:nvSpPr>
        <p:spPr>
          <a:xfrm>
            <a:off x="0" y="157563"/>
            <a:ext cx="12192000" cy="1000124"/>
          </a:xfrm>
          <a:prstGeom prst="rect">
            <a:avLst/>
          </a:prstGeom>
          <a:solidFill>
            <a:schemeClr val="lt1"/>
          </a:solidFill>
          <a:ln>
            <a:noFill/>
          </a:ln>
        </p:spPr>
        <p:txBody>
          <a:bodyPr anchorCtr="0" anchor="t" bIns="45700" lIns="91425" spcFirstLastPara="1" rIns="91425" wrap="square" tIns="45700">
            <a:normAutofit/>
          </a:bodyPr>
          <a:lstStyle/>
          <a:p>
            <a:pPr indent="0" lvl="0" marL="0" marR="0" rtl="0" algn="ctr">
              <a:lnSpc>
                <a:spcPct val="85000"/>
              </a:lnSpc>
              <a:spcBef>
                <a:spcPts val="0"/>
              </a:spcBef>
              <a:spcAft>
                <a:spcPts val="0"/>
              </a:spcAft>
              <a:buClr>
                <a:srgbClr val="3F3F3F"/>
              </a:buClr>
              <a:buSzPts val="4000"/>
              <a:buFont typeface="Calibri"/>
              <a:buNone/>
            </a:pPr>
            <a:r>
              <a:t/>
            </a:r>
            <a:endParaRPr b="1" sz="4000">
              <a:solidFill>
                <a:srgbClr val="1482AB"/>
              </a:solidFill>
              <a:latin typeface="Palatino Linotype"/>
              <a:ea typeface="Palatino Linotype"/>
              <a:cs typeface="Palatino Linotype"/>
              <a:sym typeface="Palatino Linotype"/>
            </a:endParaRPr>
          </a:p>
        </p:txBody>
      </p:sp>
      <p:sp>
        <p:nvSpPr>
          <p:cNvPr id="238" name="Google Shape;238;p21"/>
          <p:cNvSpPr txBox="1"/>
          <p:nvPr/>
        </p:nvSpPr>
        <p:spPr>
          <a:xfrm>
            <a:off x="179294" y="726800"/>
            <a:ext cx="10596282" cy="43088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200">
                <a:solidFill>
                  <a:srgbClr val="C00000"/>
                </a:solidFill>
                <a:latin typeface="Palatino Linotype"/>
                <a:ea typeface="Palatino Linotype"/>
                <a:cs typeface="Palatino Linotype"/>
                <a:sym typeface="Palatino Linotype"/>
              </a:rPr>
              <a:t>*** See Example 3, Page:158</a:t>
            </a:r>
            <a:endParaRPr sz="2200">
              <a:solidFill>
                <a:srgbClr val="C00000"/>
              </a:solidFill>
              <a:latin typeface="Palatino Linotype"/>
              <a:ea typeface="Palatino Linotype"/>
              <a:cs typeface="Palatino Linotype"/>
              <a:sym typeface="Palatino Linotype"/>
            </a:endParaRPr>
          </a:p>
        </p:txBody>
      </p:sp>
      <p:sp>
        <p:nvSpPr>
          <p:cNvPr id="239" name="Google Shape;239;p21"/>
          <p:cNvSpPr/>
          <p:nvPr/>
        </p:nvSpPr>
        <p:spPr>
          <a:xfrm>
            <a:off x="1151965" y="2012124"/>
            <a:ext cx="10242176" cy="267765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800">
                <a:solidFill>
                  <a:schemeClr val="dk1"/>
                </a:solidFill>
                <a:latin typeface="Palatino Linotype"/>
                <a:ea typeface="Palatino Linotype"/>
                <a:cs typeface="Palatino Linotype"/>
                <a:sym typeface="Palatino Linotype"/>
              </a:rPr>
              <a:t>As you know, the minus sign is both a binary and a unary operator in C++. You might be wondering how you can overload it so that it retains both of these uses relative to a class that you create. The solution is actually quite easy: you simply overload it twice, once as a binary operator and once as a unary operator. This program shows how:</a:t>
            </a:r>
            <a:endParaRPr b="1" sz="2800">
              <a:solidFill>
                <a:srgbClr val="1482AB"/>
              </a:solidFill>
              <a:latin typeface="Palatino Linotype"/>
              <a:ea typeface="Palatino Linotype"/>
              <a:cs typeface="Palatino Linotype"/>
              <a:sym typeface="Palatino Linotype"/>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id="244" name="Google Shape;244;p22"/>
          <p:cNvPicPr preferRelativeResize="0"/>
          <p:nvPr/>
        </p:nvPicPr>
        <p:blipFill rotWithShape="1">
          <a:blip r:embed="rId3">
            <a:alphaModFix/>
          </a:blip>
          <a:srcRect b="0" l="0" r="0" t="0"/>
          <a:stretch/>
        </p:blipFill>
        <p:spPr>
          <a:xfrm>
            <a:off x="662193" y="165612"/>
            <a:ext cx="6252881" cy="5849469"/>
          </a:xfrm>
          <a:prstGeom prst="rect">
            <a:avLst/>
          </a:prstGeom>
          <a:noFill/>
          <a:ln>
            <a:noFill/>
          </a:ln>
        </p:spPr>
      </p:pic>
      <p:pic>
        <p:nvPicPr>
          <p:cNvPr id="245" name="Google Shape;245;p22"/>
          <p:cNvPicPr preferRelativeResize="0"/>
          <p:nvPr/>
        </p:nvPicPr>
        <p:blipFill rotWithShape="1">
          <a:blip r:embed="rId4">
            <a:alphaModFix/>
          </a:blip>
          <a:srcRect b="0" l="0" r="0" t="0"/>
          <a:stretch/>
        </p:blipFill>
        <p:spPr>
          <a:xfrm>
            <a:off x="6719028" y="757796"/>
            <a:ext cx="4694985" cy="466510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3"/>
          <p:cNvSpPr txBox="1"/>
          <p:nvPr>
            <p:ph type="title"/>
          </p:nvPr>
        </p:nvSpPr>
        <p:spPr>
          <a:xfrm>
            <a:off x="0" y="213981"/>
            <a:ext cx="12192000" cy="1228725"/>
          </a:xfrm>
          <a:prstGeom prst="rect">
            <a:avLst/>
          </a:prstGeom>
          <a:solidFill>
            <a:schemeClr val="lt1"/>
          </a:solid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1482AB"/>
              </a:buClr>
              <a:buSzPts val="4000"/>
              <a:buFont typeface="Palatino Linotype"/>
              <a:buNone/>
            </a:pPr>
            <a:r>
              <a:rPr b="1" lang="en-US" sz="4000">
                <a:solidFill>
                  <a:srgbClr val="1482AB"/>
                </a:solidFill>
                <a:latin typeface="Palatino Linotype"/>
                <a:ea typeface="Palatino Linotype"/>
                <a:cs typeface="Palatino Linotype"/>
                <a:sym typeface="Palatino Linotype"/>
              </a:rPr>
              <a:t>Using Friend Operator Functions</a:t>
            </a:r>
            <a:endParaRPr b="1" sz="4000">
              <a:solidFill>
                <a:srgbClr val="1482AB"/>
              </a:solidFill>
              <a:latin typeface="Palatino Linotype"/>
              <a:ea typeface="Palatino Linotype"/>
              <a:cs typeface="Palatino Linotype"/>
              <a:sym typeface="Palatino Linotype"/>
            </a:endParaRPr>
          </a:p>
        </p:txBody>
      </p:sp>
      <p:sp>
        <p:nvSpPr>
          <p:cNvPr id="251" name="Google Shape;251;p23"/>
          <p:cNvSpPr/>
          <p:nvPr/>
        </p:nvSpPr>
        <p:spPr>
          <a:xfrm>
            <a:off x="0" y="6500813"/>
            <a:ext cx="12192000" cy="357188"/>
          </a:xfrm>
          <a:prstGeom prst="rect">
            <a:avLst/>
          </a:prstGeom>
          <a:solidFill>
            <a:srgbClr val="0D567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Palatino Linotype"/>
              <a:ea typeface="Palatino Linotype"/>
              <a:cs typeface="Palatino Linotype"/>
              <a:sym typeface="Palatino Linotype"/>
            </a:endParaRPr>
          </a:p>
        </p:txBody>
      </p:sp>
      <p:sp>
        <p:nvSpPr>
          <p:cNvPr id="252" name="Google Shape;252;p23"/>
          <p:cNvSpPr/>
          <p:nvPr/>
        </p:nvSpPr>
        <p:spPr>
          <a:xfrm>
            <a:off x="931210" y="1961502"/>
            <a:ext cx="10706100" cy="317009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800">
                <a:solidFill>
                  <a:schemeClr val="dk1"/>
                </a:solidFill>
                <a:latin typeface="Palatino Linotype"/>
                <a:ea typeface="Palatino Linotype"/>
                <a:cs typeface="Palatino Linotype"/>
                <a:sym typeface="Palatino Linotype"/>
              </a:rPr>
              <a:t>Purpose of Friend Functions: </a:t>
            </a:r>
            <a:endParaRPr b="1" sz="2800">
              <a:solidFill>
                <a:schemeClr val="dk1"/>
              </a:solidFill>
              <a:latin typeface="Palatino Linotype"/>
              <a:ea typeface="Palatino Linotype"/>
              <a:cs typeface="Palatino Linotype"/>
              <a:sym typeface="Palatino Linotype"/>
            </a:endParaRPr>
          </a:p>
          <a:p>
            <a:pPr indent="0" lvl="0" marL="0" marR="0" rtl="0" algn="just">
              <a:spcBef>
                <a:spcPts val="0"/>
              </a:spcBef>
              <a:spcAft>
                <a:spcPts val="0"/>
              </a:spcAft>
              <a:buNone/>
            </a:pPr>
            <a:r>
              <a:t/>
            </a:r>
            <a:endParaRPr b="1" sz="2800">
              <a:solidFill>
                <a:schemeClr val="dk1"/>
              </a:solidFill>
              <a:latin typeface="Palatino Linotype"/>
              <a:ea typeface="Palatino Linotype"/>
              <a:cs typeface="Palatino Linotype"/>
              <a:sym typeface="Palatino Linotype"/>
            </a:endParaRPr>
          </a:p>
          <a:p>
            <a:pPr indent="-342900" lvl="0" marL="342900" marR="0" rtl="0" algn="just">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Friend functions allow operators to be overloaded relative to a class without requiring them to be class members. </a:t>
            </a:r>
            <a:endParaRPr sz="2400">
              <a:solidFill>
                <a:schemeClr val="dk1"/>
              </a:solidFill>
              <a:latin typeface="Palatino Linotype"/>
              <a:ea typeface="Palatino Linotype"/>
              <a:cs typeface="Palatino Linotype"/>
              <a:sym typeface="Palatino Linotype"/>
            </a:endParaRPr>
          </a:p>
          <a:p>
            <a:pPr indent="-342900" lvl="0" marL="342900" marR="0" rtl="0" algn="just">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Unlike member functions, friend functions don’t have access to the this pointer. </a:t>
            </a:r>
            <a:endParaRPr sz="2400">
              <a:solidFill>
                <a:schemeClr val="dk1"/>
              </a:solidFill>
              <a:latin typeface="Palatino Linotype"/>
              <a:ea typeface="Palatino Linotype"/>
              <a:cs typeface="Palatino Linotype"/>
              <a:sym typeface="Palatino Linotype"/>
            </a:endParaRPr>
          </a:p>
          <a:p>
            <a:pPr indent="-342900" lvl="0" marL="342900" marR="0" rtl="0" algn="just">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This allows both operands to be passed explicitly in binary operators, while unary operators have a single operand passed directly.</a:t>
            </a:r>
            <a:endParaRPr b="0" i="0" sz="2400">
              <a:solidFill>
                <a:schemeClr val="dk1"/>
              </a:solidFill>
              <a:latin typeface="Palatino Linotype"/>
              <a:ea typeface="Palatino Linotype"/>
              <a:cs typeface="Palatino Linotype"/>
              <a:sym typeface="Palatino Linotype"/>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4"/>
          <p:cNvSpPr txBox="1"/>
          <p:nvPr>
            <p:ph type="title"/>
          </p:nvPr>
        </p:nvSpPr>
        <p:spPr>
          <a:xfrm>
            <a:off x="0" y="200534"/>
            <a:ext cx="12192000" cy="1228725"/>
          </a:xfrm>
          <a:prstGeom prst="rect">
            <a:avLst/>
          </a:prstGeom>
          <a:solidFill>
            <a:schemeClr val="lt1"/>
          </a:solid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1482AB"/>
              </a:buClr>
              <a:buSzPts val="4000"/>
              <a:buFont typeface="Palatino Linotype"/>
              <a:buNone/>
            </a:pPr>
            <a:r>
              <a:rPr b="1" lang="en-US" sz="4000">
                <a:solidFill>
                  <a:srgbClr val="1482AB"/>
                </a:solidFill>
                <a:latin typeface="Palatino Linotype"/>
                <a:ea typeface="Palatino Linotype"/>
                <a:cs typeface="Palatino Linotype"/>
                <a:sym typeface="Palatino Linotype"/>
              </a:rPr>
              <a:t>Using Friend Operator Functions</a:t>
            </a:r>
            <a:endParaRPr b="1" sz="4000">
              <a:solidFill>
                <a:srgbClr val="1482AB"/>
              </a:solidFill>
              <a:latin typeface="Palatino Linotype"/>
              <a:ea typeface="Palatino Linotype"/>
              <a:cs typeface="Palatino Linotype"/>
              <a:sym typeface="Palatino Linotype"/>
            </a:endParaRPr>
          </a:p>
        </p:txBody>
      </p:sp>
      <p:sp>
        <p:nvSpPr>
          <p:cNvPr id="258" name="Google Shape;258;p24"/>
          <p:cNvSpPr/>
          <p:nvPr/>
        </p:nvSpPr>
        <p:spPr>
          <a:xfrm>
            <a:off x="0" y="6500813"/>
            <a:ext cx="12192000" cy="357188"/>
          </a:xfrm>
          <a:prstGeom prst="rect">
            <a:avLst/>
          </a:prstGeom>
          <a:solidFill>
            <a:srgbClr val="0D567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Palatino Linotype"/>
              <a:ea typeface="Palatino Linotype"/>
              <a:cs typeface="Palatino Linotype"/>
              <a:sym typeface="Palatino Linotype"/>
            </a:endParaRPr>
          </a:p>
        </p:txBody>
      </p:sp>
      <p:sp>
        <p:nvSpPr>
          <p:cNvPr id="259" name="Google Shape;259;p24"/>
          <p:cNvSpPr/>
          <p:nvPr/>
        </p:nvSpPr>
        <p:spPr>
          <a:xfrm>
            <a:off x="742950" y="2163208"/>
            <a:ext cx="10706100" cy="304698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400">
                <a:solidFill>
                  <a:schemeClr val="dk1"/>
                </a:solidFill>
                <a:latin typeface="Palatino Linotype"/>
                <a:ea typeface="Palatino Linotype"/>
                <a:cs typeface="Palatino Linotype"/>
                <a:sym typeface="Palatino Linotype"/>
              </a:rPr>
              <a:t>Why Use a Friend Over Member Functions?: </a:t>
            </a:r>
            <a:endParaRPr b="1" sz="2400">
              <a:solidFill>
                <a:schemeClr val="dk1"/>
              </a:solidFill>
              <a:latin typeface="Palatino Linotype"/>
              <a:ea typeface="Palatino Linotype"/>
              <a:cs typeface="Palatino Linotype"/>
              <a:sym typeface="Palatino Linotype"/>
            </a:endParaRPr>
          </a:p>
          <a:p>
            <a:pPr indent="-190500" lvl="0" marL="342900" marR="0" rtl="0" algn="just">
              <a:spcBef>
                <a:spcPts val="0"/>
              </a:spcBef>
              <a:spcAft>
                <a:spcPts val="0"/>
              </a:spcAft>
              <a:buClr>
                <a:schemeClr val="dk1"/>
              </a:buClr>
              <a:buSzPts val="2400"/>
              <a:buFont typeface="Arial"/>
              <a:buNone/>
            </a:pPr>
            <a:r>
              <a:t/>
            </a:r>
            <a:endParaRPr sz="2400">
              <a:solidFill>
                <a:schemeClr val="dk1"/>
              </a:solidFill>
              <a:latin typeface="Palatino Linotype"/>
              <a:ea typeface="Palatino Linotype"/>
              <a:cs typeface="Palatino Linotype"/>
              <a:sym typeface="Palatino Linotype"/>
            </a:endParaRPr>
          </a:p>
          <a:p>
            <a:pPr indent="-342900" lvl="0" marL="342900" marR="0" rtl="0" algn="just">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Generally, using a friend function over a member function for operator overloading is optional. </a:t>
            </a:r>
            <a:r>
              <a:rPr lang="en-US" sz="2400">
                <a:solidFill>
                  <a:srgbClr val="C00000"/>
                </a:solidFill>
                <a:latin typeface="Palatino Linotype"/>
                <a:ea typeface="Palatino Linotype"/>
                <a:cs typeface="Palatino Linotype"/>
                <a:sym typeface="Palatino Linotype"/>
              </a:rPr>
              <a:t>The main exception occurs when external access to class members is necessary, </a:t>
            </a:r>
            <a:r>
              <a:rPr lang="en-US" sz="2400">
                <a:solidFill>
                  <a:schemeClr val="dk1"/>
                </a:solidFill>
                <a:latin typeface="Palatino Linotype"/>
                <a:ea typeface="Palatino Linotype"/>
                <a:cs typeface="Palatino Linotype"/>
                <a:sym typeface="Palatino Linotype"/>
              </a:rPr>
              <a:t>demonstrated here with the binary + operator.</a:t>
            </a:r>
            <a:endParaRPr/>
          </a:p>
          <a:p>
            <a:pPr indent="0" lvl="0" marL="0" marR="0" rtl="0" algn="just">
              <a:spcBef>
                <a:spcPts val="0"/>
              </a:spcBef>
              <a:spcAft>
                <a:spcPts val="0"/>
              </a:spcAft>
              <a:buNone/>
            </a:pPr>
            <a:r>
              <a:rPr lang="en-US" sz="2400">
                <a:solidFill>
                  <a:schemeClr val="dk1"/>
                </a:solidFill>
                <a:latin typeface="Palatino Linotype"/>
                <a:ea typeface="Palatino Linotype"/>
                <a:cs typeface="Palatino Linotype"/>
                <a:sym typeface="Palatino Linotype"/>
              </a:rPr>
              <a:t> </a:t>
            </a:r>
            <a:endParaRPr/>
          </a:p>
          <a:p>
            <a:pPr indent="-342900" lvl="0" marL="342900" marR="0" rtl="0" algn="just">
              <a:spcBef>
                <a:spcPts val="0"/>
              </a:spcBef>
              <a:spcAft>
                <a:spcPts val="0"/>
              </a:spcAft>
              <a:buClr>
                <a:schemeClr val="dk1"/>
              </a:buClr>
              <a:buSzPts val="2400"/>
              <a:buFont typeface="Arial"/>
              <a:buChar char="•"/>
            </a:pPr>
            <a:r>
              <a:rPr b="1" lang="en-US" sz="2400">
                <a:solidFill>
                  <a:schemeClr val="dk1"/>
                </a:solidFill>
                <a:latin typeface="Palatino Linotype"/>
                <a:ea typeface="Palatino Linotype"/>
                <a:cs typeface="Palatino Linotype"/>
                <a:sym typeface="Palatino Linotype"/>
              </a:rPr>
              <a:t>A notable restriction is that the assignment operator = can only be overloaded with a member function, not a friend function.</a:t>
            </a:r>
            <a:endParaRPr b="1" i="0" sz="2400">
              <a:solidFill>
                <a:schemeClr val="dk1"/>
              </a:solidFill>
              <a:latin typeface="Palatino Linotype"/>
              <a:ea typeface="Palatino Linotype"/>
              <a:cs typeface="Palatino Linotype"/>
              <a:sym typeface="Palatino Linotype"/>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5"/>
          <p:cNvSpPr txBox="1"/>
          <p:nvPr/>
        </p:nvSpPr>
        <p:spPr>
          <a:xfrm>
            <a:off x="386514" y="2501574"/>
            <a:ext cx="3496235" cy="1000124"/>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85000"/>
              </a:lnSpc>
              <a:spcBef>
                <a:spcPts val="0"/>
              </a:spcBef>
              <a:spcAft>
                <a:spcPts val="0"/>
              </a:spcAft>
              <a:buClr>
                <a:srgbClr val="1482AB"/>
              </a:buClr>
              <a:buSzPts val="3200"/>
              <a:buFont typeface="Palatino Linotype"/>
              <a:buNone/>
            </a:pPr>
            <a:r>
              <a:rPr b="1" lang="en-US" sz="3200">
                <a:solidFill>
                  <a:srgbClr val="1482AB"/>
                </a:solidFill>
                <a:latin typeface="Palatino Linotype"/>
                <a:ea typeface="Palatino Linotype"/>
                <a:cs typeface="Palatino Linotype"/>
                <a:sym typeface="Palatino Linotype"/>
              </a:rPr>
              <a:t>Using Friend Operator Functions</a:t>
            </a:r>
            <a:endParaRPr b="1" sz="3200">
              <a:solidFill>
                <a:srgbClr val="1482AB"/>
              </a:solidFill>
              <a:latin typeface="Palatino Linotype"/>
              <a:ea typeface="Palatino Linotype"/>
              <a:cs typeface="Palatino Linotype"/>
              <a:sym typeface="Palatino Linotype"/>
            </a:endParaRPr>
          </a:p>
        </p:txBody>
      </p:sp>
      <p:pic>
        <p:nvPicPr>
          <p:cNvPr id="265" name="Google Shape;265;p25"/>
          <p:cNvPicPr preferRelativeResize="0"/>
          <p:nvPr/>
        </p:nvPicPr>
        <p:blipFill rotWithShape="1">
          <a:blip r:embed="rId3">
            <a:alphaModFix/>
          </a:blip>
          <a:srcRect b="0" l="0" r="0" t="0"/>
          <a:stretch/>
        </p:blipFill>
        <p:spPr>
          <a:xfrm>
            <a:off x="4433326" y="0"/>
            <a:ext cx="6579814" cy="6858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6"/>
          <p:cNvSpPr txBox="1"/>
          <p:nvPr>
            <p:ph type="title"/>
          </p:nvPr>
        </p:nvSpPr>
        <p:spPr>
          <a:xfrm>
            <a:off x="0" y="200534"/>
            <a:ext cx="12192000" cy="1228725"/>
          </a:xfrm>
          <a:prstGeom prst="rect">
            <a:avLst/>
          </a:prstGeom>
          <a:solidFill>
            <a:schemeClr val="lt1"/>
          </a:solid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1482AB"/>
              </a:buClr>
              <a:buSzPts val="4000"/>
              <a:buFont typeface="Palatino Linotype"/>
              <a:buNone/>
            </a:pPr>
            <a:r>
              <a:rPr b="1" lang="en-US" sz="4000">
                <a:solidFill>
                  <a:srgbClr val="1482AB"/>
                </a:solidFill>
                <a:latin typeface="Palatino Linotype"/>
                <a:ea typeface="Palatino Linotype"/>
                <a:cs typeface="Palatino Linotype"/>
                <a:sym typeface="Palatino Linotype"/>
              </a:rPr>
              <a:t>Using Friend Operator Functions</a:t>
            </a:r>
            <a:endParaRPr b="1" sz="4000">
              <a:solidFill>
                <a:srgbClr val="1482AB"/>
              </a:solidFill>
              <a:latin typeface="Palatino Linotype"/>
              <a:ea typeface="Palatino Linotype"/>
              <a:cs typeface="Palatino Linotype"/>
              <a:sym typeface="Palatino Linotype"/>
            </a:endParaRPr>
          </a:p>
        </p:txBody>
      </p:sp>
      <p:sp>
        <p:nvSpPr>
          <p:cNvPr id="271" name="Google Shape;271;p26"/>
          <p:cNvSpPr/>
          <p:nvPr/>
        </p:nvSpPr>
        <p:spPr>
          <a:xfrm>
            <a:off x="0" y="6500813"/>
            <a:ext cx="12192000" cy="357188"/>
          </a:xfrm>
          <a:prstGeom prst="rect">
            <a:avLst/>
          </a:prstGeom>
          <a:solidFill>
            <a:srgbClr val="0D567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Palatino Linotype"/>
              <a:ea typeface="Palatino Linotype"/>
              <a:cs typeface="Palatino Linotype"/>
              <a:sym typeface="Palatino Linotype"/>
            </a:endParaRPr>
          </a:p>
        </p:txBody>
      </p:sp>
      <p:sp>
        <p:nvSpPr>
          <p:cNvPr id="272" name="Google Shape;272;p26"/>
          <p:cNvSpPr/>
          <p:nvPr/>
        </p:nvSpPr>
        <p:spPr>
          <a:xfrm>
            <a:off x="742950" y="1964353"/>
            <a:ext cx="10821521" cy="4893647"/>
          </a:xfrm>
          <a:prstGeom prst="rect">
            <a:avLst/>
          </a:prstGeom>
          <a:noFill/>
          <a:ln>
            <a:noFill/>
          </a:ln>
        </p:spPr>
        <p:txBody>
          <a:bodyPr anchorCtr="0" anchor="t" bIns="45700" lIns="91425" spcFirstLastPara="1" rIns="91425" wrap="square" tIns="45700">
            <a:spAutoFit/>
          </a:bodyPr>
          <a:lstStyle/>
          <a:p>
            <a:pPr indent="-342900" lvl="0" marL="342900" marR="0" rtl="0" algn="just">
              <a:spcBef>
                <a:spcPts val="0"/>
              </a:spcBef>
              <a:spcAft>
                <a:spcPts val="0"/>
              </a:spcAft>
              <a:buClr>
                <a:schemeClr val="dk1"/>
              </a:buClr>
              <a:buSzPts val="2000"/>
              <a:buFont typeface="Arial"/>
              <a:buChar char="•"/>
            </a:pPr>
            <a:r>
              <a:rPr lang="en-US" sz="2000">
                <a:solidFill>
                  <a:schemeClr val="dk1"/>
                </a:solidFill>
                <a:latin typeface="Palatino Linotype"/>
                <a:ea typeface="Palatino Linotype"/>
                <a:cs typeface="Palatino Linotype"/>
                <a:sym typeface="Palatino Linotype"/>
              </a:rPr>
              <a:t>Friend functions allow more flexible overloading of operators compared to member functions. Specifically, they let objects interact with built-in types even when the built-in type is on the left side of the operator, something member functions cannot do.</a:t>
            </a:r>
            <a:endParaRPr/>
          </a:p>
          <a:p>
            <a:pPr indent="-215900" lvl="0" marL="342900" marR="0" rtl="0" algn="just">
              <a:spcBef>
                <a:spcPts val="0"/>
              </a:spcBef>
              <a:spcAft>
                <a:spcPts val="0"/>
              </a:spcAft>
              <a:buClr>
                <a:schemeClr val="dk1"/>
              </a:buClr>
              <a:buSzPts val="2000"/>
              <a:buFont typeface="Arial"/>
              <a:buNone/>
            </a:pPr>
            <a:r>
              <a:t/>
            </a:r>
            <a:endParaRPr sz="2000">
              <a:solidFill>
                <a:schemeClr val="dk1"/>
              </a:solidFill>
              <a:latin typeface="Palatino Linotype"/>
              <a:ea typeface="Palatino Linotype"/>
              <a:cs typeface="Palatino Linotype"/>
              <a:sym typeface="Palatino Linotype"/>
            </a:endParaRPr>
          </a:p>
          <a:p>
            <a:pPr indent="-342900" lvl="0" marL="342900" marR="0" rtl="0" algn="just">
              <a:spcBef>
                <a:spcPts val="0"/>
              </a:spcBef>
              <a:spcAft>
                <a:spcPts val="0"/>
              </a:spcAft>
              <a:buClr>
                <a:schemeClr val="dk1"/>
              </a:buClr>
              <a:buSzPts val="2000"/>
              <a:buFont typeface="Arial"/>
              <a:buChar char="•"/>
            </a:pPr>
            <a:r>
              <a:rPr lang="en-US" sz="2000">
                <a:solidFill>
                  <a:schemeClr val="dk1"/>
                </a:solidFill>
                <a:latin typeface="Palatino Linotype"/>
                <a:ea typeface="Palatino Linotype"/>
                <a:cs typeface="Palatino Linotype"/>
                <a:sym typeface="Palatino Linotype"/>
              </a:rPr>
              <a:t>Member functions can overload operators when the left operand is an object and the right is a built-in type, like object + 10 (legal).</a:t>
            </a:r>
            <a:endParaRPr/>
          </a:p>
          <a:p>
            <a:pPr indent="0" lvl="0" marL="0" marR="0" rtl="0" algn="just">
              <a:spcBef>
                <a:spcPts val="0"/>
              </a:spcBef>
              <a:spcAft>
                <a:spcPts val="0"/>
              </a:spcAft>
              <a:buNone/>
            </a:pPr>
            <a:r>
              <a:rPr lang="en-US" sz="2000">
                <a:solidFill>
                  <a:schemeClr val="dk1"/>
                </a:solidFill>
                <a:latin typeface="Palatino Linotype"/>
                <a:ea typeface="Palatino Linotype"/>
                <a:cs typeface="Palatino Linotype"/>
                <a:sym typeface="Palatino Linotype"/>
              </a:rPr>
              <a:t>     However, the reverse, 10 + object, is </a:t>
            </a:r>
            <a:r>
              <a:rPr b="1" lang="en-US" sz="2000">
                <a:solidFill>
                  <a:schemeClr val="dk1"/>
                </a:solidFill>
                <a:latin typeface="Palatino Linotype"/>
                <a:ea typeface="Palatino Linotype"/>
                <a:cs typeface="Palatino Linotype"/>
                <a:sym typeface="Palatino Linotype"/>
              </a:rPr>
              <a:t>not possible</a:t>
            </a:r>
            <a:r>
              <a:rPr lang="en-US" sz="2000">
                <a:solidFill>
                  <a:schemeClr val="dk1"/>
                </a:solidFill>
                <a:latin typeface="Palatino Linotype"/>
                <a:ea typeface="Palatino Linotype"/>
                <a:cs typeface="Palatino Linotype"/>
                <a:sym typeface="Palatino Linotype"/>
              </a:rPr>
              <a:t> with member functions. </a:t>
            </a:r>
            <a:endParaRPr sz="2000">
              <a:solidFill>
                <a:schemeClr val="dk1"/>
              </a:solidFill>
              <a:latin typeface="Palatino Linotype"/>
              <a:ea typeface="Palatino Linotype"/>
              <a:cs typeface="Palatino Linotype"/>
              <a:sym typeface="Palatino Linotype"/>
            </a:endParaRPr>
          </a:p>
          <a:p>
            <a:pPr indent="-215900" lvl="0" marL="342900" marR="0" rtl="0" algn="just">
              <a:spcBef>
                <a:spcPts val="0"/>
              </a:spcBef>
              <a:spcAft>
                <a:spcPts val="0"/>
              </a:spcAft>
              <a:buClr>
                <a:schemeClr val="dk1"/>
              </a:buClr>
              <a:buSzPts val="2000"/>
              <a:buFont typeface="Arial"/>
              <a:buNone/>
            </a:pPr>
            <a:r>
              <a:t/>
            </a:r>
            <a:endParaRPr sz="2000">
              <a:solidFill>
                <a:schemeClr val="dk1"/>
              </a:solidFill>
              <a:latin typeface="Palatino Linotype"/>
              <a:ea typeface="Palatino Linotype"/>
              <a:cs typeface="Palatino Linotype"/>
              <a:sym typeface="Palatino Linotype"/>
            </a:endParaRPr>
          </a:p>
          <a:p>
            <a:pPr indent="-342900" lvl="0" marL="342900" marR="0" rtl="0" algn="just">
              <a:spcBef>
                <a:spcPts val="0"/>
              </a:spcBef>
              <a:spcAft>
                <a:spcPts val="0"/>
              </a:spcAft>
              <a:buClr>
                <a:schemeClr val="dk1"/>
              </a:buClr>
              <a:buSzPts val="2000"/>
              <a:buFont typeface="Arial"/>
              <a:buChar char="•"/>
            </a:pPr>
            <a:r>
              <a:rPr lang="en-US" sz="2000">
                <a:solidFill>
                  <a:schemeClr val="dk1"/>
                </a:solidFill>
                <a:latin typeface="Palatino Linotype"/>
                <a:ea typeface="Palatino Linotype"/>
                <a:cs typeface="Palatino Linotype"/>
                <a:sym typeface="Palatino Linotype"/>
              </a:rPr>
              <a:t>To handle both cases (object + int and int + object), two friend operator functions are defined:</a:t>
            </a:r>
            <a:endParaRPr/>
          </a:p>
          <a:p>
            <a:pPr indent="0" lvl="0" marL="0" marR="0" rtl="0" algn="just">
              <a:spcBef>
                <a:spcPts val="0"/>
              </a:spcBef>
              <a:spcAft>
                <a:spcPts val="0"/>
              </a:spcAft>
              <a:buNone/>
            </a:pPr>
            <a:r>
              <a:rPr lang="en-US" sz="2000">
                <a:solidFill>
                  <a:schemeClr val="dk1"/>
                </a:solidFill>
                <a:latin typeface="Palatino Linotype"/>
                <a:ea typeface="Palatino Linotype"/>
                <a:cs typeface="Palatino Linotype"/>
                <a:sym typeface="Palatino Linotype"/>
              </a:rPr>
              <a:t>      One where the object is on the left side (object + int).</a:t>
            </a:r>
            <a:endParaRPr/>
          </a:p>
          <a:p>
            <a:pPr indent="0" lvl="0" marL="0" marR="0" rtl="0" algn="just">
              <a:spcBef>
                <a:spcPts val="0"/>
              </a:spcBef>
              <a:spcAft>
                <a:spcPts val="0"/>
              </a:spcAft>
              <a:buNone/>
            </a:pPr>
            <a:r>
              <a:rPr lang="en-US" sz="2000">
                <a:solidFill>
                  <a:schemeClr val="dk1"/>
                </a:solidFill>
                <a:latin typeface="Palatino Linotype"/>
                <a:ea typeface="Palatino Linotype"/>
                <a:cs typeface="Palatino Linotype"/>
                <a:sym typeface="Palatino Linotype"/>
              </a:rPr>
              <a:t>      Another where the built-in type is on the left side (int + object).</a:t>
            </a:r>
            <a:endParaRPr/>
          </a:p>
          <a:p>
            <a:pPr indent="0" lvl="0" marL="0" marR="0" rtl="0" algn="l">
              <a:spcBef>
                <a:spcPts val="0"/>
              </a:spcBef>
              <a:spcAft>
                <a:spcPts val="0"/>
              </a:spcAft>
              <a:buClr>
                <a:schemeClr val="dk1"/>
              </a:buClr>
              <a:buSzPts val="2400"/>
              <a:buFont typeface="Calibri"/>
              <a:buNone/>
            </a:pPr>
            <a:r>
              <a:t/>
            </a:r>
            <a:endParaRPr sz="2400">
              <a:solidFill>
                <a:schemeClr val="dk1"/>
              </a:solidFill>
              <a:latin typeface="Arial"/>
              <a:ea typeface="Arial"/>
              <a:cs typeface="Arial"/>
              <a:sym typeface="Arial"/>
            </a:endParaRPr>
          </a:p>
          <a:p>
            <a:pPr indent="0" lvl="0" marL="0" marR="0" rtl="0" algn="just">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b="0" i="0" sz="2400">
              <a:solidFill>
                <a:schemeClr val="dk1"/>
              </a:solidFill>
              <a:latin typeface="Palatino Linotype"/>
              <a:ea typeface="Palatino Linotype"/>
              <a:cs typeface="Palatino Linotype"/>
              <a:sym typeface="Palatino Linotype"/>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7"/>
          <p:cNvSpPr txBox="1"/>
          <p:nvPr/>
        </p:nvSpPr>
        <p:spPr>
          <a:xfrm>
            <a:off x="386514" y="2501574"/>
            <a:ext cx="3496235" cy="1000124"/>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85000"/>
              </a:lnSpc>
              <a:spcBef>
                <a:spcPts val="0"/>
              </a:spcBef>
              <a:spcAft>
                <a:spcPts val="0"/>
              </a:spcAft>
              <a:buClr>
                <a:srgbClr val="1482AB"/>
              </a:buClr>
              <a:buSzPts val="3200"/>
              <a:buFont typeface="Palatino Linotype"/>
              <a:buNone/>
            </a:pPr>
            <a:r>
              <a:rPr b="1" lang="en-US" sz="3200">
                <a:solidFill>
                  <a:srgbClr val="1482AB"/>
                </a:solidFill>
                <a:latin typeface="Palatino Linotype"/>
                <a:ea typeface="Palatino Linotype"/>
                <a:cs typeface="Palatino Linotype"/>
                <a:sym typeface="Palatino Linotype"/>
              </a:rPr>
              <a:t>Using Friend Operator Functions</a:t>
            </a:r>
            <a:endParaRPr b="1" sz="3200">
              <a:solidFill>
                <a:srgbClr val="1482AB"/>
              </a:solidFill>
              <a:latin typeface="Palatino Linotype"/>
              <a:ea typeface="Palatino Linotype"/>
              <a:cs typeface="Palatino Linotype"/>
              <a:sym typeface="Palatino Linotype"/>
            </a:endParaRPr>
          </a:p>
        </p:txBody>
      </p:sp>
      <p:pic>
        <p:nvPicPr>
          <p:cNvPr id="278" name="Google Shape;278;p27"/>
          <p:cNvPicPr preferRelativeResize="0"/>
          <p:nvPr/>
        </p:nvPicPr>
        <p:blipFill rotWithShape="1">
          <a:blip r:embed="rId3">
            <a:alphaModFix/>
          </a:blip>
          <a:srcRect b="0" l="0" r="0" t="0"/>
          <a:stretch/>
        </p:blipFill>
        <p:spPr>
          <a:xfrm>
            <a:off x="4350403" y="632012"/>
            <a:ext cx="6218985" cy="507178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8"/>
          <p:cNvSpPr txBox="1"/>
          <p:nvPr/>
        </p:nvSpPr>
        <p:spPr>
          <a:xfrm>
            <a:off x="386514" y="2501574"/>
            <a:ext cx="3496235" cy="1000124"/>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85000"/>
              </a:lnSpc>
              <a:spcBef>
                <a:spcPts val="0"/>
              </a:spcBef>
              <a:spcAft>
                <a:spcPts val="0"/>
              </a:spcAft>
              <a:buClr>
                <a:srgbClr val="1482AB"/>
              </a:buClr>
              <a:buSzPts val="3200"/>
              <a:buFont typeface="Palatino Linotype"/>
              <a:buNone/>
            </a:pPr>
            <a:r>
              <a:rPr b="1" lang="en-US" sz="3200">
                <a:solidFill>
                  <a:srgbClr val="1482AB"/>
                </a:solidFill>
                <a:latin typeface="Palatino Linotype"/>
                <a:ea typeface="Palatino Linotype"/>
                <a:cs typeface="Palatino Linotype"/>
                <a:sym typeface="Palatino Linotype"/>
              </a:rPr>
              <a:t>Using Friend Operator Functions</a:t>
            </a:r>
            <a:endParaRPr b="1" sz="3200">
              <a:solidFill>
                <a:srgbClr val="1482AB"/>
              </a:solidFill>
              <a:latin typeface="Palatino Linotype"/>
              <a:ea typeface="Palatino Linotype"/>
              <a:cs typeface="Palatino Linotype"/>
              <a:sym typeface="Palatino Linotype"/>
            </a:endParaRPr>
          </a:p>
        </p:txBody>
      </p:sp>
      <p:pic>
        <p:nvPicPr>
          <p:cNvPr id="284" name="Google Shape;284;p28"/>
          <p:cNvPicPr preferRelativeResize="0"/>
          <p:nvPr/>
        </p:nvPicPr>
        <p:blipFill rotWithShape="1">
          <a:blip r:embed="rId3">
            <a:alphaModFix/>
          </a:blip>
          <a:srcRect b="0" l="0" r="0" t="0"/>
          <a:stretch/>
        </p:blipFill>
        <p:spPr>
          <a:xfrm>
            <a:off x="4722998" y="995083"/>
            <a:ext cx="5617789" cy="422153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9"/>
          <p:cNvSpPr txBox="1"/>
          <p:nvPr/>
        </p:nvSpPr>
        <p:spPr>
          <a:xfrm>
            <a:off x="0" y="482924"/>
            <a:ext cx="12192000" cy="1000124"/>
          </a:xfrm>
          <a:prstGeom prst="rect">
            <a:avLst/>
          </a:prstGeom>
          <a:solidFill>
            <a:schemeClr val="lt1"/>
          </a:solidFill>
          <a:ln>
            <a:noFill/>
          </a:ln>
        </p:spPr>
        <p:txBody>
          <a:bodyPr anchorCtr="0" anchor="t" bIns="45700" lIns="91425" spcFirstLastPara="1" rIns="91425" wrap="square" tIns="45700">
            <a:normAutofit/>
          </a:bodyPr>
          <a:lstStyle/>
          <a:p>
            <a:pPr indent="0" lvl="0" marL="0" marR="0" rtl="0" algn="ctr">
              <a:lnSpc>
                <a:spcPct val="85000"/>
              </a:lnSpc>
              <a:spcBef>
                <a:spcPts val="0"/>
              </a:spcBef>
              <a:spcAft>
                <a:spcPts val="0"/>
              </a:spcAft>
              <a:buClr>
                <a:srgbClr val="3F3F3F"/>
              </a:buClr>
              <a:buSzPts val="4000"/>
              <a:buFont typeface="Calibri"/>
              <a:buNone/>
            </a:pPr>
            <a:r>
              <a:t/>
            </a:r>
            <a:endParaRPr b="1" sz="4000">
              <a:solidFill>
                <a:srgbClr val="1482AB"/>
              </a:solidFill>
              <a:latin typeface="Palatino Linotype"/>
              <a:ea typeface="Palatino Linotype"/>
              <a:cs typeface="Palatino Linotype"/>
              <a:sym typeface="Palatino Linotype"/>
            </a:endParaRPr>
          </a:p>
        </p:txBody>
      </p:sp>
      <p:sp>
        <p:nvSpPr>
          <p:cNvPr id="290" name="Google Shape;290;p29"/>
          <p:cNvSpPr txBox="1"/>
          <p:nvPr/>
        </p:nvSpPr>
        <p:spPr>
          <a:xfrm rot="10800000">
            <a:off x="2316903" y="7754155"/>
            <a:ext cx="7185094" cy="43088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200">
                <a:solidFill>
                  <a:schemeClr val="dk1"/>
                </a:solidFill>
                <a:latin typeface="Palatino Linotype"/>
                <a:ea typeface="Palatino Linotype"/>
                <a:cs typeface="Palatino Linotype"/>
                <a:sym typeface="Palatino Linotype"/>
              </a:rPr>
              <a:t>Explanation:</a:t>
            </a:r>
            <a:endParaRPr sz="2200">
              <a:solidFill>
                <a:srgbClr val="C00000"/>
              </a:solidFill>
              <a:latin typeface="Palatino Linotype"/>
              <a:ea typeface="Palatino Linotype"/>
              <a:cs typeface="Palatino Linotype"/>
              <a:sym typeface="Palatino Linotype"/>
            </a:endParaRPr>
          </a:p>
        </p:txBody>
      </p:sp>
      <p:sp>
        <p:nvSpPr>
          <p:cNvPr id="291" name="Google Shape;291;p29"/>
          <p:cNvSpPr/>
          <p:nvPr/>
        </p:nvSpPr>
        <p:spPr>
          <a:xfrm>
            <a:off x="1931891" y="483142"/>
            <a:ext cx="8529919"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a:solidFill>
                  <a:srgbClr val="1482AB"/>
                </a:solidFill>
                <a:latin typeface="Palatino Linotype"/>
                <a:ea typeface="Palatino Linotype"/>
                <a:cs typeface="Palatino Linotype"/>
                <a:sym typeface="Palatino Linotype"/>
              </a:rPr>
              <a:t>Using Friend Operator Functions</a:t>
            </a:r>
            <a:endParaRPr/>
          </a:p>
          <a:p>
            <a:pPr indent="0" lvl="0" marL="0" marR="0" rtl="0" algn="ctr">
              <a:spcBef>
                <a:spcPts val="0"/>
              </a:spcBef>
              <a:spcAft>
                <a:spcPts val="0"/>
              </a:spcAft>
              <a:buNone/>
            </a:pPr>
            <a:r>
              <a:t/>
            </a:r>
            <a:endParaRPr b="1" sz="4000">
              <a:solidFill>
                <a:srgbClr val="1482AB"/>
              </a:solidFill>
              <a:latin typeface="Palatino Linotype"/>
              <a:ea typeface="Palatino Linotype"/>
              <a:cs typeface="Palatino Linotype"/>
              <a:sym typeface="Palatino Linotype"/>
            </a:endParaRPr>
          </a:p>
        </p:txBody>
      </p:sp>
      <p:pic>
        <p:nvPicPr>
          <p:cNvPr id="292" name="Google Shape;292;p29"/>
          <p:cNvPicPr preferRelativeResize="0"/>
          <p:nvPr/>
        </p:nvPicPr>
        <p:blipFill rotWithShape="1">
          <a:blip r:embed="rId3">
            <a:alphaModFix/>
          </a:blip>
          <a:srcRect b="0" l="0" r="0" t="0"/>
          <a:stretch/>
        </p:blipFill>
        <p:spPr>
          <a:xfrm>
            <a:off x="3374788" y="1806581"/>
            <a:ext cx="5644124" cy="1582992"/>
          </a:xfrm>
          <a:prstGeom prst="rect">
            <a:avLst/>
          </a:prstGeom>
          <a:noFill/>
          <a:ln>
            <a:noFill/>
          </a:ln>
        </p:spPr>
      </p:pic>
      <p:sp>
        <p:nvSpPr>
          <p:cNvPr id="293" name="Google Shape;293;p29"/>
          <p:cNvSpPr/>
          <p:nvPr/>
        </p:nvSpPr>
        <p:spPr>
          <a:xfrm flipH="1">
            <a:off x="1528480" y="3964481"/>
            <a:ext cx="9699813" cy="1323439"/>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000"/>
              <a:buFont typeface="Palatino Linotype"/>
              <a:buNone/>
            </a:pPr>
            <a:r>
              <a:rPr b="0" i="0" lang="en-US" sz="2000" u="none" cap="none" strike="noStrike">
                <a:solidFill>
                  <a:schemeClr val="dk1"/>
                </a:solidFill>
                <a:latin typeface="Palatino Linotype"/>
                <a:ea typeface="Palatino Linotype"/>
                <a:cs typeface="Palatino Linotype"/>
                <a:sym typeface="Palatino Linotype"/>
              </a:rPr>
              <a:t>By defining two friend functions, operator+(coord, int) and operator+(int, coord), you handle both cases explicitly. This lets you use the object on either side of the operator, something member functions can’t achieve because they’re always bound to the object on the left.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0"/>
          <p:cNvSpPr txBox="1"/>
          <p:nvPr>
            <p:ph type="title"/>
          </p:nvPr>
        </p:nvSpPr>
        <p:spPr>
          <a:xfrm>
            <a:off x="0" y="146746"/>
            <a:ext cx="12192000" cy="1228725"/>
          </a:xfrm>
          <a:prstGeom prst="rect">
            <a:avLst/>
          </a:prstGeom>
          <a:solidFill>
            <a:schemeClr val="lt1"/>
          </a:solid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1482AB"/>
              </a:buClr>
              <a:buSzPts val="4000"/>
              <a:buFont typeface="Palatino Linotype"/>
              <a:buNone/>
            </a:pPr>
            <a:r>
              <a:rPr b="1" lang="en-US" sz="4000">
                <a:solidFill>
                  <a:srgbClr val="1482AB"/>
                </a:solidFill>
                <a:latin typeface="Palatino Linotype"/>
                <a:ea typeface="Palatino Linotype"/>
                <a:cs typeface="Palatino Linotype"/>
                <a:sym typeface="Palatino Linotype"/>
              </a:rPr>
              <a:t>Using Friend Operator Functions</a:t>
            </a:r>
            <a:endParaRPr b="1" sz="4000">
              <a:solidFill>
                <a:srgbClr val="1482AB"/>
              </a:solidFill>
              <a:latin typeface="Palatino Linotype"/>
              <a:ea typeface="Palatino Linotype"/>
              <a:cs typeface="Palatino Linotype"/>
              <a:sym typeface="Palatino Linotype"/>
            </a:endParaRPr>
          </a:p>
        </p:txBody>
      </p:sp>
      <p:sp>
        <p:nvSpPr>
          <p:cNvPr id="299" name="Google Shape;299;p30"/>
          <p:cNvSpPr/>
          <p:nvPr/>
        </p:nvSpPr>
        <p:spPr>
          <a:xfrm>
            <a:off x="0" y="6500813"/>
            <a:ext cx="12192000" cy="357188"/>
          </a:xfrm>
          <a:prstGeom prst="rect">
            <a:avLst/>
          </a:prstGeom>
          <a:solidFill>
            <a:srgbClr val="0D567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Palatino Linotype"/>
              <a:ea typeface="Palatino Linotype"/>
              <a:cs typeface="Palatino Linotype"/>
              <a:sym typeface="Palatino Linotype"/>
            </a:endParaRPr>
          </a:p>
        </p:txBody>
      </p:sp>
      <p:sp>
        <p:nvSpPr>
          <p:cNvPr id="300" name="Google Shape;300;p30"/>
          <p:cNvSpPr/>
          <p:nvPr/>
        </p:nvSpPr>
        <p:spPr>
          <a:xfrm>
            <a:off x="685239" y="1810464"/>
            <a:ext cx="10821521" cy="504753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200">
                <a:solidFill>
                  <a:schemeClr val="dk1"/>
                </a:solidFill>
                <a:latin typeface="Palatino Linotype"/>
                <a:ea typeface="Palatino Linotype"/>
                <a:cs typeface="Palatino Linotype"/>
                <a:sym typeface="Palatino Linotype"/>
              </a:rPr>
              <a:t>If you are using a modern compiler, you can also distinguish between the prefix and the postfix forms of the increment or decrement operators when using a friend operator function in much the same way you did when using member functions. You simply add an integer parameter when defining the postfix version. For example, here are the prototypes for both the prefix and postfix versions of the increment operator relative to the coord class:</a:t>
            </a:r>
            <a:endParaRPr/>
          </a:p>
          <a:p>
            <a:pPr indent="0" lvl="0" marL="0" marR="0" rtl="0" algn="just">
              <a:spcBef>
                <a:spcPts val="0"/>
              </a:spcBef>
              <a:spcAft>
                <a:spcPts val="0"/>
              </a:spcAft>
              <a:buNone/>
            </a:pPr>
            <a:r>
              <a:t/>
            </a:r>
            <a:endParaRPr sz="2200">
              <a:solidFill>
                <a:schemeClr val="dk1"/>
              </a:solidFill>
              <a:latin typeface="Palatino Linotype"/>
              <a:ea typeface="Palatino Linotype"/>
              <a:cs typeface="Palatino Linotype"/>
              <a:sym typeface="Palatino Linotype"/>
            </a:endParaRPr>
          </a:p>
          <a:p>
            <a:pPr indent="0" lvl="3" marL="1371600" marR="0" rtl="0" algn="just">
              <a:spcBef>
                <a:spcPts val="0"/>
              </a:spcBef>
              <a:spcAft>
                <a:spcPts val="0"/>
              </a:spcAft>
              <a:buNone/>
            </a:pPr>
            <a:r>
              <a:rPr b="0" i="0" lang="en-US" sz="2200" u="none" cap="none" strike="noStrike">
                <a:solidFill>
                  <a:schemeClr val="dk1"/>
                </a:solidFill>
                <a:latin typeface="Palatino Linotype"/>
                <a:ea typeface="Palatino Linotype"/>
                <a:cs typeface="Palatino Linotype"/>
                <a:sym typeface="Palatino Linotype"/>
              </a:rPr>
              <a:t>coord operator ++( coord &amp;ob); // prefix</a:t>
            </a:r>
            <a:endParaRPr/>
          </a:p>
          <a:p>
            <a:pPr indent="0" lvl="3" marL="1371600" marR="0" rtl="0" algn="just">
              <a:spcBef>
                <a:spcPts val="0"/>
              </a:spcBef>
              <a:spcAft>
                <a:spcPts val="0"/>
              </a:spcAft>
              <a:buNone/>
            </a:pPr>
            <a:r>
              <a:rPr b="0" i="0" lang="en-US" sz="2200" u="none" cap="none" strike="noStrike">
                <a:solidFill>
                  <a:schemeClr val="dk1"/>
                </a:solidFill>
                <a:latin typeface="Palatino Linotype"/>
                <a:ea typeface="Palatino Linotype"/>
                <a:cs typeface="Palatino Linotype"/>
                <a:sym typeface="Palatino Linotype"/>
              </a:rPr>
              <a:t>coord operator ++( coord &amp;ob , int notused ); // postfix</a:t>
            </a:r>
            <a:endParaRPr/>
          </a:p>
          <a:p>
            <a:pPr indent="0" lvl="3" marL="1371600" marR="0" rtl="0" algn="just">
              <a:spcBef>
                <a:spcPts val="0"/>
              </a:spcBef>
              <a:spcAft>
                <a:spcPts val="0"/>
              </a:spcAft>
              <a:buNone/>
            </a:pPr>
            <a:r>
              <a:t/>
            </a:r>
            <a:endParaRPr b="0" i="0" sz="2200" u="none" cap="none" strike="noStrike">
              <a:solidFill>
                <a:schemeClr val="dk1"/>
              </a:solidFill>
              <a:latin typeface="Palatino Linotype"/>
              <a:ea typeface="Palatino Linotype"/>
              <a:cs typeface="Palatino Linotype"/>
              <a:sym typeface="Palatino Linotype"/>
            </a:endParaRPr>
          </a:p>
          <a:p>
            <a:pPr indent="0" lvl="0" marL="0" marR="0" rtl="0" algn="just">
              <a:spcBef>
                <a:spcPts val="0"/>
              </a:spcBef>
              <a:spcAft>
                <a:spcPts val="0"/>
              </a:spcAft>
              <a:buNone/>
            </a:pPr>
            <a:r>
              <a:rPr lang="en-US" sz="2200">
                <a:solidFill>
                  <a:schemeClr val="dk1"/>
                </a:solidFill>
                <a:latin typeface="Palatino Linotype"/>
                <a:ea typeface="Palatino Linotype"/>
                <a:cs typeface="Palatino Linotype"/>
                <a:sym typeface="Palatino Linotype"/>
              </a:rPr>
              <a:t>If the ++ precedes its operand, the operator++(coord &amp;ob) function is called. However, if the ++ follows its operand, the operator++(coord &amp;ob, int notused) function is used. In this case, notused will be passed the value 0.</a:t>
            </a:r>
            <a:endParaRPr/>
          </a:p>
          <a:p>
            <a:pPr indent="0" lvl="0" marL="0" marR="0" rtl="0" algn="just">
              <a:spcBef>
                <a:spcPts val="0"/>
              </a:spcBef>
              <a:spcAft>
                <a:spcPts val="0"/>
              </a:spcAft>
              <a:buNone/>
            </a:pPr>
            <a:r>
              <a:t/>
            </a:r>
            <a:endParaRPr sz="1800">
              <a:solidFill>
                <a:schemeClr val="dk1"/>
              </a:solidFill>
              <a:latin typeface="Palatino Linotype"/>
              <a:ea typeface="Palatino Linotype"/>
              <a:cs typeface="Palatino Linotype"/>
              <a:sym typeface="Palatino Linotype"/>
            </a:endParaRPr>
          </a:p>
          <a:p>
            <a:pPr indent="0" lvl="0" marL="0" marR="0" rtl="0" algn="just">
              <a:spcBef>
                <a:spcPts val="0"/>
              </a:spcBef>
              <a:spcAft>
                <a:spcPts val="0"/>
              </a:spcAft>
              <a:buNone/>
            </a:pPr>
            <a:r>
              <a:t/>
            </a:r>
            <a:endParaRPr b="0" i="0" sz="1800">
              <a:solidFill>
                <a:schemeClr val="dk1"/>
              </a:solidFill>
              <a:latin typeface="Palatino Linotype"/>
              <a:ea typeface="Palatino Linotype"/>
              <a:cs typeface="Palatino Linotype"/>
              <a:sym typeface="Palatino Linotype"/>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1"/>
          <p:cNvSpPr txBox="1"/>
          <p:nvPr>
            <p:ph type="title"/>
          </p:nvPr>
        </p:nvSpPr>
        <p:spPr>
          <a:xfrm>
            <a:off x="0" y="146746"/>
            <a:ext cx="12192000" cy="1228725"/>
          </a:xfrm>
          <a:prstGeom prst="rect">
            <a:avLst/>
          </a:prstGeom>
          <a:solidFill>
            <a:schemeClr val="lt1"/>
          </a:solid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1482AB"/>
              </a:buClr>
              <a:buSzPts val="4000"/>
              <a:buFont typeface="Palatino Linotype"/>
              <a:buNone/>
            </a:pPr>
            <a:r>
              <a:rPr b="1" lang="en-US" sz="4000">
                <a:solidFill>
                  <a:srgbClr val="1482AB"/>
                </a:solidFill>
                <a:latin typeface="Palatino Linotype"/>
                <a:ea typeface="Palatino Linotype"/>
                <a:cs typeface="Palatino Linotype"/>
                <a:sym typeface="Palatino Linotype"/>
              </a:rPr>
              <a:t>Assignment Operator Overloading</a:t>
            </a:r>
            <a:endParaRPr/>
          </a:p>
        </p:txBody>
      </p:sp>
      <p:sp>
        <p:nvSpPr>
          <p:cNvPr id="306" name="Google Shape;306;p31"/>
          <p:cNvSpPr/>
          <p:nvPr/>
        </p:nvSpPr>
        <p:spPr>
          <a:xfrm>
            <a:off x="0" y="6500813"/>
            <a:ext cx="12192000" cy="357188"/>
          </a:xfrm>
          <a:prstGeom prst="rect">
            <a:avLst/>
          </a:prstGeom>
          <a:solidFill>
            <a:srgbClr val="0D567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Palatino Linotype"/>
              <a:ea typeface="Palatino Linotype"/>
              <a:cs typeface="Palatino Linotype"/>
              <a:sym typeface="Palatino Linotype"/>
            </a:endParaRPr>
          </a:p>
        </p:txBody>
      </p:sp>
      <p:sp>
        <p:nvSpPr>
          <p:cNvPr id="307" name="Google Shape;307;p31"/>
          <p:cNvSpPr/>
          <p:nvPr/>
        </p:nvSpPr>
        <p:spPr>
          <a:xfrm>
            <a:off x="685239" y="1810464"/>
            <a:ext cx="10821521" cy="369331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400">
                <a:solidFill>
                  <a:schemeClr val="dk1"/>
                </a:solidFill>
                <a:latin typeface="Palatino Linotype"/>
                <a:ea typeface="Palatino Linotype"/>
                <a:cs typeface="Palatino Linotype"/>
                <a:sym typeface="Palatino Linotype"/>
              </a:rPr>
              <a:t>The assignment operator,”=”, is the operator used for Assignment. It copies the right value into the left value. Assignment Operators are predefined to operate only on built-in Data types.</a:t>
            </a:r>
            <a:endParaRPr/>
          </a:p>
          <a:p>
            <a:pPr indent="0" lvl="0" marL="0" marR="0" rtl="0" algn="just">
              <a:spcBef>
                <a:spcPts val="0"/>
              </a:spcBef>
              <a:spcAft>
                <a:spcPts val="0"/>
              </a:spcAft>
              <a:buNone/>
            </a:pPr>
            <a:r>
              <a:t/>
            </a:r>
            <a:endParaRPr sz="2400">
              <a:solidFill>
                <a:schemeClr val="dk1"/>
              </a:solidFill>
              <a:latin typeface="Palatino Linotype"/>
              <a:ea typeface="Palatino Linotype"/>
              <a:cs typeface="Palatino Linotype"/>
              <a:sym typeface="Palatino Linotype"/>
            </a:endParaRPr>
          </a:p>
          <a:p>
            <a:pPr indent="-342900" lvl="0" marL="342900" marR="0" rtl="0" algn="just">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Assignment operator overloading is binary operator overloading.</a:t>
            </a:r>
            <a:endParaRPr/>
          </a:p>
          <a:p>
            <a:pPr indent="-342900" lvl="0" marL="342900" marR="0" rtl="0" algn="just">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Overloading assignment operator in C++ copies all values of one object to another object.</a:t>
            </a:r>
            <a:endParaRPr/>
          </a:p>
          <a:p>
            <a:pPr indent="-342900" lvl="0" marL="342900" marR="0" rtl="0" algn="just">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Only a non-static member function should be used to overload the assignment operator.</a:t>
            </a:r>
            <a:endParaRPr/>
          </a:p>
          <a:p>
            <a:pPr indent="0" lvl="0" marL="0" marR="0" rtl="0" algn="just">
              <a:spcBef>
                <a:spcPts val="0"/>
              </a:spcBef>
              <a:spcAft>
                <a:spcPts val="0"/>
              </a:spcAft>
              <a:buNone/>
            </a:pPr>
            <a:r>
              <a:t/>
            </a:r>
            <a:endParaRPr b="0" i="0" sz="1800">
              <a:solidFill>
                <a:schemeClr val="dk1"/>
              </a:solidFill>
              <a:latin typeface="Palatino Linotype"/>
              <a:ea typeface="Palatino Linotype"/>
              <a:cs typeface="Palatino Linotype"/>
              <a:sym typeface="Palatino Linotype"/>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2"/>
          <p:cNvSpPr txBox="1"/>
          <p:nvPr>
            <p:ph type="title"/>
          </p:nvPr>
        </p:nvSpPr>
        <p:spPr>
          <a:xfrm>
            <a:off x="0" y="146746"/>
            <a:ext cx="12192000" cy="1228725"/>
          </a:xfrm>
          <a:prstGeom prst="rect">
            <a:avLst/>
          </a:prstGeom>
          <a:solidFill>
            <a:schemeClr val="lt1"/>
          </a:solid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1482AB"/>
              </a:buClr>
              <a:buSzPts val="4000"/>
              <a:buFont typeface="Palatino Linotype"/>
              <a:buNone/>
            </a:pPr>
            <a:r>
              <a:rPr b="1" lang="en-US" sz="4000">
                <a:solidFill>
                  <a:srgbClr val="1482AB"/>
                </a:solidFill>
                <a:latin typeface="Palatino Linotype"/>
                <a:ea typeface="Palatino Linotype"/>
                <a:cs typeface="Palatino Linotype"/>
                <a:sym typeface="Palatino Linotype"/>
              </a:rPr>
              <a:t>Assignment Operator Overloading</a:t>
            </a:r>
            <a:endParaRPr/>
          </a:p>
        </p:txBody>
      </p:sp>
      <p:sp>
        <p:nvSpPr>
          <p:cNvPr id="313" name="Google Shape;313;p32"/>
          <p:cNvSpPr/>
          <p:nvPr/>
        </p:nvSpPr>
        <p:spPr>
          <a:xfrm>
            <a:off x="0" y="6500813"/>
            <a:ext cx="12192000" cy="357188"/>
          </a:xfrm>
          <a:prstGeom prst="rect">
            <a:avLst/>
          </a:prstGeom>
          <a:solidFill>
            <a:srgbClr val="0D567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Palatino Linotype"/>
              <a:ea typeface="Palatino Linotype"/>
              <a:cs typeface="Palatino Linotype"/>
              <a:sym typeface="Palatino Linotype"/>
            </a:endParaRPr>
          </a:p>
        </p:txBody>
      </p:sp>
      <p:sp>
        <p:nvSpPr>
          <p:cNvPr id="314" name="Google Shape;314;p32"/>
          <p:cNvSpPr/>
          <p:nvPr/>
        </p:nvSpPr>
        <p:spPr>
          <a:xfrm>
            <a:off x="685239" y="1810464"/>
            <a:ext cx="10821521" cy="369331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400">
                <a:solidFill>
                  <a:schemeClr val="dk1"/>
                </a:solidFill>
                <a:latin typeface="Palatino Linotype"/>
                <a:ea typeface="Palatino Linotype"/>
                <a:cs typeface="Palatino Linotype"/>
                <a:sym typeface="Palatino Linotype"/>
              </a:rPr>
              <a:t>In C++, the compiler automatically provides a default assignment operator for classes. This operator performs a shallow copy of each member of the class from one object to another. This means that if we don’t explicitly overload the assignment operator, the compiler will still allow us to assign one object to another using the assignment operator (=), and it won’t generate an error.</a:t>
            </a:r>
            <a:endParaRPr/>
          </a:p>
          <a:p>
            <a:pPr indent="0" lvl="0" marL="0" marR="0" rtl="0" algn="just">
              <a:spcBef>
                <a:spcPts val="0"/>
              </a:spcBef>
              <a:spcAft>
                <a:spcPts val="0"/>
              </a:spcAft>
              <a:buNone/>
            </a:pPr>
            <a:r>
              <a:t/>
            </a:r>
            <a:endParaRPr sz="2400">
              <a:solidFill>
                <a:schemeClr val="dk1"/>
              </a:solidFill>
              <a:latin typeface="Palatino Linotype"/>
              <a:ea typeface="Palatino Linotype"/>
              <a:cs typeface="Palatino Linotype"/>
              <a:sym typeface="Palatino Linotype"/>
            </a:endParaRPr>
          </a:p>
          <a:p>
            <a:pPr indent="0" lvl="0" marL="0" marR="0" rtl="0" algn="just">
              <a:spcBef>
                <a:spcPts val="0"/>
              </a:spcBef>
              <a:spcAft>
                <a:spcPts val="0"/>
              </a:spcAft>
              <a:buNone/>
            </a:pPr>
            <a:r>
              <a:rPr lang="en-US" sz="2400">
                <a:solidFill>
                  <a:schemeClr val="dk1"/>
                </a:solidFill>
                <a:latin typeface="Palatino Linotype"/>
                <a:ea typeface="Palatino Linotype"/>
                <a:cs typeface="Palatino Linotype"/>
                <a:sym typeface="Palatino Linotype"/>
              </a:rPr>
              <a:t>So, when we should perform assignment operator overloading? when our class involves dynamic memory allocation (e.g., pointers) and we need to perform a deep copy to prevent issues like double deletion or data corruption.</a:t>
            </a:r>
            <a:endParaRPr sz="2400">
              <a:solidFill>
                <a:schemeClr val="dk1"/>
              </a:solidFill>
              <a:latin typeface="Palatino Linotype"/>
              <a:ea typeface="Palatino Linotype"/>
              <a:cs typeface="Palatino Linotype"/>
              <a:sym typeface="Palatino Linotype"/>
            </a:endParaRPr>
          </a:p>
          <a:p>
            <a:pPr indent="0" lvl="0" marL="0" marR="0" rtl="0" algn="just">
              <a:spcBef>
                <a:spcPts val="0"/>
              </a:spcBef>
              <a:spcAft>
                <a:spcPts val="0"/>
              </a:spcAft>
              <a:buNone/>
            </a:pPr>
            <a:r>
              <a:t/>
            </a:r>
            <a:endParaRPr b="0" i="0" sz="1800">
              <a:solidFill>
                <a:schemeClr val="dk1"/>
              </a:solidFill>
              <a:latin typeface="Palatino Linotype"/>
              <a:ea typeface="Palatino Linotype"/>
              <a:cs typeface="Palatino Linotype"/>
              <a:sym typeface="Palatino Linotype"/>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3"/>
          <p:cNvSpPr txBox="1"/>
          <p:nvPr/>
        </p:nvSpPr>
        <p:spPr>
          <a:xfrm>
            <a:off x="2847326" y="282809"/>
            <a:ext cx="7883427" cy="1000124"/>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85000"/>
              </a:lnSpc>
              <a:spcBef>
                <a:spcPts val="0"/>
              </a:spcBef>
              <a:spcAft>
                <a:spcPts val="0"/>
              </a:spcAft>
              <a:buClr>
                <a:srgbClr val="1482AB"/>
              </a:buClr>
              <a:buSzPts val="3200"/>
              <a:buFont typeface="Palatino Linotype"/>
              <a:buNone/>
            </a:pPr>
            <a:r>
              <a:rPr b="1" lang="en-US" sz="3200">
                <a:solidFill>
                  <a:srgbClr val="1482AB"/>
                </a:solidFill>
                <a:latin typeface="Palatino Linotype"/>
                <a:ea typeface="Palatino Linotype"/>
                <a:cs typeface="Palatino Linotype"/>
                <a:sym typeface="Palatino Linotype"/>
              </a:rPr>
              <a:t>Assignment Operator Overloading</a:t>
            </a:r>
            <a:endParaRPr b="1" sz="3200">
              <a:solidFill>
                <a:srgbClr val="1482AB"/>
              </a:solidFill>
              <a:latin typeface="Palatino Linotype"/>
              <a:ea typeface="Palatino Linotype"/>
              <a:cs typeface="Palatino Linotype"/>
              <a:sym typeface="Palatino Linotype"/>
            </a:endParaRPr>
          </a:p>
        </p:txBody>
      </p:sp>
      <p:pic>
        <p:nvPicPr>
          <p:cNvPr id="320" name="Google Shape;320;p33"/>
          <p:cNvPicPr preferRelativeResize="0"/>
          <p:nvPr/>
        </p:nvPicPr>
        <p:blipFill rotWithShape="1">
          <a:blip r:embed="rId3">
            <a:alphaModFix/>
          </a:blip>
          <a:srcRect b="0" l="0" r="0" t="0"/>
          <a:stretch/>
        </p:blipFill>
        <p:spPr>
          <a:xfrm>
            <a:off x="405607" y="782871"/>
            <a:ext cx="7097852" cy="5580530"/>
          </a:xfrm>
          <a:prstGeom prst="rect">
            <a:avLst/>
          </a:prstGeom>
          <a:noFill/>
          <a:ln>
            <a:noFill/>
          </a:ln>
        </p:spPr>
      </p:pic>
      <p:pic>
        <p:nvPicPr>
          <p:cNvPr id="321" name="Google Shape;321;p33"/>
          <p:cNvPicPr preferRelativeResize="0"/>
          <p:nvPr/>
        </p:nvPicPr>
        <p:blipFill rotWithShape="1">
          <a:blip r:embed="rId4">
            <a:alphaModFix/>
          </a:blip>
          <a:srcRect b="0" l="0" r="0" t="0"/>
          <a:stretch/>
        </p:blipFill>
        <p:spPr>
          <a:xfrm>
            <a:off x="6309849" y="984578"/>
            <a:ext cx="4577796" cy="397010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4"/>
          <p:cNvSpPr txBox="1"/>
          <p:nvPr/>
        </p:nvSpPr>
        <p:spPr>
          <a:xfrm>
            <a:off x="0" y="482924"/>
            <a:ext cx="12192000" cy="1000124"/>
          </a:xfrm>
          <a:prstGeom prst="rect">
            <a:avLst/>
          </a:prstGeom>
          <a:solidFill>
            <a:schemeClr val="lt1"/>
          </a:solidFill>
          <a:ln>
            <a:noFill/>
          </a:ln>
        </p:spPr>
        <p:txBody>
          <a:bodyPr anchorCtr="0" anchor="t" bIns="45700" lIns="91425" spcFirstLastPara="1" rIns="91425" wrap="square" tIns="45700">
            <a:normAutofit/>
          </a:bodyPr>
          <a:lstStyle/>
          <a:p>
            <a:pPr indent="0" lvl="0" marL="0" marR="0" rtl="0" algn="ctr">
              <a:lnSpc>
                <a:spcPct val="85000"/>
              </a:lnSpc>
              <a:spcBef>
                <a:spcPts val="0"/>
              </a:spcBef>
              <a:spcAft>
                <a:spcPts val="0"/>
              </a:spcAft>
              <a:buClr>
                <a:srgbClr val="3F3F3F"/>
              </a:buClr>
              <a:buSzPts val="4000"/>
              <a:buFont typeface="Calibri"/>
              <a:buNone/>
            </a:pPr>
            <a:r>
              <a:t/>
            </a:r>
            <a:endParaRPr b="1" sz="4000">
              <a:solidFill>
                <a:srgbClr val="1482AB"/>
              </a:solidFill>
              <a:latin typeface="Palatino Linotype"/>
              <a:ea typeface="Palatino Linotype"/>
              <a:cs typeface="Palatino Linotype"/>
              <a:sym typeface="Palatino Linotype"/>
            </a:endParaRPr>
          </a:p>
        </p:txBody>
      </p:sp>
      <p:sp>
        <p:nvSpPr>
          <p:cNvPr id="327" name="Google Shape;327;p34"/>
          <p:cNvSpPr txBox="1"/>
          <p:nvPr/>
        </p:nvSpPr>
        <p:spPr>
          <a:xfrm rot="10800000">
            <a:off x="2316903" y="7754155"/>
            <a:ext cx="7185094" cy="43088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200">
                <a:solidFill>
                  <a:schemeClr val="dk1"/>
                </a:solidFill>
                <a:latin typeface="Palatino Linotype"/>
                <a:ea typeface="Palatino Linotype"/>
                <a:cs typeface="Palatino Linotype"/>
                <a:sym typeface="Palatino Linotype"/>
              </a:rPr>
              <a:t>Explanation:</a:t>
            </a:r>
            <a:endParaRPr sz="2200">
              <a:solidFill>
                <a:srgbClr val="C00000"/>
              </a:solidFill>
              <a:latin typeface="Palatino Linotype"/>
              <a:ea typeface="Palatino Linotype"/>
              <a:cs typeface="Palatino Linotype"/>
              <a:sym typeface="Palatino Linotype"/>
            </a:endParaRPr>
          </a:p>
        </p:txBody>
      </p:sp>
      <p:sp>
        <p:nvSpPr>
          <p:cNvPr id="328" name="Google Shape;328;p34"/>
          <p:cNvSpPr/>
          <p:nvPr/>
        </p:nvSpPr>
        <p:spPr>
          <a:xfrm>
            <a:off x="1931891" y="483142"/>
            <a:ext cx="8529919"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a:solidFill>
                  <a:srgbClr val="1482AB"/>
                </a:solidFill>
                <a:latin typeface="Palatino Linotype"/>
                <a:ea typeface="Palatino Linotype"/>
                <a:cs typeface="Palatino Linotype"/>
                <a:sym typeface="Palatino Linotype"/>
              </a:rPr>
              <a:t>Assignment Operator Overloading</a:t>
            </a:r>
            <a:endParaRPr/>
          </a:p>
          <a:p>
            <a:pPr indent="0" lvl="0" marL="0" marR="0" rtl="0" algn="ctr">
              <a:spcBef>
                <a:spcPts val="0"/>
              </a:spcBef>
              <a:spcAft>
                <a:spcPts val="0"/>
              </a:spcAft>
              <a:buNone/>
            </a:pPr>
            <a:r>
              <a:t/>
            </a:r>
            <a:endParaRPr b="1" sz="4000">
              <a:solidFill>
                <a:srgbClr val="1482AB"/>
              </a:solidFill>
              <a:latin typeface="Palatino Linotype"/>
              <a:ea typeface="Palatino Linotype"/>
              <a:cs typeface="Palatino Linotype"/>
              <a:sym typeface="Palatino Linotype"/>
            </a:endParaRPr>
          </a:p>
        </p:txBody>
      </p:sp>
      <p:pic>
        <p:nvPicPr>
          <p:cNvPr id="329" name="Google Shape;329;p34"/>
          <p:cNvPicPr preferRelativeResize="0"/>
          <p:nvPr/>
        </p:nvPicPr>
        <p:blipFill rotWithShape="1">
          <a:blip r:embed="rId3">
            <a:alphaModFix/>
          </a:blip>
          <a:srcRect b="0" l="0" r="0" t="0"/>
          <a:stretch/>
        </p:blipFill>
        <p:spPr>
          <a:xfrm>
            <a:off x="3411755" y="1483048"/>
            <a:ext cx="5570190" cy="1972846"/>
          </a:xfrm>
          <a:prstGeom prst="rect">
            <a:avLst/>
          </a:prstGeom>
          <a:noFill/>
          <a:ln>
            <a:noFill/>
          </a:ln>
        </p:spPr>
      </p:pic>
      <p:sp>
        <p:nvSpPr>
          <p:cNvPr id="330" name="Google Shape;330;p34"/>
          <p:cNvSpPr txBox="1"/>
          <p:nvPr/>
        </p:nvSpPr>
        <p:spPr>
          <a:xfrm>
            <a:off x="996655" y="4017479"/>
            <a:ext cx="10327341" cy="156966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400">
                <a:solidFill>
                  <a:schemeClr val="dk1"/>
                </a:solidFill>
                <a:latin typeface="Palatino Linotype"/>
                <a:ea typeface="Palatino Linotype"/>
                <a:cs typeface="Palatino Linotype"/>
                <a:sym typeface="Palatino Linotype"/>
              </a:rPr>
              <a:t>When you assign s1 = s2, this function ensures that all values from s2 (both english and math) are copied to s1. if (this != &amp;s) checks if the current object (this) is not the same as s. This avoids self-assignment (e.g., s1 = s1). </a:t>
            </a:r>
            <a:endParaRPr/>
          </a:p>
          <a:p>
            <a:pPr indent="0" lvl="0" marL="0" marR="0" rtl="0" algn="l">
              <a:spcBef>
                <a:spcPts val="0"/>
              </a:spcBef>
              <a:spcAft>
                <a:spcPts val="0"/>
              </a:spcAft>
              <a:buNone/>
            </a:pPr>
            <a:r>
              <a:t/>
            </a:r>
            <a:endParaRPr sz="2400">
              <a:solidFill>
                <a:schemeClr val="dk1"/>
              </a:solidFill>
              <a:latin typeface="Palatino Linotype"/>
              <a:ea typeface="Palatino Linotype"/>
              <a:cs typeface="Palatino Linotype"/>
              <a:sym typeface="Palatino Linotype"/>
            </a:endParaRPr>
          </a:p>
        </p:txBody>
      </p:sp>
      <p:sp>
        <p:nvSpPr>
          <p:cNvPr id="331" name="Google Shape;331;p34"/>
          <p:cNvSpPr/>
          <p:nvPr/>
        </p:nvSpPr>
        <p:spPr>
          <a:xfrm>
            <a:off x="779929" y="1156921"/>
            <a:ext cx="216726" cy="26161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 </a:t>
            </a:r>
            <a:endParaRPr b="0" i="0" sz="1800" u="none" cap="none" strike="noStrike">
              <a:solidFill>
                <a:schemeClr val="dk1"/>
              </a:solidFill>
              <a:latin typeface="Arial"/>
              <a:ea typeface="Arial"/>
              <a:cs typeface="Arial"/>
              <a:sym typeface="Arial"/>
            </a:endParaRPr>
          </a:p>
        </p:txBody>
      </p:sp>
      <p:sp>
        <p:nvSpPr>
          <p:cNvPr id="332" name="Google Shape;332;p34"/>
          <p:cNvSpPr/>
          <p:nvPr/>
        </p:nvSpPr>
        <p:spPr>
          <a:xfrm>
            <a:off x="996655" y="5125474"/>
            <a:ext cx="7762061" cy="461665"/>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Palatino Linotype"/>
              <a:buNone/>
            </a:pPr>
            <a:r>
              <a:rPr b="0" i="0" lang="en-US" sz="2400" u="none" cap="none" strike="noStrike">
                <a:solidFill>
                  <a:schemeClr val="dk1"/>
                </a:solidFill>
                <a:latin typeface="Palatino Linotype"/>
                <a:ea typeface="Palatino Linotype"/>
                <a:cs typeface="Palatino Linotype"/>
                <a:sym typeface="Palatino Linotype"/>
              </a:rPr>
              <a:t>It then copies the english and math marks from s2 to s1</a:t>
            </a:r>
            <a:r>
              <a:rPr b="0" i="0" lang="en-US" sz="1100" u="none" cap="none" strike="noStrike">
                <a:solidFill>
                  <a:schemeClr val="dk1"/>
                </a:solidFill>
                <a:latin typeface="Calibri"/>
                <a:ea typeface="Calibri"/>
                <a:cs typeface="Calibri"/>
                <a:sym typeface="Calibri"/>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5"/>
          <p:cNvSpPr txBox="1"/>
          <p:nvPr>
            <p:ph type="title"/>
          </p:nvPr>
        </p:nvSpPr>
        <p:spPr>
          <a:xfrm>
            <a:off x="94128" y="200534"/>
            <a:ext cx="12192000" cy="1228725"/>
          </a:xfrm>
          <a:prstGeom prst="rect">
            <a:avLst/>
          </a:prstGeom>
          <a:solidFill>
            <a:schemeClr val="lt1"/>
          </a:solid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1482AB"/>
              </a:buClr>
              <a:buSzPts val="4000"/>
              <a:buFont typeface="Palatino Linotype"/>
              <a:buNone/>
            </a:pPr>
            <a:r>
              <a:rPr b="1" lang="en-US" sz="4000">
                <a:solidFill>
                  <a:srgbClr val="1482AB"/>
                </a:solidFill>
                <a:latin typeface="Palatino Linotype"/>
                <a:ea typeface="Palatino Linotype"/>
                <a:cs typeface="Palatino Linotype"/>
                <a:sym typeface="Palatino Linotype"/>
              </a:rPr>
              <a:t>Overloading The [ ] Subscript Operator</a:t>
            </a:r>
            <a:endParaRPr b="1" sz="4000">
              <a:solidFill>
                <a:srgbClr val="1482AB"/>
              </a:solidFill>
              <a:latin typeface="Palatino Linotype"/>
              <a:ea typeface="Palatino Linotype"/>
              <a:cs typeface="Palatino Linotype"/>
              <a:sym typeface="Palatino Linotype"/>
            </a:endParaRPr>
          </a:p>
        </p:txBody>
      </p:sp>
      <p:sp>
        <p:nvSpPr>
          <p:cNvPr id="338" name="Google Shape;338;p35"/>
          <p:cNvSpPr/>
          <p:nvPr/>
        </p:nvSpPr>
        <p:spPr>
          <a:xfrm>
            <a:off x="0" y="6500813"/>
            <a:ext cx="12192000" cy="357188"/>
          </a:xfrm>
          <a:prstGeom prst="rect">
            <a:avLst/>
          </a:prstGeom>
          <a:solidFill>
            <a:srgbClr val="0D567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Palatino Linotype"/>
              <a:ea typeface="Palatino Linotype"/>
              <a:cs typeface="Palatino Linotype"/>
              <a:sym typeface="Palatino Linotype"/>
            </a:endParaRPr>
          </a:p>
        </p:txBody>
      </p:sp>
      <p:sp>
        <p:nvSpPr>
          <p:cNvPr id="339" name="Google Shape;339;p35"/>
          <p:cNvSpPr/>
          <p:nvPr/>
        </p:nvSpPr>
        <p:spPr>
          <a:xfrm>
            <a:off x="779368" y="1985276"/>
            <a:ext cx="10821521" cy="415498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200">
                <a:solidFill>
                  <a:schemeClr val="dk1"/>
                </a:solidFill>
                <a:latin typeface="Palatino Linotype"/>
                <a:ea typeface="Palatino Linotype"/>
                <a:cs typeface="Palatino Linotype"/>
                <a:sym typeface="Palatino Linotype"/>
              </a:rPr>
              <a:t>The last operator that we will overload is the [ ] array subscripting operator. In C++, the [ ] is considered a binary operator for the purposes of overloading. In C++, the </a:t>
            </a:r>
            <a:r>
              <a:rPr b="1" lang="en-US" sz="2200">
                <a:solidFill>
                  <a:schemeClr val="dk1"/>
                </a:solidFill>
                <a:latin typeface="Palatino Linotype"/>
                <a:ea typeface="Palatino Linotype"/>
                <a:cs typeface="Palatino Linotype"/>
                <a:sym typeface="Palatino Linotype"/>
              </a:rPr>
              <a:t>subscript operator</a:t>
            </a:r>
            <a:r>
              <a:rPr lang="en-US" sz="2200">
                <a:solidFill>
                  <a:schemeClr val="dk1"/>
                </a:solidFill>
                <a:latin typeface="Palatino Linotype"/>
                <a:ea typeface="Palatino Linotype"/>
                <a:cs typeface="Palatino Linotype"/>
                <a:sym typeface="Palatino Linotype"/>
              </a:rPr>
              <a:t> is commonly used to access elements of an array. </a:t>
            </a:r>
            <a:r>
              <a:rPr b="1" lang="en-US" sz="2200">
                <a:solidFill>
                  <a:schemeClr val="dk1"/>
                </a:solidFill>
                <a:latin typeface="Palatino Linotype"/>
                <a:ea typeface="Palatino Linotype"/>
                <a:cs typeface="Palatino Linotype"/>
                <a:sym typeface="Palatino Linotype"/>
              </a:rPr>
              <a:t>The [ ] can be overloaded only by a member function.</a:t>
            </a:r>
            <a:r>
              <a:rPr lang="en-US" sz="2200">
                <a:solidFill>
                  <a:schemeClr val="dk1"/>
                </a:solidFill>
                <a:latin typeface="Palatino Linotype"/>
                <a:ea typeface="Palatino Linotype"/>
                <a:cs typeface="Palatino Linotype"/>
                <a:sym typeface="Palatino Linotype"/>
              </a:rPr>
              <a:t> Therefore, the general form of a member operator[ ]() function is as shown here:</a:t>
            </a:r>
            <a:endParaRPr/>
          </a:p>
          <a:p>
            <a:pPr indent="0" lvl="0" marL="0" marR="0" rtl="0" algn="ctr">
              <a:spcBef>
                <a:spcPts val="0"/>
              </a:spcBef>
              <a:spcAft>
                <a:spcPts val="0"/>
              </a:spcAft>
              <a:buNone/>
            </a:pPr>
            <a:r>
              <a:rPr lang="en-US" sz="2200">
                <a:solidFill>
                  <a:schemeClr val="accent2"/>
                </a:solidFill>
                <a:latin typeface="Palatino Linotype"/>
                <a:ea typeface="Palatino Linotype"/>
                <a:cs typeface="Palatino Linotype"/>
                <a:sym typeface="Palatino Linotype"/>
              </a:rPr>
              <a:t>type class_name :: operator []( int index )</a:t>
            </a:r>
            <a:endParaRPr/>
          </a:p>
          <a:p>
            <a:pPr indent="0" lvl="0" marL="0" marR="0" rtl="0" algn="ctr">
              <a:spcBef>
                <a:spcPts val="0"/>
              </a:spcBef>
              <a:spcAft>
                <a:spcPts val="0"/>
              </a:spcAft>
              <a:buNone/>
            </a:pPr>
            <a:r>
              <a:rPr lang="en-US" sz="2200">
                <a:solidFill>
                  <a:schemeClr val="accent2"/>
                </a:solidFill>
                <a:latin typeface="Palatino Linotype"/>
                <a:ea typeface="Palatino Linotype"/>
                <a:cs typeface="Palatino Linotype"/>
                <a:sym typeface="Palatino Linotype"/>
              </a:rPr>
              <a:t>{</a:t>
            </a:r>
            <a:endParaRPr/>
          </a:p>
          <a:p>
            <a:pPr indent="0" lvl="0" marL="0" marR="0" rtl="0" algn="ctr">
              <a:spcBef>
                <a:spcPts val="0"/>
              </a:spcBef>
              <a:spcAft>
                <a:spcPts val="0"/>
              </a:spcAft>
              <a:buNone/>
            </a:pPr>
            <a:r>
              <a:rPr lang="en-US" sz="2200">
                <a:solidFill>
                  <a:schemeClr val="accent2"/>
                </a:solidFill>
                <a:latin typeface="Palatino Linotype"/>
                <a:ea typeface="Palatino Linotype"/>
                <a:cs typeface="Palatino Linotype"/>
                <a:sym typeface="Palatino Linotype"/>
              </a:rPr>
              <a:t>// ...</a:t>
            </a:r>
            <a:endParaRPr/>
          </a:p>
          <a:p>
            <a:pPr indent="0" lvl="0" marL="0" marR="0" rtl="0" algn="ctr">
              <a:spcBef>
                <a:spcPts val="0"/>
              </a:spcBef>
              <a:spcAft>
                <a:spcPts val="0"/>
              </a:spcAft>
              <a:buNone/>
            </a:pPr>
            <a:r>
              <a:rPr lang="en-US" sz="2200">
                <a:solidFill>
                  <a:schemeClr val="accent2"/>
                </a:solidFill>
                <a:latin typeface="Palatino Linotype"/>
                <a:ea typeface="Palatino Linotype"/>
                <a:cs typeface="Palatino Linotype"/>
                <a:sym typeface="Palatino Linotype"/>
              </a:rPr>
              <a:t>}</a:t>
            </a:r>
            <a:endParaRPr sz="2200">
              <a:solidFill>
                <a:schemeClr val="accent2"/>
              </a:solidFill>
              <a:latin typeface="Palatino Linotype"/>
              <a:ea typeface="Palatino Linotype"/>
              <a:cs typeface="Palatino Linotype"/>
              <a:sym typeface="Palatino Linotype"/>
            </a:endParaRPr>
          </a:p>
          <a:p>
            <a:pPr indent="0" lvl="0" marL="0" marR="0" rtl="0" algn="just">
              <a:spcBef>
                <a:spcPts val="0"/>
              </a:spcBef>
              <a:spcAft>
                <a:spcPts val="0"/>
              </a:spcAft>
              <a:buNone/>
            </a:pPr>
            <a:r>
              <a:rPr lang="en-US" sz="2200">
                <a:solidFill>
                  <a:schemeClr val="dk1"/>
                </a:solidFill>
                <a:latin typeface="Palatino Linotype"/>
                <a:ea typeface="Palatino Linotype"/>
                <a:cs typeface="Palatino Linotype"/>
                <a:sym typeface="Palatino Linotype"/>
              </a:rPr>
              <a:t>Technically, the parameter does not have to be of type int, but operator[ ]() functions are typically used to provide array subscripting and as such an integer value is generally used.</a:t>
            </a:r>
            <a:endParaRPr sz="2200">
              <a:solidFill>
                <a:schemeClr val="dk1"/>
              </a:solidFill>
              <a:latin typeface="Palatino Linotype"/>
              <a:ea typeface="Palatino Linotype"/>
              <a:cs typeface="Palatino Linotype"/>
              <a:sym typeface="Palatino Linotype"/>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36"/>
          <p:cNvSpPr txBox="1"/>
          <p:nvPr>
            <p:ph type="title"/>
          </p:nvPr>
        </p:nvSpPr>
        <p:spPr>
          <a:xfrm>
            <a:off x="0" y="146746"/>
            <a:ext cx="12192000" cy="1228725"/>
          </a:xfrm>
          <a:prstGeom prst="rect">
            <a:avLst/>
          </a:prstGeom>
          <a:solidFill>
            <a:schemeClr val="lt1"/>
          </a:solid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1482AB"/>
              </a:buClr>
              <a:buSzPts val="4000"/>
              <a:buFont typeface="Palatino Linotype"/>
              <a:buNone/>
            </a:pPr>
            <a:r>
              <a:rPr b="1" lang="en-US" sz="4000">
                <a:solidFill>
                  <a:srgbClr val="1482AB"/>
                </a:solidFill>
                <a:latin typeface="Palatino Linotype"/>
                <a:ea typeface="Palatino Linotype"/>
                <a:cs typeface="Palatino Linotype"/>
                <a:sym typeface="Palatino Linotype"/>
              </a:rPr>
              <a:t>Overloading The [ ] Subscript Operator</a:t>
            </a:r>
            <a:endParaRPr/>
          </a:p>
        </p:txBody>
      </p:sp>
      <p:sp>
        <p:nvSpPr>
          <p:cNvPr id="345" name="Google Shape;345;p36"/>
          <p:cNvSpPr/>
          <p:nvPr/>
        </p:nvSpPr>
        <p:spPr>
          <a:xfrm>
            <a:off x="0" y="6500813"/>
            <a:ext cx="12192000" cy="357188"/>
          </a:xfrm>
          <a:prstGeom prst="rect">
            <a:avLst/>
          </a:prstGeom>
          <a:solidFill>
            <a:srgbClr val="0D567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Palatino Linotype"/>
              <a:ea typeface="Palatino Linotype"/>
              <a:cs typeface="Palatino Linotype"/>
              <a:sym typeface="Palatino Linotype"/>
            </a:endParaRPr>
          </a:p>
        </p:txBody>
      </p:sp>
      <p:sp>
        <p:nvSpPr>
          <p:cNvPr id="346" name="Google Shape;346;p36"/>
          <p:cNvSpPr/>
          <p:nvPr/>
        </p:nvSpPr>
        <p:spPr>
          <a:xfrm>
            <a:off x="685239" y="1878093"/>
            <a:ext cx="10821521" cy="378565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200">
                <a:solidFill>
                  <a:schemeClr val="dk1"/>
                </a:solidFill>
                <a:latin typeface="Palatino Linotype"/>
                <a:ea typeface="Palatino Linotype"/>
                <a:cs typeface="Palatino Linotype"/>
                <a:sym typeface="Palatino Linotype"/>
              </a:rPr>
              <a:t>To understand how the [ ] operator works, assume that an object called O is indexed as shown here:</a:t>
            </a:r>
            <a:endParaRPr/>
          </a:p>
          <a:p>
            <a:pPr indent="0" lvl="0" marL="0" marR="0" rtl="0" algn="ctr">
              <a:spcBef>
                <a:spcPts val="0"/>
              </a:spcBef>
              <a:spcAft>
                <a:spcPts val="0"/>
              </a:spcAft>
              <a:buNone/>
            </a:pPr>
            <a:r>
              <a:rPr lang="en-US" sz="2200">
                <a:solidFill>
                  <a:schemeClr val="dk1"/>
                </a:solidFill>
                <a:latin typeface="Palatino Linotype"/>
                <a:ea typeface="Palatino Linotype"/>
                <a:cs typeface="Palatino Linotype"/>
                <a:sym typeface="Palatino Linotype"/>
              </a:rPr>
              <a:t>O [9]; </a:t>
            </a:r>
            <a:endParaRPr sz="2200">
              <a:solidFill>
                <a:schemeClr val="dk1"/>
              </a:solidFill>
              <a:latin typeface="Palatino Linotype"/>
              <a:ea typeface="Palatino Linotype"/>
              <a:cs typeface="Palatino Linotype"/>
              <a:sym typeface="Palatino Linotype"/>
            </a:endParaRPr>
          </a:p>
          <a:p>
            <a:pPr indent="0" lvl="0" marL="0" marR="0" rtl="0" algn="ctr">
              <a:spcBef>
                <a:spcPts val="0"/>
              </a:spcBef>
              <a:spcAft>
                <a:spcPts val="0"/>
              </a:spcAft>
              <a:buNone/>
            </a:pPr>
            <a:r>
              <a:t/>
            </a:r>
            <a:endParaRPr sz="2200">
              <a:solidFill>
                <a:schemeClr val="dk1"/>
              </a:solidFill>
              <a:latin typeface="Palatino Linotype"/>
              <a:ea typeface="Palatino Linotype"/>
              <a:cs typeface="Palatino Linotype"/>
              <a:sym typeface="Palatino Linotype"/>
            </a:endParaRPr>
          </a:p>
          <a:p>
            <a:pPr indent="0" lvl="0" marL="0" marR="0" rtl="0" algn="just">
              <a:spcBef>
                <a:spcPts val="0"/>
              </a:spcBef>
              <a:spcAft>
                <a:spcPts val="0"/>
              </a:spcAft>
              <a:buNone/>
            </a:pPr>
            <a:r>
              <a:rPr lang="en-US" sz="2200">
                <a:solidFill>
                  <a:schemeClr val="dk1"/>
                </a:solidFill>
                <a:latin typeface="Palatino Linotype"/>
                <a:ea typeface="Palatino Linotype"/>
                <a:cs typeface="Palatino Linotype"/>
                <a:sym typeface="Palatino Linotype"/>
              </a:rPr>
              <a:t>This index will translate into the following call to the operator[ ]() function:</a:t>
            </a:r>
            <a:endParaRPr/>
          </a:p>
          <a:p>
            <a:pPr indent="0" lvl="0" marL="0" marR="0" rtl="0" algn="ctr">
              <a:spcBef>
                <a:spcPts val="0"/>
              </a:spcBef>
              <a:spcAft>
                <a:spcPts val="0"/>
              </a:spcAft>
              <a:buNone/>
            </a:pPr>
            <a:r>
              <a:rPr lang="en-US" sz="2200">
                <a:solidFill>
                  <a:schemeClr val="dk1"/>
                </a:solidFill>
                <a:latin typeface="Palatino Linotype"/>
                <a:ea typeface="Palatino Linotype"/>
                <a:cs typeface="Palatino Linotype"/>
                <a:sym typeface="Palatino Linotype"/>
              </a:rPr>
              <a:t>O. operator [](9)</a:t>
            </a:r>
            <a:endParaRPr/>
          </a:p>
          <a:p>
            <a:pPr indent="0" lvl="0" marL="0" marR="0" rtl="0" algn="ctr">
              <a:spcBef>
                <a:spcPts val="0"/>
              </a:spcBef>
              <a:spcAft>
                <a:spcPts val="0"/>
              </a:spcAft>
              <a:buNone/>
            </a:pPr>
            <a:r>
              <a:t/>
            </a:r>
            <a:endParaRPr sz="2200">
              <a:solidFill>
                <a:schemeClr val="dk1"/>
              </a:solidFill>
              <a:latin typeface="Palatino Linotype"/>
              <a:ea typeface="Palatino Linotype"/>
              <a:cs typeface="Palatino Linotype"/>
              <a:sym typeface="Palatino Linotype"/>
            </a:endParaRPr>
          </a:p>
          <a:p>
            <a:pPr indent="0" lvl="0" marL="0" marR="0" rtl="0" algn="just">
              <a:spcBef>
                <a:spcPts val="0"/>
              </a:spcBef>
              <a:spcAft>
                <a:spcPts val="0"/>
              </a:spcAft>
              <a:buNone/>
            </a:pPr>
            <a:r>
              <a:rPr lang="en-US" sz="2200">
                <a:solidFill>
                  <a:schemeClr val="dk1"/>
                </a:solidFill>
                <a:latin typeface="Palatino Linotype"/>
                <a:ea typeface="Palatino Linotype"/>
                <a:cs typeface="Palatino Linotype"/>
                <a:sym typeface="Palatino Linotype"/>
              </a:rPr>
              <a:t>That is, the value of the expression within the subscripting operator is passed to the operator []() function in its explicit parameter. The this pointer will point to O, the object that generated the call.</a:t>
            </a:r>
            <a:endParaRPr/>
          </a:p>
          <a:p>
            <a:pPr indent="0" lvl="0" marL="0" marR="0" rtl="0" algn="just">
              <a:spcBef>
                <a:spcPts val="0"/>
              </a:spcBef>
              <a:spcAft>
                <a:spcPts val="0"/>
              </a:spcAft>
              <a:buNone/>
            </a:pPr>
            <a:r>
              <a:t/>
            </a:r>
            <a:endParaRPr sz="2000">
              <a:solidFill>
                <a:schemeClr val="dk1"/>
              </a:solidFill>
              <a:latin typeface="Palatino Linotype"/>
              <a:ea typeface="Palatino Linotype"/>
              <a:cs typeface="Palatino Linotype"/>
              <a:sym typeface="Palatino Linotype"/>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7"/>
          <p:cNvSpPr txBox="1"/>
          <p:nvPr/>
        </p:nvSpPr>
        <p:spPr>
          <a:xfrm>
            <a:off x="386514" y="2501574"/>
            <a:ext cx="3496235" cy="1000124"/>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85000"/>
              </a:lnSpc>
              <a:spcBef>
                <a:spcPts val="0"/>
              </a:spcBef>
              <a:spcAft>
                <a:spcPts val="0"/>
              </a:spcAft>
              <a:buClr>
                <a:srgbClr val="1482AB"/>
              </a:buClr>
              <a:buSzPts val="3200"/>
              <a:buFont typeface="Palatino Linotype"/>
              <a:buNone/>
            </a:pPr>
            <a:r>
              <a:rPr b="1" lang="en-US" sz="3200">
                <a:solidFill>
                  <a:srgbClr val="1482AB"/>
                </a:solidFill>
                <a:latin typeface="Palatino Linotype"/>
                <a:ea typeface="Palatino Linotype"/>
                <a:cs typeface="Palatino Linotype"/>
                <a:sym typeface="Palatino Linotype"/>
              </a:rPr>
              <a:t>Overloading The </a:t>
            </a:r>
            <a:endParaRPr/>
          </a:p>
          <a:p>
            <a:pPr indent="0" lvl="0" marL="0" marR="0" rtl="0" algn="ctr">
              <a:lnSpc>
                <a:spcPct val="85000"/>
              </a:lnSpc>
              <a:spcBef>
                <a:spcPts val="0"/>
              </a:spcBef>
              <a:spcAft>
                <a:spcPts val="0"/>
              </a:spcAft>
              <a:buClr>
                <a:srgbClr val="1482AB"/>
              </a:buClr>
              <a:buSzPts val="3200"/>
              <a:buFont typeface="Palatino Linotype"/>
              <a:buNone/>
            </a:pPr>
            <a:r>
              <a:rPr b="1" lang="en-US" sz="3200">
                <a:solidFill>
                  <a:srgbClr val="1482AB"/>
                </a:solidFill>
                <a:latin typeface="Palatino Linotype"/>
                <a:ea typeface="Palatino Linotype"/>
                <a:cs typeface="Palatino Linotype"/>
                <a:sym typeface="Palatino Linotype"/>
              </a:rPr>
              <a:t>[ ] Subscript Operator</a:t>
            </a:r>
            <a:endParaRPr/>
          </a:p>
        </p:txBody>
      </p:sp>
      <p:pic>
        <p:nvPicPr>
          <p:cNvPr id="352" name="Google Shape;352;p37"/>
          <p:cNvPicPr preferRelativeResize="0"/>
          <p:nvPr/>
        </p:nvPicPr>
        <p:blipFill rotWithShape="1">
          <a:blip r:embed="rId3">
            <a:alphaModFix/>
          </a:blip>
          <a:srcRect b="0" l="0" r="0" t="0"/>
          <a:stretch/>
        </p:blipFill>
        <p:spPr>
          <a:xfrm>
            <a:off x="4108077" y="0"/>
            <a:ext cx="6541994" cy="68580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38"/>
          <p:cNvSpPr txBox="1"/>
          <p:nvPr>
            <p:ph type="title"/>
          </p:nvPr>
        </p:nvSpPr>
        <p:spPr>
          <a:xfrm>
            <a:off x="0" y="146746"/>
            <a:ext cx="12192000" cy="1228725"/>
          </a:xfrm>
          <a:prstGeom prst="rect">
            <a:avLst/>
          </a:prstGeom>
          <a:solidFill>
            <a:schemeClr val="lt1"/>
          </a:solid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1482AB"/>
              </a:buClr>
              <a:buSzPts val="4000"/>
              <a:buFont typeface="Palatino Linotype"/>
              <a:buNone/>
            </a:pPr>
            <a:r>
              <a:rPr b="1" lang="en-US" sz="4000">
                <a:solidFill>
                  <a:srgbClr val="1482AB"/>
                </a:solidFill>
                <a:latin typeface="Palatino Linotype"/>
                <a:ea typeface="Palatino Linotype"/>
                <a:cs typeface="Palatino Linotype"/>
                <a:sym typeface="Palatino Linotype"/>
              </a:rPr>
              <a:t>Overloading The [ ] Subscript Operator</a:t>
            </a:r>
            <a:endParaRPr/>
          </a:p>
        </p:txBody>
      </p:sp>
      <p:sp>
        <p:nvSpPr>
          <p:cNvPr id="358" name="Google Shape;358;p38"/>
          <p:cNvSpPr/>
          <p:nvPr/>
        </p:nvSpPr>
        <p:spPr>
          <a:xfrm>
            <a:off x="0" y="6500813"/>
            <a:ext cx="12192000" cy="357188"/>
          </a:xfrm>
          <a:prstGeom prst="rect">
            <a:avLst/>
          </a:prstGeom>
          <a:solidFill>
            <a:srgbClr val="0D567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Palatino Linotype"/>
              <a:ea typeface="Palatino Linotype"/>
              <a:cs typeface="Palatino Linotype"/>
              <a:sym typeface="Palatino Linotype"/>
            </a:endParaRPr>
          </a:p>
        </p:txBody>
      </p:sp>
      <p:sp>
        <p:nvSpPr>
          <p:cNvPr id="359" name="Google Shape;359;p38"/>
          <p:cNvSpPr/>
          <p:nvPr/>
        </p:nvSpPr>
        <p:spPr>
          <a:xfrm>
            <a:off x="779368" y="1985276"/>
            <a:ext cx="10821521" cy="378565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400">
                <a:solidFill>
                  <a:schemeClr val="dk1"/>
                </a:solidFill>
                <a:latin typeface="Palatino Linotype"/>
                <a:ea typeface="Palatino Linotype"/>
                <a:cs typeface="Palatino Linotype"/>
                <a:sym typeface="Palatino Linotype"/>
              </a:rPr>
              <a:t>In the following program, arraytype declares an array of five integers. Its constructor function initializes each member of the array. The overloaded operator[ ]() function returns the value of the element specified by its parameter. This program displays the following output:</a:t>
            </a:r>
            <a:endParaRPr/>
          </a:p>
          <a:p>
            <a:pPr indent="0" lvl="0" marL="0" marR="0" rtl="0" algn="just">
              <a:spcBef>
                <a:spcPts val="0"/>
              </a:spcBef>
              <a:spcAft>
                <a:spcPts val="0"/>
              </a:spcAft>
              <a:buNone/>
            </a:pPr>
            <a:r>
              <a:t/>
            </a:r>
            <a:endParaRPr sz="2400">
              <a:solidFill>
                <a:schemeClr val="dk1"/>
              </a:solidFill>
              <a:latin typeface="Palatino Linotype"/>
              <a:ea typeface="Palatino Linotype"/>
              <a:cs typeface="Palatino Linotype"/>
              <a:sym typeface="Palatino Linotype"/>
            </a:endParaRPr>
          </a:p>
          <a:p>
            <a:pPr indent="0" lvl="0" marL="0" marR="0" rtl="0" algn="ctr">
              <a:spcBef>
                <a:spcPts val="0"/>
              </a:spcBef>
              <a:spcAft>
                <a:spcPts val="0"/>
              </a:spcAft>
              <a:buNone/>
            </a:pPr>
            <a:r>
              <a:rPr lang="en-US" sz="2400">
                <a:solidFill>
                  <a:schemeClr val="dk1"/>
                </a:solidFill>
                <a:latin typeface="Palatino Linotype"/>
                <a:ea typeface="Palatino Linotype"/>
                <a:cs typeface="Palatino Linotype"/>
                <a:sym typeface="Palatino Linotype"/>
              </a:rPr>
              <a:t>0 1 2 3 4</a:t>
            </a:r>
            <a:endParaRPr/>
          </a:p>
          <a:p>
            <a:pPr indent="0" lvl="0" marL="0" marR="0" rtl="0" algn="ctr">
              <a:spcBef>
                <a:spcPts val="0"/>
              </a:spcBef>
              <a:spcAft>
                <a:spcPts val="0"/>
              </a:spcAft>
              <a:buNone/>
            </a:pPr>
            <a:r>
              <a:t/>
            </a:r>
            <a:endParaRPr sz="2400">
              <a:solidFill>
                <a:schemeClr val="dk1"/>
              </a:solidFill>
              <a:latin typeface="Palatino Linotype"/>
              <a:ea typeface="Palatino Linotype"/>
              <a:cs typeface="Palatino Linotype"/>
              <a:sym typeface="Palatino Linotype"/>
            </a:endParaRPr>
          </a:p>
          <a:p>
            <a:pPr indent="0" lvl="0" marL="0" marR="0" rtl="0" algn="just">
              <a:spcBef>
                <a:spcPts val="0"/>
              </a:spcBef>
              <a:spcAft>
                <a:spcPts val="0"/>
              </a:spcAft>
              <a:buNone/>
            </a:pPr>
            <a:r>
              <a:rPr lang="en-US" sz="2400">
                <a:solidFill>
                  <a:schemeClr val="dk1"/>
                </a:solidFill>
                <a:latin typeface="Palatino Linotype"/>
                <a:ea typeface="Palatino Linotype"/>
                <a:cs typeface="Palatino Linotype"/>
                <a:sym typeface="Palatino Linotype"/>
              </a:rPr>
              <a:t>The initialization of the array a by the constructor</a:t>
            </a:r>
            <a:endParaRPr/>
          </a:p>
          <a:p>
            <a:pPr indent="0" lvl="0" marL="0" marR="0" rtl="0" algn="just">
              <a:spcBef>
                <a:spcPts val="0"/>
              </a:spcBef>
              <a:spcAft>
                <a:spcPts val="0"/>
              </a:spcAft>
              <a:buNone/>
            </a:pPr>
            <a:r>
              <a:t/>
            </a:r>
            <a:endParaRPr sz="2400">
              <a:solidFill>
                <a:schemeClr val="dk1"/>
              </a:solidFill>
              <a:latin typeface="Palatino Linotype"/>
              <a:ea typeface="Palatino Linotype"/>
              <a:cs typeface="Palatino Linotype"/>
              <a:sym typeface="Palatino Linotype"/>
            </a:endParaRPr>
          </a:p>
          <a:p>
            <a:pPr indent="0" lvl="5" marL="2286000" marR="0" rtl="0" algn="just">
              <a:spcBef>
                <a:spcPts val="0"/>
              </a:spcBef>
              <a:spcAft>
                <a:spcPts val="0"/>
              </a:spcAft>
              <a:buNone/>
            </a:pPr>
            <a:r>
              <a:rPr b="1" i="0" lang="en-US" sz="2400" u="none" cap="none" strike="noStrike">
                <a:solidFill>
                  <a:srgbClr val="FF0000"/>
                </a:solidFill>
                <a:latin typeface="Palatino Linotype"/>
                <a:ea typeface="Palatino Linotype"/>
                <a:cs typeface="Palatino Linotype"/>
                <a:sym typeface="Palatino Linotype"/>
              </a:rPr>
              <a:t>***See example 2 on page 167</a:t>
            </a:r>
            <a:endParaRPr b="1" i="0" sz="2400" u="none" cap="none" strike="noStrike">
              <a:solidFill>
                <a:srgbClr val="FF0000"/>
              </a:solidFill>
              <a:latin typeface="Palatino Linotype"/>
              <a:ea typeface="Palatino Linotype"/>
              <a:cs typeface="Palatino Linotype"/>
              <a:sym typeface="Palatino Linotype"/>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9"/>
          <p:cNvSpPr txBox="1"/>
          <p:nvPr>
            <p:ph type="title"/>
          </p:nvPr>
        </p:nvSpPr>
        <p:spPr>
          <a:xfrm>
            <a:off x="2926080" y="1761565"/>
            <a:ext cx="10058400" cy="141463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9600"/>
              <a:buFont typeface="Palatino Linotype"/>
              <a:buNone/>
            </a:pPr>
            <a:r>
              <a:rPr b="1" lang="en-US" sz="9600">
                <a:latin typeface="Palatino Linotype"/>
                <a:ea typeface="Palatino Linotype"/>
                <a:cs typeface="Palatino Linotype"/>
                <a:sym typeface="Palatino Linotype"/>
              </a:rPr>
              <a:t>Thank You</a:t>
            </a:r>
            <a:endParaRPr b="1" sz="9600">
              <a:latin typeface="Palatino Linotype"/>
              <a:ea typeface="Palatino Linotype"/>
              <a:cs typeface="Palatino Linotype"/>
              <a:sym typeface="Palatino Linotype"/>
            </a:endParaRPr>
          </a:p>
        </p:txBody>
      </p:sp>
      <p:pic>
        <p:nvPicPr>
          <p:cNvPr id="365" name="Google Shape;365;p39"/>
          <p:cNvPicPr preferRelativeResize="0"/>
          <p:nvPr/>
        </p:nvPicPr>
        <p:blipFill rotWithShape="1">
          <a:blip r:embed="rId3">
            <a:alphaModFix/>
          </a:blip>
          <a:srcRect b="0" l="0" r="0" t="0"/>
          <a:stretch/>
        </p:blipFill>
        <p:spPr>
          <a:xfrm>
            <a:off x="4970648" y="3433202"/>
            <a:ext cx="2143125" cy="21431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2024-08-09T06:52:35Z</dcterms:created>
  <dc:creator>DELL</dc:creator>
</cp:coreProperties>
</file>