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Nunito"/>
      <p:regular r:id="rId37"/>
      <p:bold r:id="rId38"/>
      <p:italic r:id="rId39"/>
      <p:boldItalic r:id="rId40"/>
    </p:embeddedFont>
    <p:embeddedFont>
      <p:font typeface="Palatino Linotype"/>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5" roundtripDataSignature="AMtx7mjeu3LWYo9iON1YeTKdJBiye0bl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3558B3-F98B-49C8-9B53-6557440E9F32}">
  <a:tblStyle styleId="{AB3558B3-F98B-49C8-9B53-6557440E9F3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7F1FA"/>
          </a:solidFill>
        </a:fill>
      </a:tcStyle>
    </a:wholeTbl>
    <a:band1H>
      <a:tcTxStyle/>
      <a:tcStyle>
        <a:fill>
          <a:solidFill>
            <a:srgbClr val="CBE2F5"/>
          </a:solidFill>
        </a:fill>
      </a:tcStyle>
    </a:band1H>
    <a:band2H>
      <a:tcTxStyle/>
    </a:band2H>
    <a:band1V>
      <a:tcTxStyle/>
      <a:tcStyle>
        <a:fill>
          <a:solidFill>
            <a:srgbClr val="CBE2F5"/>
          </a:solidFill>
        </a:fill>
      </a:tcStyle>
    </a:band1V>
    <a:band2V>
      <a:tcTxStyle/>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fill>
          <a:solidFill>
            <a:srgbClr val="E7F1FA"/>
          </a:solidFill>
        </a:fill>
      </a:tcStyle>
    </a:lastRow>
    <a:seCell>
      <a:tcTxStyle/>
    </a:seCell>
    <a:swCell>
      <a:tcTxStyle/>
    </a:swCell>
    <a:firstRow>
      <a:tcTxStyle b="on" i="off">
        <a:font>
          <a:latin typeface="Calibri"/>
          <a:ea typeface="Calibri"/>
          <a:cs typeface="Calibri"/>
        </a:font>
        <a:schemeClr val="lt1"/>
      </a:tcTxStyle>
      <a:tcStyle>
        <a:fill>
          <a:solidFill>
            <a:schemeClr val="accent2"/>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boldItalic.fntdata"/><Relationship Id="rId20" Type="http://schemas.openxmlformats.org/officeDocument/2006/relationships/slide" Target="slides/slide14.xml"/><Relationship Id="rId42" Type="http://schemas.openxmlformats.org/officeDocument/2006/relationships/font" Target="fonts/PalatinoLinotype-bold.fntdata"/><Relationship Id="rId41" Type="http://schemas.openxmlformats.org/officeDocument/2006/relationships/font" Target="fonts/PalatinoLinotype-regular.fntdata"/><Relationship Id="rId22" Type="http://schemas.openxmlformats.org/officeDocument/2006/relationships/slide" Target="slides/slide16.xml"/><Relationship Id="rId44" Type="http://schemas.openxmlformats.org/officeDocument/2006/relationships/font" Target="fonts/PalatinoLinotype-boldItalic.fntdata"/><Relationship Id="rId21" Type="http://schemas.openxmlformats.org/officeDocument/2006/relationships/slide" Target="slides/slide15.xml"/><Relationship Id="rId43" Type="http://schemas.openxmlformats.org/officeDocument/2006/relationships/font" Target="fonts/PalatinoLinotype-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Nunito-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Nunito-italic.fntdata"/><Relationship Id="rId16" Type="http://schemas.openxmlformats.org/officeDocument/2006/relationships/slide" Target="slides/slide10.xml"/><Relationship Id="rId38" Type="http://schemas.openxmlformats.org/officeDocument/2006/relationships/font" Target="fonts/Nuni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32"/>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2"/>
          <p:cNvSpPr/>
          <p:nvPr/>
        </p:nvSpPr>
        <p:spPr>
          <a:xfrm>
            <a:off x="1" y="6334316"/>
            <a:ext cx="12192000"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2"/>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2"/>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3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2" name="Google Shape;22;p3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3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4" name="Shape 34"/>
        <p:cNvGrpSpPr/>
        <p:nvPr/>
      </p:nvGrpSpPr>
      <p:grpSpPr>
        <a:xfrm>
          <a:off x="0" y="0"/>
          <a:ext cx="0" cy="0"/>
          <a:chOff x="0" y="0"/>
          <a:chExt cx="0" cy="0"/>
        </a:xfrm>
      </p:grpSpPr>
      <p:sp>
        <p:nvSpPr>
          <p:cNvPr id="35" name="Google Shape;35;p3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0" name="Shape 40"/>
        <p:cNvGrpSpPr/>
        <p:nvPr/>
      </p:nvGrpSpPr>
      <p:grpSpPr>
        <a:xfrm>
          <a:off x="0" y="0"/>
          <a:ext cx="0" cy="0"/>
          <a:chOff x="0" y="0"/>
          <a:chExt cx="0" cy="0"/>
        </a:xfrm>
      </p:grpSpPr>
      <p:sp>
        <p:nvSpPr>
          <p:cNvPr id="41" name="Google Shape;41;p3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6"/>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6"/>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5" name="Google Shape;45;p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8" name="Google Shape;48;p36"/>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3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 type="body"/>
          </p:nvPr>
        </p:nvSpPr>
        <p:spPr>
          <a:xfrm>
            <a:off x="1097280" y="1845734"/>
            <a:ext cx="493776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37"/>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3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8"/>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9" name="Google Shape;59;p38"/>
          <p:cNvSpPr txBox="1"/>
          <p:nvPr>
            <p:ph idx="2" type="body"/>
          </p:nvPr>
        </p:nvSpPr>
        <p:spPr>
          <a:xfrm>
            <a:off x="1097280" y="2582335"/>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38"/>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1" name="Google Shape;61;p38"/>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3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39"/>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9"/>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9"/>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9"/>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39"/>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39"/>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9"/>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40"/>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0"/>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0"/>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40"/>
          <p:cNvSpPr/>
          <p:nvPr>
            <p:ph idx="2" type="pic"/>
          </p:nvPr>
        </p:nvSpPr>
        <p:spPr>
          <a:xfrm>
            <a:off x="15" y="0"/>
            <a:ext cx="12191985" cy="4915076"/>
          </a:xfrm>
          <a:prstGeom prst="rect">
            <a:avLst/>
          </a:prstGeom>
          <a:solidFill>
            <a:srgbClr val="BECAD4"/>
          </a:solidFill>
          <a:ln>
            <a:noFill/>
          </a:ln>
        </p:spPr>
      </p:sp>
      <p:sp>
        <p:nvSpPr>
          <p:cNvPr id="79" name="Google Shape;79;p40"/>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4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4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41"/>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4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4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2"/>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42"/>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4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4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3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3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31"/>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1056939" y="363071"/>
            <a:ext cx="10058400" cy="356616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accent1"/>
              </a:buClr>
              <a:buSzPts val="6600"/>
              <a:buFont typeface="Palatino Linotype"/>
              <a:buNone/>
            </a:pPr>
            <a:r>
              <a:rPr b="1" lang="en-US" sz="6600">
                <a:solidFill>
                  <a:schemeClr val="accent1"/>
                </a:solidFill>
                <a:latin typeface="Palatino Linotype"/>
                <a:ea typeface="Palatino Linotype"/>
                <a:cs typeface="Palatino Linotype"/>
                <a:sym typeface="Palatino Linotype"/>
              </a:rPr>
              <a:t>Lecture:4</a:t>
            </a:r>
            <a:br>
              <a:rPr lang="en-US" sz="5400">
                <a:latin typeface="Palatino Linotype"/>
                <a:ea typeface="Palatino Linotype"/>
                <a:cs typeface="Palatino Linotype"/>
                <a:sym typeface="Palatino Linotype"/>
              </a:rPr>
            </a:br>
            <a:br>
              <a:rPr lang="en-US" sz="5400">
                <a:latin typeface="Palatino Linotype"/>
                <a:ea typeface="Palatino Linotype"/>
                <a:cs typeface="Palatino Linotype"/>
                <a:sym typeface="Palatino Linotype"/>
              </a:rPr>
            </a:br>
            <a:r>
              <a:rPr b="1" lang="en-US" sz="4800">
                <a:solidFill>
                  <a:srgbClr val="595959"/>
                </a:solidFill>
                <a:latin typeface="Palatino Linotype"/>
                <a:ea typeface="Palatino Linotype"/>
                <a:cs typeface="Palatino Linotype"/>
                <a:sym typeface="Palatino Linotype"/>
              </a:rPr>
              <a:t>Functions, Automatic inline functions, Object Pointers</a:t>
            </a:r>
            <a:endParaRPr b="1" sz="4800">
              <a:solidFill>
                <a:srgbClr val="595959"/>
              </a:solidFill>
              <a:latin typeface="Palatino Linotype"/>
              <a:ea typeface="Palatino Linotype"/>
              <a:cs typeface="Palatino Linotype"/>
              <a:sym typeface="Palatino Linotype"/>
            </a:endParaRPr>
          </a:p>
        </p:txBody>
      </p:sp>
      <p:sp>
        <p:nvSpPr>
          <p:cNvPr id="102" name="Google Shape;102;p1"/>
          <p:cNvSpPr txBox="1"/>
          <p:nvPr/>
        </p:nvSpPr>
        <p:spPr>
          <a:xfrm>
            <a:off x="2542839" y="4679577"/>
            <a:ext cx="7086600" cy="12618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accent1"/>
                </a:solidFill>
                <a:latin typeface="Palatino Linotype"/>
                <a:ea typeface="Palatino Linotype"/>
                <a:cs typeface="Palatino Linotype"/>
                <a:sym typeface="Palatino Linotype"/>
              </a:rPr>
              <a:t>Prepared By: Sumaiya Binte Shahid</a:t>
            </a:r>
            <a:endParaRPr b="0" i="0" sz="2800" u="none" cap="none" strike="noStrike">
              <a:solidFill>
                <a:schemeClr val="accent1"/>
              </a:solidFill>
              <a:latin typeface="Palatino Linotype"/>
              <a:ea typeface="Palatino Linotype"/>
              <a:cs typeface="Palatino Linotype"/>
              <a:sym typeface="Palatino Linotype"/>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Lecturer</a:t>
            </a:r>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Department of CSE, BUBT</a:t>
            </a:r>
            <a:endParaRPr b="0" i="0" sz="24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0" y="227429"/>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Member function with Scope resolution </a:t>
            </a:r>
            <a:br>
              <a:rPr b="1" lang="en-US" sz="4000">
                <a:solidFill>
                  <a:srgbClr val="1482AB"/>
                </a:solidFill>
                <a:latin typeface="Palatino Linotype"/>
                <a:ea typeface="Palatino Linotype"/>
                <a:cs typeface="Palatino Linotype"/>
                <a:sym typeface="Palatino Linotype"/>
              </a:rPr>
            </a:br>
            <a:r>
              <a:rPr b="1" lang="en-US" sz="4000">
                <a:solidFill>
                  <a:srgbClr val="1482AB"/>
                </a:solidFill>
                <a:latin typeface="Palatino Linotype"/>
                <a:ea typeface="Palatino Linotype"/>
                <a:cs typeface="Palatino Linotype"/>
                <a:sym typeface="Palatino Linotype"/>
              </a:rPr>
              <a:t>operator ( :: )</a:t>
            </a:r>
            <a:endParaRPr/>
          </a:p>
        </p:txBody>
      </p:sp>
      <p:sp>
        <p:nvSpPr>
          <p:cNvPr id="108" name="Google Shape;108;p2"/>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Palatino Linotype"/>
              <a:ea typeface="Palatino Linotype"/>
              <a:cs typeface="Palatino Linotype"/>
              <a:sym typeface="Palatino Linotype"/>
            </a:endParaRPr>
          </a:p>
        </p:txBody>
      </p:sp>
      <p:sp>
        <p:nvSpPr>
          <p:cNvPr id="109" name="Google Shape;109;p2"/>
          <p:cNvSpPr/>
          <p:nvPr/>
        </p:nvSpPr>
        <p:spPr>
          <a:xfrm>
            <a:off x="753036" y="1720587"/>
            <a:ext cx="11183470" cy="11387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273239"/>
                </a:solidFill>
                <a:latin typeface="Palatino Linotype"/>
                <a:ea typeface="Palatino Linotype"/>
                <a:cs typeface="Palatino Linotype"/>
                <a:sym typeface="Palatino Linotype"/>
              </a:rPr>
              <a:t>In C++, the scope resolution operator is </a:t>
            </a:r>
            <a:r>
              <a:rPr b="1" i="0" lang="en-US" sz="2400" u="none" cap="none" strike="noStrike">
                <a:solidFill>
                  <a:srgbClr val="273239"/>
                </a:solidFill>
                <a:latin typeface="Palatino Linotype"/>
                <a:ea typeface="Palatino Linotype"/>
                <a:cs typeface="Palatino Linotype"/>
                <a:sym typeface="Palatino Linotype"/>
              </a:rPr>
              <a:t>::</a:t>
            </a:r>
            <a:r>
              <a:rPr b="0" i="0" lang="en-US" sz="2400" u="none" cap="none" strike="noStrike">
                <a:solidFill>
                  <a:srgbClr val="273239"/>
                </a:solidFill>
                <a:latin typeface="Palatino Linotype"/>
                <a:ea typeface="Palatino Linotype"/>
                <a:cs typeface="Palatino Linotype"/>
                <a:sym typeface="Palatino Linotype"/>
              </a:rPr>
              <a:t>. It is used for the following purposes.</a:t>
            </a:r>
            <a:endParaRPr/>
          </a:p>
          <a:p>
            <a:pPr indent="0" lvl="0" marL="0" marR="0" rtl="0" algn="l">
              <a:spcBef>
                <a:spcPts val="0"/>
              </a:spcBef>
              <a:spcAft>
                <a:spcPts val="0"/>
              </a:spcAft>
              <a:buNone/>
            </a:pPr>
            <a:r>
              <a:t/>
            </a:r>
            <a:endParaRPr b="0" i="0" sz="2200" u="none" cap="none" strike="noStrike">
              <a:solidFill>
                <a:srgbClr val="273239"/>
              </a:solidFill>
              <a:latin typeface="Palatino Linotype"/>
              <a:ea typeface="Palatino Linotype"/>
              <a:cs typeface="Palatino Linotype"/>
              <a:sym typeface="Palatino Linotype"/>
            </a:endParaRPr>
          </a:p>
          <a:p>
            <a:pPr indent="-342900" lvl="0" marL="342900" marR="0" rtl="0" algn="l">
              <a:spcBef>
                <a:spcPts val="0"/>
              </a:spcBef>
              <a:spcAft>
                <a:spcPts val="0"/>
              </a:spcAft>
              <a:buClr>
                <a:srgbClr val="1C6294"/>
              </a:buClr>
              <a:buSzPts val="2200"/>
              <a:buFont typeface="Noto Sans Symbols"/>
              <a:buChar char="▪"/>
            </a:pPr>
            <a:r>
              <a:rPr b="1" i="0" lang="en-US" sz="2200" u="none" cap="none" strike="noStrike">
                <a:solidFill>
                  <a:srgbClr val="1C6294"/>
                </a:solidFill>
                <a:latin typeface="Palatino Linotype"/>
                <a:ea typeface="Palatino Linotype"/>
                <a:cs typeface="Palatino Linotype"/>
                <a:sym typeface="Palatino Linotype"/>
              </a:rPr>
              <a:t>1) To access a global variable when there is a local variable with same name:</a:t>
            </a:r>
            <a:r>
              <a:rPr b="0" i="0" lang="en-US" sz="1800" u="none" cap="none" strike="noStrike">
                <a:solidFill>
                  <a:srgbClr val="273239"/>
                </a:solidFill>
                <a:latin typeface="Nunito"/>
                <a:ea typeface="Nunito"/>
                <a:cs typeface="Nunito"/>
                <a:sym typeface="Nunito"/>
              </a:rPr>
              <a:t> </a:t>
            </a:r>
            <a:endParaRPr b="0" i="0" sz="1800" u="none" cap="none" strike="noStrike">
              <a:solidFill>
                <a:srgbClr val="273239"/>
              </a:solidFill>
              <a:latin typeface="Nunito"/>
              <a:ea typeface="Nunito"/>
              <a:cs typeface="Nunito"/>
              <a:sym typeface="Nunito"/>
            </a:endParaRPr>
          </a:p>
        </p:txBody>
      </p:sp>
      <p:sp>
        <p:nvSpPr>
          <p:cNvPr id="110" name="Google Shape;110;p2"/>
          <p:cNvSpPr/>
          <p:nvPr/>
        </p:nvSpPr>
        <p:spPr>
          <a:xfrm>
            <a:off x="4110317" y="2859360"/>
            <a:ext cx="5127812" cy="3477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#include&lt;iostream&gt; </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using namespace std;</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int x;                              // Global x</a:t>
            </a:r>
            <a:endParaRPr/>
          </a:p>
          <a:p>
            <a:pPr indent="0" lvl="0" marL="0" marR="0" rtl="0" algn="l">
              <a:spcBef>
                <a:spcPts val="0"/>
              </a:spcBef>
              <a:spcAft>
                <a:spcPts val="0"/>
              </a:spcAft>
              <a:buNone/>
            </a:pPr>
            <a:r>
              <a:t/>
            </a:r>
            <a:endParaRPr sz="20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int main()</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int x = 10;                       // Local x</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cout &lt;&lt; "Value of global x is " &lt;&lt; ::x;</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cout &lt;&lt; "\nValue of local x is " &lt;&lt; x; </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return 0;</a:t>
            </a:r>
            <a:endParaRPr/>
          </a:p>
          <a:p>
            <a:pPr indent="0" lvl="0" marL="0" marR="0" rtl="0" algn="l">
              <a:spcBef>
                <a:spcPts val="0"/>
              </a:spcBef>
              <a:spcAft>
                <a:spcPts val="0"/>
              </a:spcAft>
              <a:buNone/>
            </a:pPr>
            <a:r>
              <a:rPr lang="en-US" sz="2000">
                <a:solidFill>
                  <a:schemeClr val="dk1"/>
                </a:solidFill>
                <a:latin typeface="Palatino Linotype"/>
                <a:ea typeface="Palatino Linotype"/>
                <a:cs typeface="Palatino Linotype"/>
                <a:sym typeface="Palatino Linotype"/>
              </a:rPr>
              <a:t>}</a:t>
            </a:r>
            <a:endParaRPr sz="20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0" y="227429"/>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Member function with Scope resolution </a:t>
            </a:r>
            <a:br>
              <a:rPr b="1" lang="en-US" sz="4000">
                <a:solidFill>
                  <a:srgbClr val="1482AB"/>
                </a:solidFill>
                <a:latin typeface="Palatino Linotype"/>
                <a:ea typeface="Palatino Linotype"/>
                <a:cs typeface="Palatino Linotype"/>
                <a:sym typeface="Palatino Linotype"/>
              </a:rPr>
            </a:br>
            <a:r>
              <a:rPr b="1" lang="en-US" sz="4000">
                <a:solidFill>
                  <a:srgbClr val="1482AB"/>
                </a:solidFill>
                <a:latin typeface="Palatino Linotype"/>
                <a:ea typeface="Palatino Linotype"/>
                <a:cs typeface="Palatino Linotype"/>
                <a:sym typeface="Palatino Linotype"/>
              </a:rPr>
              <a:t>operator ( :: )</a:t>
            </a:r>
            <a:endParaRPr/>
          </a:p>
        </p:txBody>
      </p:sp>
      <p:sp>
        <p:nvSpPr>
          <p:cNvPr id="116" name="Google Shape;116;p3"/>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117" name="Google Shape;117;p3"/>
          <p:cNvSpPr/>
          <p:nvPr/>
        </p:nvSpPr>
        <p:spPr>
          <a:xfrm>
            <a:off x="950258" y="2120746"/>
            <a:ext cx="11241742"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rgbClr val="273239"/>
                </a:solidFill>
                <a:latin typeface="Palatino Linotype"/>
                <a:ea typeface="Palatino Linotype"/>
                <a:cs typeface="Palatino Linotype"/>
                <a:sym typeface="Palatino Linotype"/>
              </a:rPr>
              <a:t>In C++, the scope resolution operator is </a:t>
            </a:r>
            <a:r>
              <a:rPr b="1" i="0" lang="en-US" sz="2400">
                <a:solidFill>
                  <a:srgbClr val="273239"/>
                </a:solidFill>
                <a:latin typeface="Palatino Linotype"/>
                <a:ea typeface="Palatino Linotype"/>
                <a:cs typeface="Palatino Linotype"/>
                <a:sym typeface="Palatino Linotype"/>
              </a:rPr>
              <a:t>::</a:t>
            </a:r>
            <a:r>
              <a:rPr b="0" i="0" lang="en-US" sz="2400">
                <a:solidFill>
                  <a:srgbClr val="273239"/>
                </a:solidFill>
                <a:latin typeface="Palatino Linotype"/>
                <a:ea typeface="Palatino Linotype"/>
                <a:cs typeface="Palatino Linotype"/>
                <a:sym typeface="Palatino Linotype"/>
              </a:rPr>
              <a:t>. It is used for the following purposes.</a:t>
            </a:r>
            <a:endParaRPr/>
          </a:p>
          <a:p>
            <a:pPr indent="-190500" lvl="0" marL="342900" marR="0" rtl="0" algn="l">
              <a:spcBef>
                <a:spcPts val="0"/>
              </a:spcBef>
              <a:spcAft>
                <a:spcPts val="0"/>
              </a:spcAft>
              <a:buClr>
                <a:schemeClr val="dk1"/>
              </a:buClr>
              <a:buSzPts val="2400"/>
              <a:buFont typeface="Noto Sans Symbols"/>
              <a:buNone/>
            </a:pPr>
            <a:r>
              <a:t/>
            </a:r>
            <a:endParaRPr i="0" sz="2400">
              <a:solidFill>
                <a:srgbClr val="273239"/>
              </a:solidFill>
              <a:latin typeface="Palatino Linotype"/>
              <a:ea typeface="Palatino Linotype"/>
              <a:cs typeface="Palatino Linotype"/>
              <a:sym typeface="Palatino Linotype"/>
            </a:endParaRPr>
          </a:p>
          <a:p>
            <a:pPr indent="-342900" lvl="0" marL="342900" marR="0" rtl="0" algn="l">
              <a:spcBef>
                <a:spcPts val="0"/>
              </a:spcBef>
              <a:spcAft>
                <a:spcPts val="0"/>
              </a:spcAft>
              <a:buClr>
                <a:srgbClr val="1C6294"/>
              </a:buClr>
              <a:buSzPts val="2400"/>
              <a:buFont typeface="Noto Sans Symbols"/>
              <a:buChar char="▪"/>
            </a:pPr>
            <a:r>
              <a:rPr lang="en-US" sz="2400">
                <a:solidFill>
                  <a:srgbClr val="1C6294"/>
                </a:solidFill>
                <a:latin typeface="Palatino Linotype"/>
                <a:ea typeface="Palatino Linotype"/>
                <a:cs typeface="Palatino Linotype"/>
                <a:sym typeface="Palatino Linotype"/>
              </a:rPr>
              <a:t>To define a function outside a class.</a:t>
            </a:r>
            <a:endParaRPr/>
          </a:p>
          <a:p>
            <a:pPr indent="-190500" lvl="0" marL="342900" marR="0" rtl="0" algn="l">
              <a:spcBef>
                <a:spcPts val="0"/>
              </a:spcBef>
              <a:spcAft>
                <a:spcPts val="0"/>
              </a:spcAft>
              <a:buClr>
                <a:schemeClr val="dk1"/>
              </a:buClr>
              <a:buSzPts val="2400"/>
              <a:buFont typeface="Noto Sans Symbols"/>
              <a:buNone/>
            </a:pPr>
            <a:r>
              <a:t/>
            </a:r>
            <a:endParaRPr sz="2400">
              <a:solidFill>
                <a:srgbClr val="1C6294"/>
              </a:solidFill>
              <a:latin typeface="Palatino Linotype"/>
              <a:ea typeface="Palatino Linotype"/>
              <a:cs typeface="Palatino Linotype"/>
              <a:sym typeface="Palatino Linotype"/>
            </a:endParaRPr>
          </a:p>
          <a:p>
            <a:pPr indent="-342900" lvl="0" marL="342900" marR="0" rtl="0" algn="l">
              <a:spcBef>
                <a:spcPts val="0"/>
              </a:spcBef>
              <a:spcAft>
                <a:spcPts val="0"/>
              </a:spcAft>
              <a:buClr>
                <a:srgbClr val="1C6294"/>
              </a:buClr>
              <a:buSzPts val="2400"/>
              <a:buFont typeface="Noto Sans Symbols"/>
              <a:buChar char="▪"/>
            </a:pPr>
            <a:r>
              <a:rPr lang="en-US" sz="2400">
                <a:solidFill>
                  <a:srgbClr val="1C6294"/>
                </a:solidFill>
                <a:latin typeface="Palatino Linotype"/>
                <a:ea typeface="Palatino Linotype"/>
                <a:cs typeface="Palatino Linotype"/>
                <a:sym typeface="Palatino Linotype"/>
              </a:rPr>
              <a:t>In case of multiple Inheritance.</a:t>
            </a:r>
            <a:endParaRPr/>
          </a:p>
          <a:p>
            <a:pPr indent="-190500" lvl="0" marL="342900" marR="0" rtl="0" algn="l">
              <a:spcBef>
                <a:spcPts val="0"/>
              </a:spcBef>
              <a:spcAft>
                <a:spcPts val="0"/>
              </a:spcAft>
              <a:buClr>
                <a:schemeClr val="dk1"/>
              </a:buClr>
              <a:buSzPts val="2400"/>
              <a:buFont typeface="Noto Sans Symbols"/>
              <a:buNone/>
            </a:pPr>
            <a:r>
              <a:t/>
            </a:r>
            <a:endParaRPr sz="2400">
              <a:solidFill>
                <a:srgbClr val="1C6294"/>
              </a:solidFill>
              <a:latin typeface="Palatino Linotype"/>
              <a:ea typeface="Palatino Linotype"/>
              <a:cs typeface="Palatino Linotype"/>
              <a:sym typeface="Palatino Linotype"/>
            </a:endParaRPr>
          </a:p>
          <a:p>
            <a:pPr indent="-342900" lvl="0" marL="342900" marR="0" rtl="0" algn="l">
              <a:spcBef>
                <a:spcPts val="0"/>
              </a:spcBef>
              <a:spcAft>
                <a:spcPts val="0"/>
              </a:spcAft>
              <a:buClr>
                <a:srgbClr val="1C6294"/>
              </a:buClr>
              <a:buSzPts val="2400"/>
              <a:buFont typeface="Noto Sans Symbols"/>
              <a:buChar char="▪"/>
            </a:pPr>
            <a:r>
              <a:rPr lang="en-US" sz="2400">
                <a:solidFill>
                  <a:srgbClr val="1C6294"/>
                </a:solidFill>
                <a:latin typeface="Palatino Linotype"/>
                <a:ea typeface="Palatino Linotype"/>
                <a:cs typeface="Palatino Linotype"/>
                <a:sym typeface="Palatino Linotype"/>
              </a:rPr>
              <a:t>Refer to a member of the base class in the derived object.</a:t>
            </a:r>
            <a:endParaRPr/>
          </a:p>
          <a:p>
            <a:pPr indent="-190500" lvl="0" marL="342900" marR="0" rtl="0" algn="l">
              <a:spcBef>
                <a:spcPts val="0"/>
              </a:spcBef>
              <a:spcAft>
                <a:spcPts val="0"/>
              </a:spcAft>
              <a:buClr>
                <a:schemeClr val="dk1"/>
              </a:buClr>
              <a:buSzPts val="2400"/>
              <a:buFont typeface="Noto Sans Symbols"/>
              <a:buNone/>
            </a:pPr>
            <a:r>
              <a:t/>
            </a:r>
            <a:endParaRPr sz="2400">
              <a:solidFill>
                <a:srgbClr val="1C6294"/>
              </a:solidFill>
              <a:latin typeface="Palatino Linotype"/>
              <a:ea typeface="Palatino Linotype"/>
              <a:cs typeface="Palatino Linotype"/>
              <a:sym typeface="Palatino Linotype"/>
            </a:endParaRPr>
          </a:p>
          <a:p>
            <a:pPr indent="-342900" lvl="0" marL="342900" marR="0" rtl="0" algn="l">
              <a:spcBef>
                <a:spcPts val="0"/>
              </a:spcBef>
              <a:spcAft>
                <a:spcPts val="0"/>
              </a:spcAft>
              <a:buClr>
                <a:srgbClr val="1C6294"/>
              </a:buClr>
              <a:buSzPts val="2400"/>
              <a:buFont typeface="Noto Sans Symbols"/>
              <a:buChar char="▪"/>
            </a:pPr>
            <a:r>
              <a:rPr lang="en-US" sz="2400">
                <a:solidFill>
                  <a:srgbClr val="1C6294"/>
                </a:solidFill>
                <a:latin typeface="Palatino Linotype"/>
                <a:ea typeface="Palatino Linotype"/>
                <a:cs typeface="Palatino Linotype"/>
                <a:sym typeface="Palatino Linotype"/>
              </a:rPr>
              <a:t>Refer to a class inside another class.</a:t>
            </a:r>
            <a:r>
              <a:rPr i="0" lang="en-US" sz="2400">
                <a:solidFill>
                  <a:srgbClr val="273239"/>
                </a:solidFill>
                <a:latin typeface="Palatino Linotype"/>
                <a:ea typeface="Palatino Linotype"/>
                <a:cs typeface="Palatino Linotype"/>
                <a:sym typeface="Palatino Linotype"/>
              </a:rPr>
              <a:t> </a:t>
            </a:r>
            <a:endParaRPr i="0" sz="2400">
              <a:solidFill>
                <a:srgbClr val="273239"/>
              </a:solidFill>
              <a:latin typeface="Palatino Linotype"/>
              <a:ea typeface="Palatino Linotype"/>
              <a:cs typeface="Palatino Linotype"/>
              <a:sym typeface="Palatino Linoty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0" y="227429"/>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Member function with Scope resolution </a:t>
            </a:r>
            <a:br>
              <a:rPr b="1" lang="en-US" sz="4000">
                <a:solidFill>
                  <a:srgbClr val="1482AB"/>
                </a:solidFill>
                <a:latin typeface="Palatino Linotype"/>
                <a:ea typeface="Palatino Linotype"/>
                <a:cs typeface="Palatino Linotype"/>
                <a:sym typeface="Palatino Linotype"/>
              </a:rPr>
            </a:br>
            <a:r>
              <a:rPr b="1" lang="en-US" sz="4000">
                <a:solidFill>
                  <a:srgbClr val="1482AB"/>
                </a:solidFill>
                <a:latin typeface="Palatino Linotype"/>
                <a:ea typeface="Palatino Linotype"/>
                <a:cs typeface="Palatino Linotype"/>
                <a:sym typeface="Palatino Linotype"/>
              </a:rPr>
              <a:t>operator ( :: )</a:t>
            </a:r>
            <a:endParaRPr/>
          </a:p>
        </p:txBody>
      </p:sp>
      <p:sp>
        <p:nvSpPr>
          <p:cNvPr id="123" name="Google Shape;123;p4"/>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124" name="Google Shape;124;p4"/>
          <p:cNvSpPr txBox="1"/>
          <p:nvPr/>
        </p:nvSpPr>
        <p:spPr>
          <a:xfrm>
            <a:off x="1434060" y="2740059"/>
            <a:ext cx="4509540" cy="2616101"/>
          </a:xfrm>
          <a:prstGeom prst="rect">
            <a:avLst/>
          </a:prstGeom>
          <a:solidFill>
            <a:srgbClr val="DFECEC"/>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Palatino Linotype"/>
                <a:ea typeface="Palatino Linotype"/>
                <a:cs typeface="Palatino Linotype"/>
                <a:sym typeface="Palatino Linotype"/>
              </a:rPr>
              <a:t>Return type of the function.</a:t>
            </a:r>
            <a:endParaRPr/>
          </a:p>
          <a:p>
            <a:pPr indent="-457200" lvl="0" marL="457200" marR="0" rtl="0" algn="l">
              <a:spcBef>
                <a:spcPts val="600"/>
              </a:spcBef>
              <a:spcAft>
                <a:spcPts val="0"/>
              </a:spcAft>
              <a:buClr>
                <a:schemeClr val="dk1"/>
              </a:buClr>
              <a:buSzPts val="2400"/>
              <a:buFont typeface="Calibri"/>
              <a:buAutoNum type="arabicPeriod"/>
            </a:pPr>
            <a:r>
              <a:rPr lang="en-US" sz="2400">
                <a:solidFill>
                  <a:schemeClr val="dk1"/>
                </a:solidFill>
                <a:latin typeface="Palatino Linotype"/>
                <a:ea typeface="Palatino Linotype"/>
                <a:cs typeface="Palatino Linotype"/>
                <a:sym typeface="Palatino Linotype"/>
              </a:rPr>
              <a:t>Class name</a:t>
            </a:r>
            <a:endParaRPr/>
          </a:p>
          <a:p>
            <a:pPr indent="-457200" lvl="0" marL="457200" marR="0" rtl="0" algn="l">
              <a:spcBef>
                <a:spcPts val="600"/>
              </a:spcBef>
              <a:spcAft>
                <a:spcPts val="0"/>
              </a:spcAft>
              <a:buClr>
                <a:schemeClr val="dk1"/>
              </a:buClr>
              <a:buSzPts val="2400"/>
              <a:buFont typeface="Calibri"/>
              <a:buAutoNum type="arabicPeriod"/>
            </a:pPr>
            <a:r>
              <a:rPr lang="en-US" sz="2400">
                <a:solidFill>
                  <a:schemeClr val="dk1"/>
                </a:solidFill>
                <a:latin typeface="Palatino Linotype"/>
                <a:ea typeface="Palatino Linotype"/>
                <a:cs typeface="Palatino Linotype"/>
                <a:sym typeface="Palatino Linotype"/>
              </a:rPr>
              <a:t>Scope resolution operator ::</a:t>
            </a:r>
            <a:endParaRPr/>
          </a:p>
          <a:p>
            <a:pPr indent="-457200" lvl="0" marL="457200" marR="0" rtl="0" algn="l">
              <a:spcBef>
                <a:spcPts val="600"/>
              </a:spcBef>
              <a:spcAft>
                <a:spcPts val="0"/>
              </a:spcAft>
              <a:buClr>
                <a:schemeClr val="dk1"/>
              </a:buClr>
              <a:buSzPts val="2400"/>
              <a:buFont typeface="Calibri"/>
              <a:buAutoNum type="arabicPeriod"/>
            </a:pPr>
            <a:r>
              <a:rPr lang="en-US" sz="2400">
                <a:solidFill>
                  <a:schemeClr val="dk1"/>
                </a:solidFill>
                <a:latin typeface="Palatino Linotype"/>
                <a:ea typeface="Palatino Linotype"/>
                <a:cs typeface="Palatino Linotype"/>
                <a:sym typeface="Palatino Linotype"/>
              </a:rPr>
              <a:t>Function name with parameter list.</a:t>
            </a:r>
            <a:endParaRPr/>
          </a:p>
          <a:p>
            <a:pPr indent="-457200" lvl="0" marL="457200" marR="0" rtl="0" algn="l">
              <a:spcBef>
                <a:spcPts val="600"/>
              </a:spcBef>
              <a:spcAft>
                <a:spcPts val="0"/>
              </a:spcAft>
              <a:buClr>
                <a:schemeClr val="dk1"/>
              </a:buClr>
              <a:buSzPts val="2400"/>
              <a:buFont typeface="Calibri"/>
              <a:buAutoNum type="arabicPeriod"/>
            </a:pPr>
            <a:r>
              <a:rPr lang="en-US" sz="2400">
                <a:solidFill>
                  <a:schemeClr val="dk1"/>
                </a:solidFill>
                <a:latin typeface="Palatino Linotype"/>
                <a:ea typeface="Palatino Linotype"/>
                <a:cs typeface="Palatino Linotype"/>
                <a:sym typeface="Palatino Linotype"/>
              </a:rPr>
              <a:t>Function body between {}</a:t>
            </a:r>
            <a:endParaRPr/>
          </a:p>
        </p:txBody>
      </p:sp>
      <p:sp>
        <p:nvSpPr>
          <p:cNvPr id="125" name="Google Shape;125;p4"/>
          <p:cNvSpPr/>
          <p:nvPr/>
        </p:nvSpPr>
        <p:spPr>
          <a:xfrm>
            <a:off x="3519273" y="1726960"/>
            <a:ext cx="5443538" cy="471488"/>
          </a:xfrm>
          <a:prstGeom prst="rect">
            <a:avLst/>
          </a:pr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Palatino Linotype"/>
                <a:ea typeface="Palatino Linotype"/>
                <a:cs typeface="Palatino Linotype"/>
                <a:sym typeface="Palatino Linotype"/>
              </a:rPr>
              <a:t>How to do that?</a:t>
            </a:r>
            <a:endParaRPr/>
          </a:p>
        </p:txBody>
      </p:sp>
      <p:sp>
        <p:nvSpPr>
          <p:cNvPr id="126" name="Google Shape;126;p4"/>
          <p:cNvSpPr txBox="1"/>
          <p:nvPr/>
        </p:nvSpPr>
        <p:spPr>
          <a:xfrm>
            <a:off x="6636469" y="2963196"/>
            <a:ext cx="4652683" cy="2169825"/>
          </a:xfrm>
          <a:prstGeom prst="rect">
            <a:avLst/>
          </a:prstGeom>
          <a:solidFill>
            <a:srgbClr val="DFECEC"/>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Palatino Linotype"/>
                <a:ea typeface="Palatino Linotype"/>
                <a:cs typeface="Palatino Linotype"/>
                <a:sym typeface="Palatino Linotype"/>
              </a:rPr>
              <a:t>return_type</a:t>
            </a:r>
            <a:r>
              <a:rPr lang="en-US" sz="2400">
                <a:solidFill>
                  <a:schemeClr val="dk1"/>
                </a:solidFill>
                <a:latin typeface="Palatino Linotype"/>
                <a:ea typeface="Palatino Linotype"/>
                <a:cs typeface="Palatino Linotype"/>
                <a:sym typeface="Palatino Linotype"/>
              </a:rPr>
              <a:t> </a:t>
            </a:r>
            <a:r>
              <a:rPr lang="en-US" sz="2400">
                <a:solidFill>
                  <a:schemeClr val="accent2"/>
                </a:solidFill>
                <a:latin typeface="Palatino Linotype"/>
                <a:ea typeface="Palatino Linotype"/>
                <a:cs typeface="Palatino Linotype"/>
                <a:sym typeface="Palatino Linotype"/>
              </a:rPr>
              <a:t>class_name</a:t>
            </a:r>
            <a:r>
              <a:rPr lang="en-US" sz="2400">
                <a:solidFill>
                  <a:schemeClr val="dk1"/>
                </a:solidFill>
                <a:latin typeface="Palatino Linotype"/>
                <a:ea typeface="Palatino Linotype"/>
                <a:cs typeface="Palatino Linotype"/>
                <a:sym typeface="Palatino Linotype"/>
              </a:rPr>
              <a:t> </a:t>
            </a:r>
            <a:r>
              <a:rPr lang="en-US" sz="2400">
                <a:solidFill>
                  <a:srgbClr val="C00000"/>
                </a:solidFill>
                <a:latin typeface="Palatino Linotype"/>
                <a:ea typeface="Palatino Linotype"/>
                <a:cs typeface="Palatino Linotype"/>
                <a:sym typeface="Palatino Linotype"/>
              </a:rPr>
              <a:t>::</a:t>
            </a:r>
            <a:r>
              <a:rPr lang="en-US" sz="2400">
                <a:solidFill>
                  <a:schemeClr val="dk1"/>
                </a:solidFill>
                <a:latin typeface="Palatino Linotype"/>
                <a:ea typeface="Palatino Linotype"/>
                <a:cs typeface="Palatino Linotype"/>
                <a:sym typeface="Palatino Linotype"/>
              </a:rPr>
              <a:t> </a:t>
            </a:r>
            <a:r>
              <a:rPr lang="en-US" sz="2400">
                <a:solidFill>
                  <a:srgbClr val="0D5672"/>
                </a:solidFill>
                <a:latin typeface="Palatino Linotype"/>
                <a:ea typeface="Palatino Linotype"/>
                <a:cs typeface="Palatino Linotype"/>
                <a:sym typeface="Palatino Linotype"/>
              </a:rPr>
              <a:t>function_name()</a:t>
            </a:r>
            <a:endParaRPr/>
          </a:p>
          <a:p>
            <a:pPr indent="0" lvl="0" marL="0" marR="0" rtl="0" algn="l">
              <a:spcBef>
                <a:spcPts val="600"/>
              </a:spcBef>
              <a:spcAft>
                <a:spcPts val="0"/>
              </a:spcAft>
              <a:buNone/>
            </a:pPr>
            <a:r>
              <a:rPr lang="en-US" sz="2400">
                <a:solidFill>
                  <a:schemeClr val="dk1"/>
                </a:solidFill>
                <a:latin typeface="Palatino Linotype"/>
                <a:ea typeface="Palatino Linotype"/>
                <a:cs typeface="Palatino Linotype"/>
                <a:sym typeface="Palatino Linotype"/>
              </a:rPr>
              <a:t>{</a:t>
            </a:r>
            <a:endParaRPr/>
          </a:p>
          <a:p>
            <a:pPr indent="0" lvl="0" marL="0" marR="0" rtl="0" algn="l">
              <a:spcBef>
                <a:spcPts val="600"/>
              </a:spcBef>
              <a:spcAft>
                <a:spcPts val="0"/>
              </a:spcAft>
              <a:buNone/>
            </a:pPr>
            <a:r>
              <a:rPr lang="en-US" sz="2400">
                <a:solidFill>
                  <a:schemeClr val="dk1"/>
                </a:solidFill>
                <a:latin typeface="Palatino Linotype"/>
                <a:ea typeface="Palatino Linotype"/>
                <a:cs typeface="Palatino Linotype"/>
                <a:sym typeface="Palatino Linotype"/>
              </a:rPr>
              <a:t>      //function body.</a:t>
            </a:r>
            <a:endParaRPr/>
          </a:p>
          <a:p>
            <a:pPr indent="0" lvl="0" marL="0" marR="0" rtl="0" algn="l">
              <a:spcBef>
                <a:spcPts val="600"/>
              </a:spcBef>
              <a:spcAft>
                <a:spcPts val="0"/>
              </a:spcAft>
              <a:buNone/>
            </a:pPr>
            <a:r>
              <a:rPr lang="en-US" sz="2400">
                <a:solidFill>
                  <a:schemeClr val="dk1"/>
                </a:solidFill>
                <a:latin typeface="Palatino Linotype"/>
                <a:ea typeface="Palatino Linotype"/>
                <a:cs typeface="Palatino Linotype"/>
                <a:sym typeface="Palatino Linotype"/>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500"/>
                                        <p:tgtEl>
                                          <p:spTgt spid="1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500"/>
                                        <p:tgtEl>
                                          <p:spTgt spid="1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animEffect filter="fade" transition="in">
                                      <p:cBhvr>
                                        <p:cTn dur="500"/>
                                        <p:tgtEl>
                                          <p:spTgt spid="1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animEffect filter="fade" transition="in">
                                      <p:cBhvr>
                                        <p:cTn dur="500"/>
                                        <p:tgtEl>
                                          <p:spTgt spid="1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animEffect filter="fade" transition="in">
                                      <p:cBhvr>
                                        <p:cTn dur="500"/>
                                        <p:tgtEl>
                                          <p:spTgt spid="1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5"/>
          <p:cNvSpPr/>
          <p:nvPr/>
        </p:nvSpPr>
        <p:spPr>
          <a:xfrm>
            <a:off x="3374231" y="1700663"/>
            <a:ext cx="5443538" cy="471488"/>
          </a:xfrm>
          <a:prstGeom prst="rect">
            <a:avLst/>
          </a:pr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Palatino Linotype"/>
                <a:ea typeface="Palatino Linotype"/>
                <a:cs typeface="Palatino Linotype"/>
                <a:sym typeface="Palatino Linotype"/>
              </a:rPr>
              <a:t>How to do that?</a:t>
            </a:r>
            <a:endParaRPr/>
          </a:p>
        </p:txBody>
      </p:sp>
      <p:sp>
        <p:nvSpPr>
          <p:cNvPr id="133" name="Google Shape;133;p5"/>
          <p:cNvSpPr txBox="1"/>
          <p:nvPr/>
        </p:nvSpPr>
        <p:spPr>
          <a:xfrm>
            <a:off x="3212300" y="2390197"/>
            <a:ext cx="5767400" cy="1677382"/>
          </a:xfrm>
          <a:prstGeom prst="rect">
            <a:avLst/>
          </a:prstGeom>
          <a:solidFill>
            <a:srgbClr val="DFECEC"/>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rgbClr val="FF0000"/>
                </a:solidFill>
                <a:latin typeface="Palatino Linotype"/>
                <a:ea typeface="Palatino Linotype"/>
                <a:cs typeface="Palatino Linotype"/>
                <a:sym typeface="Palatino Linotype"/>
              </a:rPr>
              <a:t>return_type</a:t>
            </a:r>
            <a:r>
              <a:rPr lang="en-US" sz="2200">
                <a:solidFill>
                  <a:schemeClr val="dk1"/>
                </a:solidFill>
                <a:latin typeface="Palatino Linotype"/>
                <a:ea typeface="Palatino Linotype"/>
                <a:cs typeface="Palatino Linotype"/>
                <a:sym typeface="Palatino Linotype"/>
              </a:rPr>
              <a:t> </a:t>
            </a:r>
            <a:r>
              <a:rPr lang="en-US" sz="2200">
                <a:solidFill>
                  <a:schemeClr val="accent2"/>
                </a:solidFill>
                <a:latin typeface="Palatino Linotype"/>
                <a:ea typeface="Palatino Linotype"/>
                <a:cs typeface="Palatino Linotype"/>
                <a:sym typeface="Palatino Linotype"/>
              </a:rPr>
              <a:t>class_name</a:t>
            </a:r>
            <a:r>
              <a:rPr lang="en-US" sz="2200">
                <a:solidFill>
                  <a:schemeClr val="dk1"/>
                </a:solidFill>
                <a:latin typeface="Palatino Linotype"/>
                <a:ea typeface="Palatino Linotype"/>
                <a:cs typeface="Palatino Linotype"/>
                <a:sym typeface="Palatino Linotype"/>
              </a:rPr>
              <a:t> </a:t>
            </a:r>
            <a:r>
              <a:rPr lang="en-US" sz="2200">
                <a:solidFill>
                  <a:srgbClr val="C00000"/>
                </a:solidFill>
                <a:latin typeface="Palatino Linotype"/>
                <a:ea typeface="Palatino Linotype"/>
                <a:cs typeface="Palatino Linotype"/>
                <a:sym typeface="Palatino Linotype"/>
              </a:rPr>
              <a:t>::</a:t>
            </a:r>
            <a:r>
              <a:rPr lang="en-US" sz="2200">
                <a:solidFill>
                  <a:schemeClr val="dk1"/>
                </a:solidFill>
                <a:latin typeface="Palatino Linotype"/>
                <a:ea typeface="Palatino Linotype"/>
                <a:cs typeface="Palatino Linotype"/>
                <a:sym typeface="Palatino Linotype"/>
              </a:rPr>
              <a:t> </a:t>
            </a:r>
            <a:r>
              <a:rPr lang="en-US" sz="2200">
                <a:solidFill>
                  <a:srgbClr val="0D5672"/>
                </a:solidFill>
                <a:latin typeface="Palatino Linotype"/>
                <a:ea typeface="Palatino Linotype"/>
                <a:cs typeface="Palatino Linotype"/>
                <a:sym typeface="Palatino Linotype"/>
              </a:rPr>
              <a:t>function_name()</a:t>
            </a:r>
            <a:endParaRPr/>
          </a:p>
          <a:p>
            <a:pPr indent="0" lvl="0" marL="0" marR="0" rtl="0" algn="l">
              <a:spcBef>
                <a:spcPts val="600"/>
              </a:spcBef>
              <a:spcAft>
                <a:spcPts val="0"/>
              </a:spcAft>
              <a:buNone/>
            </a:pPr>
            <a:r>
              <a:rPr lang="en-US" sz="2200">
                <a:solidFill>
                  <a:schemeClr val="dk1"/>
                </a:solidFill>
                <a:latin typeface="Palatino Linotype"/>
                <a:ea typeface="Palatino Linotype"/>
                <a:cs typeface="Palatino Linotype"/>
                <a:sym typeface="Palatino Linotype"/>
              </a:rPr>
              <a:t>{</a:t>
            </a:r>
            <a:endParaRPr/>
          </a:p>
          <a:p>
            <a:pPr indent="0" lvl="0" marL="0" marR="0" rtl="0" algn="l">
              <a:spcBef>
                <a:spcPts val="600"/>
              </a:spcBef>
              <a:spcAft>
                <a:spcPts val="0"/>
              </a:spcAft>
              <a:buNone/>
            </a:pPr>
            <a:r>
              <a:rPr lang="en-US" sz="2200">
                <a:solidFill>
                  <a:schemeClr val="dk1"/>
                </a:solidFill>
                <a:latin typeface="Palatino Linotype"/>
                <a:ea typeface="Palatino Linotype"/>
                <a:cs typeface="Palatino Linotype"/>
                <a:sym typeface="Palatino Linotype"/>
              </a:rPr>
              <a:t>      //function body.</a:t>
            </a:r>
            <a:endParaRPr/>
          </a:p>
          <a:p>
            <a:pPr indent="0" lvl="0" marL="0" marR="0" rtl="0" algn="l">
              <a:spcBef>
                <a:spcPts val="600"/>
              </a:spcBef>
              <a:spcAft>
                <a:spcPts val="0"/>
              </a:spcAft>
              <a:buNone/>
            </a:pPr>
            <a:r>
              <a:rPr lang="en-US" sz="2200">
                <a:solidFill>
                  <a:schemeClr val="dk1"/>
                </a:solidFill>
                <a:latin typeface="Palatino Linotype"/>
                <a:ea typeface="Palatino Linotype"/>
                <a:cs typeface="Palatino Linotype"/>
                <a:sym typeface="Palatino Linotype"/>
              </a:rPr>
              <a:t>}</a:t>
            </a:r>
            <a:endParaRPr/>
          </a:p>
        </p:txBody>
      </p:sp>
      <p:sp>
        <p:nvSpPr>
          <p:cNvPr id="134" name="Google Shape;134;p5"/>
          <p:cNvSpPr txBox="1"/>
          <p:nvPr/>
        </p:nvSpPr>
        <p:spPr>
          <a:xfrm>
            <a:off x="3212300" y="4285625"/>
            <a:ext cx="5767400" cy="1677382"/>
          </a:xfrm>
          <a:prstGeom prst="rect">
            <a:avLst/>
          </a:prstGeom>
          <a:solidFill>
            <a:srgbClr val="DFECEC"/>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rgbClr val="FF0000"/>
                </a:solidFill>
                <a:latin typeface="Palatino Linotype"/>
                <a:ea typeface="Palatino Linotype"/>
                <a:cs typeface="Palatino Linotype"/>
                <a:sym typeface="Palatino Linotype"/>
              </a:rPr>
              <a:t>void</a:t>
            </a:r>
            <a:r>
              <a:rPr lang="en-US" sz="2200">
                <a:solidFill>
                  <a:schemeClr val="dk1"/>
                </a:solidFill>
                <a:latin typeface="Palatino Linotype"/>
                <a:ea typeface="Palatino Linotype"/>
                <a:cs typeface="Palatino Linotype"/>
                <a:sym typeface="Palatino Linotype"/>
              </a:rPr>
              <a:t> </a:t>
            </a:r>
            <a:r>
              <a:rPr lang="en-US" sz="2200">
                <a:solidFill>
                  <a:schemeClr val="accent2"/>
                </a:solidFill>
                <a:latin typeface="Palatino Linotype"/>
                <a:ea typeface="Palatino Linotype"/>
                <a:cs typeface="Palatino Linotype"/>
                <a:sym typeface="Palatino Linotype"/>
              </a:rPr>
              <a:t>Box</a:t>
            </a:r>
            <a:r>
              <a:rPr lang="en-US" sz="2200">
                <a:solidFill>
                  <a:schemeClr val="dk1"/>
                </a:solidFill>
                <a:latin typeface="Palatino Linotype"/>
                <a:ea typeface="Palatino Linotype"/>
                <a:cs typeface="Palatino Linotype"/>
                <a:sym typeface="Palatino Linotype"/>
              </a:rPr>
              <a:t> </a:t>
            </a:r>
            <a:r>
              <a:rPr lang="en-US" sz="2200">
                <a:solidFill>
                  <a:srgbClr val="C00000"/>
                </a:solidFill>
                <a:latin typeface="Palatino Linotype"/>
                <a:ea typeface="Palatino Linotype"/>
                <a:cs typeface="Palatino Linotype"/>
                <a:sym typeface="Palatino Linotype"/>
              </a:rPr>
              <a:t>::</a:t>
            </a:r>
            <a:r>
              <a:rPr lang="en-US" sz="2200">
                <a:solidFill>
                  <a:schemeClr val="dk1"/>
                </a:solidFill>
                <a:latin typeface="Palatino Linotype"/>
                <a:ea typeface="Palatino Linotype"/>
                <a:cs typeface="Palatino Linotype"/>
                <a:sym typeface="Palatino Linotype"/>
              </a:rPr>
              <a:t> print_volume</a:t>
            </a:r>
            <a:r>
              <a:rPr lang="en-US" sz="2200">
                <a:solidFill>
                  <a:srgbClr val="0D5672"/>
                </a:solidFill>
                <a:latin typeface="Palatino Linotype"/>
                <a:ea typeface="Palatino Linotype"/>
                <a:cs typeface="Palatino Linotype"/>
                <a:sym typeface="Palatino Linotype"/>
              </a:rPr>
              <a:t>()</a:t>
            </a:r>
            <a:endParaRPr/>
          </a:p>
          <a:p>
            <a:pPr indent="0" lvl="0" marL="0" marR="0" rtl="0" algn="l">
              <a:spcBef>
                <a:spcPts val="600"/>
              </a:spcBef>
              <a:spcAft>
                <a:spcPts val="0"/>
              </a:spcAft>
              <a:buNone/>
            </a:pPr>
            <a:r>
              <a:rPr lang="en-US" sz="2200">
                <a:solidFill>
                  <a:schemeClr val="dk1"/>
                </a:solidFill>
                <a:latin typeface="Palatino Linotype"/>
                <a:ea typeface="Palatino Linotype"/>
                <a:cs typeface="Palatino Linotype"/>
                <a:sym typeface="Palatino Linotype"/>
              </a:rPr>
              <a:t>{</a:t>
            </a:r>
            <a:endParaRPr/>
          </a:p>
          <a:p>
            <a:pPr indent="0" lvl="0" marL="0" marR="0" rtl="0" algn="l">
              <a:spcBef>
                <a:spcPts val="600"/>
              </a:spcBef>
              <a:spcAft>
                <a:spcPts val="0"/>
              </a:spcAft>
              <a:buNone/>
            </a:pPr>
            <a:r>
              <a:rPr lang="en-US" sz="2200">
                <a:solidFill>
                  <a:schemeClr val="dk1"/>
                </a:solidFill>
                <a:latin typeface="Palatino Linotype"/>
                <a:ea typeface="Palatino Linotype"/>
                <a:cs typeface="Palatino Linotype"/>
                <a:sym typeface="Palatino Linotype"/>
              </a:rPr>
              <a:t>      //function body.</a:t>
            </a:r>
            <a:endParaRPr/>
          </a:p>
          <a:p>
            <a:pPr indent="0" lvl="0" marL="0" marR="0" rtl="0" algn="l">
              <a:spcBef>
                <a:spcPts val="600"/>
              </a:spcBef>
              <a:spcAft>
                <a:spcPts val="0"/>
              </a:spcAft>
              <a:buNone/>
            </a:pPr>
            <a:r>
              <a:rPr lang="en-US" sz="2200">
                <a:solidFill>
                  <a:schemeClr val="dk1"/>
                </a:solidFill>
                <a:latin typeface="Palatino Linotype"/>
                <a:ea typeface="Palatino Linotype"/>
                <a:cs typeface="Palatino Linotype"/>
                <a:sym typeface="Palatino Linotype"/>
              </a:rPr>
              <a:t>}</a:t>
            </a:r>
            <a:endParaRPr/>
          </a:p>
        </p:txBody>
      </p:sp>
      <p:sp>
        <p:nvSpPr>
          <p:cNvPr id="135" name="Google Shape;135;p5"/>
          <p:cNvSpPr txBox="1"/>
          <p:nvPr>
            <p:ph type="title"/>
          </p:nvPr>
        </p:nvSpPr>
        <p:spPr>
          <a:xfrm>
            <a:off x="1066800" y="31860"/>
            <a:ext cx="10058400" cy="1450757"/>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1482AB"/>
              </a:buClr>
              <a:buSzPct val="100000"/>
              <a:buFont typeface="Palatino Linotype"/>
              <a:buNone/>
            </a:pPr>
            <a:r>
              <a:rPr b="1" lang="en-US">
                <a:solidFill>
                  <a:srgbClr val="1482AB"/>
                </a:solidFill>
                <a:latin typeface="Palatino Linotype"/>
                <a:ea typeface="Palatino Linotype"/>
                <a:cs typeface="Palatino Linotype"/>
                <a:sym typeface="Palatino Linotype"/>
              </a:rPr>
              <a:t>Member function with Scope resolution </a:t>
            </a:r>
            <a:br>
              <a:rPr b="1" lang="en-US">
                <a:solidFill>
                  <a:srgbClr val="1482AB"/>
                </a:solidFill>
                <a:latin typeface="Palatino Linotype"/>
                <a:ea typeface="Palatino Linotype"/>
                <a:cs typeface="Palatino Linotype"/>
                <a:sym typeface="Palatino Linotype"/>
              </a:rPr>
            </a:br>
            <a:r>
              <a:rPr b="1" lang="en-US">
                <a:solidFill>
                  <a:srgbClr val="1482AB"/>
                </a:solidFill>
                <a:latin typeface="Palatino Linotype"/>
                <a:ea typeface="Palatino Linotype"/>
                <a:cs typeface="Palatino Linotype"/>
                <a:sym typeface="Palatino Linotype"/>
              </a:rPr>
              <a:t>operator ( ::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41" name="Google Shape;141;p6"/>
          <p:cNvPicPr preferRelativeResize="0"/>
          <p:nvPr/>
        </p:nvPicPr>
        <p:blipFill rotWithShape="1">
          <a:blip r:embed="rId3">
            <a:alphaModFix/>
          </a:blip>
          <a:srcRect b="0" l="0" r="0" t="0"/>
          <a:stretch/>
        </p:blipFill>
        <p:spPr>
          <a:xfrm>
            <a:off x="1040187" y="1431132"/>
            <a:ext cx="5598946" cy="4919662"/>
          </a:xfrm>
          <a:prstGeom prst="rect">
            <a:avLst/>
          </a:prstGeom>
          <a:noFill/>
          <a:ln cap="flat" cmpd="sng" w="9525">
            <a:solidFill>
              <a:schemeClr val="dk1"/>
            </a:solidFill>
            <a:prstDash val="solid"/>
            <a:round/>
            <a:headEnd len="sm" w="sm" type="none"/>
            <a:tailEnd len="sm" w="sm" type="none"/>
          </a:ln>
        </p:spPr>
      </p:pic>
      <p:pic>
        <p:nvPicPr>
          <p:cNvPr id="142" name="Google Shape;142;p6"/>
          <p:cNvPicPr preferRelativeResize="0"/>
          <p:nvPr/>
        </p:nvPicPr>
        <p:blipFill rotWithShape="1">
          <a:blip r:embed="rId4">
            <a:alphaModFix/>
          </a:blip>
          <a:srcRect b="0" l="0" r="0" t="0"/>
          <a:stretch/>
        </p:blipFill>
        <p:spPr>
          <a:xfrm>
            <a:off x="6912347" y="1431132"/>
            <a:ext cx="4252913" cy="4648254"/>
          </a:xfrm>
          <a:prstGeom prst="rect">
            <a:avLst/>
          </a:prstGeom>
          <a:noFill/>
          <a:ln cap="flat" cmpd="sng" w="9525">
            <a:solidFill>
              <a:schemeClr val="dk1"/>
            </a:solidFill>
            <a:prstDash val="solid"/>
            <a:round/>
            <a:headEnd len="sm" w="sm" type="none"/>
            <a:tailEnd len="sm" w="sm" type="none"/>
          </a:ln>
        </p:spPr>
      </p:pic>
      <p:sp>
        <p:nvSpPr>
          <p:cNvPr id="143" name="Google Shape;143;p6"/>
          <p:cNvSpPr/>
          <p:nvPr/>
        </p:nvSpPr>
        <p:spPr>
          <a:xfrm>
            <a:off x="1040187" y="-42326"/>
            <a:ext cx="10127737"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1482AB"/>
                </a:solidFill>
                <a:latin typeface="Palatino Linotype"/>
                <a:ea typeface="Palatino Linotype"/>
                <a:cs typeface="Palatino Linotype"/>
                <a:sym typeface="Palatino Linotype"/>
              </a:rPr>
              <a:t>Member function with Scope resolution </a:t>
            </a:r>
            <a:br>
              <a:rPr b="1" lang="en-US" sz="4000">
                <a:solidFill>
                  <a:srgbClr val="1482AB"/>
                </a:solidFill>
                <a:latin typeface="Palatino Linotype"/>
                <a:ea typeface="Palatino Linotype"/>
                <a:cs typeface="Palatino Linotype"/>
                <a:sym typeface="Palatino Linotype"/>
              </a:rPr>
            </a:br>
            <a:r>
              <a:rPr b="1" lang="en-US" sz="4000">
                <a:solidFill>
                  <a:srgbClr val="1482AB"/>
                </a:solidFill>
                <a:latin typeface="Palatino Linotype"/>
                <a:ea typeface="Palatino Linotype"/>
                <a:cs typeface="Palatino Linotype"/>
                <a:sym typeface="Palatino Linotype"/>
              </a:rPr>
              <a:t>operator ( :: )</a:t>
            </a:r>
            <a:endParaRPr sz="4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4499386" y="-13447"/>
            <a:ext cx="5424543"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Object Pointer</a:t>
            </a:r>
            <a:endParaRPr b="1" sz="4300">
              <a:solidFill>
                <a:srgbClr val="1482AB"/>
              </a:solidFill>
              <a:latin typeface="Palatino Linotype"/>
              <a:ea typeface="Palatino Linotype"/>
              <a:cs typeface="Palatino Linotype"/>
              <a:sym typeface="Palatino Linotype"/>
            </a:endParaRPr>
          </a:p>
        </p:txBody>
      </p:sp>
      <p:sp>
        <p:nvSpPr>
          <p:cNvPr id="149" name="Google Shape;149;p7"/>
          <p:cNvSpPr/>
          <p:nvPr/>
        </p:nvSpPr>
        <p:spPr>
          <a:xfrm>
            <a:off x="904539" y="2211632"/>
            <a:ext cx="10632141" cy="353943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Noto Sans Symbols"/>
              <a:buChar char="▪"/>
            </a:pPr>
            <a:r>
              <a:rPr b="0" i="0" lang="en-US" sz="2800" u="none" strike="noStrike">
                <a:solidFill>
                  <a:schemeClr val="dk1"/>
                </a:solidFill>
                <a:latin typeface="Palatino Linotype"/>
                <a:ea typeface="Palatino Linotype"/>
                <a:cs typeface="Palatino Linotype"/>
                <a:sym typeface="Palatino Linotype"/>
              </a:rPr>
              <a:t>So far, you have been accessing members of an object by using the dot operator.</a:t>
            </a:r>
            <a:endParaRPr/>
          </a:p>
          <a:p>
            <a:pPr indent="-279400" lvl="0" marL="457200" marR="0" rtl="0" algn="l">
              <a:spcBef>
                <a:spcPts val="0"/>
              </a:spcBef>
              <a:spcAft>
                <a:spcPts val="0"/>
              </a:spcAft>
              <a:buClr>
                <a:schemeClr val="dk1"/>
              </a:buClr>
              <a:buSzPts val="2800"/>
              <a:buFont typeface="Noto Sans Symbols"/>
              <a:buNone/>
            </a:pPr>
            <a:r>
              <a:t/>
            </a:r>
            <a:endParaRPr b="0" i="0" sz="2800" u="none" strike="noStrike">
              <a:solidFill>
                <a:schemeClr val="dk1"/>
              </a:solidFill>
              <a:latin typeface="Palatino Linotype"/>
              <a:ea typeface="Palatino Linotype"/>
              <a:cs typeface="Palatino Linotype"/>
              <a:sym typeface="Palatino Linotype"/>
            </a:endParaRPr>
          </a:p>
          <a:p>
            <a:pPr indent="-457200" lvl="0" marL="457200" marR="0" rtl="0" algn="l">
              <a:spcBef>
                <a:spcPts val="0"/>
              </a:spcBef>
              <a:spcAft>
                <a:spcPts val="0"/>
              </a:spcAft>
              <a:buClr>
                <a:schemeClr val="dk1"/>
              </a:buClr>
              <a:buSzPts val="2800"/>
              <a:buFont typeface="Noto Sans Symbols"/>
              <a:buChar char="▪"/>
            </a:pPr>
            <a:r>
              <a:rPr b="0" i="0" lang="en-US" sz="2800" u="none" strike="noStrike">
                <a:solidFill>
                  <a:schemeClr val="dk1"/>
                </a:solidFill>
                <a:latin typeface="Palatino Linotype"/>
                <a:ea typeface="Palatino Linotype"/>
                <a:cs typeface="Palatino Linotype"/>
                <a:sym typeface="Palatino Linotype"/>
              </a:rPr>
              <a:t>However, it is also possible to access a</a:t>
            </a:r>
            <a:r>
              <a:rPr b="0" i="0" lang="en-US" sz="2800" u="none" strike="noStrike">
                <a:solidFill>
                  <a:schemeClr val="dk1"/>
                </a:solidFill>
                <a:latin typeface="Palatino Linotype"/>
                <a:ea typeface="Palatino Linotype"/>
                <a:cs typeface="Palatino Linotype"/>
                <a:sym typeface="Palatino Linotype"/>
              </a:rPr>
              <a:t> </a:t>
            </a:r>
            <a:r>
              <a:rPr b="0" i="0" lang="en-US" sz="2800" u="none" strike="noStrike">
                <a:solidFill>
                  <a:schemeClr val="dk1"/>
                </a:solidFill>
                <a:latin typeface="Palatino Linotype"/>
                <a:ea typeface="Palatino Linotype"/>
                <a:cs typeface="Palatino Linotype"/>
                <a:sym typeface="Palatino Linotype"/>
              </a:rPr>
              <a:t>member of an object via pointer to that object. </a:t>
            </a:r>
            <a:endParaRPr/>
          </a:p>
          <a:p>
            <a:pPr indent="-279400" lvl="0" marL="457200" marR="0" rtl="0" algn="l">
              <a:spcBef>
                <a:spcPts val="0"/>
              </a:spcBef>
              <a:spcAft>
                <a:spcPts val="0"/>
              </a:spcAft>
              <a:buClr>
                <a:schemeClr val="dk1"/>
              </a:buClr>
              <a:buSzPts val="2800"/>
              <a:buFont typeface="Noto Sans Symbols"/>
              <a:buNone/>
            </a:pPr>
            <a:r>
              <a:t/>
            </a:r>
            <a:endParaRPr b="0" i="0" sz="2800" u="none" strike="noStrike">
              <a:solidFill>
                <a:schemeClr val="dk1"/>
              </a:solidFill>
              <a:latin typeface="Palatino Linotype"/>
              <a:ea typeface="Palatino Linotype"/>
              <a:cs typeface="Palatino Linotype"/>
              <a:sym typeface="Palatino Linotype"/>
            </a:endParaRPr>
          </a:p>
          <a:p>
            <a:pPr indent="-457200" lvl="0" marL="457200" marR="0" rtl="0" algn="l">
              <a:spcBef>
                <a:spcPts val="0"/>
              </a:spcBef>
              <a:spcAft>
                <a:spcPts val="0"/>
              </a:spcAft>
              <a:buClr>
                <a:schemeClr val="dk1"/>
              </a:buClr>
              <a:buSzPts val="2800"/>
              <a:buFont typeface="Noto Sans Symbols"/>
              <a:buChar char="▪"/>
            </a:pPr>
            <a:r>
              <a:rPr b="0" i="0" lang="en-US" sz="2800" u="none" strike="noStrike">
                <a:solidFill>
                  <a:schemeClr val="dk1"/>
                </a:solidFill>
                <a:latin typeface="Palatino Linotype"/>
                <a:ea typeface="Palatino Linotype"/>
                <a:cs typeface="Palatino Linotype"/>
                <a:sym typeface="Palatino Linotype"/>
              </a:rPr>
              <a:t>When a pointer is used, the arrow operator (-&gt;) rather than the dot operator is employed.</a:t>
            </a:r>
            <a:endParaRPr sz="2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8"/>
          <p:cNvPicPr preferRelativeResize="0"/>
          <p:nvPr/>
        </p:nvPicPr>
        <p:blipFill rotWithShape="1">
          <a:blip r:embed="rId3">
            <a:alphaModFix/>
          </a:blip>
          <a:srcRect b="0" l="0" r="0" t="0"/>
          <a:stretch/>
        </p:blipFill>
        <p:spPr>
          <a:xfrm>
            <a:off x="3660462" y="707886"/>
            <a:ext cx="6275020" cy="5681977"/>
          </a:xfrm>
          <a:prstGeom prst="rect">
            <a:avLst/>
          </a:prstGeom>
          <a:noFill/>
          <a:ln>
            <a:noFill/>
          </a:ln>
        </p:spPr>
      </p:pic>
      <p:sp>
        <p:nvSpPr>
          <p:cNvPr id="155" name="Google Shape;155;p8"/>
          <p:cNvSpPr/>
          <p:nvPr/>
        </p:nvSpPr>
        <p:spPr>
          <a:xfrm>
            <a:off x="4188559" y="0"/>
            <a:ext cx="3591048"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1482AB"/>
                </a:solidFill>
                <a:latin typeface="Palatino Linotype"/>
                <a:ea typeface="Palatino Linotype"/>
                <a:cs typeface="Palatino Linotype"/>
                <a:sym typeface="Palatino Linotype"/>
              </a:rPr>
              <a:t>Object Pointer</a:t>
            </a:r>
            <a:endParaRPr sz="4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nvSpPr>
        <p:spPr>
          <a:xfrm>
            <a:off x="3733800" y="464413"/>
            <a:ext cx="4235823"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300">
                <a:solidFill>
                  <a:srgbClr val="1482AB"/>
                </a:solidFill>
                <a:latin typeface="Palatino Linotype"/>
                <a:ea typeface="Palatino Linotype"/>
                <a:cs typeface="Palatino Linotype"/>
                <a:sym typeface="Palatino Linotype"/>
              </a:rPr>
              <a:t>Object Pointer</a:t>
            </a:r>
            <a:endParaRPr b="1" sz="4300">
              <a:solidFill>
                <a:srgbClr val="1482AB"/>
              </a:solidFill>
              <a:latin typeface="Palatino Linotype"/>
              <a:ea typeface="Palatino Linotype"/>
              <a:cs typeface="Palatino Linotype"/>
              <a:sym typeface="Palatino Linotype"/>
            </a:endParaRPr>
          </a:p>
        </p:txBody>
      </p:sp>
      <p:pic>
        <p:nvPicPr>
          <p:cNvPr id="161" name="Google Shape;161;p9"/>
          <p:cNvPicPr preferRelativeResize="0"/>
          <p:nvPr/>
        </p:nvPicPr>
        <p:blipFill rotWithShape="1">
          <a:blip r:embed="rId3">
            <a:alphaModFix/>
          </a:blip>
          <a:srcRect b="0" l="0" r="0" t="0"/>
          <a:stretch/>
        </p:blipFill>
        <p:spPr>
          <a:xfrm>
            <a:off x="646741" y="1264023"/>
            <a:ext cx="6790765" cy="4630977"/>
          </a:xfrm>
          <a:prstGeom prst="rect">
            <a:avLst/>
          </a:prstGeom>
          <a:noFill/>
          <a:ln>
            <a:noFill/>
          </a:ln>
        </p:spPr>
      </p:pic>
      <p:pic>
        <p:nvPicPr>
          <p:cNvPr id="162" name="Google Shape;162;p9"/>
          <p:cNvPicPr preferRelativeResize="0"/>
          <p:nvPr/>
        </p:nvPicPr>
        <p:blipFill rotWithShape="1">
          <a:blip r:embed="rId4">
            <a:alphaModFix/>
          </a:blip>
          <a:srcRect b="0" l="0" r="0" t="0"/>
          <a:stretch/>
        </p:blipFill>
        <p:spPr>
          <a:xfrm>
            <a:off x="7235800" y="2178423"/>
            <a:ext cx="4597611" cy="179105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type="title"/>
          </p:nvPr>
        </p:nvSpPr>
        <p:spPr>
          <a:xfrm>
            <a:off x="4405257" y="0"/>
            <a:ext cx="5733826"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Object Pointer</a:t>
            </a:r>
            <a:endParaRPr b="1" sz="4300">
              <a:solidFill>
                <a:srgbClr val="1482AB"/>
              </a:solidFill>
              <a:latin typeface="Palatino Linotype"/>
              <a:ea typeface="Palatino Linotype"/>
              <a:cs typeface="Palatino Linotype"/>
              <a:sym typeface="Palatino Linotype"/>
            </a:endParaRPr>
          </a:p>
        </p:txBody>
      </p:sp>
      <p:sp>
        <p:nvSpPr>
          <p:cNvPr id="168" name="Google Shape;168;p10"/>
          <p:cNvSpPr/>
          <p:nvPr/>
        </p:nvSpPr>
        <p:spPr>
          <a:xfrm>
            <a:off x="1066799" y="1949585"/>
            <a:ext cx="10515600"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Palatino Linotype"/>
                <a:ea typeface="Palatino Linotype"/>
                <a:cs typeface="Palatino Linotype"/>
                <a:sym typeface="Palatino Linotype"/>
              </a:rPr>
              <a:t>H</a:t>
            </a:r>
            <a:r>
              <a:rPr b="0" i="0" lang="en-US" sz="2200" u="none" strike="noStrike">
                <a:solidFill>
                  <a:schemeClr val="dk1"/>
                </a:solidFill>
                <a:latin typeface="Palatino Linotype"/>
                <a:ea typeface="Palatino Linotype"/>
                <a:cs typeface="Palatino Linotype"/>
                <a:sym typeface="Palatino Linotype"/>
              </a:rPr>
              <a:t>ow the Declaration:</a:t>
            </a:r>
            <a:endParaRPr/>
          </a:p>
          <a:p>
            <a:pPr indent="0" lvl="0" marL="0" marR="0" rtl="0" algn="l">
              <a:spcBef>
                <a:spcPts val="0"/>
              </a:spcBef>
              <a:spcAft>
                <a:spcPts val="0"/>
              </a:spcAft>
              <a:buNone/>
            </a:pPr>
            <a:r>
              <a:t/>
            </a:r>
            <a:endParaRPr b="0" i="0" sz="2200" u="none" strike="noStrike">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0" i="0" lang="en-US" sz="2200" u="none" strike="noStrike">
                <a:solidFill>
                  <a:srgbClr val="C00000"/>
                </a:solidFill>
                <a:latin typeface="Palatino Linotype"/>
                <a:ea typeface="Palatino Linotype"/>
                <a:cs typeface="Palatino Linotype"/>
                <a:sym typeface="Palatino Linotype"/>
              </a:rPr>
              <a:t>myclass *p;</a:t>
            </a:r>
            <a:endParaRPr/>
          </a:p>
          <a:p>
            <a:pPr indent="0" lvl="0" marL="0" marR="0" rtl="0" algn="l">
              <a:spcBef>
                <a:spcPts val="0"/>
              </a:spcBef>
              <a:spcAft>
                <a:spcPts val="0"/>
              </a:spcAft>
              <a:buNone/>
            </a:pPr>
            <a:r>
              <a:t/>
            </a:r>
            <a:endParaRPr b="0" i="0" sz="2200" u="none" strike="noStrike">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0" i="0" lang="en-US" sz="2200" u="none" strike="noStrike">
                <a:solidFill>
                  <a:schemeClr val="dk1"/>
                </a:solidFill>
                <a:latin typeface="Palatino Linotype"/>
                <a:ea typeface="Palatino Linotype"/>
                <a:cs typeface="Palatino Linotype"/>
                <a:sym typeface="Palatino Linotype"/>
              </a:rPr>
              <a:t>creates a pointer to an object of myclass. It is important to understand that creation of</a:t>
            </a:r>
            <a:r>
              <a:rPr b="0" i="0" lang="en-US" sz="2200" u="none" strike="noStrike">
                <a:solidFill>
                  <a:schemeClr val="dk1"/>
                </a:solidFill>
                <a:latin typeface="Palatino Linotype"/>
                <a:ea typeface="Palatino Linotype"/>
                <a:cs typeface="Palatino Linotype"/>
                <a:sym typeface="Palatino Linotype"/>
              </a:rPr>
              <a:t> </a:t>
            </a:r>
            <a:r>
              <a:rPr b="0" i="0" lang="en-US" sz="2200" u="none" strike="noStrike">
                <a:solidFill>
                  <a:schemeClr val="dk1"/>
                </a:solidFill>
                <a:latin typeface="Palatino Linotype"/>
                <a:ea typeface="Palatino Linotype"/>
                <a:cs typeface="Palatino Linotype"/>
                <a:sym typeface="Palatino Linotype"/>
              </a:rPr>
              <a:t>an object pointer does not create an object,</a:t>
            </a:r>
            <a:r>
              <a:rPr b="0" i="0" lang="en-US" sz="2200" u="none" strike="noStrike">
                <a:solidFill>
                  <a:schemeClr val="dk1"/>
                </a:solidFill>
                <a:latin typeface="Palatino Linotype"/>
                <a:ea typeface="Palatino Linotype"/>
                <a:cs typeface="Palatino Linotype"/>
                <a:sym typeface="Palatino Linotype"/>
              </a:rPr>
              <a:t> rather </a:t>
            </a:r>
            <a:r>
              <a:rPr b="0" i="0" lang="en-US" sz="2200" u="none" strike="noStrike">
                <a:solidFill>
                  <a:schemeClr val="dk1"/>
                </a:solidFill>
                <a:latin typeface="Palatino Linotype"/>
                <a:ea typeface="Palatino Linotype"/>
                <a:cs typeface="Palatino Linotype"/>
                <a:sym typeface="Palatino Linotype"/>
              </a:rPr>
              <a:t>it creates just a pointer to one. The address</a:t>
            </a:r>
            <a:r>
              <a:rPr b="0" i="0" lang="en-US" sz="2200" u="none" strike="noStrike">
                <a:solidFill>
                  <a:schemeClr val="dk1"/>
                </a:solidFill>
                <a:latin typeface="Palatino Linotype"/>
                <a:ea typeface="Palatino Linotype"/>
                <a:cs typeface="Palatino Linotype"/>
                <a:sym typeface="Palatino Linotype"/>
              </a:rPr>
              <a:t> </a:t>
            </a:r>
            <a:r>
              <a:rPr b="0" i="0" lang="en-US" sz="2200" u="none" strike="noStrike">
                <a:solidFill>
                  <a:schemeClr val="dk1"/>
                </a:solidFill>
                <a:latin typeface="Palatino Linotype"/>
                <a:ea typeface="Palatino Linotype"/>
                <a:cs typeface="Palatino Linotype"/>
                <a:sym typeface="Palatino Linotype"/>
              </a:rPr>
              <a:t>of ob is put into p by using this statement:</a:t>
            </a:r>
            <a:endParaRPr/>
          </a:p>
          <a:p>
            <a:pPr indent="0" lvl="0" marL="0" marR="0" rtl="0" algn="l">
              <a:spcBef>
                <a:spcPts val="0"/>
              </a:spcBef>
              <a:spcAft>
                <a:spcPts val="0"/>
              </a:spcAft>
              <a:buNone/>
            </a:pPr>
            <a:r>
              <a:t/>
            </a:r>
            <a:endParaRPr b="0" i="0" sz="2200" u="none" strike="noStrike">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0" i="0" lang="en-US" sz="2200" u="none" strike="noStrike">
                <a:solidFill>
                  <a:srgbClr val="C00000"/>
                </a:solidFill>
                <a:latin typeface="Palatino Linotype"/>
                <a:ea typeface="Palatino Linotype"/>
                <a:cs typeface="Palatino Linotype"/>
                <a:sym typeface="Palatino Linotype"/>
              </a:rPr>
              <a:t>p = &amp;ob;</a:t>
            </a:r>
            <a:endParaRPr/>
          </a:p>
          <a:p>
            <a:pPr indent="0" lvl="0" marL="0" marR="0" rtl="0" algn="l">
              <a:spcBef>
                <a:spcPts val="0"/>
              </a:spcBef>
              <a:spcAft>
                <a:spcPts val="0"/>
              </a:spcAft>
              <a:buNone/>
            </a:pPr>
            <a:r>
              <a:t/>
            </a:r>
            <a:endParaRPr b="0" i="0" sz="2200" u="none" strike="noStrike">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0" i="0" lang="en-US" sz="2200" u="none" strike="noStrike">
                <a:solidFill>
                  <a:schemeClr val="dk1"/>
                </a:solidFill>
                <a:latin typeface="Palatino Linotype"/>
                <a:ea typeface="Palatino Linotype"/>
                <a:cs typeface="Palatino Linotype"/>
                <a:sym typeface="Palatino Linotype"/>
              </a:rPr>
              <a:t>Finally, the program shows how the members of an object can be accessed through a</a:t>
            </a:r>
            <a:r>
              <a:rPr b="0" i="0" lang="en-US" sz="2200" u="none" strike="noStrike">
                <a:solidFill>
                  <a:schemeClr val="dk1"/>
                </a:solidFill>
                <a:latin typeface="Palatino Linotype"/>
                <a:ea typeface="Palatino Linotype"/>
                <a:cs typeface="Palatino Linotype"/>
                <a:sym typeface="Palatino Linotype"/>
              </a:rPr>
              <a:t> </a:t>
            </a:r>
            <a:r>
              <a:rPr b="0" i="0" lang="en-US" sz="2200" u="none" strike="noStrike">
                <a:solidFill>
                  <a:schemeClr val="dk1"/>
                </a:solidFill>
                <a:latin typeface="Palatino Linotype"/>
                <a:ea typeface="Palatino Linotype"/>
                <a:cs typeface="Palatino Linotype"/>
                <a:sym typeface="Palatino Linotype"/>
              </a:rPr>
              <a:t>pointer.</a:t>
            </a:r>
            <a:endParaRPr sz="22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p:nvPr/>
        </p:nvSpPr>
        <p:spPr>
          <a:xfrm>
            <a:off x="3783086" y="270091"/>
            <a:ext cx="6674100" cy="6771000"/>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#include &lt;iostream&gt;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using namespace std;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struct varsity {      // Creating a struct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int age;            // Defining data members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char grade;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float GPA;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int main()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struct varsity student1;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lang="en-US" sz="2000">
                <a:solidFill>
                  <a:srgbClr val="008000"/>
                </a:solidFill>
                <a:latin typeface="Calibri"/>
                <a:ea typeface="Calibri"/>
                <a:cs typeface="Calibri"/>
                <a:sym typeface="Calibri"/>
              </a:rPr>
              <a:t>student1.age = 25;    // Assigning values to all data members </a:t>
            </a:r>
            <a:endParaRPr/>
          </a:p>
          <a:p>
            <a:pPr indent="0" lvl="0" marL="0" marR="0" rtl="0" algn="l">
              <a:spcBef>
                <a:spcPts val="0"/>
              </a:spcBef>
              <a:spcAft>
                <a:spcPts val="0"/>
              </a:spcAft>
              <a:buNone/>
            </a:pPr>
            <a:r>
              <a:rPr lang="en-US" sz="2000">
                <a:solidFill>
                  <a:srgbClr val="008000"/>
                </a:solidFill>
                <a:latin typeface="Calibri"/>
                <a:ea typeface="Calibri"/>
                <a:cs typeface="Calibri"/>
                <a:sym typeface="Calibri"/>
              </a:rPr>
              <a:t>    student1.grade = 'B'; </a:t>
            </a:r>
            <a:endParaRPr/>
          </a:p>
          <a:p>
            <a:pPr indent="0" lvl="0" marL="0" marR="0" rtl="0" algn="l">
              <a:spcBef>
                <a:spcPts val="0"/>
              </a:spcBef>
              <a:spcAft>
                <a:spcPts val="0"/>
              </a:spcAft>
              <a:buNone/>
            </a:pPr>
            <a:r>
              <a:rPr lang="en-US" sz="2000">
                <a:solidFill>
                  <a:srgbClr val="008000"/>
                </a:solidFill>
                <a:latin typeface="Calibri"/>
                <a:ea typeface="Calibri"/>
                <a:cs typeface="Calibri"/>
                <a:sym typeface="Calibri"/>
              </a:rPr>
              <a:t>    student1.GPA = 4.5;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lang="en-US" sz="2000">
                <a:solidFill>
                  <a:srgbClr val="FF0000"/>
                </a:solidFill>
                <a:latin typeface="Calibri"/>
                <a:ea typeface="Calibri"/>
                <a:cs typeface="Calibri"/>
                <a:sym typeface="Calibri"/>
              </a:rPr>
              <a:t>cout &lt;&lt; "Age : " &lt;&lt; student1.age &lt;&lt; endl; </a:t>
            </a:r>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    cout &lt;&lt; "Grade : " &lt;&lt; student1.grade &lt;&lt; endl; </a:t>
            </a:r>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    cout &lt;&lt; "GPA : " &lt;&lt; student1.GPA &lt;&lt; endl;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return 0;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1"/>
          <p:cNvSpPr txBox="1"/>
          <p:nvPr/>
        </p:nvSpPr>
        <p:spPr>
          <a:xfrm>
            <a:off x="551329" y="2622176"/>
            <a:ext cx="2877671" cy="1450757"/>
          </a:xfrm>
          <a:prstGeom prst="rect">
            <a:avLst/>
          </a:prstGeom>
          <a:no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Structures in C++</a:t>
            </a:r>
            <a:endParaRPr sz="4300">
              <a:solidFill>
                <a:srgbClr val="1482AB"/>
              </a:solidFill>
              <a:latin typeface="Palatino Linotype"/>
              <a:ea typeface="Palatino Linotype"/>
              <a:cs typeface="Palatino Linotype"/>
              <a:sym typeface="Palatino Linotyp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1119553" y="0"/>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Structures in C++</a:t>
            </a:r>
            <a:endParaRPr sz="4300">
              <a:solidFill>
                <a:srgbClr val="1482AB"/>
              </a:solidFill>
              <a:latin typeface="Palatino Linotype"/>
              <a:ea typeface="Palatino Linotype"/>
              <a:cs typeface="Palatino Linotype"/>
              <a:sym typeface="Palatino Linotype"/>
            </a:endParaRPr>
          </a:p>
        </p:txBody>
      </p:sp>
      <p:sp>
        <p:nvSpPr>
          <p:cNvPr id="180" name="Google Shape;180;p12"/>
          <p:cNvSpPr/>
          <p:nvPr/>
        </p:nvSpPr>
        <p:spPr>
          <a:xfrm rot="10800000">
            <a:off x="1381254" y="6886135"/>
            <a:ext cx="8875370" cy="457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81" name="Google Shape;181;p12"/>
          <p:cNvSpPr/>
          <p:nvPr/>
        </p:nvSpPr>
        <p:spPr>
          <a:xfrm flipH="1">
            <a:off x="1119553" y="2363253"/>
            <a:ext cx="10410093" cy="34163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200" u="sng">
                <a:solidFill>
                  <a:srgbClr val="FF0000"/>
                </a:solidFill>
                <a:latin typeface="Palatino Linotype"/>
                <a:ea typeface="Palatino Linotype"/>
                <a:cs typeface="Palatino Linotype"/>
                <a:sym typeface="Palatino Linotype"/>
              </a:rPr>
              <a:t>Output</a:t>
            </a:r>
            <a:endParaRPr/>
          </a:p>
          <a:p>
            <a:pPr indent="0" lvl="0" marL="0" marR="0" rtl="0" algn="ctr">
              <a:spcBef>
                <a:spcPts val="0"/>
              </a:spcBef>
              <a:spcAft>
                <a:spcPts val="0"/>
              </a:spcAft>
              <a:buNone/>
            </a:pPr>
            <a:r>
              <a:t/>
            </a:r>
            <a:endParaRPr b="1" sz="2200" u="sng">
              <a:solidFill>
                <a:srgbClr val="FF0000"/>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Age : 25</a:t>
            </a:r>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Grade : B</a:t>
            </a:r>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GPA : 4.5</a:t>
            </a:r>
            <a:endParaRPr/>
          </a:p>
          <a:p>
            <a:pPr indent="0" lvl="0" marL="0" marR="0" rtl="0" algn="ctr">
              <a:spcBef>
                <a:spcPts val="0"/>
              </a:spcBef>
              <a:spcAft>
                <a:spcPts val="0"/>
              </a:spcAft>
              <a:buNone/>
            </a:pPr>
            <a:r>
              <a:t/>
            </a:r>
            <a:endParaRPr sz="22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t/>
            </a:r>
            <a:endParaRPr sz="22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lang="en-US" sz="2200">
                <a:solidFill>
                  <a:schemeClr val="dk1"/>
                </a:solidFill>
                <a:latin typeface="Palatino Linotype"/>
                <a:ea typeface="Palatino Linotype"/>
                <a:cs typeface="Palatino Linotype"/>
                <a:sym typeface="Palatino Linotype"/>
              </a:rPr>
              <a:t>We have assigned the values to all data members in one go. Here, they share the different  memory location and there is no chance of overwritten.</a:t>
            </a:r>
            <a:endParaRPr sz="2200">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nvSpPr>
        <p:spPr>
          <a:xfrm>
            <a:off x="2455434" y="295835"/>
            <a:ext cx="7868426" cy="1450757"/>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Classes vs. Structures in C++</a:t>
            </a:r>
            <a:endParaRPr sz="4300">
              <a:solidFill>
                <a:srgbClr val="1482AB"/>
              </a:solidFill>
              <a:latin typeface="Palatino Linotype"/>
              <a:ea typeface="Palatino Linotype"/>
              <a:cs typeface="Palatino Linotype"/>
              <a:sym typeface="Palatino Linotype"/>
            </a:endParaRPr>
          </a:p>
        </p:txBody>
      </p:sp>
      <p:graphicFrame>
        <p:nvGraphicFramePr>
          <p:cNvPr id="187" name="Google Shape;187;p13"/>
          <p:cNvGraphicFramePr/>
          <p:nvPr/>
        </p:nvGraphicFramePr>
        <p:xfrm>
          <a:off x="981634" y="1477651"/>
          <a:ext cx="3000000" cy="3000000"/>
        </p:xfrm>
        <a:graphic>
          <a:graphicData uri="http://schemas.openxmlformats.org/drawingml/2006/table">
            <a:tbl>
              <a:tblPr bandRow="1" firstRow="1">
                <a:noFill/>
                <a:tableStyleId>{AB3558B3-F98B-49C8-9B53-6557440E9F32}</a:tableStyleId>
              </a:tblPr>
              <a:tblGrid>
                <a:gridCol w="5170400"/>
                <a:gridCol w="5170400"/>
              </a:tblGrid>
              <a:tr h="601725">
                <a:tc>
                  <a:txBody>
                    <a:bodyPr/>
                    <a:lstStyle/>
                    <a:p>
                      <a:pPr indent="0" lvl="0" marL="0" marR="0" rtl="0" algn="ctr">
                        <a:spcBef>
                          <a:spcPts val="0"/>
                        </a:spcBef>
                        <a:spcAft>
                          <a:spcPts val="0"/>
                        </a:spcAft>
                        <a:buNone/>
                      </a:pPr>
                      <a:r>
                        <a:rPr b="1" i="0" lang="en-US" sz="2400" u="none" cap="none" strike="noStrike">
                          <a:solidFill>
                            <a:schemeClr val="lt1"/>
                          </a:solidFill>
                          <a:latin typeface="Palatino Linotype"/>
                          <a:ea typeface="Palatino Linotype"/>
                          <a:cs typeface="Palatino Linotype"/>
                          <a:sym typeface="Palatino Linotype"/>
                        </a:rPr>
                        <a:t>Class</a:t>
                      </a:r>
                      <a:endParaRPr b="1" sz="2400" u="none" cap="none" strike="noStrike">
                        <a:latin typeface="Palatino Linotype"/>
                        <a:ea typeface="Palatino Linotype"/>
                        <a:cs typeface="Palatino Linotype"/>
                        <a:sym typeface="Palatino Linotype"/>
                      </a:endParaRPr>
                    </a:p>
                  </a:txBody>
                  <a:tcPr marT="45725" marB="45725" marR="91450" marL="91450"/>
                </a:tc>
                <a:tc>
                  <a:txBody>
                    <a:bodyPr/>
                    <a:lstStyle/>
                    <a:p>
                      <a:pPr indent="0" lvl="0" marL="0" marR="0" rtl="0" algn="ctr">
                        <a:spcBef>
                          <a:spcPts val="0"/>
                        </a:spcBef>
                        <a:spcAft>
                          <a:spcPts val="0"/>
                        </a:spcAft>
                        <a:buNone/>
                      </a:pPr>
                      <a:r>
                        <a:rPr b="1" i="0" lang="en-US" sz="2400" u="none" cap="none" strike="noStrike">
                          <a:solidFill>
                            <a:schemeClr val="lt1"/>
                          </a:solidFill>
                          <a:latin typeface="Palatino Linotype"/>
                          <a:ea typeface="Palatino Linotype"/>
                          <a:cs typeface="Palatino Linotype"/>
                          <a:sym typeface="Palatino Linotype"/>
                        </a:rPr>
                        <a:t>Structure</a:t>
                      </a:r>
                      <a:endParaRPr b="1" sz="2400" u="none" cap="none" strike="noStrike">
                        <a:latin typeface="Palatino Linotype"/>
                        <a:ea typeface="Palatino Linotype"/>
                        <a:cs typeface="Palatino Linotype"/>
                        <a:sym typeface="Palatino Linotype"/>
                      </a:endParaRPr>
                    </a:p>
                  </a:txBody>
                  <a:tcPr marT="45725" marB="45725" marR="91450" marL="91450"/>
                </a:tc>
              </a:tr>
              <a:tr h="601725">
                <a:tc>
                  <a:txBody>
                    <a:bodyPr/>
                    <a:lstStyle/>
                    <a:p>
                      <a:pPr indent="0" lvl="0" marL="0" marR="0" rtl="0" algn="l">
                        <a:spcBef>
                          <a:spcPts val="0"/>
                        </a:spcBef>
                        <a:spcAft>
                          <a:spcPts val="0"/>
                        </a:spcAft>
                        <a:buNone/>
                      </a:pPr>
                      <a:r>
                        <a:rPr lang="en-US" sz="2200" u="none" cap="none" strike="noStrike">
                          <a:latin typeface="Palatino Linotype"/>
                          <a:ea typeface="Palatino Linotype"/>
                          <a:cs typeface="Palatino Linotype"/>
                          <a:sym typeface="Palatino Linotype"/>
                        </a:rPr>
                        <a:t>1. Members of a class are private by default.</a:t>
                      </a:r>
                      <a:endParaRPr sz="2200">
                        <a:latin typeface="Palatino Linotype"/>
                        <a:ea typeface="Palatino Linotype"/>
                        <a:cs typeface="Palatino Linotype"/>
                        <a:sym typeface="Palatino Linotype"/>
                      </a:endParaRPr>
                    </a:p>
                  </a:txBody>
                  <a:tcPr marT="45725" marB="45725" marR="91450" marL="91450"/>
                </a:tc>
                <a:tc>
                  <a:txBody>
                    <a:bodyPr/>
                    <a:lstStyle/>
                    <a:p>
                      <a:pPr indent="0" lvl="0" marL="0" marR="0" rtl="0" algn="l">
                        <a:spcBef>
                          <a:spcPts val="0"/>
                        </a:spcBef>
                        <a:spcAft>
                          <a:spcPts val="0"/>
                        </a:spcAft>
                        <a:buNone/>
                      </a:pPr>
                      <a:r>
                        <a:rPr b="0" i="0" lang="en-US" sz="2200">
                          <a:solidFill>
                            <a:schemeClr val="dk1"/>
                          </a:solidFill>
                          <a:latin typeface="Palatino Linotype"/>
                          <a:ea typeface="Palatino Linotype"/>
                          <a:cs typeface="Palatino Linotype"/>
                          <a:sym typeface="Palatino Linotype"/>
                        </a:rPr>
                        <a:t>1. Members of a structure are public by default. </a:t>
                      </a:r>
                      <a:endParaRPr sz="2200">
                        <a:latin typeface="Palatino Linotype"/>
                        <a:ea typeface="Palatino Linotype"/>
                        <a:cs typeface="Palatino Linotype"/>
                        <a:sym typeface="Palatino Linotype"/>
                      </a:endParaRPr>
                    </a:p>
                  </a:txBody>
                  <a:tcPr marT="45725" marB="45725" marR="91450" marL="91450"/>
                </a:tc>
              </a:tr>
              <a:tr h="601725">
                <a:tc>
                  <a:txBody>
                    <a:bodyPr/>
                    <a:lstStyle/>
                    <a:p>
                      <a:pPr indent="0" lvl="0" marL="0" marR="0" rtl="0" algn="l">
                        <a:spcBef>
                          <a:spcPts val="0"/>
                        </a:spcBef>
                        <a:spcAft>
                          <a:spcPts val="0"/>
                        </a:spcAft>
                        <a:buNone/>
                      </a:pPr>
                      <a:r>
                        <a:rPr b="0" i="0" lang="en-US" sz="2200">
                          <a:solidFill>
                            <a:schemeClr val="dk1"/>
                          </a:solidFill>
                          <a:latin typeface="Palatino Linotype"/>
                          <a:ea typeface="Palatino Linotype"/>
                          <a:cs typeface="Palatino Linotype"/>
                          <a:sym typeface="Palatino Linotype"/>
                        </a:rPr>
                        <a:t>2. An instance of a class is called an ‘object’.</a:t>
                      </a:r>
                      <a:endParaRPr sz="2200">
                        <a:latin typeface="Palatino Linotype"/>
                        <a:ea typeface="Palatino Linotype"/>
                        <a:cs typeface="Palatino Linotype"/>
                        <a:sym typeface="Palatino Linotype"/>
                      </a:endParaRPr>
                    </a:p>
                  </a:txBody>
                  <a:tcPr marT="45725" marB="45725" marR="91450" marL="91450"/>
                </a:tc>
                <a:tc>
                  <a:txBody>
                    <a:bodyPr/>
                    <a:lstStyle/>
                    <a:p>
                      <a:pPr indent="0" lvl="0" marL="0" marR="0" rtl="0" algn="l">
                        <a:spcBef>
                          <a:spcPts val="0"/>
                        </a:spcBef>
                        <a:spcAft>
                          <a:spcPts val="0"/>
                        </a:spcAft>
                        <a:buNone/>
                      </a:pPr>
                      <a:r>
                        <a:rPr b="0" i="0" lang="en-US" sz="2200">
                          <a:solidFill>
                            <a:schemeClr val="dk1"/>
                          </a:solidFill>
                          <a:latin typeface="Palatino Linotype"/>
                          <a:ea typeface="Palatino Linotype"/>
                          <a:cs typeface="Palatino Linotype"/>
                          <a:sym typeface="Palatino Linotype"/>
                        </a:rPr>
                        <a:t>2. An instance of structure is called the ‘structure variable’.</a:t>
                      </a:r>
                      <a:endParaRPr sz="2200">
                        <a:latin typeface="Palatino Linotype"/>
                        <a:ea typeface="Palatino Linotype"/>
                        <a:cs typeface="Palatino Linotype"/>
                        <a:sym typeface="Palatino Linotype"/>
                      </a:endParaRPr>
                    </a:p>
                  </a:txBody>
                  <a:tcPr marT="45725" marB="45725" marR="91450" marL="91450"/>
                </a:tc>
              </a:tr>
              <a:tr h="601725">
                <a:tc>
                  <a:txBody>
                    <a:bodyPr/>
                    <a:lstStyle/>
                    <a:p>
                      <a:pPr indent="0" lvl="0" marL="0" marR="0" rtl="0" algn="l">
                        <a:spcBef>
                          <a:spcPts val="0"/>
                        </a:spcBef>
                        <a:spcAft>
                          <a:spcPts val="0"/>
                        </a:spcAft>
                        <a:buNone/>
                      </a:pPr>
                      <a:r>
                        <a:rPr b="0" i="0" lang="en-US" sz="2200">
                          <a:solidFill>
                            <a:schemeClr val="dk1"/>
                          </a:solidFill>
                          <a:latin typeface="Palatino Linotype"/>
                          <a:ea typeface="Palatino Linotype"/>
                          <a:cs typeface="Palatino Linotype"/>
                          <a:sym typeface="Palatino Linotype"/>
                        </a:rPr>
                        <a:t>3. Member classes/structures of a class are private by default but not all programming languages have this default behavior eg Java etc.</a:t>
                      </a:r>
                      <a:endParaRPr sz="2200">
                        <a:latin typeface="Palatino Linotype"/>
                        <a:ea typeface="Palatino Linotype"/>
                        <a:cs typeface="Palatino Linotype"/>
                        <a:sym typeface="Palatino Linotype"/>
                      </a:endParaRPr>
                    </a:p>
                  </a:txBody>
                  <a:tcPr marT="45725" marB="45725" marR="91450" marL="91450"/>
                </a:tc>
                <a:tc>
                  <a:txBody>
                    <a:bodyPr/>
                    <a:lstStyle/>
                    <a:p>
                      <a:pPr indent="0" lvl="0" marL="0" marR="0" rtl="0" algn="l">
                        <a:spcBef>
                          <a:spcPts val="0"/>
                        </a:spcBef>
                        <a:spcAft>
                          <a:spcPts val="0"/>
                        </a:spcAft>
                        <a:buNone/>
                      </a:pPr>
                      <a:r>
                        <a:rPr b="0" i="0" lang="en-US" sz="2200">
                          <a:solidFill>
                            <a:schemeClr val="dk1"/>
                          </a:solidFill>
                          <a:latin typeface="Palatino Linotype"/>
                          <a:ea typeface="Palatino Linotype"/>
                          <a:cs typeface="Palatino Linotype"/>
                          <a:sym typeface="Palatino Linotype"/>
                        </a:rPr>
                        <a:t>3. Member classes/structures of a structure are public by default.</a:t>
                      </a:r>
                      <a:endParaRPr sz="2200">
                        <a:latin typeface="Palatino Linotype"/>
                        <a:ea typeface="Palatino Linotype"/>
                        <a:cs typeface="Palatino Linotype"/>
                        <a:sym typeface="Palatino Linotype"/>
                      </a:endParaRPr>
                    </a:p>
                  </a:txBody>
                  <a:tcPr marT="45725" marB="45725" marR="91450" marL="91450"/>
                </a:tc>
              </a:tr>
              <a:tr h="601725">
                <a:tc>
                  <a:txBody>
                    <a:bodyPr/>
                    <a:lstStyle/>
                    <a:p>
                      <a:pPr indent="0" lvl="0" marL="0" marR="0" rtl="0" algn="l">
                        <a:spcBef>
                          <a:spcPts val="0"/>
                        </a:spcBef>
                        <a:spcAft>
                          <a:spcPts val="0"/>
                        </a:spcAft>
                        <a:buNone/>
                      </a:pPr>
                      <a:r>
                        <a:rPr b="0" i="0" lang="en-US" sz="2200">
                          <a:solidFill>
                            <a:schemeClr val="dk1"/>
                          </a:solidFill>
                          <a:latin typeface="Palatino Linotype"/>
                          <a:ea typeface="Palatino Linotype"/>
                          <a:cs typeface="Palatino Linotype"/>
                          <a:sym typeface="Palatino Linotype"/>
                        </a:rPr>
                        <a:t>4. It is declared using</a:t>
                      </a:r>
                      <a:r>
                        <a:rPr b="0" i="0" lang="en-US" sz="2200">
                          <a:solidFill>
                            <a:schemeClr val="dk1"/>
                          </a:solidFill>
                          <a:latin typeface="Palatino Linotype"/>
                          <a:ea typeface="Palatino Linotype"/>
                          <a:cs typeface="Palatino Linotype"/>
                          <a:sym typeface="Palatino Linotype"/>
                        </a:rPr>
                        <a:t>  </a:t>
                      </a:r>
                      <a:r>
                        <a:rPr b="0" i="0" lang="en-US" sz="2200">
                          <a:solidFill>
                            <a:schemeClr val="dk1"/>
                          </a:solidFill>
                          <a:latin typeface="Palatino Linotype"/>
                          <a:ea typeface="Palatino Linotype"/>
                          <a:cs typeface="Palatino Linotype"/>
                          <a:sym typeface="Palatino Linotype"/>
                        </a:rPr>
                        <a:t>the </a:t>
                      </a:r>
                      <a:r>
                        <a:rPr b="1" i="0" lang="en-US" sz="2200">
                          <a:solidFill>
                            <a:schemeClr val="dk1"/>
                          </a:solidFill>
                          <a:latin typeface="Palatino Linotype"/>
                          <a:ea typeface="Palatino Linotype"/>
                          <a:cs typeface="Palatino Linotype"/>
                          <a:sym typeface="Palatino Linotype"/>
                        </a:rPr>
                        <a:t>class</a:t>
                      </a:r>
                      <a:r>
                        <a:rPr b="0" i="0" lang="en-US" sz="2200">
                          <a:solidFill>
                            <a:schemeClr val="dk1"/>
                          </a:solidFill>
                          <a:latin typeface="Palatino Linotype"/>
                          <a:ea typeface="Palatino Linotype"/>
                          <a:cs typeface="Palatino Linotype"/>
                          <a:sym typeface="Palatino Linotype"/>
                        </a:rPr>
                        <a:t> keyword.</a:t>
                      </a:r>
                      <a:endParaRPr sz="2200">
                        <a:latin typeface="Palatino Linotype"/>
                        <a:ea typeface="Palatino Linotype"/>
                        <a:cs typeface="Palatino Linotype"/>
                        <a:sym typeface="Palatino Linotype"/>
                      </a:endParaRPr>
                    </a:p>
                  </a:txBody>
                  <a:tcPr marT="45725" marB="45725" marR="91450" marL="91450"/>
                </a:tc>
                <a:tc>
                  <a:txBody>
                    <a:bodyPr/>
                    <a:lstStyle/>
                    <a:p>
                      <a:pPr indent="0" lvl="0" marL="0" marR="0" rtl="0" algn="l">
                        <a:spcBef>
                          <a:spcPts val="0"/>
                        </a:spcBef>
                        <a:spcAft>
                          <a:spcPts val="0"/>
                        </a:spcAft>
                        <a:buNone/>
                      </a:pPr>
                      <a:r>
                        <a:rPr b="0" i="0" lang="en-US" sz="2200">
                          <a:solidFill>
                            <a:schemeClr val="dk1"/>
                          </a:solidFill>
                          <a:latin typeface="Palatino Linotype"/>
                          <a:ea typeface="Palatino Linotype"/>
                          <a:cs typeface="Palatino Linotype"/>
                          <a:sym typeface="Palatino Linotype"/>
                        </a:rPr>
                        <a:t>4. It is declared using</a:t>
                      </a:r>
                      <a:r>
                        <a:rPr b="0" i="0" lang="en-US" sz="2200">
                          <a:solidFill>
                            <a:schemeClr val="dk1"/>
                          </a:solidFill>
                          <a:latin typeface="Palatino Linotype"/>
                          <a:ea typeface="Palatino Linotype"/>
                          <a:cs typeface="Palatino Linotype"/>
                          <a:sym typeface="Palatino Linotype"/>
                        </a:rPr>
                        <a:t> </a:t>
                      </a:r>
                      <a:r>
                        <a:rPr b="0" i="0" lang="en-US" sz="2200">
                          <a:solidFill>
                            <a:schemeClr val="dk1"/>
                          </a:solidFill>
                          <a:latin typeface="Palatino Linotype"/>
                          <a:ea typeface="Palatino Linotype"/>
                          <a:cs typeface="Palatino Linotype"/>
                          <a:sym typeface="Palatino Linotype"/>
                        </a:rPr>
                        <a:t>the </a:t>
                      </a:r>
                      <a:r>
                        <a:rPr b="1" i="0" lang="en-US" sz="2200">
                          <a:solidFill>
                            <a:schemeClr val="dk1"/>
                          </a:solidFill>
                          <a:latin typeface="Palatino Linotype"/>
                          <a:ea typeface="Palatino Linotype"/>
                          <a:cs typeface="Palatino Linotype"/>
                          <a:sym typeface="Palatino Linotype"/>
                        </a:rPr>
                        <a:t>struct </a:t>
                      </a:r>
                      <a:r>
                        <a:rPr b="0" i="0" lang="en-US" sz="2200">
                          <a:solidFill>
                            <a:schemeClr val="dk1"/>
                          </a:solidFill>
                          <a:latin typeface="Palatino Linotype"/>
                          <a:ea typeface="Palatino Linotype"/>
                          <a:cs typeface="Palatino Linotype"/>
                          <a:sym typeface="Palatino Linotype"/>
                        </a:rPr>
                        <a:t>keyword.</a:t>
                      </a:r>
                      <a:endParaRPr sz="2200">
                        <a:latin typeface="Palatino Linotype"/>
                        <a:ea typeface="Palatino Linotype"/>
                        <a:cs typeface="Palatino Linotype"/>
                        <a:sym typeface="Palatino Linotype"/>
                      </a:endParaRPr>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nvSpPr>
        <p:spPr>
          <a:xfrm>
            <a:off x="2455434" y="295835"/>
            <a:ext cx="7868426" cy="1450757"/>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Classes vs. Structures in C++</a:t>
            </a:r>
            <a:endParaRPr sz="4300">
              <a:solidFill>
                <a:srgbClr val="1482AB"/>
              </a:solidFill>
              <a:latin typeface="Palatino Linotype"/>
              <a:ea typeface="Palatino Linotype"/>
              <a:cs typeface="Palatino Linotype"/>
              <a:sym typeface="Palatino Linotype"/>
            </a:endParaRPr>
          </a:p>
        </p:txBody>
      </p:sp>
      <p:graphicFrame>
        <p:nvGraphicFramePr>
          <p:cNvPr id="193" name="Google Shape;193;p14"/>
          <p:cNvGraphicFramePr/>
          <p:nvPr/>
        </p:nvGraphicFramePr>
        <p:xfrm>
          <a:off x="981634" y="1477651"/>
          <a:ext cx="3000000" cy="3000000"/>
        </p:xfrm>
        <a:graphic>
          <a:graphicData uri="http://schemas.openxmlformats.org/drawingml/2006/table">
            <a:tbl>
              <a:tblPr bandRow="1" firstRow="1">
                <a:noFill/>
                <a:tableStyleId>{AB3558B3-F98B-49C8-9B53-6557440E9F32}</a:tableStyleId>
              </a:tblPr>
              <a:tblGrid>
                <a:gridCol w="5170400"/>
                <a:gridCol w="5170400"/>
              </a:tblGrid>
              <a:tr h="632650">
                <a:tc>
                  <a:txBody>
                    <a:bodyPr/>
                    <a:lstStyle/>
                    <a:p>
                      <a:pPr indent="0" lvl="0" marL="0" marR="0" rtl="0" algn="ctr">
                        <a:spcBef>
                          <a:spcPts val="0"/>
                        </a:spcBef>
                        <a:spcAft>
                          <a:spcPts val="0"/>
                        </a:spcAft>
                        <a:buNone/>
                      </a:pPr>
                      <a:r>
                        <a:rPr b="1" i="0" lang="en-US" sz="2400">
                          <a:solidFill>
                            <a:schemeClr val="lt1"/>
                          </a:solidFill>
                          <a:latin typeface="Palatino Linotype"/>
                          <a:ea typeface="Palatino Linotype"/>
                          <a:cs typeface="Palatino Linotype"/>
                          <a:sym typeface="Palatino Linotype"/>
                        </a:rPr>
                        <a:t>Class</a:t>
                      </a:r>
                      <a:endParaRPr b="1" sz="2400">
                        <a:latin typeface="Palatino Linotype"/>
                        <a:ea typeface="Palatino Linotype"/>
                        <a:cs typeface="Palatino Linotype"/>
                        <a:sym typeface="Palatino Linotype"/>
                      </a:endParaRPr>
                    </a:p>
                  </a:txBody>
                  <a:tcPr marT="45725" marB="45725" marR="91450" marL="91450"/>
                </a:tc>
                <a:tc>
                  <a:txBody>
                    <a:bodyPr/>
                    <a:lstStyle/>
                    <a:p>
                      <a:pPr indent="0" lvl="0" marL="0" marR="0" rtl="0" algn="ctr">
                        <a:spcBef>
                          <a:spcPts val="0"/>
                        </a:spcBef>
                        <a:spcAft>
                          <a:spcPts val="0"/>
                        </a:spcAft>
                        <a:buNone/>
                      </a:pPr>
                      <a:r>
                        <a:rPr b="1" i="0" lang="en-US" sz="2400">
                          <a:solidFill>
                            <a:schemeClr val="lt1"/>
                          </a:solidFill>
                          <a:latin typeface="Palatino Linotype"/>
                          <a:ea typeface="Palatino Linotype"/>
                          <a:cs typeface="Palatino Linotype"/>
                          <a:sym typeface="Palatino Linotype"/>
                        </a:rPr>
                        <a:t>Structure</a:t>
                      </a:r>
                      <a:endParaRPr b="1" sz="2400">
                        <a:latin typeface="Palatino Linotype"/>
                        <a:ea typeface="Palatino Linotype"/>
                        <a:cs typeface="Palatino Linotype"/>
                        <a:sym typeface="Palatino Linotype"/>
                      </a:endParaRPr>
                    </a:p>
                  </a:txBody>
                  <a:tcPr marT="45725" marB="45725" marR="91450" marL="91450"/>
                </a:tc>
              </a:tr>
              <a:tr h="801175">
                <a:tc>
                  <a:txBody>
                    <a:bodyPr/>
                    <a:lstStyle/>
                    <a:p>
                      <a:pPr indent="0" lvl="0" marL="0" marR="0" rtl="0" algn="l">
                        <a:spcBef>
                          <a:spcPts val="0"/>
                        </a:spcBef>
                        <a:spcAft>
                          <a:spcPts val="0"/>
                        </a:spcAft>
                        <a:buNone/>
                      </a:pPr>
                      <a:r>
                        <a:rPr lang="en-US" sz="2200">
                          <a:latin typeface="Palatino Linotype"/>
                          <a:ea typeface="Palatino Linotype"/>
                          <a:cs typeface="Palatino Linotype"/>
                          <a:sym typeface="Palatino Linotype"/>
                        </a:rPr>
                        <a:t>5. It is normally used for data abstraction and further inheritance.</a:t>
                      </a:r>
                      <a:endParaRPr sz="2200">
                        <a:latin typeface="Palatino Linotype"/>
                        <a:ea typeface="Palatino Linotype"/>
                        <a:cs typeface="Palatino Linotype"/>
                        <a:sym typeface="Palatino Linotype"/>
                      </a:endParaRPr>
                    </a:p>
                  </a:txBody>
                  <a:tcPr marT="45725" marB="45725" marR="91450" marL="91450"/>
                </a:tc>
                <a:tc>
                  <a:txBody>
                    <a:bodyPr/>
                    <a:lstStyle/>
                    <a:p>
                      <a:pPr indent="0" lvl="0" marL="0" marR="0" rtl="0" algn="l">
                        <a:spcBef>
                          <a:spcPts val="0"/>
                        </a:spcBef>
                        <a:spcAft>
                          <a:spcPts val="0"/>
                        </a:spcAft>
                        <a:buNone/>
                      </a:pPr>
                      <a:r>
                        <a:rPr lang="en-US" sz="2200">
                          <a:latin typeface="Palatino Linotype"/>
                          <a:ea typeface="Palatino Linotype"/>
                          <a:cs typeface="Palatino Linotype"/>
                          <a:sym typeface="Palatino Linotype"/>
                        </a:rPr>
                        <a:t>5. It is normally used for the grouping of data.</a:t>
                      </a:r>
                      <a:endParaRPr sz="2200">
                        <a:latin typeface="Palatino Linotype"/>
                        <a:ea typeface="Palatino Linotype"/>
                        <a:cs typeface="Palatino Linotype"/>
                        <a:sym typeface="Palatino Linotype"/>
                      </a:endParaRPr>
                    </a:p>
                  </a:txBody>
                  <a:tcPr marT="45725" marB="45725" marR="91450" marL="91450"/>
                </a:tc>
              </a:tr>
              <a:tr h="632650">
                <a:tc>
                  <a:txBody>
                    <a:bodyPr/>
                    <a:lstStyle/>
                    <a:p>
                      <a:pPr indent="0" lvl="0" marL="0" marR="0" rtl="0" algn="l">
                        <a:spcBef>
                          <a:spcPts val="0"/>
                        </a:spcBef>
                        <a:spcAft>
                          <a:spcPts val="0"/>
                        </a:spcAft>
                        <a:buNone/>
                      </a:pPr>
                      <a:r>
                        <a:rPr lang="en-US" sz="2200">
                          <a:latin typeface="Palatino Linotype"/>
                          <a:ea typeface="Palatino Linotype"/>
                          <a:cs typeface="Palatino Linotype"/>
                          <a:sym typeface="Palatino Linotype"/>
                        </a:rPr>
                        <a:t>6. NULL values are possible in Class.</a:t>
                      </a:r>
                      <a:endParaRPr sz="2200">
                        <a:latin typeface="Palatino Linotype"/>
                        <a:ea typeface="Palatino Linotype"/>
                        <a:cs typeface="Palatino Linotype"/>
                        <a:sym typeface="Palatino Linotype"/>
                      </a:endParaRPr>
                    </a:p>
                  </a:txBody>
                  <a:tcPr marT="45725" marB="45725" marR="91450" marL="91450"/>
                </a:tc>
                <a:tc>
                  <a:txBody>
                    <a:bodyPr/>
                    <a:lstStyle/>
                    <a:p>
                      <a:pPr indent="0" lvl="0" marL="0" marR="0" rtl="0" algn="l">
                        <a:spcBef>
                          <a:spcPts val="0"/>
                        </a:spcBef>
                        <a:spcAft>
                          <a:spcPts val="0"/>
                        </a:spcAft>
                        <a:buNone/>
                      </a:pPr>
                      <a:r>
                        <a:rPr lang="en-US" sz="2200">
                          <a:latin typeface="Palatino Linotype"/>
                          <a:ea typeface="Palatino Linotype"/>
                          <a:cs typeface="Palatino Linotype"/>
                          <a:sym typeface="Palatino Linotype"/>
                        </a:rPr>
                        <a:t>6. NULL values are not possible.</a:t>
                      </a:r>
                      <a:endParaRPr sz="2200">
                        <a:latin typeface="Palatino Linotype"/>
                        <a:ea typeface="Palatino Linotype"/>
                        <a:cs typeface="Palatino Linotype"/>
                        <a:sym typeface="Palatino Linotype"/>
                      </a:endParaRPr>
                    </a:p>
                  </a:txBody>
                  <a:tcPr marT="45725" marB="45725" marR="91450" marL="91450"/>
                </a:tc>
              </a:tr>
              <a:tr h="2211225">
                <a:tc>
                  <a:txBody>
                    <a:bodyPr/>
                    <a:lstStyle/>
                    <a:p>
                      <a:pPr indent="0" lvl="0" marL="0" marR="0" rtl="0" algn="l">
                        <a:spcBef>
                          <a:spcPts val="0"/>
                        </a:spcBef>
                        <a:spcAft>
                          <a:spcPts val="0"/>
                        </a:spcAft>
                        <a:buNone/>
                      </a:pPr>
                      <a:r>
                        <a:rPr lang="en-US" sz="2200">
                          <a:latin typeface="Palatino Linotype"/>
                          <a:ea typeface="Palatino Linotype"/>
                          <a:cs typeface="Palatino Linotype"/>
                          <a:sym typeface="Palatino Linotype"/>
                        </a:rPr>
                        <a:t>7. </a:t>
                      </a:r>
                      <a:r>
                        <a:rPr b="1" lang="en-US" sz="2200">
                          <a:latin typeface="Palatino Linotype"/>
                          <a:ea typeface="Palatino Linotype"/>
                          <a:cs typeface="Palatino Linotype"/>
                          <a:sym typeface="Palatino Linotype"/>
                        </a:rPr>
                        <a:t>Syntax:</a:t>
                      </a:r>
                      <a:endParaRPr/>
                    </a:p>
                    <a:p>
                      <a:pPr indent="0" lvl="0" marL="0" marR="0" rtl="0" algn="l">
                        <a:spcBef>
                          <a:spcPts val="0"/>
                        </a:spcBef>
                        <a:spcAft>
                          <a:spcPts val="0"/>
                        </a:spcAft>
                        <a:buNone/>
                      </a:pPr>
                      <a:r>
                        <a:t/>
                      </a:r>
                      <a:endParaRPr b="1" sz="2200">
                        <a:latin typeface="Palatino Linotype"/>
                        <a:ea typeface="Palatino Linotype"/>
                        <a:cs typeface="Palatino Linotype"/>
                        <a:sym typeface="Palatino Linotype"/>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class class_name {</a:t>
                      </a:r>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data_member;</a:t>
                      </a:r>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member_function;</a:t>
                      </a:r>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a:t>
                      </a:r>
                      <a:endParaRPr sz="2200">
                        <a:latin typeface="Palatino Linotype"/>
                        <a:ea typeface="Palatino Linotype"/>
                        <a:cs typeface="Palatino Linotype"/>
                        <a:sym typeface="Palatino Linotype"/>
                      </a:endParaRPr>
                    </a:p>
                  </a:txBody>
                  <a:tcPr marT="45725" marB="45725" marR="91450" marL="91450"/>
                </a:tc>
                <a:tc>
                  <a:txBody>
                    <a:bodyPr/>
                    <a:lstStyle/>
                    <a:p>
                      <a:pPr indent="0" lvl="0" marL="0" marR="0" rtl="0" algn="l">
                        <a:spcBef>
                          <a:spcPts val="0"/>
                        </a:spcBef>
                        <a:spcAft>
                          <a:spcPts val="0"/>
                        </a:spcAft>
                        <a:buNone/>
                      </a:pPr>
                      <a:r>
                        <a:rPr lang="en-US" sz="2200">
                          <a:latin typeface="Palatino Linotype"/>
                          <a:ea typeface="Palatino Linotype"/>
                          <a:cs typeface="Palatino Linotype"/>
                          <a:sym typeface="Palatino Linotype"/>
                        </a:rPr>
                        <a:t>7. </a:t>
                      </a:r>
                      <a:r>
                        <a:rPr b="1" lang="en-US" sz="2200">
                          <a:latin typeface="Palatino Linotype"/>
                          <a:ea typeface="Palatino Linotype"/>
                          <a:cs typeface="Palatino Linotype"/>
                          <a:sym typeface="Palatino Linotype"/>
                        </a:rPr>
                        <a:t>Syntax:</a:t>
                      </a:r>
                      <a:endParaRPr/>
                    </a:p>
                    <a:p>
                      <a:pPr indent="0" lvl="0" marL="0" marR="0" rtl="0" algn="l">
                        <a:spcBef>
                          <a:spcPts val="0"/>
                        </a:spcBef>
                        <a:spcAft>
                          <a:spcPts val="0"/>
                        </a:spcAft>
                        <a:buNone/>
                      </a:pPr>
                      <a:r>
                        <a:t/>
                      </a:r>
                      <a:endParaRPr sz="2200">
                        <a:latin typeface="Palatino Linotype"/>
                        <a:ea typeface="Palatino Linotype"/>
                        <a:cs typeface="Palatino Linotype"/>
                        <a:sym typeface="Palatino Linotype"/>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struct structure_name {</a:t>
                      </a:r>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type structure_member1;</a:t>
                      </a:r>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type structure_member2;</a:t>
                      </a:r>
                      <a:endParaRPr/>
                    </a:p>
                    <a:p>
                      <a:pPr indent="0" lvl="0" marL="0" marR="0" rtl="0" algn="l">
                        <a:spcBef>
                          <a:spcPts val="0"/>
                        </a:spcBef>
                        <a:spcAft>
                          <a:spcPts val="0"/>
                        </a:spcAft>
                        <a:buNone/>
                      </a:pPr>
                      <a:r>
                        <a:rPr lang="en-US" sz="2200">
                          <a:latin typeface="Palatino Linotype"/>
                          <a:ea typeface="Palatino Linotype"/>
                          <a:cs typeface="Palatino Linotype"/>
                          <a:sym typeface="Palatino Linotype"/>
                        </a:rPr>
                        <a:t>   };</a:t>
                      </a:r>
                      <a:endParaRPr sz="2200">
                        <a:latin typeface="Palatino Linotype"/>
                        <a:ea typeface="Palatino Linotype"/>
                        <a:cs typeface="Palatino Linotype"/>
                        <a:sym typeface="Palatino Linotype"/>
                      </a:endParaRPr>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txBox="1"/>
          <p:nvPr>
            <p:ph type="title"/>
          </p:nvPr>
        </p:nvSpPr>
        <p:spPr>
          <a:xfrm>
            <a:off x="2764716" y="0"/>
            <a:ext cx="7868426" cy="145075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1482AB"/>
              </a:buClr>
              <a:buSzPts val="4300"/>
              <a:buFont typeface="Palatino Linotype"/>
              <a:buNone/>
            </a:pPr>
            <a:r>
              <a:rPr b="1" i="0" lang="en-US" sz="4300" u="none" cap="none" strike="noStrike">
                <a:solidFill>
                  <a:srgbClr val="1482AB"/>
                </a:solidFill>
                <a:latin typeface="Palatino Linotype"/>
                <a:ea typeface="Palatino Linotype"/>
                <a:cs typeface="Palatino Linotype"/>
                <a:sym typeface="Palatino Linotype"/>
              </a:rPr>
              <a:t>Classes vs. Structures in C++</a:t>
            </a:r>
            <a:endParaRPr b="0" i="0" sz="4300" u="none" cap="none" strike="noStrike">
              <a:solidFill>
                <a:srgbClr val="1482AB"/>
              </a:solidFill>
              <a:latin typeface="Palatino Linotype"/>
              <a:ea typeface="Palatino Linotype"/>
              <a:cs typeface="Palatino Linotype"/>
              <a:sym typeface="Palatino Linotype"/>
            </a:endParaRPr>
          </a:p>
        </p:txBody>
      </p:sp>
      <p:sp>
        <p:nvSpPr>
          <p:cNvPr id="199" name="Google Shape;199;p15"/>
          <p:cNvSpPr/>
          <p:nvPr/>
        </p:nvSpPr>
        <p:spPr>
          <a:xfrm rot="10800000">
            <a:off x="1381254" y="6886135"/>
            <a:ext cx="8875370" cy="457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0" name="Google Shape;200;p15"/>
          <p:cNvSpPr/>
          <p:nvPr/>
        </p:nvSpPr>
        <p:spPr>
          <a:xfrm flipH="1">
            <a:off x="943707" y="1783177"/>
            <a:ext cx="10410093" cy="477053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rPr b="1" i="0" lang="en-US" sz="2200" u="none" cap="none" strike="noStrike">
                <a:solidFill>
                  <a:srgbClr val="C00000"/>
                </a:solidFill>
                <a:latin typeface="Palatino Linotype"/>
                <a:ea typeface="Palatino Linotype"/>
                <a:cs typeface="Palatino Linotype"/>
                <a:sym typeface="Palatino Linotype"/>
              </a:rPr>
              <a:t>Why Both Exist</a:t>
            </a:r>
            <a:r>
              <a:rPr b="0" i="0" lang="en-US" sz="2200" u="none" cap="none" strike="noStrike">
                <a:solidFill>
                  <a:srgbClr val="C00000"/>
                </a:solidFill>
                <a:latin typeface="Palatino Linotype"/>
                <a:ea typeface="Palatino Linotype"/>
                <a:cs typeface="Palatino Linotype"/>
                <a:sym typeface="Palatino Linotype"/>
              </a:rPr>
              <a:t>:</a:t>
            </a:r>
            <a:endParaRPr/>
          </a:p>
          <a:p>
            <a:pPr indent="-457200" lvl="1" marL="914400" marR="0" rtl="0" algn="just">
              <a:spcBef>
                <a:spcPts val="0"/>
              </a:spcBef>
              <a:spcAft>
                <a:spcPts val="0"/>
              </a:spcAft>
              <a:buClr>
                <a:schemeClr val="dk1"/>
              </a:buClr>
              <a:buSzPts val="2200"/>
              <a:buFont typeface="Calibri"/>
              <a:buAutoNum type="arabicPeriod"/>
            </a:pPr>
            <a:r>
              <a:rPr b="1" i="0" lang="en-US" sz="2200" u="none" cap="none" strike="noStrike">
                <a:solidFill>
                  <a:schemeClr val="dk1"/>
                </a:solidFill>
                <a:latin typeface="Palatino Linotype"/>
                <a:ea typeface="Palatino Linotype"/>
                <a:cs typeface="Palatino Linotype"/>
                <a:sym typeface="Palatino Linotype"/>
              </a:rPr>
              <a:t>Compatibility with C</a:t>
            </a:r>
            <a:r>
              <a:rPr b="0" i="0" lang="en-US" sz="2200" u="none" cap="none" strike="noStrike">
                <a:solidFill>
                  <a:schemeClr val="dk1"/>
                </a:solidFill>
                <a:latin typeface="Palatino Linotype"/>
                <a:ea typeface="Palatino Linotype"/>
                <a:cs typeface="Palatino Linotype"/>
                <a:sym typeface="Palatino Linotype"/>
              </a:rPr>
              <a:t>: Structures in C++ maintain compatibility with C, where structure members are always public by default. This allows C-style structures to be used in C++ programs.</a:t>
            </a:r>
            <a:endParaRPr/>
          </a:p>
          <a:p>
            <a:pPr indent="-457200" lvl="1" marL="914400" marR="0" rtl="0" algn="just">
              <a:spcBef>
                <a:spcPts val="0"/>
              </a:spcBef>
              <a:spcAft>
                <a:spcPts val="0"/>
              </a:spcAft>
              <a:buClr>
                <a:schemeClr val="dk1"/>
              </a:buClr>
              <a:buSzPts val="2200"/>
              <a:buFont typeface="Calibri"/>
              <a:buAutoNum type="arabicPeriod"/>
            </a:pPr>
            <a:r>
              <a:rPr b="1" i="0" lang="en-US" sz="2200" u="none" cap="none" strike="noStrike">
                <a:solidFill>
                  <a:schemeClr val="dk1"/>
                </a:solidFill>
                <a:latin typeface="Palatino Linotype"/>
                <a:ea typeface="Palatino Linotype"/>
                <a:cs typeface="Palatino Linotype"/>
                <a:sym typeface="Palatino Linotype"/>
              </a:rPr>
              <a:t>Flexibility</a:t>
            </a:r>
            <a:r>
              <a:rPr b="0" i="0" lang="en-US" sz="2200" u="none" cap="none" strike="noStrike">
                <a:solidFill>
                  <a:schemeClr val="dk1"/>
                </a:solidFill>
                <a:latin typeface="Palatino Linotype"/>
                <a:ea typeface="Palatino Linotype"/>
                <a:cs typeface="Palatino Linotype"/>
                <a:sym typeface="Palatino Linotype"/>
              </a:rPr>
              <a:t>: Although structures can do almost everything classes can, classes provide a more formal way to define complex objects with data and functions.</a:t>
            </a:r>
            <a:endParaRPr/>
          </a:p>
          <a:p>
            <a:pPr indent="0" lvl="0" marL="0" marR="0" rtl="0" algn="just">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Palatino Linotype"/>
              <a:ea typeface="Palatino Linotype"/>
              <a:cs typeface="Palatino Linotype"/>
              <a:sym typeface="Palatino Linotype"/>
            </a:endParaRPr>
          </a:p>
          <a:p>
            <a:pPr indent="-139700" lvl="0" marL="0" marR="0" rtl="0" algn="just">
              <a:lnSpc>
                <a:spcPct val="100000"/>
              </a:lnSpc>
              <a:spcBef>
                <a:spcPts val="0"/>
              </a:spcBef>
              <a:spcAft>
                <a:spcPts val="0"/>
              </a:spcAft>
              <a:buClr>
                <a:srgbClr val="C00000"/>
              </a:buClr>
              <a:buSzPts val="2200"/>
              <a:buFont typeface="Palatino Linotype"/>
              <a:buChar char="•"/>
            </a:pPr>
            <a:r>
              <a:rPr b="1" i="0" lang="en-US" sz="2200" u="none" cap="none" strike="noStrike">
                <a:solidFill>
                  <a:srgbClr val="C00000"/>
                </a:solidFill>
                <a:latin typeface="Palatino Linotype"/>
                <a:ea typeface="Palatino Linotype"/>
                <a:cs typeface="Palatino Linotype"/>
                <a:sym typeface="Palatino Linotype"/>
              </a:rPr>
              <a:t>Common Practice</a:t>
            </a:r>
            <a:r>
              <a:rPr b="0" i="0" lang="en-US" sz="2200" u="none" cap="none" strike="noStrike">
                <a:solidFill>
                  <a:srgbClr val="C00000"/>
                </a:solidFill>
                <a:latin typeface="Palatino Linotype"/>
                <a:ea typeface="Palatino Linotype"/>
                <a:cs typeface="Palatino Linotype"/>
                <a:sym typeface="Palatino Linotype"/>
              </a:rPr>
              <a:t>:</a:t>
            </a:r>
            <a:endParaRPr/>
          </a:p>
          <a:p>
            <a:pPr indent="-457200" lvl="1" marL="914400" marR="0" rtl="0" algn="just">
              <a:spcBef>
                <a:spcPts val="0"/>
              </a:spcBef>
              <a:spcAft>
                <a:spcPts val="0"/>
              </a:spcAft>
              <a:buClr>
                <a:schemeClr val="dk1"/>
              </a:buClr>
              <a:buSzPts val="2200"/>
              <a:buFont typeface="Calibri"/>
              <a:buAutoNum type="arabicPeriod"/>
            </a:pPr>
            <a:r>
              <a:rPr b="1" i="0" lang="en-US" sz="2200" u="none" cap="none" strike="noStrike">
                <a:solidFill>
                  <a:schemeClr val="dk1"/>
                </a:solidFill>
                <a:latin typeface="Palatino Linotype"/>
                <a:ea typeface="Palatino Linotype"/>
                <a:cs typeface="Palatino Linotype"/>
                <a:sym typeface="Palatino Linotype"/>
              </a:rPr>
              <a:t>Classes</a:t>
            </a:r>
            <a:r>
              <a:rPr b="0" i="0" lang="en-US" sz="2200" u="none" cap="none" strike="noStrike">
                <a:solidFill>
                  <a:schemeClr val="dk1"/>
                </a:solidFill>
                <a:latin typeface="Palatino Linotype"/>
                <a:ea typeface="Palatino Linotype"/>
                <a:cs typeface="Palatino Linotype"/>
                <a:sym typeface="Palatino Linotype"/>
              </a:rPr>
              <a:t>: Usually used when creating objects that include both data and behavior (functions).</a:t>
            </a:r>
            <a:endParaRPr/>
          </a:p>
          <a:p>
            <a:pPr indent="-457200" lvl="1" marL="914400" marR="0" rtl="0" algn="just">
              <a:spcBef>
                <a:spcPts val="0"/>
              </a:spcBef>
              <a:spcAft>
                <a:spcPts val="0"/>
              </a:spcAft>
              <a:buClr>
                <a:schemeClr val="dk1"/>
              </a:buClr>
              <a:buSzPts val="2200"/>
              <a:buFont typeface="Calibri"/>
              <a:buAutoNum type="arabicPeriod"/>
            </a:pPr>
            <a:r>
              <a:rPr b="1" i="0" lang="en-US" sz="2200" u="none" cap="none" strike="noStrike">
                <a:solidFill>
                  <a:schemeClr val="dk1"/>
                </a:solidFill>
                <a:latin typeface="Palatino Linotype"/>
                <a:ea typeface="Palatino Linotype"/>
                <a:cs typeface="Palatino Linotype"/>
                <a:sym typeface="Palatino Linotype"/>
              </a:rPr>
              <a:t>Structures</a:t>
            </a:r>
            <a:r>
              <a:rPr b="0" i="0" lang="en-US" sz="2200" u="none" cap="none" strike="noStrike">
                <a:solidFill>
                  <a:schemeClr val="dk1"/>
                </a:solidFill>
                <a:latin typeface="Palatino Linotype"/>
                <a:ea typeface="Palatino Linotype"/>
                <a:cs typeface="Palatino Linotype"/>
                <a:sym typeface="Palatino Linotype"/>
              </a:rPr>
              <a:t>: Typically reserved for simpler data-only objects, similar to their use in C.</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6"/>
          <p:cNvSpPr txBox="1"/>
          <p:nvPr>
            <p:ph type="title"/>
          </p:nvPr>
        </p:nvSpPr>
        <p:spPr>
          <a:xfrm>
            <a:off x="1119553" y="0"/>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Unions in C++</a:t>
            </a:r>
            <a:endParaRPr sz="4300">
              <a:solidFill>
                <a:srgbClr val="1482AB"/>
              </a:solidFill>
              <a:latin typeface="Palatino Linotype"/>
              <a:ea typeface="Palatino Linotype"/>
              <a:cs typeface="Palatino Linotype"/>
              <a:sym typeface="Palatino Linotype"/>
            </a:endParaRPr>
          </a:p>
        </p:txBody>
      </p:sp>
      <p:sp>
        <p:nvSpPr>
          <p:cNvPr id="206" name="Google Shape;206;p16"/>
          <p:cNvSpPr/>
          <p:nvPr/>
        </p:nvSpPr>
        <p:spPr>
          <a:xfrm rot="10800000">
            <a:off x="1381254" y="6886135"/>
            <a:ext cx="8875370" cy="457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07" name="Google Shape;207;p16"/>
          <p:cNvSpPr/>
          <p:nvPr/>
        </p:nvSpPr>
        <p:spPr>
          <a:xfrm flipH="1">
            <a:off x="943706" y="1860122"/>
            <a:ext cx="10410093" cy="4616648"/>
          </a:xfrm>
          <a:prstGeom prst="rect">
            <a:avLst/>
          </a:prstGeom>
          <a:noFill/>
          <a:ln>
            <a:noFill/>
          </a:ln>
        </p:spPr>
        <p:txBody>
          <a:bodyPr anchorCtr="0" anchor="ctr"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In C++, a union is a user-defined datatype in which we can define members of different types of data types just like structures. But one thing that makes it different from structures is that the member variables in a union share the same memory location, unlike a structure that allocates memory separately for each member variable. The size of the union is equal to the size of the largest data type.</a:t>
            </a:r>
            <a:endParaRPr/>
          </a:p>
          <a:p>
            <a:pPr indent="0" lvl="0" marL="0" marR="0" rtl="0" algn="just">
              <a:spcBef>
                <a:spcPts val="0"/>
              </a:spcBef>
              <a:spcAft>
                <a:spcPts val="0"/>
              </a:spcAft>
              <a:buNone/>
            </a:pPr>
            <a:r>
              <a:t/>
            </a:r>
            <a:endParaRPr b="0" i="0" sz="2000" u="none" cap="none" strike="noStrike">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b="1" lang="en-US" sz="2000">
                <a:solidFill>
                  <a:schemeClr val="dk1"/>
                </a:solidFill>
                <a:latin typeface="Palatino Linotype"/>
                <a:ea typeface="Palatino Linotype"/>
                <a:cs typeface="Palatino Linotype"/>
                <a:sym typeface="Palatino Linotype"/>
              </a:rPr>
              <a:t>Syntax of Union in C++</a:t>
            </a:r>
            <a:endParaRPr/>
          </a:p>
          <a:p>
            <a:pPr indent="0" lvl="0" marL="0" marR="0" rtl="0" algn="ctr">
              <a:spcBef>
                <a:spcPts val="0"/>
              </a:spcBef>
              <a:spcAft>
                <a:spcPts val="0"/>
              </a:spcAft>
              <a:buNone/>
            </a:pPr>
            <a:r>
              <a:t/>
            </a:r>
            <a:endParaRPr sz="20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2000">
                <a:solidFill>
                  <a:schemeClr val="dk1"/>
                </a:solidFill>
                <a:latin typeface="Palatino Linotype"/>
                <a:ea typeface="Palatino Linotype"/>
                <a:cs typeface="Palatino Linotype"/>
                <a:sym typeface="Palatino Linotype"/>
              </a:rPr>
              <a:t>union Union_Name {</a:t>
            </a:r>
            <a:endParaRPr sz="20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2000">
                <a:solidFill>
                  <a:schemeClr val="dk1"/>
                </a:solidFill>
                <a:latin typeface="Palatino Linotype"/>
                <a:ea typeface="Palatino Linotype"/>
                <a:cs typeface="Palatino Linotype"/>
                <a:sym typeface="Palatino Linotype"/>
              </a:rPr>
              <a:t>    // Declaration of data members</a:t>
            </a:r>
            <a:endParaRPr/>
          </a:p>
          <a:p>
            <a:pPr indent="0" lvl="0" marL="0" marR="0" rtl="0" algn="ctr">
              <a:spcBef>
                <a:spcPts val="0"/>
              </a:spcBef>
              <a:spcAft>
                <a:spcPts val="0"/>
              </a:spcAft>
              <a:buNone/>
            </a:pPr>
            <a:r>
              <a:rPr lang="en-US" sz="2000">
                <a:solidFill>
                  <a:schemeClr val="dk1"/>
                </a:solidFill>
                <a:latin typeface="Palatino Linotype"/>
                <a:ea typeface="Palatino Linotype"/>
                <a:cs typeface="Palatino Linotype"/>
                <a:sym typeface="Palatino Linotype"/>
              </a:rPr>
              <a:t>}; </a:t>
            </a:r>
            <a:endParaRPr sz="20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t/>
            </a:r>
            <a:endParaRPr sz="20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2000">
                <a:solidFill>
                  <a:schemeClr val="dk1"/>
                </a:solidFill>
                <a:latin typeface="Palatino Linotype"/>
                <a:ea typeface="Palatino Linotype"/>
                <a:cs typeface="Palatino Linotype"/>
                <a:sym typeface="Palatino Linotype"/>
              </a:rPr>
              <a:t>union_variables;</a:t>
            </a:r>
            <a:endParaRPr/>
          </a:p>
          <a:p>
            <a:pPr indent="0" lvl="0" marL="0" marR="0" rtl="0" algn="just">
              <a:spcBef>
                <a:spcPts val="0"/>
              </a:spcBef>
              <a:spcAft>
                <a:spcPts val="0"/>
              </a:spcAft>
              <a:buNone/>
            </a:pPr>
            <a:r>
              <a:t/>
            </a:r>
            <a:endParaRPr b="0" i="0" sz="24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7"/>
          <p:cNvSpPr/>
          <p:nvPr/>
        </p:nvSpPr>
        <p:spPr>
          <a:xfrm>
            <a:off x="4043082" y="107576"/>
            <a:ext cx="6096000" cy="6186309"/>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#include &lt;iostream&gt;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using namespace std;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union varsity {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int age;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char grade;                       // Defining data members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float GPA;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int main()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union varsity student1;          // Defining a union variable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008000"/>
                </a:solidFill>
                <a:latin typeface="Calibri"/>
                <a:ea typeface="Calibri"/>
                <a:cs typeface="Calibri"/>
                <a:sym typeface="Calibri"/>
              </a:rPr>
              <a:t>student1.age = 25; </a:t>
            </a:r>
            <a:endParaRPr/>
          </a:p>
          <a:p>
            <a:pPr indent="0" lvl="0" marL="0" marR="0" rtl="0" algn="l">
              <a:spcBef>
                <a:spcPts val="0"/>
              </a:spcBef>
              <a:spcAft>
                <a:spcPts val="0"/>
              </a:spcAft>
              <a:buNone/>
            </a:pPr>
            <a:r>
              <a:rPr lang="en-US" sz="1800">
                <a:solidFill>
                  <a:srgbClr val="008000"/>
                </a:solidFill>
                <a:latin typeface="Calibri"/>
                <a:ea typeface="Calibri"/>
                <a:cs typeface="Calibri"/>
                <a:sym typeface="Calibri"/>
              </a:rPr>
              <a:t>    cout &lt;&lt; "Age : " &lt;&lt; student1.age &lt;&lt; endl;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rgbClr val="1C6294"/>
                </a:solidFill>
                <a:latin typeface="Calibri"/>
                <a:ea typeface="Calibri"/>
                <a:cs typeface="Calibri"/>
                <a:sym typeface="Calibri"/>
              </a:rPr>
              <a:t>    student1.grade = 'B'; </a:t>
            </a:r>
            <a:endParaRPr/>
          </a:p>
          <a:p>
            <a:pPr indent="0" lvl="0" marL="0" marR="0" rtl="0" algn="l">
              <a:spcBef>
                <a:spcPts val="0"/>
              </a:spcBef>
              <a:spcAft>
                <a:spcPts val="0"/>
              </a:spcAft>
              <a:buNone/>
            </a:pPr>
            <a:r>
              <a:rPr lang="en-US" sz="1800">
                <a:solidFill>
                  <a:srgbClr val="1C6294"/>
                </a:solidFill>
                <a:latin typeface="Calibri"/>
                <a:ea typeface="Calibri"/>
                <a:cs typeface="Calibri"/>
                <a:sym typeface="Calibri"/>
              </a:rPr>
              <a:t>    cout &lt;&lt; "Grade : " &lt;&lt; student1.grade &lt;&lt; endl;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student1.GPA = 4.5; </a:t>
            </a:r>
            <a:endParaRPr/>
          </a:p>
          <a:p>
            <a:pPr indent="0" lvl="0" marL="0" marR="0" rtl="0" algn="l">
              <a:spcBef>
                <a:spcPts val="0"/>
              </a:spcBef>
              <a:spcAft>
                <a:spcPts val="0"/>
              </a:spcAft>
              <a:buNone/>
            </a:pPr>
            <a:r>
              <a:rPr lang="en-US" sz="1800">
                <a:solidFill>
                  <a:srgbClr val="FF0000"/>
                </a:solidFill>
                <a:latin typeface="Calibri"/>
                <a:ea typeface="Calibri"/>
                <a:cs typeface="Calibri"/>
                <a:sym typeface="Calibri"/>
              </a:rPr>
              <a:t>    cout &lt;&lt; "GPA : " &lt;&lt; student1.GPA &lt;&lt; endl;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return 0;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213" name="Google Shape;213;p17"/>
          <p:cNvSpPr txBox="1"/>
          <p:nvPr/>
        </p:nvSpPr>
        <p:spPr>
          <a:xfrm>
            <a:off x="796824" y="2622176"/>
            <a:ext cx="2632176" cy="1450757"/>
          </a:xfrm>
          <a:prstGeom prst="rect">
            <a:avLst/>
          </a:prstGeom>
          <a:no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Unions in C++</a:t>
            </a:r>
            <a:endParaRPr sz="4300">
              <a:solidFill>
                <a:srgbClr val="1482AB"/>
              </a:solidFill>
              <a:latin typeface="Palatino Linotype"/>
              <a:ea typeface="Palatino Linotype"/>
              <a:cs typeface="Palatino Linotype"/>
              <a:sym typeface="Palatino Linotyp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ph type="title"/>
          </p:nvPr>
        </p:nvSpPr>
        <p:spPr>
          <a:xfrm>
            <a:off x="1119553" y="0"/>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Unions in C++</a:t>
            </a:r>
            <a:endParaRPr sz="4300">
              <a:solidFill>
                <a:srgbClr val="1482AB"/>
              </a:solidFill>
              <a:latin typeface="Palatino Linotype"/>
              <a:ea typeface="Palatino Linotype"/>
              <a:cs typeface="Palatino Linotype"/>
              <a:sym typeface="Palatino Linotype"/>
            </a:endParaRPr>
          </a:p>
        </p:txBody>
      </p:sp>
      <p:sp>
        <p:nvSpPr>
          <p:cNvPr id="219" name="Google Shape;219;p18"/>
          <p:cNvSpPr/>
          <p:nvPr/>
        </p:nvSpPr>
        <p:spPr>
          <a:xfrm rot="10800000">
            <a:off x="1381254" y="6886135"/>
            <a:ext cx="8875370" cy="457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0" name="Google Shape;220;p18"/>
          <p:cNvSpPr/>
          <p:nvPr/>
        </p:nvSpPr>
        <p:spPr>
          <a:xfrm flipH="1">
            <a:off x="1119553" y="2193976"/>
            <a:ext cx="10410093" cy="3754874"/>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200" u="sng">
                <a:solidFill>
                  <a:srgbClr val="FF0000"/>
                </a:solidFill>
                <a:latin typeface="Palatino Linotype"/>
                <a:ea typeface="Palatino Linotype"/>
                <a:cs typeface="Palatino Linotype"/>
                <a:sym typeface="Palatino Linotype"/>
              </a:rPr>
              <a:t>Output</a:t>
            </a:r>
            <a:endParaRPr/>
          </a:p>
          <a:p>
            <a:pPr indent="0" lvl="0" marL="0" marR="0" rtl="0" algn="ctr">
              <a:spcBef>
                <a:spcPts val="0"/>
              </a:spcBef>
              <a:spcAft>
                <a:spcPts val="0"/>
              </a:spcAft>
              <a:buNone/>
            </a:pPr>
            <a:r>
              <a:t/>
            </a:r>
            <a:endParaRPr b="1" sz="2200" u="sng">
              <a:solidFill>
                <a:srgbClr val="FF0000"/>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Age : 25</a:t>
            </a:r>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Grade : B</a:t>
            </a:r>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GPA : 4.5</a:t>
            </a:r>
            <a:endParaRPr/>
          </a:p>
          <a:p>
            <a:pPr indent="0" lvl="0" marL="0" marR="0" rtl="0" algn="ctr">
              <a:spcBef>
                <a:spcPts val="0"/>
              </a:spcBef>
              <a:spcAft>
                <a:spcPts val="0"/>
              </a:spcAft>
              <a:buNone/>
            </a:pPr>
            <a:r>
              <a:t/>
            </a:r>
            <a:endParaRPr sz="22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t/>
            </a:r>
            <a:endParaRPr sz="22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lang="en-US" sz="2200">
                <a:solidFill>
                  <a:schemeClr val="dk1"/>
                </a:solidFill>
                <a:latin typeface="Palatino Linotype"/>
                <a:ea typeface="Palatino Linotype"/>
                <a:cs typeface="Palatino Linotype"/>
                <a:sym typeface="Palatino Linotype"/>
              </a:rPr>
              <a:t>We have not assigned the values to all data members in one go as we do normally because they share the same memory location and if we do so then their value will be overwritten.</a:t>
            </a:r>
            <a:endParaRPr sz="2200">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9"/>
          <p:cNvSpPr txBox="1"/>
          <p:nvPr>
            <p:ph type="title"/>
          </p:nvPr>
        </p:nvSpPr>
        <p:spPr>
          <a:xfrm>
            <a:off x="1119553" y="0"/>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Unions in C++</a:t>
            </a:r>
            <a:endParaRPr sz="4300">
              <a:solidFill>
                <a:srgbClr val="1482AB"/>
              </a:solidFill>
              <a:latin typeface="Palatino Linotype"/>
              <a:ea typeface="Palatino Linotype"/>
              <a:cs typeface="Palatino Linotype"/>
              <a:sym typeface="Palatino Linotype"/>
            </a:endParaRPr>
          </a:p>
        </p:txBody>
      </p:sp>
      <p:sp>
        <p:nvSpPr>
          <p:cNvPr id="226" name="Google Shape;226;p19"/>
          <p:cNvSpPr/>
          <p:nvPr/>
        </p:nvSpPr>
        <p:spPr>
          <a:xfrm rot="10800000">
            <a:off x="1381254" y="6886135"/>
            <a:ext cx="8875370" cy="457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227" name="Google Shape;227;p19"/>
          <p:cNvSpPr/>
          <p:nvPr/>
        </p:nvSpPr>
        <p:spPr>
          <a:xfrm flipH="1">
            <a:off x="1119553" y="2024698"/>
            <a:ext cx="10410093" cy="4093428"/>
          </a:xfrm>
          <a:prstGeom prst="rect">
            <a:avLst/>
          </a:prstGeom>
          <a:noFill/>
          <a:ln>
            <a:noFill/>
          </a:ln>
        </p:spPr>
        <p:txBody>
          <a:bodyPr anchorCtr="0" anchor="ctr" bIns="45700" lIns="91425" spcFirstLastPara="1" rIns="91425" wrap="square" tIns="45700">
            <a:spAutoFit/>
          </a:bodyPr>
          <a:lstStyle/>
          <a:p>
            <a:pPr indent="-342900" lvl="0" marL="342900" marR="0" rtl="0" algn="l">
              <a:spcBef>
                <a:spcPts val="0"/>
              </a:spcBef>
              <a:spcAft>
                <a:spcPts val="0"/>
              </a:spcAft>
              <a:buClr>
                <a:schemeClr val="dk1"/>
              </a:buClr>
              <a:buSzPts val="2200"/>
              <a:buFont typeface="Arial"/>
              <a:buChar char="•"/>
            </a:pPr>
            <a:r>
              <a:rPr b="1" lang="en-US" sz="2200">
                <a:solidFill>
                  <a:schemeClr val="dk1"/>
                </a:solidFill>
                <a:latin typeface="Palatino Linotype"/>
                <a:ea typeface="Palatino Linotype"/>
                <a:cs typeface="Palatino Linotype"/>
                <a:sym typeface="Palatino Linotype"/>
              </a:rPr>
              <a:t>Shared Memory</a:t>
            </a:r>
            <a:r>
              <a:rPr lang="en-US" sz="2200">
                <a:solidFill>
                  <a:schemeClr val="dk1"/>
                </a:solidFill>
                <a:latin typeface="Palatino Linotype"/>
                <a:ea typeface="Palatino Linotype"/>
                <a:cs typeface="Palatino Linotype"/>
                <a:sym typeface="Palatino Linotype"/>
              </a:rPr>
              <a:t>: All data members in a union share the same memory space, meaning only one member can hold a value at a time.</a:t>
            </a:r>
            <a:endParaRPr/>
          </a:p>
          <a:p>
            <a:pPr indent="-342900" lvl="0" marL="342900" marR="0" rtl="0" algn="l">
              <a:spcBef>
                <a:spcPts val="0"/>
              </a:spcBef>
              <a:spcAft>
                <a:spcPts val="0"/>
              </a:spcAft>
              <a:buClr>
                <a:schemeClr val="dk1"/>
              </a:buClr>
              <a:buSzPts val="2200"/>
              <a:buFont typeface="Arial"/>
              <a:buChar char="•"/>
            </a:pPr>
            <a:r>
              <a:rPr b="1" lang="en-US" sz="2200">
                <a:solidFill>
                  <a:schemeClr val="dk1"/>
                </a:solidFill>
                <a:latin typeface="Palatino Linotype"/>
                <a:ea typeface="Palatino Linotype"/>
                <a:cs typeface="Palatino Linotype"/>
                <a:sym typeface="Palatino Linotype"/>
              </a:rPr>
              <a:t>Function Members</a:t>
            </a:r>
            <a:r>
              <a:rPr lang="en-US" sz="2200">
                <a:solidFill>
                  <a:schemeClr val="dk1"/>
                </a:solidFill>
                <a:latin typeface="Palatino Linotype"/>
                <a:ea typeface="Palatino Linotype"/>
                <a:cs typeface="Palatino Linotype"/>
                <a:sym typeface="Palatino Linotype"/>
              </a:rPr>
              <a:t>: Like structures, unions in C++ can include functions, but they have some restrictions.</a:t>
            </a:r>
            <a:endParaRPr/>
          </a:p>
          <a:p>
            <a:pPr indent="-342900" lvl="0" marL="342900" marR="0" rtl="0" algn="l">
              <a:spcBef>
                <a:spcPts val="0"/>
              </a:spcBef>
              <a:spcAft>
                <a:spcPts val="0"/>
              </a:spcAft>
              <a:buClr>
                <a:schemeClr val="dk1"/>
              </a:buClr>
              <a:buSzPts val="2200"/>
              <a:buFont typeface="Arial"/>
              <a:buChar char="•"/>
            </a:pPr>
            <a:r>
              <a:rPr b="1" lang="en-US" sz="2200">
                <a:solidFill>
                  <a:schemeClr val="dk1"/>
                </a:solidFill>
                <a:latin typeface="Palatino Linotype"/>
                <a:ea typeface="Palatino Linotype"/>
                <a:cs typeface="Palatino Linotype"/>
                <a:sym typeface="Palatino Linotype"/>
              </a:rPr>
              <a:t>Restrictions</a:t>
            </a:r>
            <a:r>
              <a:rPr lang="en-US" sz="2200">
                <a:solidFill>
                  <a:schemeClr val="dk1"/>
                </a:solidFill>
                <a:latin typeface="Palatino Linotype"/>
                <a:ea typeface="Palatino Linotype"/>
                <a:cs typeface="Palatino Linotype"/>
                <a:sym typeface="Palatino Linotype"/>
              </a:rPr>
              <a:t>:</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Palatino Linotype"/>
                <a:ea typeface="Palatino Linotype"/>
                <a:cs typeface="Palatino Linotype"/>
                <a:sym typeface="Palatino Linotype"/>
              </a:rPr>
              <a:t>Unions can't inherit from other classes or serve as a base class.</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Palatino Linotype"/>
                <a:ea typeface="Palatino Linotype"/>
                <a:cs typeface="Palatino Linotype"/>
                <a:sym typeface="Palatino Linotype"/>
              </a:rPr>
              <a:t>Unions can't have static members.</a:t>
            </a:r>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Palatino Linotype"/>
                <a:ea typeface="Palatino Linotype"/>
                <a:cs typeface="Palatino Linotype"/>
                <a:sym typeface="Palatino Linotype"/>
              </a:rPr>
              <a:t>Unions can't contain objects with constructors or destructors, although the union itself can have these functions.</a:t>
            </a:r>
            <a:endParaRPr/>
          </a:p>
          <a:p>
            <a:pPr indent="-342900" lvl="0" marL="342900" marR="0" rtl="0" algn="l">
              <a:spcBef>
                <a:spcPts val="0"/>
              </a:spcBef>
              <a:spcAft>
                <a:spcPts val="0"/>
              </a:spcAft>
              <a:buClr>
                <a:schemeClr val="dk1"/>
              </a:buClr>
              <a:buSzPts val="2200"/>
              <a:buFont typeface="Arial"/>
              <a:buChar char="•"/>
            </a:pPr>
            <a:r>
              <a:rPr b="1" lang="en-US" sz="2200">
                <a:solidFill>
                  <a:schemeClr val="dk1"/>
                </a:solidFill>
                <a:latin typeface="Palatino Linotype"/>
                <a:ea typeface="Palatino Linotype"/>
                <a:cs typeface="Palatino Linotype"/>
                <a:sym typeface="Palatino Linotype"/>
              </a:rPr>
              <a:t>Anonymous Unions</a:t>
            </a:r>
            <a:r>
              <a:rPr lang="en-US" sz="2200">
                <a:solidFill>
                  <a:schemeClr val="dk1"/>
                </a:solidFill>
                <a:latin typeface="Palatino Linotype"/>
                <a:ea typeface="Palatino Linotype"/>
                <a:cs typeface="Palatino Linotype"/>
                <a:sym typeface="Palatino Linotype"/>
              </a:rPr>
              <a:t>: Special unions without a type name, allowing direct access to their members, which share the same memory space.</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type="title"/>
          </p:nvPr>
        </p:nvSpPr>
        <p:spPr>
          <a:xfrm>
            <a:off x="2554941" y="443753"/>
            <a:ext cx="7624484" cy="1228725"/>
          </a:xfrm>
          <a:prstGeom prst="rect">
            <a:avLst/>
          </a:prstGeom>
          <a:solidFill>
            <a:schemeClr val="lt1"/>
          </a:solid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1482AB"/>
              </a:buClr>
              <a:buSzPct val="100000"/>
              <a:buFont typeface="Palatino Linotype"/>
              <a:buNone/>
            </a:pPr>
            <a:r>
              <a:rPr b="1" lang="en-US" sz="4300">
                <a:solidFill>
                  <a:srgbClr val="1482AB"/>
                </a:solidFill>
                <a:latin typeface="Palatino Linotype"/>
                <a:ea typeface="Palatino Linotype"/>
                <a:cs typeface="Palatino Linotype"/>
                <a:sym typeface="Palatino Linotype"/>
              </a:rPr>
              <a:t>Why Inline Functions are Used?</a:t>
            </a:r>
            <a:br>
              <a:rPr b="1" lang="en-US" sz="4300">
                <a:solidFill>
                  <a:srgbClr val="1482AB"/>
                </a:solidFill>
                <a:latin typeface="Palatino Linotype"/>
                <a:ea typeface="Palatino Linotype"/>
                <a:cs typeface="Palatino Linotype"/>
                <a:sym typeface="Palatino Linotype"/>
              </a:rPr>
            </a:br>
            <a:endParaRPr b="1" sz="4300">
              <a:solidFill>
                <a:srgbClr val="1482AB"/>
              </a:solidFill>
              <a:latin typeface="Palatino Linotype"/>
              <a:ea typeface="Palatino Linotype"/>
              <a:cs typeface="Palatino Linotype"/>
              <a:sym typeface="Palatino Linotype"/>
            </a:endParaRPr>
          </a:p>
        </p:txBody>
      </p:sp>
      <p:sp>
        <p:nvSpPr>
          <p:cNvPr id="233" name="Google Shape;233;p20"/>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0"/>
          <p:cNvSpPr txBox="1"/>
          <p:nvPr/>
        </p:nvSpPr>
        <p:spPr>
          <a:xfrm>
            <a:off x="836586" y="2057400"/>
            <a:ext cx="10727883" cy="3724835"/>
          </a:xfrm>
          <a:prstGeom prst="rect">
            <a:avLst/>
          </a:prstGeom>
          <a:solidFill>
            <a:srgbClr val="D3EBD9"/>
          </a:solidFill>
          <a:ln>
            <a:noFill/>
          </a:ln>
        </p:spPr>
        <p:txBody>
          <a:bodyPr anchorCtr="0" anchor="t" bIns="45700" lIns="91425" spcFirstLastPara="1" rIns="91425" wrap="square" tIns="45700">
            <a:noAutofit/>
          </a:bodyPr>
          <a:lstStyle/>
          <a:p>
            <a:pPr indent="-228600" lvl="0" marL="228600" marR="0" rtl="0" algn="just">
              <a:lnSpc>
                <a:spcPct val="90000"/>
              </a:lnSpc>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When the program executes the function call instruction the CPU stores the memory address of the instruction following the function call, copies the arguments of the function on the stack, and finally transfers control to the specified function. The CPU then executes the function code, stores the function return value in a predefined memory location/register, and returns control to the calling function. This can become overhead if the execution time of the function is less than the switching time from the caller function to called function. </a:t>
            </a:r>
            <a:endParaRPr sz="2400">
              <a:solidFill>
                <a:schemeClr val="dk1"/>
              </a:solidFill>
              <a:latin typeface="Palatino Linotype"/>
              <a:ea typeface="Palatino Linotype"/>
              <a:cs typeface="Palatino Linotype"/>
              <a:sym typeface="Palatino Linotype"/>
            </a:endParaRPr>
          </a:p>
          <a:p>
            <a:pPr indent="-76200" lvl="0" marL="228600" marR="0" rtl="0" algn="just">
              <a:lnSpc>
                <a:spcPct val="90000"/>
              </a:lnSpc>
              <a:spcBef>
                <a:spcPts val="1000"/>
              </a:spcBef>
              <a:spcAft>
                <a:spcPts val="0"/>
              </a:spcAft>
              <a:buClr>
                <a:schemeClr val="dk1"/>
              </a:buClr>
              <a:buSzPts val="2400"/>
              <a:buFont typeface="Arial"/>
              <a:buNone/>
            </a:pPr>
            <a:r>
              <a:t/>
            </a:r>
            <a:endParaRPr sz="2400">
              <a:solidFill>
                <a:schemeClr val="dk1"/>
              </a:solidFill>
              <a:latin typeface="Palatino Linotype"/>
              <a:ea typeface="Palatino Linotype"/>
              <a:cs typeface="Palatino Linotype"/>
              <a:sym typeface="Palatino Linotype"/>
            </a:endParaRPr>
          </a:p>
          <a:p>
            <a:pPr indent="-228600" lvl="0" marL="228600" marR="0" rtl="0" algn="just">
              <a:lnSpc>
                <a:spcPct val="90000"/>
              </a:lnSpc>
              <a:spcBef>
                <a:spcPts val="100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This problem can be solved by using inline function.</a:t>
            </a:r>
            <a:endParaRPr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1"/>
          <p:cNvSpPr txBox="1"/>
          <p:nvPr>
            <p:ph type="title"/>
          </p:nvPr>
        </p:nvSpPr>
        <p:spPr>
          <a:xfrm>
            <a:off x="2554941" y="213472"/>
            <a:ext cx="7624484" cy="1228725"/>
          </a:xfrm>
          <a:prstGeom prst="rect">
            <a:avLst/>
          </a:prstGeom>
          <a:solidFill>
            <a:schemeClr val="lt1"/>
          </a:solid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1482AB"/>
              </a:buClr>
              <a:buSzPct val="100000"/>
              <a:buFont typeface="Palatino Linotype"/>
              <a:buNone/>
            </a:pPr>
            <a:r>
              <a:rPr b="1" lang="en-US" sz="4300">
                <a:solidFill>
                  <a:srgbClr val="1482AB"/>
                </a:solidFill>
                <a:latin typeface="Palatino Linotype"/>
                <a:ea typeface="Palatino Linotype"/>
                <a:cs typeface="Palatino Linotype"/>
                <a:sym typeface="Palatino Linotype"/>
              </a:rPr>
              <a:t>Why Inline Functions are Used?</a:t>
            </a:r>
            <a:br>
              <a:rPr b="1" lang="en-US" sz="4300">
                <a:solidFill>
                  <a:srgbClr val="1482AB"/>
                </a:solidFill>
                <a:latin typeface="Palatino Linotype"/>
                <a:ea typeface="Palatino Linotype"/>
                <a:cs typeface="Palatino Linotype"/>
                <a:sym typeface="Palatino Linotype"/>
              </a:rPr>
            </a:br>
            <a:endParaRPr b="1" sz="4300">
              <a:solidFill>
                <a:srgbClr val="1482AB"/>
              </a:solidFill>
              <a:latin typeface="Palatino Linotype"/>
              <a:ea typeface="Palatino Linotype"/>
              <a:cs typeface="Palatino Linotype"/>
              <a:sym typeface="Palatino Linotype"/>
            </a:endParaRPr>
          </a:p>
        </p:txBody>
      </p:sp>
      <p:sp>
        <p:nvSpPr>
          <p:cNvPr id="240" name="Google Shape;240;p21"/>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241" name="Google Shape;241;p21"/>
          <p:cNvPicPr preferRelativeResize="0"/>
          <p:nvPr/>
        </p:nvPicPr>
        <p:blipFill rotWithShape="1">
          <a:blip r:embed="rId3">
            <a:alphaModFix/>
          </a:blip>
          <a:srcRect b="0" l="0" r="0" t="0"/>
          <a:stretch/>
        </p:blipFill>
        <p:spPr>
          <a:xfrm>
            <a:off x="1320053" y="1102659"/>
            <a:ext cx="9525000" cy="52040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2"/>
          <p:cNvSpPr txBox="1"/>
          <p:nvPr>
            <p:ph type="title"/>
          </p:nvPr>
        </p:nvSpPr>
        <p:spPr>
          <a:xfrm>
            <a:off x="4020672" y="255494"/>
            <a:ext cx="5284694"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Inline Function</a:t>
            </a:r>
            <a:endParaRPr/>
          </a:p>
        </p:txBody>
      </p:sp>
      <p:sp>
        <p:nvSpPr>
          <p:cNvPr id="247" name="Google Shape;247;p22"/>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22"/>
          <p:cNvSpPr txBox="1"/>
          <p:nvPr/>
        </p:nvSpPr>
        <p:spPr>
          <a:xfrm>
            <a:off x="809692" y="1976717"/>
            <a:ext cx="10727883" cy="3980331"/>
          </a:xfrm>
          <a:prstGeom prst="rect">
            <a:avLst/>
          </a:prstGeom>
          <a:solidFill>
            <a:srgbClr val="D3EBD9"/>
          </a:solidFill>
          <a:ln>
            <a:noFill/>
          </a:ln>
        </p:spPr>
        <p:txBody>
          <a:bodyPr anchorCtr="0" anchor="t" bIns="45700" lIns="91425" spcFirstLastPara="1" rIns="91425" wrap="square" tIns="45700">
            <a:noAutofit/>
          </a:bodyPr>
          <a:lstStyle/>
          <a:p>
            <a:pPr indent="-228600" lvl="0" marL="228600" marR="0" rtl="0" algn="just">
              <a:lnSpc>
                <a:spcPct val="114000"/>
              </a:lnSpc>
              <a:spcBef>
                <a:spcPts val="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When the inline function is called whole code of the inline function gets </a:t>
            </a:r>
            <a:r>
              <a:rPr lang="en-US" sz="2800">
                <a:solidFill>
                  <a:srgbClr val="C00000"/>
                </a:solidFill>
                <a:latin typeface="Palatino Linotype"/>
                <a:ea typeface="Palatino Linotype"/>
                <a:cs typeface="Palatino Linotype"/>
                <a:sym typeface="Palatino Linotype"/>
              </a:rPr>
              <a:t>inserted or substituted </a:t>
            </a:r>
            <a:r>
              <a:rPr lang="en-US" sz="2800">
                <a:solidFill>
                  <a:schemeClr val="dk1"/>
                </a:solidFill>
                <a:latin typeface="Palatino Linotype"/>
                <a:ea typeface="Palatino Linotype"/>
                <a:cs typeface="Palatino Linotype"/>
                <a:sym typeface="Palatino Linotype"/>
              </a:rPr>
              <a:t>at the point of the inline function call. And thus it reduces the memory space. </a:t>
            </a:r>
            <a:endParaRPr/>
          </a:p>
          <a:p>
            <a:pPr indent="-228600" lvl="0" marL="228600" marR="0" rtl="0" algn="just">
              <a:lnSpc>
                <a:spcPct val="114000"/>
              </a:lnSpc>
              <a:spcBef>
                <a:spcPts val="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This substitution is performed by the C++ compiler at </a:t>
            </a:r>
            <a:r>
              <a:rPr lang="en-US" sz="2800">
                <a:solidFill>
                  <a:srgbClr val="C00000"/>
                </a:solidFill>
                <a:latin typeface="Palatino Linotype"/>
                <a:ea typeface="Palatino Linotype"/>
                <a:cs typeface="Palatino Linotype"/>
                <a:sym typeface="Palatino Linotype"/>
              </a:rPr>
              <a:t>compile time. </a:t>
            </a:r>
            <a:endParaRPr sz="2800">
              <a:solidFill>
                <a:srgbClr val="C00000"/>
              </a:solidFill>
              <a:latin typeface="Palatino Linotype"/>
              <a:ea typeface="Palatino Linotype"/>
              <a:cs typeface="Palatino Linotype"/>
              <a:sym typeface="Palatino Linotype"/>
            </a:endParaRPr>
          </a:p>
          <a:p>
            <a:pPr indent="-228600" lvl="0" marL="228600" marR="0" rtl="0" algn="just">
              <a:lnSpc>
                <a:spcPct val="114000"/>
              </a:lnSpc>
              <a:spcBef>
                <a:spcPts val="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An inline function may increase efficiency if </a:t>
            </a:r>
            <a:r>
              <a:rPr lang="en-US" sz="2800">
                <a:solidFill>
                  <a:srgbClr val="C00000"/>
                </a:solidFill>
                <a:latin typeface="Palatino Linotype"/>
                <a:ea typeface="Palatino Linotype"/>
                <a:cs typeface="Palatino Linotype"/>
                <a:sym typeface="Palatino Linotype"/>
              </a:rPr>
              <a:t>it is small </a:t>
            </a:r>
            <a:r>
              <a:rPr lang="en-US" sz="2800">
                <a:solidFill>
                  <a:schemeClr val="dk1"/>
                </a:solidFill>
                <a:latin typeface="Palatino Linotype"/>
                <a:ea typeface="Palatino Linotype"/>
                <a:cs typeface="Palatino Linotype"/>
                <a:sym typeface="Palatino Linotype"/>
              </a:rPr>
              <a:t>because the execution time of a small function is less than the switching time.</a:t>
            </a:r>
            <a:endParaRPr sz="2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type="title"/>
          </p:nvPr>
        </p:nvSpPr>
        <p:spPr>
          <a:xfrm>
            <a:off x="4020672" y="268941"/>
            <a:ext cx="5284694"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Inline Function</a:t>
            </a:r>
            <a:endParaRPr/>
          </a:p>
        </p:txBody>
      </p:sp>
      <p:sp>
        <p:nvSpPr>
          <p:cNvPr id="254" name="Google Shape;254;p23"/>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23"/>
          <p:cNvSpPr txBox="1"/>
          <p:nvPr/>
        </p:nvSpPr>
        <p:spPr>
          <a:xfrm>
            <a:off x="836586" y="2084292"/>
            <a:ext cx="10727883" cy="3980331"/>
          </a:xfrm>
          <a:prstGeom prst="rect">
            <a:avLst/>
          </a:prstGeom>
          <a:solidFill>
            <a:srgbClr val="D3EBD9"/>
          </a:solidFill>
          <a:ln>
            <a:noFill/>
          </a:ln>
        </p:spPr>
        <p:txBody>
          <a:bodyPr anchorCtr="0" anchor="t" bIns="45700" lIns="91425" spcFirstLastPara="1" rIns="91425" wrap="square" tIns="45700">
            <a:noAutofit/>
          </a:bodyPr>
          <a:lstStyle/>
          <a:p>
            <a:pPr indent="-228600" lvl="0" marL="228600" marR="0" rtl="0" algn="just">
              <a:lnSpc>
                <a:spcPct val="114000"/>
              </a:lnSpc>
              <a:spcBef>
                <a:spcPts val="0"/>
              </a:spcBef>
              <a:spcAft>
                <a:spcPts val="0"/>
              </a:spcAft>
              <a:buClr>
                <a:srgbClr val="000000"/>
              </a:buClr>
              <a:buSzPts val="2800"/>
              <a:buFont typeface="Arial"/>
              <a:buChar char="•"/>
            </a:pPr>
            <a:r>
              <a:rPr lang="en-US" sz="2800">
                <a:solidFill>
                  <a:srgbClr val="000000"/>
                </a:solidFill>
                <a:latin typeface="Palatino Linotype"/>
                <a:ea typeface="Palatino Linotype"/>
                <a:cs typeface="Palatino Linotype"/>
                <a:sym typeface="Palatino Linotype"/>
              </a:rPr>
              <a:t>If a function is inline, the compiler </a:t>
            </a:r>
            <a:r>
              <a:rPr b="1" lang="en-US" sz="2800">
                <a:solidFill>
                  <a:srgbClr val="C00000"/>
                </a:solidFill>
                <a:latin typeface="Palatino Linotype"/>
                <a:ea typeface="Palatino Linotype"/>
                <a:cs typeface="Palatino Linotype"/>
                <a:sym typeface="Palatino Linotype"/>
              </a:rPr>
              <a:t>places a copy of the code of that function</a:t>
            </a:r>
            <a:r>
              <a:rPr lang="en-US" sz="2800">
                <a:solidFill>
                  <a:srgbClr val="000000"/>
                </a:solidFill>
                <a:latin typeface="Palatino Linotype"/>
                <a:ea typeface="Palatino Linotype"/>
                <a:cs typeface="Palatino Linotype"/>
                <a:sym typeface="Palatino Linotype"/>
              </a:rPr>
              <a:t> at each point </a:t>
            </a:r>
            <a:r>
              <a:rPr b="1" lang="en-US" sz="2800">
                <a:solidFill>
                  <a:srgbClr val="C00000"/>
                </a:solidFill>
                <a:latin typeface="Palatino Linotype"/>
                <a:ea typeface="Palatino Linotype"/>
                <a:cs typeface="Palatino Linotype"/>
                <a:sym typeface="Palatino Linotype"/>
              </a:rPr>
              <a:t>where the function is called </a:t>
            </a:r>
            <a:r>
              <a:rPr lang="en-US" sz="2800">
                <a:solidFill>
                  <a:srgbClr val="000000"/>
                </a:solidFill>
                <a:latin typeface="Palatino Linotype"/>
                <a:ea typeface="Palatino Linotype"/>
                <a:cs typeface="Palatino Linotype"/>
                <a:sym typeface="Palatino Linotype"/>
              </a:rPr>
              <a:t>at compile time.</a:t>
            </a:r>
            <a:endParaRPr/>
          </a:p>
          <a:p>
            <a:pPr indent="-228600" lvl="0" marL="228600" marR="0" rtl="0" algn="just">
              <a:lnSpc>
                <a:spcPct val="114000"/>
              </a:lnSpc>
              <a:spcBef>
                <a:spcPts val="0"/>
              </a:spcBef>
              <a:spcAft>
                <a:spcPts val="0"/>
              </a:spcAft>
              <a:buClr>
                <a:srgbClr val="000000"/>
              </a:buClr>
              <a:buSzPts val="2800"/>
              <a:buFont typeface="Arial"/>
              <a:buChar char="•"/>
            </a:pPr>
            <a:r>
              <a:rPr lang="en-US" sz="2800">
                <a:solidFill>
                  <a:srgbClr val="000000"/>
                </a:solidFill>
                <a:latin typeface="Palatino Linotype"/>
                <a:ea typeface="Palatino Linotype"/>
                <a:cs typeface="Palatino Linotype"/>
                <a:sym typeface="Palatino Linotype"/>
              </a:rPr>
              <a:t>Place the keyword </a:t>
            </a:r>
            <a:r>
              <a:rPr b="1" lang="en-US" sz="2800">
                <a:solidFill>
                  <a:srgbClr val="C00000"/>
                </a:solidFill>
                <a:latin typeface="Palatino Linotype"/>
                <a:ea typeface="Palatino Linotype"/>
                <a:cs typeface="Palatino Linotype"/>
                <a:sym typeface="Palatino Linotype"/>
              </a:rPr>
              <a:t>inline</a:t>
            </a:r>
            <a:r>
              <a:rPr lang="en-US" sz="2800">
                <a:solidFill>
                  <a:srgbClr val="000000"/>
                </a:solidFill>
                <a:latin typeface="Palatino Linotype"/>
                <a:ea typeface="Palatino Linotype"/>
                <a:cs typeface="Palatino Linotype"/>
                <a:sym typeface="Palatino Linotype"/>
              </a:rPr>
              <a:t> before the function name.</a:t>
            </a:r>
            <a:endParaRPr/>
          </a:p>
          <a:p>
            <a:pPr indent="-228600" lvl="0" marL="228600" marR="0" rtl="0" algn="just">
              <a:lnSpc>
                <a:spcPct val="114000"/>
              </a:lnSpc>
              <a:spcBef>
                <a:spcPts val="0"/>
              </a:spcBef>
              <a:spcAft>
                <a:spcPts val="0"/>
              </a:spcAft>
              <a:buClr>
                <a:srgbClr val="000000"/>
              </a:buClr>
              <a:buSzPts val="2800"/>
              <a:buFont typeface="Arial"/>
              <a:buChar char="•"/>
            </a:pPr>
            <a:r>
              <a:rPr lang="en-US" sz="2800">
                <a:solidFill>
                  <a:srgbClr val="000000"/>
                </a:solidFill>
                <a:latin typeface="Palatino Linotype"/>
                <a:ea typeface="Palatino Linotype"/>
                <a:cs typeface="Palatino Linotype"/>
                <a:sym typeface="Palatino Linotype"/>
              </a:rPr>
              <a:t>An in-line function must be </a:t>
            </a:r>
            <a:r>
              <a:rPr lang="en-US" sz="2800">
                <a:solidFill>
                  <a:srgbClr val="C00000"/>
                </a:solidFill>
                <a:latin typeface="Palatino Linotype"/>
                <a:ea typeface="Palatino Linotype"/>
                <a:cs typeface="Palatino Linotype"/>
                <a:sym typeface="Palatino Linotype"/>
              </a:rPr>
              <a:t>defined before it is first called</a:t>
            </a:r>
            <a:r>
              <a:rPr lang="en-US" sz="2800">
                <a:solidFill>
                  <a:srgbClr val="000000"/>
                </a:solidFill>
                <a:latin typeface="Palatino Linotype"/>
                <a:ea typeface="Palatino Linotype"/>
                <a:cs typeface="Palatino Linotype"/>
                <a:sym typeface="Palatino Linotype"/>
              </a:rPr>
              <a:t>. If it isn't, the compiler has no way to know that it is supposed to be expanded in-line.</a:t>
            </a:r>
            <a:endParaRPr/>
          </a:p>
          <a:p>
            <a:pPr indent="0" lvl="0" marL="0" marR="0" rtl="0" algn="just">
              <a:lnSpc>
                <a:spcPct val="114000"/>
              </a:lnSpc>
              <a:spcBef>
                <a:spcPts val="0"/>
              </a:spcBef>
              <a:spcAft>
                <a:spcPts val="0"/>
              </a:spcAft>
              <a:buClr>
                <a:schemeClr val="dk1"/>
              </a:buClr>
              <a:buSzPts val="2800"/>
              <a:buFont typeface="Arial"/>
              <a:buNone/>
            </a:pPr>
            <a:r>
              <a:t/>
            </a:r>
            <a:endParaRPr sz="2800">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2581835" y="463826"/>
            <a:ext cx="7772400" cy="784975"/>
          </a:xfrm>
          <a:prstGeom prst="rect">
            <a:avLst/>
          </a:prstGeom>
          <a:solidFill>
            <a:schemeClr val="lt1"/>
          </a:solid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1482AB"/>
              </a:buClr>
              <a:buSzPts val="4300"/>
              <a:buFont typeface="Palatino Linotype"/>
              <a:buNone/>
            </a:pPr>
            <a:r>
              <a:rPr b="1" lang="en-US" sz="4300">
                <a:solidFill>
                  <a:srgbClr val="1482AB"/>
                </a:solidFill>
                <a:latin typeface="Palatino Linotype"/>
                <a:ea typeface="Palatino Linotype"/>
                <a:cs typeface="Palatino Linotype"/>
                <a:sym typeface="Palatino Linotype"/>
              </a:rPr>
              <a:t>Inline Function : Example</a:t>
            </a:r>
            <a:endParaRPr/>
          </a:p>
        </p:txBody>
      </p:sp>
      <p:sp>
        <p:nvSpPr>
          <p:cNvPr id="261" name="Google Shape;261;p24"/>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24"/>
          <p:cNvSpPr/>
          <p:nvPr/>
        </p:nvSpPr>
        <p:spPr>
          <a:xfrm>
            <a:off x="2928729" y="2042572"/>
            <a:ext cx="7306235"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Palatino Linotype"/>
                <a:ea typeface="Palatino Linotype"/>
                <a:cs typeface="Palatino Linotype"/>
                <a:sym typeface="Palatino Linotype"/>
              </a:rPr>
              <a:t>#include &lt;iostream&gt;</a:t>
            </a:r>
            <a:endParaRPr/>
          </a:p>
          <a:p>
            <a:pPr indent="0" lvl="0" marL="0" marR="0" rtl="0" algn="l">
              <a:spcBef>
                <a:spcPts val="0"/>
              </a:spcBef>
              <a:spcAft>
                <a:spcPts val="0"/>
              </a:spcAft>
              <a:buNone/>
            </a:pPr>
            <a:r>
              <a:rPr lang="en-US" sz="2400">
                <a:solidFill>
                  <a:schemeClr val="accent2"/>
                </a:solidFill>
                <a:latin typeface="Palatino Linotype"/>
                <a:ea typeface="Palatino Linotype"/>
                <a:cs typeface="Palatino Linotype"/>
                <a:sym typeface="Palatino Linotype"/>
              </a:rPr>
              <a:t>using namespace std;</a:t>
            </a:r>
            <a:endParaRPr/>
          </a:p>
          <a:p>
            <a:pPr indent="0" lvl="0" marL="0" marR="0" rtl="0" algn="l">
              <a:spcBef>
                <a:spcPts val="0"/>
              </a:spcBef>
              <a:spcAft>
                <a:spcPts val="0"/>
              </a:spcAft>
              <a:buNone/>
            </a:pPr>
            <a:r>
              <a:rPr lang="en-US" sz="2400">
                <a:solidFill>
                  <a:schemeClr val="dk1"/>
                </a:solidFill>
                <a:latin typeface="Palatino Linotype"/>
                <a:ea typeface="Palatino Linotype"/>
                <a:cs typeface="Palatino Linotype"/>
                <a:sym typeface="Palatino Linotype"/>
              </a:rPr>
              <a:t>inline int cube(int s) { return s * s * s; }</a:t>
            </a:r>
            <a:endParaRPr/>
          </a:p>
          <a:p>
            <a:pPr indent="0" lvl="0" marL="0" marR="0" rtl="0" algn="l">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lang="en-US" sz="2400">
                <a:solidFill>
                  <a:schemeClr val="dk1"/>
                </a:solidFill>
                <a:latin typeface="Palatino Linotype"/>
                <a:ea typeface="Palatino Linotype"/>
                <a:cs typeface="Palatino Linotype"/>
                <a:sym typeface="Palatino Linotype"/>
              </a:rPr>
              <a:t>int main()</a:t>
            </a:r>
            <a:endParaRPr/>
          </a:p>
          <a:p>
            <a:pPr indent="0" lvl="0" marL="0" marR="0" rtl="0" algn="l">
              <a:spcBef>
                <a:spcPts val="0"/>
              </a:spcBef>
              <a:spcAft>
                <a:spcPts val="0"/>
              </a:spcAft>
              <a:buNone/>
            </a:pPr>
            <a:r>
              <a:rPr lang="en-US" sz="2400">
                <a:solidFill>
                  <a:schemeClr val="dk1"/>
                </a:solidFill>
                <a:latin typeface="Palatino Linotype"/>
                <a:ea typeface="Palatino Linotype"/>
                <a:cs typeface="Palatino Linotype"/>
                <a:sym typeface="Palatino Linotype"/>
              </a:rPr>
              <a:t>{</a:t>
            </a:r>
            <a:endParaRPr/>
          </a:p>
          <a:p>
            <a:pPr indent="0" lvl="0" marL="0" marR="0" rtl="0" algn="l">
              <a:spcBef>
                <a:spcPts val="0"/>
              </a:spcBef>
              <a:spcAft>
                <a:spcPts val="0"/>
              </a:spcAft>
              <a:buNone/>
            </a:pPr>
            <a:r>
              <a:rPr lang="en-US" sz="2400">
                <a:solidFill>
                  <a:schemeClr val="dk1"/>
                </a:solidFill>
                <a:latin typeface="Palatino Linotype"/>
                <a:ea typeface="Palatino Linotype"/>
                <a:cs typeface="Palatino Linotype"/>
                <a:sym typeface="Palatino Linotype"/>
              </a:rPr>
              <a:t>    cout &lt;&lt; "The cube of 3 is: " &lt;&lt; cube(3) &lt;&lt; "\n";</a:t>
            </a:r>
            <a:endParaRPr/>
          </a:p>
          <a:p>
            <a:pPr indent="0" lvl="0" marL="0" marR="0" rtl="0" algn="l">
              <a:spcBef>
                <a:spcPts val="0"/>
              </a:spcBef>
              <a:spcAft>
                <a:spcPts val="0"/>
              </a:spcAft>
              <a:buNone/>
            </a:pPr>
            <a:r>
              <a:rPr lang="en-US" sz="2400">
                <a:solidFill>
                  <a:schemeClr val="dk1"/>
                </a:solidFill>
                <a:latin typeface="Palatino Linotype"/>
                <a:ea typeface="Palatino Linotype"/>
                <a:cs typeface="Palatino Linotype"/>
                <a:sym typeface="Palatino Linotype"/>
              </a:rPr>
              <a:t>    return 0;</a:t>
            </a:r>
            <a:endParaRPr/>
          </a:p>
          <a:p>
            <a:pPr indent="0" lvl="0" marL="0" marR="0" rtl="0" algn="l">
              <a:spcBef>
                <a:spcPts val="0"/>
              </a:spcBef>
              <a:spcAft>
                <a:spcPts val="0"/>
              </a:spcAft>
              <a:buNone/>
            </a:pPr>
            <a:r>
              <a:rPr lang="en-US" sz="2400">
                <a:solidFill>
                  <a:schemeClr val="dk1"/>
                </a:solidFill>
                <a:latin typeface="Palatino Linotype"/>
                <a:ea typeface="Palatino Linotype"/>
                <a:cs typeface="Palatino Linotype"/>
                <a:sym typeface="Palatino Linotype"/>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txBox="1"/>
          <p:nvPr>
            <p:ph type="title"/>
          </p:nvPr>
        </p:nvSpPr>
        <p:spPr>
          <a:xfrm>
            <a:off x="4020671" y="-64778"/>
            <a:ext cx="52578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1C6294"/>
              </a:buClr>
              <a:buSzPts val="4300"/>
              <a:buFont typeface="Palatino Linotype"/>
              <a:buNone/>
            </a:pPr>
            <a:r>
              <a:rPr b="1" lang="en-US" sz="4300">
                <a:solidFill>
                  <a:srgbClr val="1C6294"/>
                </a:solidFill>
                <a:latin typeface="Palatino Linotype"/>
                <a:ea typeface="Palatino Linotype"/>
                <a:cs typeface="Palatino Linotype"/>
                <a:sym typeface="Palatino Linotype"/>
              </a:rPr>
              <a:t>Inline Function</a:t>
            </a:r>
            <a:endParaRPr/>
          </a:p>
        </p:txBody>
      </p:sp>
      <p:sp>
        <p:nvSpPr>
          <p:cNvPr id="268" name="Google Shape;268;p25"/>
          <p:cNvSpPr txBox="1"/>
          <p:nvPr>
            <p:ph idx="1" type="body"/>
          </p:nvPr>
        </p:nvSpPr>
        <p:spPr>
          <a:xfrm>
            <a:off x="1123937" y="1306964"/>
            <a:ext cx="10391788" cy="500058"/>
          </a:xfrm>
          <a:prstGeom prst="rect">
            <a:avLst/>
          </a:prstGeom>
          <a:solidFill>
            <a:srgbClr val="1482AB"/>
          </a:solidFill>
          <a:ln>
            <a:noFill/>
          </a:ln>
        </p:spPr>
        <p:txBody>
          <a:bodyPr anchorCtr="0" anchor="t" bIns="45700" lIns="0" spcFirstLastPara="1" rIns="0" wrap="square" tIns="45700">
            <a:normAutofit lnSpcReduction="10000"/>
          </a:bodyPr>
          <a:lstStyle/>
          <a:p>
            <a:pPr indent="0" lvl="0" marL="0" rtl="0" algn="l">
              <a:lnSpc>
                <a:spcPct val="114000"/>
              </a:lnSpc>
              <a:spcBef>
                <a:spcPts val="0"/>
              </a:spcBef>
              <a:spcAft>
                <a:spcPts val="0"/>
              </a:spcAft>
              <a:buSzPts val="2400"/>
              <a:buNone/>
            </a:pPr>
            <a:r>
              <a:rPr lang="en-US" sz="2400">
                <a:solidFill>
                  <a:schemeClr val="lt1"/>
                </a:solidFill>
              </a:rPr>
              <a:t>Advantages</a:t>
            </a:r>
            <a:endParaRPr i="1" sz="2400"/>
          </a:p>
        </p:txBody>
      </p:sp>
      <p:sp>
        <p:nvSpPr>
          <p:cNvPr id="269" name="Google Shape;269;p25"/>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25"/>
          <p:cNvSpPr txBox="1"/>
          <p:nvPr/>
        </p:nvSpPr>
        <p:spPr>
          <a:xfrm>
            <a:off x="1123937" y="1866070"/>
            <a:ext cx="10391788" cy="2849242"/>
          </a:xfrm>
          <a:prstGeom prst="rect">
            <a:avLst/>
          </a:prstGeom>
          <a:solidFill>
            <a:srgbClr val="DFECEC"/>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14000"/>
              </a:lnSpc>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In-line functions can be executed much faster than normal functions.</a:t>
            </a:r>
            <a:endParaRPr/>
          </a:p>
          <a:p>
            <a:pPr indent="-342900" lvl="1" marL="800100" marR="0" rtl="0" algn="l">
              <a:lnSpc>
                <a:spcPct val="114000"/>
              </a:lnSpc>
              <a:spcBef>
                <a:spcPts val="600"/>
              </a:spcBef>
              <a:spcAft>
                <a:spcPts val="0"/>
              </a:spcAft>
              <a:buClr>
                <a:schemeClr val="dk1"/>
              </a:buClr>
              <a:buSzPts val="2400"/>
              <a:buFont typeface="Noto Sans Symbols"/>
              <a:buChar char="✔"/>
            </a:pPr>
            <a:r>
              <a:rPr b="0" i="0" lang="en-US" sz="2400" u="none" cap="none" strike="noStrike">
                <a:solidFill>
                  <a:schemeClr val="dk1"/>
                </a:solidFill>
                <a:latin typeface="Palatino Linotype"/>
                <a:ea typeface="Palatino Linotype"/>
                <a:cs typeface="Palatino Linotype"/>
                <a:sym typeface="Palatino Linotype"/>
              </a:rPr>
              <a:t>Have no overhead association with the function call and return mechanism.</a:t>
            </a:r>
            <a:endParaRPr/>
          </a:p>
          <a:p>
            <a:pPr indent="-342900" lvl="1" marL="800100" marR="0" rtl="0" algn="l">
              <a:lnSpc>
                <a:spcPct val="114000"/>
              </a:lnSpc>
              <a:spcBef>
                <a:spcPts val="600"/>
              </a:spcBef>
              <a:spcAft>
                <a:spcPts val="0"/>
              </a:spcAft>
              <a:buClr>
                <a:schemeClr val="dk1"/>
              </a:buClr>
              <a:buSzPts val="2400"/>
              <a:buFont typeface="Noto Sans Symbols"/>
              <a:buChar char="✔"/>
            </a:pPr>
            <a:r>
              <a:rPr b="0" i="0" lang="en-US" sz="2400" u="none" cap="none" strike="noStrike">
                <a:solidFill>
                  <a:schemeClr val="dk1"/>
                </a:solidFill>
                <a:latin typeface="Palatino Linotype"/>
                <a:ea typeface="Palatino Linotype"/>
                <a:cs typeface="Palatino Linotype"/>
                <a:sym typeface="Palatino Linotype"/>
              </a:rPr>
              <a:t>It also saves the overhead of push/pop variables on the stack when a function is called. </a:t>
            </a:r>
            <a:endParaRPr/>
          </a:p>
          <a:p>
            <a:pPr indent="-342900" lvl="1" marL="800100" marR="0" rtl="0" algn="l">
              <a:lnSpc>
                <a:spcPct val="114000"/>
              </a:lnSpc>
              <a:spcBef>
                <a:spcPts val="600"/>
              </a:spcBef>
              <a:spcAft>
                <a:spcPts val="0"/>
              </a:spcAft>
              <a:buClr>
                <a:schemeClr val="dk1"/>
              </a:buClr>
              <a:buSzPts val="2400"/>
              <a:buFont typeface="Noto Sans Symbols"/>
              <a:buChar char="✔"/>
            </a:pPr>
            <a:r>
              <a:rPr b="0" i="0" lang="en-US" sz="2400" u="none" cap="none" strike="noStrike">
                <a:solidFill>
                  <a:schemeClr val="dk1"/>
                </a:solidFill>
                <a:latin typeface="Palatino Linotype"/>
                <a:ea typeface="Palatino Linotype"/>
                <a:cs typeface="Palatino Linotype"/>
                <a:sym typeface="Palatino Linotype"/>
              </a:rPr>
              <a:t>If function has parameter(s), even more time overhead is generated.</a:t>
            </a:r>
            <a:endParaRPr/>
          </a:p>
        </p:txBody>
      </p:sp>
      <p:sp>
        <p:nvSpPr>
          <p:cNvPr id="271" name="Google Shape;271;p25"/>
          <p:cNvSpPr txBox="1"/>
          <p:nvPr/>
        </p:nvSpPr>
        <p:spPr>
          <a:xfrm>
            <a:off x="1123937" y="4846889"/>
            <a:ext cx="10391788" cy="500058"/>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Disadvantages</a:t>
            </a:r>
            <a:endParaRPr i="1" sz="2400">
              <a:solidFill>
                <a:schemeClr val="lt1"/>
              </a:solidFill>
              <a:latin typeface="Calibri"/>
              <a:ea typeface="Calibri"/>
              <a:cs typeface="Calibri"/>
              <a:sym typeface="Calibri"/>
            </a:endParaRPr>
          </a:p>
        </p:txBody>
      </p:sp>
      <p:sp>
        <p:nvSpPr>
          <p:cNvPr id="272" name="Google Shape;272;p25"/>
          <p:cNvSpPr txBox="1"/>
          <p:nvPr/>
        </p:nvSpPr>
        <p:spPr>
          <a:xfrm>
            <a:off x="1138225" y="5400701"/>
            <a:ext cx="10377500" cy="911083"/>
          </a:xfrm>
          <a:prstGeom prst="rect">
            <a:avLst/>
          </a:prstGeom>
          <a:solidFill>
            <a:srgbClr val="DFECEC"/>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14000"/>
              </a:lnSpc>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If in-line functions are too large and called too often, our program grows larger.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0" st="0"/>
                                            </p:txEl>
                                          </p:spTgt>
                                        </p:tgtEl>
                                        <p:attrNameLst>
                                          <p:attrName>style.visibility</p:attrName>
                                        </p:attrNameLst>
                                      </p:cBhvr>
                                      <p:to>
                                        <p:strVal val="visible"/>
                                      </p:to>
                                    </p:set>
                                    <p:animEffect filter="fade" transition="in">
                                      <p:cBhvr>
                                        <p:cTn dur="500"/>
                                        <p:tgtEl>
                                          <p:spTgt spid="2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1" st="1"/>
                                            </p:txEl>
                                          </p:spTgt>
                                        </p:tgtEl>
                                        <p:attrNameLst>
                                          <p:attrName>style.visibility</p:attrName>
                                        </p:attrNameLst>
                                      </p:cBhvr>
                                      <p:to>
                                        <p:strVal val="visible"/>
                                      </p:to>
                                    </p:set>
                                    <p:animEffect filter="fade" transition="in">
                                      <p:cBhvr>
                                        <p:cTn dur="500"/>
                                        <p:tgtEl>
                                          <p:spTgt spid="2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2" st="2"/>
                                            </p:txEl>
                                          </p:spTgt>
                                        </p:tgtEl>
                                        <p:attrNameLst>
                                          <p:attrName>style.visibility</p:attrName>
                                        </p:attrNameLst>
                                      </p:cBhvr>
                                      <p:to>
                                        <p:strVal val="visible"/>
                                      </p:to>
                                    </p:set>
                                    <p:animEffect filter="fade" transition="in">
                                      <p:cBhvr>
                                        <p:cTn dur="500"/>
                                        <p:tgtEl>
                                          <p:spTgt spid="2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3" st="3"/>
                                            </p:txEl>
                                          </p:spTgt>
                                        </p:tgtEl>
                                        <p:attrNameLst>
                                          <p:attrName>style.visibility</p:attrName>
                                        </p:attrNameLst>
                                      </p:cBhvr>
                                      <p:to>
                                        <p:strVal val="visible"/>
                                      </p:to>
                                    </p:set>
                                    <p:animEffect filter="fade" transition="in">
                                      <p:cBhvr>
                                        <p:cTn dur="500"/>
                                        <p:tgtEl>
                                          <p:spTgt spid="2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500"/>
                                        <p:tgtEl>
                                          <p:spTgt spid="27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6"/>
          <p:cNvSpPr txBox="1"/>
          <p:nvPr>
            <p:ph type="title"/>
          </p:nvPr>
        </p:nvSpPr>
        <p:spPr>
          <a:xfrm>
            <a:off x="3913094" y="449480"/>
            <a:ext cx="5230906" cy="704660"/>
          </a:xfrm>
          <a:prstGeom prst="rect">
            <a:avLst/>
          </a:prstGeom>
          <a:solidFill>
            <a:schemeClr val="lt1"/>
          </a:solid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1C6294"/>
              </a:buClr>
              <a:buSzPts val="4300"/>
              <a:buFont typeface="Palatino Linotype"/>
              <a:buNone/>
            </a:pPr>
            <a:r>
              <a:rPr b="1" lang="en-US" sz="4300">
                <a:solidFill>
                  <a:srgbClr val="1C6294"/>
                </a:solidFill>
                <a:latin typeface="Palatino Linotype"/>
                <a:ea typeface="Palatino Linotype"/>
                <a:cs typeface="Palatino Linotype"/>
                <a:sym typeface="Palatino Linotype"/>
              </a:rPr>
              <a:t>Inline Function</a:t>
            </a:r>
            <a:endParaRPr/>
          </a:p>
        </p:txBody>
      </p:sp>
      <p:sp>
        <p:nvSpPr>
          <p:cNvPr id="278" name="Google Shape;278;p26"/>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26"/>
          <p:cNvSpPr txBox="1"/>
          <p:nvPr/>
        </p:nvSpPr>
        <p:spPr>
          <a:xfrm>
            <a:off x="726243" y="1269725"/>
            <a:ext cx="11026487" cy="5115503"/>
          </a:xfrm>
          <a:prstGeom prst="rect">
            <a:avLst/>
          </a:prstGeom>
          <a:solidFill>
            <a:srgbClr val="DFECEC"/>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14000"/>
              </a:lnSpc>
              <a:spcBef>
                <a:spcPts val="0"/>
              </a:spcBef>
              <a:spcAft>
                <a:spcPts val="0"/>
              </a:spcAft>
              <a:buNone/>
            </a:pPr>
            <a:r>
              <a:rPr lang="en-US" sz="2600">
                <a:solidFill>
                  <a:srgbClr val="000000"/>
                </a:solidFill>
                <a:latin typeface="Palatino Linotype"/>
                <a:ea typeface="Palatino Linotype"/>
                <a:cs typeface="Palatino Linotype"/>
                <a:sym typeface="Palatino Linotype"/>
              </a:rPr>
              <a:t>The </a:t>
            </a:r>
            <a:r>
              <a:rPr b="1" lang="en-US" sz="2600">
                <a:solidFill>
                  <a:srgbClr val="000000"/>
                </a:solidFill>
                <a:latin typeface="Palatino Linotype"/>
                <a:ea typeface="Palatino Linotype"/>
                <a:cs typeface="Palatino Linotype"/>
                <a:sym typeface="Palatino Linotype"/>
              </a:rPr>
              <a:t>inline </a:t>
            </a:r>
            <a:r>
              <a:rPr lang="en-US" sz="2600">
                <a:solidFill>
                  <a:srgbClr val="000000"/>
                </a:solidFill>
                <a:latin typeface="Palatino Linotype"/>
                <a:ea typeface="Palatino Linotype"/>
                <a:cs typeface="Palatino Linotype"/>
                <a:sym typeface="Palatino Linotype"/>
              </a:rPr>
              <a:t>specifier is a request, not a commend to compiler. </a:t>
            </a:r>
            <a:r>
              <a:rPr b="1" lang="en-US" sz="2600">
                <a:solidFill>
                  <a:srgbClr val="FF0000"/>
                </a:solidFill>
                <a:latin typeface="Palatino Linotype"/>
                <a:ea typeface="Palatino Linotype"/>
                <a:cs typeface="Palatino Linotype"/>
                <a:sym typeface="Palatino Linotype"/>
              </a:rPr>
              <a:t>If any in-line restriction is violated</a:t>
            </a:r>
            <a:r>
              <a:rPr lang="en-US" sz="2600">
                <a:solidFill>
                  <a:srgbClr val="000000"/>
                </a:solidFill>
                <a:latin typeface="Palatino Linotype"/>
                <a:ea typeface="Palatino Linotype"/>
                <a:cs typeface="Palatino Linotype"/>
                <a:sym typeface="Palatino Linotype"/>
              </a:rPr>
              <a:t>, the compiler is free to generate a normal function.</a:t>
            </a:r>
            <a:endParaRPr b="1" sz="2600">
              <a:solidFill>
                <a:srgbClr val="000000"/>
              </a:solidFill>
              <a:latin typeface="Palatino Linotype"/>
              <a:ea typeface="Palatino Linotype"/>
              <a:cs typeface="Palatino Linotype"/>
              <a:sym typeface="Palatino Linotype"/>
            </a:endParaRPr>
          </a:p>
          <a:p>
            <a:pPr indent="0" lvl="0" marL="0" marR="0" rtl="0" algn="l">
              <a:lnSpc>
                <a:spcPct val="114000"/>
              </a:lnSpc>
              <a:spcBef>
                <a:spcPts val="600"/>
              </a:spcBef>
              <a:spcAft>
                <a:spcPts val="0"/>
              </a:spcAft>
              <a:buNone/>
            </a:pPr>
            <a:r>
              <a:rPr b="1" lang="en-US" sz="2600">
                <a:solidFill>
                  <a:srgbClr val="FF0000"/>
                </a:solidFill>
                <a:latin typeface="Palatino Linotype"/>
                <a:ea typeface="Palatino Linotype"/>
                <a:cs typeface="Palatino Linotype"/>
                <a:sym typeface="Palatino Linotype"/>
              </a:rPr>
              <a:t>Some compiler will not in-line a function if it contain</a:t>
            </a:r>
            <a:endParaRPr/>
          </a:p>
          <a:p>
            <a:pPr indent="-342900" lvl="1" marL="800100" marR="0" rtl="0" algn="l">
              <a:lnSpc>
                <a:spcPct val="114000"/>
              </a:lnSpc>
              <a:spcBef>
                <a:spcPts val="600"/>
              </a:spcBef>
              <a:spcAft>
                <a:spcPts val="0"/>
              </a:spcAft>
              <a:buClr>
                <a:schemeClr val="dk1"/>
              </a:buClr>
              <a:buSzPts val="2600"/>
              <a:buFont typeface="Arial"/>
              <a:buChar char="•"/>
            </a:pPr>
            <a:r>
              <a:rPr b="0" i="0" lang="en-US" sz="2600" u="none" cap="none" strike="noStrike">
                <a:solidFill>
                  <a:schemeClr val="dk1"/>
                </a:solidFill>
                <a:latin typeface="Palatino Linotype"/>
                <a:ea typeface="Palatino Linotype"/>
                <a:cs typeface="Palatino Linotype"/>
                <a:sym typeface="Palatino Linotype"/>
              </a:rPr>
              <a:t>A static variable</a:t>
            </a:r>
            <a:endParaRPr/>
          </a:p>
          <a:p>
            <a:pPr indent="-342900" lvl="1" marL="800100" marR="0" rtl="0" algn="l">
              <a:lnSpc>
                <a:spcPct val="114000"/>
              </a:lnSpc>
              <a:spcBef>
                <a:spcPts val="600"/>
              </a:spcBef>
              <a:spcAft>
                <a:spcPts val="0"/>
              </a:spcAft>
              <a:buClr>
                <a:schemeClr val="dk1"/>
              </a:buClr>
              <a:buSzPts val="2600"/>
              <a:buFont typeface="Arial"/>
              <a:buChar char="•"/>
            </a:pPr>
            <a:r>
              <a:rPr b="0" i="0" lang="en-US" sz="2600" u="none" cap="none" strike="noStrike">
                <a:solidFill>
                  <a:schemeClr val="dk1"/>
                </a:solidFill>
                <a:latin typeface="Palatino Linotype"/>
                <a:ea typeface="Palatino Linotype"/>
                <a:cs typeface="Palatino Linotype"/>
                <a:sym typeface="Palatino Linotype"/>
              </a:rPr>
              <a:t>A loop statement</a:t>
            </a:r>
            <a:endParaRPr/>
          </a:p>
          <a:p>
            <a:pPr indent="-342900" lvl="1" marL="800100" marR="0" rtl="0" algn="l">
              <a:lnSpc>
                <a:spcPct val="114000"/>
              </a:lnSpc>
              <a:spcBef>
                <a:spcPts val="600"/>
              </a:spcBef>
              <a:spcAft>
                <a:spcPts val="0"/>
              </a:spcAft>
              <a:buClr>
                <a:schemeClr val="dk1"/>
              </a:buClr>
              <a:buSzPts val="2600"/>
              <a:buFont typeface="Arial"/>
              <a:buChar char="•"/>
            </a:pPr>
            <a:r>
              <a:rPr b="0" i="0" lang="en-US" sz="2600" u="none" cap="none" strike="noStrike">
                <a:solidFill>
                  <a:schemeClr val="dk1"/>
                </a:solidFill>
                <a:latin typeface="Palatino Linotype"/>
                <a:ea typeface="Palatino Linotype"/>
                <a:cs typeface="Palatino Linotype"/>
                <a:sym typeface="Palatino Linotype"/>
              </a:rPr>
              <a:t>A switch or a goto</a:t>
            </a:r>
            <a:endParaRPr b="0" i="0" sz="2600" u="none" cap="none" strike="noStrike">
              <a:solidFill>
                <a:schemeClr val="dk1"/>
              </a:solidFill>
              <a:latin typeface="Palatino Linotype"/>
              <a:ea typeface="Palatino Linotype"/>
              <a:cs typeface="Palatino Linotype"/>
              <a:sym typeface="Palatino Linotype"/>
            </a:endParaRPr>
          </a:p>
          <a:p>
            <a:pPr indent="-342900" lvl="1" marL="800100" marR="0" rtl="0" algn="l">
              <a:lnSpc>
                <a:spcPct val="114000"/>
              </a:lnSpc>
              <a:spcBef>
                <a:spcPts val="600"/>
              </a:spcBef>
              <a:spcAft>
                <a:spcPts val="0"/>
              </a:spcAft>
              <a:buClr>
                <a:schemeClr val="dk1"/>
              </a:buClr>
              <a:buSzPts val="2600"/>
              <a:buFont typeface="Arial"/>
              <a:buChar char="•"/>
            </a:pPr>
            <a:r>
              <a:rPr b="0" i="0" lang="en-US" sz="2600" u="none" cap="none" strike="noStrike">
                <a:solidFill>
                  <a:schemeClr val="dk1"/>
                </a:solidFill>
                <a:latin typeface="Palatino Linotype"/>
                <a:ea typeface="Palatino Linotype"/>
                <a:cs typeface="Palatino Linotype"/>
                <a:sym typeface="Palatino Linotype"/>
              </a:rPr>
              <a:t>If the function is recursive</a:t>
            </a:r>
            <a:endParaRPr/>
          </a:p>
          <a:p>
            <a:pPr indent="-342900" lvl="1" marL="800100" marR="0" rtl="0" algn="l">
              <a:lnSpc>
                <a:spcPct val="114000"/>
              </a:lnSpc>
              <a:spcBef>
                <a:spcPts val="600"/>
              </a:spcBef>
              <a:spcAft>
                <a:spcPts val="0"/>
              </a:spcAft>
              <a:buClr>
                <a:schemeClr val="dk1"/>
              </a:buClr>
              <a:buSzPts val="2600"/>
              <a:buFont typeface="Arial"/>
              <a:buChar char="•"/>
            </a:pPr>
            <a:r>
              <a:rPr b="0" i="0" lang="en-US" sz="2600" u="none" cap="none" strike="noStrike">
                <a:solidFill>
                  <a:schemeClr val="dk1"/>
                </a:solidFill>
                <a:latin typeface="Palatino Linotype"/>
                <a:ea typeface="Palatino Linotype"/>
                <a:cs typeface="Palatino Linotype"/>
                <a:sym typeface="Palatino Linotype"/>
              </a:rPr>
              <a:t>If a function return type is other than void, and the return statement doesn’t exist in a function body.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2465293" y="366106"/>
            <a:ext cx="6831106" cy="887916"/>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C6294"/>
              </a:buClr>
              <a:buSzPts val="4300"/>
              <a:buFont typeface="Palatino Linotype"/>
              <a:buNone/>
            </a:pPr>
            <a:r>
              <a:rPr b="1" lang="en-US" sz="4300">
                <a:solidFill>
                  <a:srgbClr val="1C6294"/>
                </a:solidFill>
                <a:latin typeface="Palatino Linotype"/>
                <a:ea typeface="Palatino Linotype"/>
                <a:cs typeface="Palatino Linotype"/>
                <a:sym typeface="Palatino Linotype"/>
              </a:rPr>
              <a:t>Automatic Inlining</a:t>
            </a:r>
            <a:endParaRPr b="1" sz="4300">
              <a:solidFill>
                <a:srgbClr val="1C6294"/>
              </a:solidFill>
              <a:latin typeface="Palatino Linotype"/>
              <a:ea typeface="Palatino Linotype"/>
              <a:cs typeface="Palatino Linotype"/>
              <a:sym typeface="Palatino Linotype"/>
            </a:endParaRPr>
          </a:p>
        </p:txBody>
      </p:sp>
      <p:sp>
        <p:nvSpPr>
          <p:cNvPr id="285" name="Google Shape;285;p27"/>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27"/>
          <p:cNvSpPr txBox="1"/>
          <p:nvPr/>
        </p:nvSpPr>
        <p:spPr>
          <a:xfrm>
            <a:off x="818162" y="1956416"/>
            <a:ext cx="10663251" cy="4027525"/>
          </a:xfrm>
          <a:prstGeom prst="rect">
            <a:avLst/>
          </a:prstGeom>
          <a:solidFill>
            <a:srgbClr val="DFECEC"/>
          </a:solidFill>
          <a:ln>
            <a:noFill/>
          </a:ln>
        </p:spPr>
        <p:txBody>
          <a:bodyPr anchorCtr="0" anchor="t" bIns="45700" lIns="91425" spcFirstLastPara="1" rIns="91425" wrap="square" tIns="45700">
            <a:noAutofit/>
          </a:bodyPr>
          <a:lstStyle/>
          <a:p>
            <a:pPr indent="-228600" lvl="0" marL="228600" marR="0" rtl="0" algn="just">
              <a:lnSpc>
                <a:spcPct val="114000"/>
              </a:lnSpc>
              <a:spcBef>
                <a:spcPts val="0"/>
              </a:spcBef>
              <a:spcAft>
                <a:spcPts val="0"/>
              </a:spcAft>
              <a:buClr>
                <a:srgbClr val="000000"/>
              </a:buClr>
              <a:buSzPts val="2400"/>
              <a:buFont typeface="Arial"/>
              <a:buChar char="•"/>
            </a:pPr>
            <a:r>
              <a:rPr lang="en-US" sz="2400">
                <a:solidFill>
                  <a:srgbClr val="000000"/>
                </a:solidFill>
                <a:latin typeface="Palatino Linotype"/>
                <a:ea typeface="Palatino Linotype"/>
                <a:cs typeface="Palatino Linotype"/>
                <a:sym typeface="Palatino Linotype"/>
              </a:rPr>
              <a:t>If a member function’s definition is short enough, the definition can be included inside the class declaration. Doing so cause the function is automatically become an in-line function.</a:t>
            </a:r>
            <a:endParaRPr/>
          </a:p>
          <a:p>
            <a:pPr indent="-76200" lvl="0" marL="228600" marR="0" rtl="0" algn="just">
              <a:lnSpc>
                <a:spcPct val="114000"/>
              </a:lnSpc>
              <a:spcBef>
                <a:spcPts val="0"/>
              </a:spcBef>
              <a:spcAft>
                <a:spcPts val="0"/>
              </a:spcAft>
              <a:buClr>
                <a:schemeClr val="dk1"/>
              </a:buClr>
              <a:buSzPts val="2400"/>
              <a:buFont typeface="Arial"/>
              <a:buNone/>
            </a:pPr>
            <a:r>
              <a:t/>
            </a:r>
            <a:endParaRPr b="1" sz="2400">
              <a:solidFill>
                <a:srgbClr val="000000"/>
              </a:solidFill>
              <a:latin typeface="Palatino Linotype"/>
              <a:ea typeface="Palatino Linotype"/>
              <a:cs typeface="Palatino Linotype"/>
              <a:sym typeface="Palatino Linotype"/>
            </a:endParaRPr>
          </a:p>
          <a:p>
            <a:pPr indent="-228600" lvl="0" marL="228600" marR="0" rtl="0" algn="just">
              <a:lnSpc>
                <a:spcPct val="114000"/>
              </a:lnSpc>
              <a:spcBef>
                <a:spcPts val="0"/>
              </a:spcBef>
              <a:spcAft>
                <a:spcPts val="0"/>
              </a:spcAft>
              <a:buClr>
                <a:srgbClr val="000000"/>
              </a:buClr>
              <a:buSzPts val="2400"/>
              <a:buFont typeface="Arial"/>
              <a:buChar char="•"/>
            </a:pPr>
            <a:r>
              <a:rPr lang="en-US" sz="2400">
                <a:solidFill>
                  <a:srgbClr val="000000"/>
                </a:solidFill>
                <a:latin typeface="Palatino Linotype"/>
                <a:ea typeface="Palatino Linotype"/>
                <a:cs typeface="Palatino Linotype"/>
                <a:sym typeface="Palatino Linotype"/>
              </a:rPr>
              <a:t> If a function only has a few lines of code, the compiler might automatically inline it, meaning it puts that code directly into the calling code, rather than jumping to the function and then returning. However, the compiler makes this decision on its own, based on factors like function size and how often it's used.</a:t>
            </a:r>
            <a:endParaRPr/>
          </a:p>
          <a:p>
            <a:pPr indent="0" lvl="0" marL="0" marR="0" rtl="0" algn="l">
              <a:lnSpc>
                <a:spcPct val="114000"/>
              </a:lnSpc>
              <a:spcBef>
                <a:spcPts val="0"/>
              </a:spcBef>
              <a:spcAft>
                <a:spcPts val="0"/>
              </a:spcAft>
              <a:buClr>
                <a:schemeClr val="dk1"/>
              </a:buClr>
              <a:buSzPts val="2400"/>
              <a:buFont typeface="Arial"/>
              <a:buNone/>
            </a:pPr>
            <a:r>
              <a:t/>
            </a:r>
            <a:endParaRPr sz="2400">
              <a:solidFill>
                <a:srgbClr val="000000"/>
              </a:solidFill>
              <a:latin typeface="Palatino Linotype"/>
              <a:ea typeface="Palatino Linotype"/>
              <a:cs typeface="Palatino Linotype"/>
              <a:sym typeface="Palatino Linotyp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2465293" y="366106"/>
            <a:ext cx="6831106" cy="887916"/>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C6294"/>
              </a:buClr>
              <a:buSzPts val="4300"/>
              <a:buFont typeface="Palatino Linotype"/>
              <a:buNone/>
            </a:pPr>
            <a:r>
              <a:rPr b="1" lang="en-US" sz="4300">
                <a:solidFill>
                  <a:srgbClr val="1C6294"/>
                </a:solidFill>
                <a:latin typeface="Palatino Linotype"/>
                <a:ea typeface="Palatino Linotype"/>
                <a:cs typeface="Palatino Linotype"/>
                <a:sym typeface="Palatino Linotype"/>
              </a:rPr>
              <a:t>Automatic Inlining</a:t>
            </a:r>
            <a:endParaRPr b="1" sz="4300">
              <a:solidFill>
                <a:srgbClr val="1C6294"/>
              </a:solidFill>
              <a:latin typeface="Palatino Linotype"/>
              <a:ea typeface="Palatino Linotype"/>
              <a:cs typeface="Palatino Linotype"/>
              <a:sym typeface="Palatino Linotype"/>
            </a:endParaRPr>
          </a:p>
        </p:txBody>
      </p:sp>
      <p:sp>
        <p:nvSpPr>
          <p:cNvPr id="292" name="Google Shape;292;p28"/>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28"/>
          <p:cNvSpPr txBox="1"/>
          <p:nvPr/>
        </p:nvSpPr>
        <p:spPr>
          <a:xfrm>
            <a:off x="818162" y="1956417"/>
            <a:ext cx="10663251" cy="1795312"/>
          </a:xfrm>
          <a:prstGeom prst="rect">
            <a:avLst/>
          </a:prstGeom>
          <a:solidFill>
            <a:srgbClr val="DFECEC"/>
          </a:solidFill>
          <a:ln>
            <a:noFill/>
          </a:ln>
        </p:spPr>
        <p:txBody>
          <a:bodyPr anchorCtr="0" anchor="t" bIns="45700" lIns="91425" spcFirstLastPara="1" rIns="91425" wrap="square" tIns="45700">
            <a:noAutofit/>
          </a:bodyPr>
          <a:lstStyle/>
          <a:p>
            <a:pPr indent="-228600" lvl="0" marL="228600" marR="0" rtl="0" algn="l">
              <a:lnSpc>
                <a:spcPct val="114000"/>
              </a:lnSpc>
              <a:spcBef>
                <a:spcPts val="0"/>
              </a:spcBef>
              <a:spcAft>
                <a:spcPts val="0"/>
              </a:spcAft>
              <a:buClr>
                <a:srgbClr val="000000"/>
              </a:buClr>
              <a:buSzPts val="2400"/>
              <a:buFont typeface="Arial"/>
              <a:buChar char="•"/>
            </a:pPr>
            <a:r>
              <a:rPr lang="en-US" sz="2400">
                <a:solidFill>
                  <a:srgbClr val="000000"/>
                </a:solidFill>
                <a:latin typeface="Palatino Linotype"/>
                <a:ea typeface="Palatino Linotype"/>
                <a:cs typeface="Palatino Linotype"/>
                <a:sym typeface="Palatino Linotype"/>
              </a:rPr>
              <a:t>In this case the “inline” keyword is no longer necessary.</a:t>
            </a:r>
            <a:endParaRPr/>
          </a:p>
          <a:p>
            <a:pPr indent="-76200" lvl="0" marL="228600" marR="0" rtl="0" algn="l">
              <a:lnSpc>
                <a:spcPct val="114000"/>
              </a:lnSpc>
              <a:spcBef>
                <a:spcPts val="0"/>
              </a:spcBef>
              <a:spcAft>
                <a:spcPts val="0"/>
              </a:spcAft>
              <a:buClr>
                <a:schemeClr val="dk1"/>
              </a:buClr>
              <a:buSzPts val="2400"/>
              <a:buFont typeface="Arial"/>
              <a:buNone/>
            </a:pPr>
            <a:r>
              <a:t/>
            </a:r>
            <a:endParaRPr sz="2400">
              <a:solidFill>
                <a:srgbClr val="000000"/>
              </a:solidFill>
              <a:latin typeface="Palatino Linotype"/>
              <a:ea typeface="Palatino Linotype"/>
              <a:cs typeface="Palatino Linotype"/>
              <a:sym typeface="Palatino Linotype"/>
            </a:endParaRPr>
          </a:p>
          <a:p>
            <a:pPr indent="-228600" lvl="0" marL="228600" marR="0" rtl="0" algn="l">
              <a:lnSpc>
                <a:spcPct val="114000"/>
              </a:lnSpc>
              <a:spcBef>
                <a:spcPts val="0"/>
              </a:spcBef>
              <a:spcAft>
                <a:spcPts val="0"/>
              </a:spcAft>
              <a:buClr>
                <a:srgbClr val="000000"/>
              </a:buClr>
              <a:buSzPts val="2400"/>
              <a:buFont typeface="Arial"/>
              <a:buChar char="•"/>
            </a:pPr>
            <a:r>
              <a:rPr lang="en-US" sz="2400">
                <a:solidFill>
                  <a:srgbClr val="000000"/>
                </a:solidFill>
                <a:latin typeface="Palatino Linotype"/>
                <a:ea typeface="Palatino Linotype"/>
                <a:cs typeface="Palatino Linotype"/>
                <a:sym typeface="Palatino Linotype"/>
              </a:rPr>
              <a:t>The same restrictions that apply to normal in-line functions apply to automatic in-line functions within a class declaration.</a:t>
            </a:r>
            <a:endParaRPr sz="2400">
              <a:solidFill>
                <a:srgbClr val="000000"/>
              </a:solidFill>
              <a:latin typeface="Palatino Linotype"/>
              <a:ea typeface="Palatino Linotype"/>
              <a:cs typeface="Palatino Linotype"/>
              <a:sym typeface="Palatino Linotype"/>
            </a:endParaRPr>
          </a:p>
        </p:txBody>
      </p:sp>
      <p:sp>
        <p:nvSpPr>
          <p:cNvPr id="294" name="Google Shape;294;p28"/>
          <p:cNvSpPr txBox="1"/>
          <p:nvPr/>
        </p:nvSpPr>
        <p:spPr>
          <a:xfrm>
            <a:off x="2055157" y="4603051"/>
            <a:ext cx="81892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00000"/>
                </a:solidFill>
                <a:latin typeface="Palatino Linotype"/>
                <a:ea typeface="Palatino Linotype"/>
                <a:cs typeface="Palatino Linotype"/>
                <a:sym typeface="Palatino Linotype"/>
              </a:rPr>
              <a:t>*** See Example on Reference Book (Chapter 2). </a:t>
            </a:r>
            <a:endParaRPr sz="2800">
              <a:solidFill>
                <a:srgbClr val="C00000"/>
              </a:solidFill>
              <a:latin typeface="Palatino Linotype"/>
              <a:ea typeface="Palatino Linotype"/>
              <a:cs typeface="Palatino Linotype"/>
              <a:sym typeface="Palatino Linotyp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p:nvPr/>
        </p:nvSpPr>
        <p:spPr>
          <a:xfrm>
            <a:off x="1338470" y="1598977"/>
            <a:ext cx="9780104" cy="30469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Define a class Animal with:</a:t>
            </a:r>
            <a:endParaRPr/>
          </a:p>
          <a:p>
            <a:pPr indent="0" lvl="0" marL="0" marR="0" rtl="0" algn="just">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285750" lvl="0" marL="28575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private string variable sound.</a:t>
            </a:r>
            <a:endParaRPr/>
          </a:p>
          <a:p>
            <a:pPr indent="-285750" lvl="0" marL="28575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constructor that initializes variable with given value</a:t>
            </a:r>
            <a:endParaRPr/>
          </a:p>
          <a:p>
            <a:pPr indent="-285750" lvl="0" marL="28575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getter function (get()) that returns the value of sound</a:t>
            </a:r>
            <a:endParaRPr/>
          </a:p>
          <a:p>
            <a:pPr indent="-285750" lvl="0" marL="28575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In the main() function: Create an object and initialize it . Declare a pointer pt to a Animal object. Store the address of the object in pt. Use the pointer (pt) to display the value of sound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0"/>
          <p:cNvSpPr txBox="1"/>
          <p:nvPr>
            <p:ph type="title"/>
          </p:nvPr>
        </p:nvSpPr>
        <p:spPr>
          <a:xfrm>
            <a:off x="2926080" y="1761565"/>
            <a:ext cx="10058400" cy="141463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9600"/>
              <a:buFont typeface="Palatino Linotype"/>
              <a:buNone/>
            </a:pPr>
            <a:r>
              <a:rPr b="1" lang="en-US" sz="9600">
                <a:latin typeface="Palatino Linotype"/>
                <a:ea typeface="Palatino Linotype"/>
                <a:cs typeface="Palatino Linotype"/>
                <a:sym typeface="Palatino Linotype"/>
              </a:rPr>
              <a:t>Thank You</a:t>
            </a:r>
            <a:endParaRPr b="1" sz="9600">
              <a:latin typeface="Palatino Linotype"/>
              <a:ea typeface="Palatino Linotype"/>
              <a:cs typeface="Palatino Linotype"/>
              <a:sym typeface="Palatino Linotype"/>
            </a:endParaRPr>
          </a:p>
        </p:txBody>
      </p:sp>
      <p:pic>
        <p:nvPicPr>
          <p:cNvPr id="305" name="Google Shape;305;p30"/>
          <p:cNvPicPr preferRelativeResize="0"/>
          <p:nvPr/>
        </p:nvPicPr>
        <p:blipFill rotWithShape="1">
          <a:blip r:embed="rId3">
            <a:alphaModFix/>
          </a:blip>
          <a:srcRect b="0" l="0" r="0" t="0"/>
          <a:stretch/>
        </p:blipFill>
        <p:spPr>
          <a:xfrm>
            <a:off x="4970648" y="3433202"/>
            <a:ext cx="2143125" cy="2143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2024-08-09T06:52:35Z</dcterms:created>
  <dc:creator>DELL</dc:creator>
</cp:coreProperties>
</file>